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7315200"/>
  <p:notesSz cx="121920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6"/>
  </p:normalViewPr>
  <p:slideViewPr>
    <p:cSldViewPr>
      <p:cViewPr varScale="1">
        <p:scale>
          <a:sx n="99" d="100"/>
          <a:sy n="99" d="100"/>
        </p:scale>
        <p:origin x="105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267712"/>
            <a:ext cx="1036320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1F5F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4096512"/>
            <a:ext cx="853440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1F5F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037171"/>
            <a:ext cx="12192000" cy="278130"/>
          </a:xfrm>
          <a:custGeom>
            <a:avLst/>
            <a:gdLst/>
            <a:ahLst/>
            <a:cxnLst/>
            <a:rect l="l" t="t" r="r" b="b"/>
            <a:pathLst>
              <a:path w="12192000" h="278129">
                <a:moveTo>
                  <a:pt x="12192000" y="0"/>
                </a:moveTo>
                <a:lnTo>
                  <a:pt x="0" y="0"/>
                </a:lnTo>
                <a:lnTo>
                  <a:pt x="0" y="278028"/>
                </a:lnTo>
                <a:lnTo>
                  <a:pt x="12192000" y="2780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1F5F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682496"/>
            <a:ext cx="530352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682496"/>
            <a:ext cx="530352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1F5F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3392"/>
            <a:ext cx="12191999" cy="10655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554480"/>
            <a:ext cx="12192000" cy="26034"/>
          </a:xfrm>
          <a:custGeom>
            <a:avLst/>
            <a:gdLst/>
            <a:ahLst/>
            <a:cxnLst/>
            <a:rect l="l" t="t" r="r" b="b"/>
            <a:pathLst>
              <a:path w="12192000" h="26034">
                <a:moveTo>
                  <a:pt x="0" y="25908"/>
                </a:moveTo>
                <a:lnTo>
                  <a:pt x="12192000" y="25908"/>
                </a:lnTo>
                <a:lnTo>
                  <a:pt x="12192000" y="0"/>
                </a:lnTo>
                <a:lnTo>
                  <a:pt x="0" y="0"/>
                </a:lnTo>
                <a:lnTo>
                  <a:pt x="0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554480"/>
          </a:xfrm>
          <a:custGeom>
            <a:avLst/>
            <a:gdLst/>
            <a:ahLst/>
            <a:cxnLst/>
            <a:rect l="l" t="t" r="r" b="b"/>
            <a:pathLst>
              <a:path w="12192000" h="1554480">
                <a:moveTo>
                  <a:pt x="12192000" y="0"/>
                </a:moveTo>
                <a:lnTo>
                  <a:pt x="0" y="0"/>
                </a:lnTo>
                <a:lnTo>
                  <a:pt x="0" y="1554479"/>
                </a:lnTo>
                <a:lnTo>
                  <a:pt x="12192000" y="155447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13392"/>
            <a:ext cx="12191999" cy="1065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0088" y="682497"/>
            <a:ext cx="886079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1F5F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06014" y="2833878"/>
            <a:ext cx="8738235" cy="3320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803136"/>
            <a:ext cx="390144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803136"/>
            <a:ext cx="280416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36426" y="6931267"/>
            <a:ext cx="343027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7315453"/>
            <a:chOff x="0" y="0"/>
            <a:chExt cx="12192000" cy="7315453"/>
          </a:xfrm>
        </p:grpSpPr>
        <p:sp>
          <p:nvSpPr>
            <p:cNvPr id="3" name="object 3"/>
            <p:cNvSpPr/>
            <p:nvPr/>
          </p:nvSpPr>
          <p:spPr>
            <a:xfrm>
              <a:off x="0" y="1745233"/>
              <a:ext cx="12192000" cy="5570220"/>
            </a:xfrm>
            <a:custGeom>
              <a:avLst/>
              <a:gdLst/>
              <a:ahLst/>
              <a:cxnLst/>
              <a:rect l="l" t="t" r="r" b="b"/>
              <a:pathLst>
                <a:path w="12192000" h="5570220">
                  <a:moveTo>
                    <a:pt x="12192000" y="0"/>
                  </a:moveTo>
                  <a:lnTo>
                    <a:pt x="2540076" y="0"/>
                  </a:lnTo>
                  <a:lnTo>
                    <a:pt x="4267" y="0"/>
                  </a:lnTo>
                  <a:lnTo>
                    <a:pt x="0" y="0"/>
                  </a:lnTo>
                  <a:lnTo>
                    <a:pt x="0" y="5569966"/>
                  </a:lnTo>
                  <a:lnTo>
                    <a:pt x="4267" y="5569966"/>
                  </a:lnTo>
                  <a:lnTo>
                    <a:pt x="2540076" y="5569966"/>
                  </a:lnTo>
                  <a:lnTo>
                    <a:pt x="12192000" y="556996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745232"/>
              <a:ext cx="12192000" cy="5570220"/>
            </a:xfrm>
            <a:custGeom>
              <a:avLst/>
              <a:gdLst/>
              <a:ahLst/>
              <a:cxnLst/>
              <a:rect l="l" t="t" r="r" b="b"/>
              <a:pathLst>
                <a:path w="12192000" h="5570220">
                  <a:moveTo>
                    <a:pt x="0" y="5569966"/>
                  </a:moveTo>
                  <a:lnTo>
                    <a:pt x="12192000" y="556996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5699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61520" cy="1745614"/>
            </a:xfrm>
            <a:custGeom>
              <a:avLst/>
              <a:gdLst/>
              <a:ahLst/>
              <a:cxnLst/>
              <a:rect l="l" t="t" r="r" b="b"/>
              <a:pathLst>
                <a:path w="12161520" h="1745614">
                  <a:moveTo>
                    <a:pt x="12161520" y="0"/>
                  </a:moveTo>
                  <a:lnTo>
                    <a:pt x="0" y="0"/>
                  </a:lnTo>
                  <a:lnTo>
                    <a:pt x="0" y="1745234"/>
                  </a:lnTo>
                  <a:lnTo>
                    <a:pt x="12161520" y="1745234"/>
                  </a:lnTo>
                  <a:lnTo>
                    <a:pt x="12161520" y="0"/>
                  </a:lnTo>
                  <a:close/>
                </a:path>
              </a:pathLst>
            </a:custGeom>
            <a:solidFill>
              <a:srgbClr val="DAE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61520" cy="1745614"/>
            </a:xfrm>
            <a:custGeom>
              <a:avLst/>
              <a:gdLst/>
              <a:ahLst/>
              <a:cxnLst/>
              <a:rect l="l" t="t" r="r" b="b"/>
              <a:pathLst>
                <a:path w="12161520" h="1745614">
                  <a:moveTo>
                    <a:pt x="0" y="1745234"/>
                  </a:moveTo>
                  <a:lnTo>
                    <a:pt x="12161520" y="1745234"/>
                  </a:lnTo>
                  <a:lnTo>
                    <a:pt x="12161520" y="0"/>
                  </a:lnTo>
                  <a:lnTo>
                    <a:pt x="0" y="0"/>
                  </a:lnTo>
                  <a:lnTo>
                    <a:pt x="0" y="17452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1905000" y="1905000"/>
            <a:ext cx="8019415" cy="4936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95"/>
              </a:spcBef>
            </a:pPr>
            <a:r>
              <a:rPr sz="4000" spc="-75" dirty="0"/>
              <a:t> </a:t>
            </a:r>
            <a:r>
              <a:rPr sz="4000" dirty="0"/>
              <a:t>Project</a:t>
            </a:r>
            <a:r>
              <a:rPr lang="en-GB" sz="4000" dirty="0"/>
              <a:t> Risk </a:t>
            </a:r>
            <a:r>
              <a:rPr sz="4000" spc="-95" dirty="0"/>
              <a:t> </a:t>
            </a:r>
            <a:r>
              <a:rPr sz="4000" dirty="0"/>
              <a:t>Management</a:t>
            </a:r>
            <a:r>
              <a:rPr lang="en-GB" sz="4000" spc="-65" dirty="0"/>
              <a:t>.</a:t>
            </a:r>
            <a:br>
              <a:rPr lang="en-GB" sz="4000" spc="-65" dirty="0"/>
            </a:br>
            <a:br>
              <a:rPr lang="en-GB" sz="4000" spc="-65" dirty="0"/>
            </a:br>
            <a:r>
              <a:rPr lang="en-GB" sz="4000" spc="-65" dirty="0"/>
              <a:t>CSE 406</a:t>
            </a:r>
            <a:br>
              <a:rPr lang="en-GB" sz="4000" spc="-65" dirty="0"/>
            </a:br>
            <a:br>
              <a:rPr lang="en-GB" sz="4000" spc="-65" dirty="0"/>
            </a:br>
            <a:r>
              <a:rPr lang="en-GB" sz="4000" spc="-65" dirty="0"/>
              <a:t>Dr Samad Baseer</a:t>
            </a:r>
            <a:br>
              <a:rPr lang="en-GB" sz="4000" spc="-65" dirty="0"/>
            </a:br>
            <a:r>
              <a:rPr lang="en-GB" sz="4000" spc="-65" dirty="0"/>
              <a:t>DCSE. UET Peshawar </a:t>
            </a:r>
            <a:br>
              <a:rPr lang="en-GB" sz="4000" spc="-65" dirty="0"/>
            </a:br>
            <a:br>
              <a:rPr lang="en-GB" sz="4000" spc="-65" dirty="0"/>
            </a:b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71" y="0"/>
            <a:ext cx="2536190" cy="7315200"/>
            <a:chOff x="4271" y="0"/>
            <a:chExt cx="2536190" cy="7315200"/>
          </a:xfrm>
        </p:grpSpPr>
        <p:sp>
          <p:nvSpPr>
            <p:cNvPr id="3" name="object 3"/>
            <p:cNvSpPr/>
            <p:nvPr/>
          </p:nvSpPr>
          <p:spPr>
            <a:xfrm>
              <a:off x="4271" y="894080"/>
              <a:ext cx="2536190" cy="6421120"/>
            </a:xfrm>
            <a:custGeom>
              <a:avLst/>
              <a:gdLst/>
              <a:ahLst/>
              <a:cxnLst/>
              <a:rect l="l" t="t" r="r" b="b"/>
              <a:pathLst>
                <a:path w="2536190" h="6421120">
                  <a:moveTo>
                    <a:pt x="0" y="6421119"/>
                  </a:moveTo>
                  <a:lnTo>
                    <a:pt x="2535809" y="6421119"/>
                  </a:lnTo>
                  <a:lnTo>
                    <a:pt x="2535809" y="0"/>
                  </a:lnTo>
                  <a:lnTo>
                    <a:pt x="0" y="0"/>
                  </a:lnTo>
                  <a:lnTo>
                    <a:pt x="0" y="642111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71" y="0"/>
              <a:ext cx="2536190" cy="894080"/>
            </a:xfrm>
            <a:custGeom>
              <a:avLst/>
              <a:gdLst/>
              <a:ahLst/>
              <a:cxnLst/>
              <a:rect l="l" t="t" r="r" b="b"/>
              <a:pathLst>
                <a:path w="2536190" h="894080">
                  <a:moveTo>
                    <a:pt x="2535809" y="0"/>
                  </a:moveTo>
                  <a:lnTo>
                    <a:pt x="0" y="0"/>
                  </a:lnTo>
                  <a:lnTo>
                    <a:pt x="0" y="894079"/>
                  </a:lnTo>
                  <a:lnTo>
                    <a:pt x="2535809" y="894079"/>
                  </a:lnTo>
                  <a:lnTo>
                    <a:pt x="25358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45054" y="3322396"/>
            <a:ext cx="673925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3880" marR="5080" indent="-551815">
              <a:lnSpc>
                <a:spcPct val="100000"/>
              </a:lnSpc>
              <a:spcBef>
                <a:spcPts val="95"/>
              </a:spcBef>
            </a:pPr>
            <a:r>
              <a:rPr sz="5200" b="1" dirty="0">
                <a:latin typeface="Arial"/>
                <a:cs typeface="Arial"/>
              </a:rPr>
              <a:t>The</a:t>
            </a:r>
            <a:r>
              <a:rPr sz="5200" b="1" spc="-25" dirty="0">
                <a:latin typeface="Arial"/>
                <a:cs typeface="Arial"/>
              </a:rPr>
              <a:t> </a:t>
            </a:r>
            <a:r>
              <a:rPr sz="5200" b="1" dirty="0">
                <a:latin typeface="Arial"/>
                <a:cs typeface="Arial"/>
              </a:rPr>
              <a:t>Basics</a:t>
            </a:r>
            <a:r>
              <a:rPr sz="5200" b="1" spc="-25" dirty="0">
                <a:latin typeface="Arial"/>
                <a:cs typeface="Arial"/>
              </a:rPr>
              <a:t> </a:t>
            </a:r>
            <a:r>
              <a:rPr sz="5200" b="1" dirty="0">
                <a:latin typeface="Arial"/>
                <a:cs typeface="Arial"/>
              </a:rPr>
              <a:t>of</a:t>
            </a:r>
            <a:r>
              <a:rPr sz="5200" b="1" spc="-20" dirty="0">
                <a:latin typeface="Arial"/>
                <a:cs typeface="Arial"/>
              </a:rPr>
              <a:t> </a:t>
            </a:r>
            <a:r>
              <a:rPr sz="5200" b="1" spc="-10" dirty="0">
                <a:latin typeface="Arial"/>
                <a:cs typeface="Arial"/>
              </a:rPr>
              <a:t>Project </a:t>
            </a:r>
            <a:r>
              <a:rPr sz="5200" b="1" dirty="0">
                <a:latin typeface="Arial"/>
                <a:cs typeface="Arial"/>
              </a:rPr>
              <a:t>Risk</a:t>
            </a:r>
            <a:r>
              <a:rPr sz="5200" b="1" spc="-5" dirty="0">
                <a:latin typeface="Arial"/>
                <a:cs typeface="Arial"/>
              </a:rPr>
              <a:t> </a:t>
            </a:r>
            <a:r>
              <a:rPr sz="5200" b="1" spc="-10" dirty="0">
                <a:latin typeface="Arial"/>
                <a:cs typeface="Arial"/>
              </a:rPr>
              <a:t>Management</a:t>
            </a:r>
            <a:endParaRPr sz="5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3256" y="2934461"/>
            <a:ext cx="8731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0" b="1" spc="-50" dirty="0">
                <a:solidFill>
                  <a:srgbClr val="3A0CE6"/>
                </a:solidFill>
                <a:latin typeface="Arial"/>
                <a:cs typeface="Arial"/>
              </a:rPr>
              <a:t>1</a:t>
            </a:r>
            <a:endParaRPr sz="12000">
              <a:latin typeface="Arial"/>
              <a:cs typeface="Arial"/>
            </a:endParaRPr>
          </a:p>
        </p:txBody>
      </p:sp>
      <p:pic>
        <p:nvPicPr>
          <p:cNvPr id="7" name="object 7" descr="Image result for pmi 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33874"/>
            <a:ext cx="2560320" cy="9609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47250" y="819150"/>
            <a:ext cx="2433955" cy="5275580"/>
            <a:chOff x="9747250" y="819150"/>
            <a:chExt cx="2433955" cy="5275580"/>
          </a:xfrm>
        </p:grpSpPr>
        <p:sp>
          <p:nvSpPr>
            <p:cNvPr id="9" name="object 9"/>
            <p:cNvSpPr/>
            <p:nvPr/>
          </p:nvSpPr>
          <p:spPr>
            <a:xfrm>
              <a:off x="9753600" y="4997970"/>
              <a:ext cx="1365885" cy="1090295"/>
            </a:xfrm>
            <a:custGeom>
              <a:avLst/>
              <a:gdLst/>
              <a:ahLst/>
              <a:cxnLst/>
              <a:rect l="l" t="t" r="r" b="b"/>
              <a:pathLst>
                <a:path w="1365884" h="1090295">
                  <a:moveTo>
                    <a:pt x="1365377" y="0"/>
                  </a:moveTo>
                  <a:lnTo>
                    <a:pt x="0" y="0"/>
                  </a:lnTo>
                  <a:lnTo>
                    <a:pt x="0" y="1090066"/>
                  </a:lnTo>
                  <a:lnTo>
                    <a:pt x="1365377" y="1090066"/>
                  </a:lnTo>
                  <a:lnTo>
                    <a:pt x="1365377" y="0"/>
                  </a:lnTo>
                  <a:close/>
                </a:path>
              </a:pathLst>
            </a:custGeom>
            <a:solidFill>
              <a:srgbClr val="C2C8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18977" y="4634610"/>
              <a:ext cx="363855" cy="1453515"/>
            </a:xfrm>
            <a:custGeom>
              <a:avLst/>
              <a:gdLst/>
              <a:ahLst/>
              <a:cxnLst/>
              <a:rect l="l" t="t" r="r" b="b"/>
              <a:pathLst>
                <a:path w="363854" h="1453514">
                  <a:moveTo>
                    <a:pt x="363347" y="0"/>
                  </a:moveTo>
                  <a:lnTo>
                    <a:pt x="0" y="363346"/>
                  </a:lnTo>
                  <a:lnTo>
                    <a:pt x="0" y="1453426"/>
                  </a:lnTo>
                  <a:lnTo>
                    <a:pt x="363347" y="1090041"/>
                  </a:lnTo>
                  <a:lnTo>
                    <a:pt x="363347" y="0"/>
                  </a:lnTo>
                  <a:close/>
                </a:path>
              </a:pathLst>
            </a:custGeom>
            <a:solidFill>
              <a:srgbClr val="9CA1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53600" y="4634610"/>
              <a:ext cx="1729105" cy="363855"/>
            </a:xfrm>
            <a:custGeom>
              <a:avLst/>
              <a:gdLst/>
              <a:ahLst/>
              <a:cxnLst/>
              <a:rect l="l" t="t" r="r" b="b"/>
              <a:pathLst>
                <a:path w="1729104" h="363854">
                  <a:moveTo>
                    <a:pt x="1728724" y="0"/>
                  </a:moveTo>
                  <a:lnTo>
                    <a:pt x="363347" y="0"/>
                  </a:lnTo>
                  <a:lnTo>
                    <a:pt x="0" y="363346"/>
                  </a:lnTo>
                  <a:lnTo>
                    <a:pt x="1365377" y="363346"/>
                  </a:lnTo>
                  <a:lnTo>
                    <a:pt x="1728724" y="0"/>
                  </a:lnTo>
                  <a:close/>
                </a:path>
              </a:pathLst>
            </a:custGeom>
            <a:solidFill>
              <a:srgbClr val="CED3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53600" y="4634610"/>
              <a:ext cx="1729105" cy="1453515"/>
            </a:xfrm>
            <a:custGeom>
              <a:avLst/>
              <a:gdLst/>
              <a:ahLst/>
              <a:cxnLst/>
              <a:rect l="l" t="t" r="r" b="b"/>
              <a:pathLst>
                <a:path w="1729104" h="1453514">
                  <a:moveTo>
                    <a:pt x="0" y="363346"/>
                  </a:moveTo>
                  <a:lnTo>
                    <a:pt x="363347" y="0"/>
                  </a:lnTo>
                  <a:lnTo>
                    <a:pt x="1728724" y="0"/>
                  </a:lnTo>
                  <a:lnTo>
                    <a:pt x="1728724" y="1090041"/>
                  </a:lnTo>
                  <a:lnTo>
                    <a:pt x="1365377" y="1453426"/>
                  </a:lnTo>
                  <a:lnTo>
                    <a:pt x="0" y="1453426"/>
                  </a:lnTo>
                  <a:lnTo>
                    <a:pt x="0" y="363346"/>
                  </a:lnTo>
                  <a:close/>
                </a:path>
                <a:path w="1729104" h="1453514">
                  <a:moveTo>
                    <a:pt x="0" y="363346"/>
                  </a:moveTo>
                  <a:lnTo>
                    <a:pt x="1365377" y="363346"/>
                  </a:lnTo>
                  <a:lnTo>
                    <a:pt x="1728724" y="0"/>
                  </a:lnTo>
                </a:path>
                <a:path w="1729104" h="1453514">
                  <a:moveTo>
                    <a:pt x="1365377" y="363346"/>
                  </a:moveTo>
                  <a:lnTo>
                    <a:pt x="1365377" y="1453426"/>
                  </a:lnTo>
                </a:path>
              </a:pathLst>
            </a:custGeom>
            <a:ln w="12700">
              <a:solidFill>
                <a:srgbClr val="8E92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53600" y="3828389"/>
              <a:ext cx="1365885" cy="1090295"/>
            </a:xfrm>
            <a:custGeom>
              <a:avLst/>
              <a:gdLst/>
              <a:ahLst/>
              <a:cxnLst/>
              <a:rect l="l" t="t" r="r" b="b"/>
              <a:pathLst>
                <a:path w="1365884" h="1090295">
                  <a:moveTo>
                    <a:pt x="1365377" y="0"/>
                  </a:moveTo>
                  <a:lnTo>
                    <a:pt x="0" y="0"/>
                  </a:lnTo>
                  <a:lnTo>
                    <a:pt x="0" y="1090066"/>
                  </a:lnTo>
                  <a:lnTo>
                    <a:pt x="1365377" y="1090066"/>
                  </a:lnTo>
                  <a:lnTo>
                    <a:pt x="1365377" y="0"/>
                  </a:lnTo>
                  <a:close/>
                </a:path>
              </a:pathLst>
            </a:custGeom>
            <a:solidFill>
              <a:srgbClr val="42AE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18977" y="3465067"/>
              <a:ext cx="363855" cy="1453515"/>
            </a:xfrm>
            <a:custGeom>
              <a:avLst/>
              <a:gdLst/>
              <a:ahLst/>
              <a:cxnLst/>
              <a:rect l="l" t="t" r="r" b="b"/>
              <a:pathLst>
                <a:path w="363854" h="1453514">
                  <a:moveTo>
                    <a:pt x="363347" y="0"/>
                  </a:moveTo>
                  <a:lnTo>
                    <a:pt x="0" y="363347"/>
                  </a:lnTo>
                  <a:lnTo>
                    <a:pt x="0" y="1453388"/>
                  </a:lnTo>
                  <a:lnTo>
                    <a:pt x="363347" y="1090041"/>
                  </a:lnTo>
                  <a:lnTo>
                    <a:pt x="363347" y="0"/>
                  </a:lnTo>
                  <a:close/>
                </a:path>
              </a:pathLst>
            </a:custGeom>
            <a:solidFill>
              <a:srgbClr val="358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53600" y="3465067"/>
              <a:ext cx="1729105" cy="363855"/>
            </a:xfrm>
            <a:custGeom>
              <a:avLst/>
              <a:gdLst/>
              <a:ahLst/>
              <a:cxnLst/>
              <a:rect l="l" t="t" r="r" b="b"/>
              <a:pathLst>
                <a:path w="1729104" h="363854">
                  <a:moveTo>
                    <a:pt x="1728724" y="0"/>
                  </a:moveTo>
                  <a:lnTo>
                    <a:pt x="363347" y="0"/>
                  </a:lnTo>
                  <a:lnTo>
                    <a:pt x="0" y="363347"/>
                  </a:lnTo>
                  <a:lnTo>
                    <a:pt x="1365377" y="363347"/>
                  </a:lnTo>
                  <a:lnTo>
                    <a:pt x="1728724" y="0"/>
                  </a:lnTo>
                  <a:close/>
                </a:path>
              </a:pathLst>
            </a:custGeom>
            <a:solidFill>
              <a:srgbClr val="67B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53600" y="3465067"/>
              <a:ext cx="1729105" cy="1453515"/>
            </a:xfrm>
            <a:custGeom>
              <a:avLst/>
              <a:gdLst/>
              <a:ahLst/>
              <a:cxnLst/>
              <a:rect l="l" t="t" r="r" b="b"/>
              <a:pathLst>
                <a:path w="1729104" h="1453514">
                  <a:moveTo>
                    <a:pt x="0" y="363347"/>
                  </a:moveTo>
                  <a:lnTo>
                    <a:pt x="363347" y="0"/>
                  </a:lnTo>
                  <a:lnTo>
                    <a:pt x="1728724" y="0"/>
                  </a:lnTo>
                  <a:lnTo>
                    <a:pt x="1728724" y="1090041"/>
                  </a:lnTo>
                  <a:lnTo>
                    <a:pt x="1365377" y="1453388"/>
                  </a:lnTo>
                  <a:lnTo>
                    <a:pt x="0" y="1453388"/>
                  </a:lnTo>
                  <a:lnTo>
                    <a:pt x="0" y="363347"/>
                  </a:lnTo>
                  <a:close/>
                </a:path>
                <a:path w="1729104" h="1453514">
                  <a:moveTo>
                    <a:pt x="0" y="363347"/>
                  </a:moveTo>
                  <a:lnTo>
                    <a:pt x="1365377" y="363347"/>
                  </a:lnTo>
                  <a:lnTo>
                    <a:pt x="1728724" y="0"/>
                  </a:lnTo>
                </a:path>
                <a:path w="1729104" h="1453514">
                  <a:moveTo>
                    <a:pt x="1365377" y="363347"/>
                  </a:moveTo>
                  <a:lnTo>
                    <a:pt x="1365377" y="1453388"/>
                  </a:lnTo>
                </a:path>
              </a:pathLst>
            </a:custGeom>
            <a:ln w="12700">
              <a:solidFill>
                <a:srgbClr val="42AE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53600" y="2651988"/>
              <a:ext cx="1365885" cy="1090295"/>
            </a:xfrm>
            <a:custGeom>
              <a:avLst/>
              <a:gdLst/>
              <a:ahLst/>
              <a:cxnLst/>
              <a:rect l="l" t="t" r="r" b="b"/>
              <a:pathLst>
                <a:path w="1365884" h="1090295">
                  <a:moveTo>
                    <a:pt x="1365377" y="0"/>
                  </a:moveTo>
                  <a:lnTo>
                    <a:pt x="0" y="0"/>
                  </a:lnTo>
                  <a:lnTo>
                    <a:pt x="0" y="1090066"/>
                  </a:lnTo>
                  <a:lnTo>
                    <a:pt x="1365377" y="1090066"/>
                  </a:lnTo>
                  <a:lnTo>
                    <a:pt x="1365377" y="0"/>
                  </a:lnTo>
                  <a:close/>
                </a:path>
              </a:pathLst>
            </a:custGeom>
            <a:solidFill>
              <a:srgbClr val="FBB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118977" y="2288666"/>
              <a:ext cx="363855" cy="1453515"/>
            </a:xfrm>
            <a:custGeom>
              <a:avLst/>
              <a:gdLst/>
              <a:ahLst/>
              <a:cxnLst/>
              <a:rect l="l" t="t" r="r" b="b"/>
              <a:pathLst>
                <a:path w="363854" h="1453514">
                  <a:moveTo>
                    <a:pt x="363347" y="0"/>
                  </a:moveTo>
                  <a:lnTo>
                    <a:pt x="0" y="363347"/>
                  </a:lnTo>
                  <a:lnTo>
                    <a:pt x="0" y="1453388"/>
                  </a:lnTo>
                  <a:lnTo>
                    <a:pt x="363347" y="1090041"/>
                  </a:lnTo>
                  <a:lnTo>
                    <a:pt x="363347" y="0"/>
                  </a:lnTo>
                  <a:close/>
                </a:path>
              </a:pathLst>
            </a:custGeom>
            <a:solidFill>
              <a:srgbClr val="CA91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53600" y="2288666"/>
              <a:ext cx="1729105" cy="363855"/>
            </a:xfrm>
            <a:custGeom>
              <a:avLst/>
              <a:gdLst/>
              <a:ahLst/>
              <a:cxnLst/>
              <a:rect l="l" t="t" r="r" b="b"/>
              <a:pathLst>
                <a:path w="1729104" h="363855">
                  <a:moveTo>
                    <a:pt x="1728724" y="0"/>
                  </a:moveTo>
                  <a:lnTo>
                    <a:pt x="363347" y="0"/>
                  </a:lnTo>
                  <a:lnTo>
                    <a:pt x="0" y="363347"/>
                  </a:lnTo>
                  <a:lnTo>
                    <a:pt x="1365377" y="363347"/>
                  </a:lnTo>
                  <a:lnTo>
                    <a:pt x="1728724" y="0"/>
                  </a:lnTo>
                  <a:close/>
                </a:path>
              </a:pathLst>
            </a:custGeom>
            <a:solidFill>
              <a:srgbClr val="FCC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53600" y="2288666"/>
              <a:ext cx="1729105" cy="1453515"/>
            </a:xfrm>
            <a:custGeom>
              <a:avLst/>
              <a:gdLst/>
              <a:ahLst/>
              <a:cxnLst/>
              <a:rect l="l" t="t" r="r" b="b"/>
              <a:pathLst>
                <a:path w="1729104" h="1453514">
                  <a:moveTo>
                    <a:pt x="0" y="363347"/>
                  </a:moveTo>
                  <a:lnTo>
                    <a:pt x="363347" y="0"/>
                  </a:lnTo>
                  <a:lnTo>
                    <a:pt x="1728724" y="0"/>
                  </a:lnTo>
                  <a:lnTo>
                    <a:pt x="1728724" y="1090041"/>
                  </a:lnTo>
                  <a:lnTo>
                    <a:pt x="1365377" y="1453388"/>
                  </a:lnTo>
                  <a:lnTo>
                    <a:pt x="0" y="1453388"/>
                  </a:lnTo>
                  <a:lnTo>
                    <a:pt x="0" y="363347"/>
                  </a:lnTo>
                  <a:close/>
                </a:path>
                <a:path w="1729104" h="1453514">
                  <a:moveTo>
                    <a:pt x="0" y="363347"/>
                  </a:moveTo>
                  <a:lnTo>
                    <a:pt x="1365377" y="363347"/>
                  </a:lnTo>
                  <a:lnTo>
                    <a:pt x="1728724" y="0"/>
                  </a:lnTo>
                </a:path>
                <a:path w="1729104" h="1453514">
                  <a:moveTo>
                    <a:pt x="1365377" y="363347"/>
                  </a:moveTo>
                  <a:lnTo>
                    <a:pt x="1365377" y="1453388"/>
                  </a:lnTo>
                </a:path>
              </a:pathLst>
            </a:custGeom>
            <a:ln w="12700">
              <a:solidFill>
                <a:srgbClr val="FBB4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48875" y="1040129"/>
              <a:ext cx="1659255" cy="1496695"/>
            </a:xfrm>
            <a:custGeom>
              <a:avLst/>
              <a:gdLst/>
              <a:ahLst/>
              <a:cxnLst/>
              <a:rect l="l" t="t" r="r" b="b"/>
              <a:pathLst>
                <a:path w="1659254" h="1496695">
                  <a:moveTo>
                    <a:pt x="378586" y="0"/>
                  </a:moveTo>
                  <a:lnTo>
                    <a:pt x="0" y="1022096"/>
                  </a:lnTo>
                  <a:lnTo>
                    <a:pt x="1280286" y="1496441"/>
                  </a:lnTo>
                  <a:lnTo>
                    <a:pt x="1659001" y="474218"/>
                  </a:lnTo>
                  <a:lnTo>
                    <a:pt x="378586" y="0"/>
                  </a:lnTo>
                  <a:close/>
                </a:path>
              </a:pathLst>
            </a:custGeom>
            <a:solidFill>
              <a:srgbClr val="CA1B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329161" y="1299844"/>
              <a:ext cx="845819" cy="1236980"/>
            </a:xfrm>
            <a:custGeom>
              <a:avLst/>
              <a:gdLst/>
              <a:ahLst/>
              <a:cxnLst/>
              <a:rect l="l" t="t" r="r" b="b"/>
              <a:pathLst>
                <a:path w="845820" h="1236980">
                  <a:moveTo>
                    <a:pt x="845566" y="0"/>
                  </a:moveTo>
                  <a:lnTo>
                    <a:pt x="378714" y="214502"/>
                  </a:lnTo>
                  <a:lnTo>
                    <a:pt x="0" y="1236726"/>
                  </a:lnTo>
                  <a:lnTo>
                    <a:pt x="466979" y="1022222"/>
                  </a:lnTo>
                  <a:lnTo>
                    <a:pt x="845566" y="0"/>
                  </a:lnTo>
                  <a:close/>
                </a:path>
              </a:pathLst>
            </a:custGeom>
            <a:solidFill>
              <a:srgbClr val="A216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427462" y="825500"/>
              <a:ext cx="1747520" cy="688975"/>
            </a:xfrm>
            <a:custGeom>
              <a:avLst/>
              <a:gdLst/>
              <a:ahLst/>
              <a:cxnLst/>
              <a:rect l="l" t="t" r="r" b="b"/>
              <a:pathLst>
                <a:path w="1747520" h="688975">
                  <a:moveTo>
                    <a:pt x="466979" y="0"/>
                  </a:moveTo>
                  <a:lnTo>
                    <a:pt x="0" y="214629"/>
                  </a:lnTo>
                  <a:lnTo>
                    <a:pt x="1280414" y="688848"/>
                  </a:lnTo>
                  <a:lnTo>
                    <a:pt x="1747266" y="474345"/>
                  </a:lnTo>
                  <a:lnTo>
                    <a:pt x="466979" y="0"/>
                  </a:lnTo>
                  <a:close/>
                </a:path>
              </a:pathLst>
            </a:custGeom>
            <a:solidFill>
              <a:srgbClr val="D44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48875" y="825500"/>
              <a:ext cx="2125980" cy="1711325"/>
            </a:xfrm>
            <a:custGeom>
              <a:avLst/>
              <a:gdLst/>
              <a:ahLst/>
              <a:cxnLst/>
              <a:rect l="l" t="t" r="r" b="b"/>
              <a:pathLst>
                <a:path w="2125979" h="1711325">
                  <a:moveTo>
                    <a:pt x="378586" y="214629"/>
                  </a:moveTo>
                  <a:lnTo>
                    <a:pt x="845566" y="0"/>
                  </a:lnTo>
                  <a:lnTo>
                    <a:pt x="2125853" y="474345"/>
                  </a:lnTo>
                  <a:lnTo>
                    <a:pt x="1747266" y="1496567"/>
                  </a:lnTo>
                  <a:lnTo>
                    <a:pt x="1280286" y="1711071"/>
                  </a:lnTo>
                  <a:lnTo>
                    <a:pt x="0" y="1236726"/>
                  </a:lnTo>
                  <a:lnTo>
                    <a:pt x="378586" y="214629"/>
                  </a:lnTo>
                  <a:close/>
                </a:path>
                <a:path w="2125979" h="1711325">
                  <a:moveTo>
                    <a:pt x="378586" y="214629"/>
                  </a:moveTo>
                  <a:lnTo>
                    <a:pt x="1659001" y="688848"/>
                  </a:lnTo>
                  <a:lnTo>
                    <a:pt x="2125853" y="474345"/>
                  </a:lnTo>
                </a:path>
                <a:path w="2125979" h="1711325">
                  <a:moveTo>
                    <a:pt x="1659001" y="688848"/>
                  </a:moveTo>
                  <a:lnTo>
                    <a:pt x="1280286" y="1711071"/>
                  </a:lnTo>
                </a:path>
              </a:pathLst>
            </a:custGeom>
            <a:ln w="12700">
              <a:solidFill>
                <a:srgbClr val="CA1B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32109" y="1433830"/>
              <a:ext cx="673735" cy="808990"/>
            </a:xfrm>
            <a:custGeom>
              <a:avLst/>
              <a:gdLst/>
              <a:ahLst/>
              <a:cxnLst/>
              <a:rect l="l" t="t" r="r" b="b"/>
              <a:pathLst>
                <a:path w="673734" h="808989">
                  <a:moveTo>
                    <a:pt x="645458" y="391287"/>
                  </a:moveTo>
                  <a:lnTo>
                    <a:pt x="222123" y="391287"/>
                  </a:lnTo>
                  <a:lnTo>
                    <a:pt x="245999" y="401447"/>
                  </a:lnTo>
                  <a:lnTo>
                    <a:pt x="264834" y="409946"/>
                  </a:lnTo>
                  <a:lnTo>
                    <a:pt x="302768" y="433324"/>
                  </a:lnTo>
                  <a:lnTo>
                    <a:pt x="327821" y="472602"/>
                  </a:lnTo>
                  <a:lnTo>
                    <a:pt x="327914" y="472821"/>
                  </a:lnTo>
                  <a:lnTo>
                    <a:pt x="338931" y="513365"/>
                  </a:lnTo>
                  <a:lnTo>
                    <a:pt x="353568" y="585343"/>
                  </a:lnTo>
                  <a:lnTo>
                    <a:pt x="384937" y="748919"/>
                  </a:lnTo>
                  <a:lnTo>
                    <a:pt x="526288" y="808990"/>
                  </a:lnTo>
                  <a:lnTo>
                    <a:pt x="503300" y="664464"/>
                  </a:lnTo>
                  <a:lnTo>
                    <a:pt x="496685" y="624385"/>
                  </a:lnTo>
                  <a:lnTo>
                    <a:pt x="483262" y="562611"/>
                  </a:lnTo>
                  <a:lnTo>
                    <a:pt x="468715" y="522130"/>
                  </a:lnTo>
                  <a:lnTo>
                    <a:pt x="447518" y="484082"/>
                  </a:lnTo>
                  <a:lnTo>
                    <a:pt x="434086" y="464820"/>
                  </a:lnTo>
                  <a:lnTo>
                    <a:pt x="558589" y="464820"/>
                  </a:lnTo>
                  <a:lnTo>
                    <a:pt x="572770" y="459994"/>
                  </a:lnTo>
                  <a:lnTo>
                    <a:pt x="599440" y="444281"/>
                  </a:lnTo>
                  <a:lnTo>
                    <a:pt x="622490" y="423640"/>
                  </a:lnTo>
                  <a:lnTo>
                    <a:pt x="641921" y="398093"/>
                  </a:lnTo>
                  <a:lnTo>
                    <a:pt x="645458" y="391287"/>
                  </a:lnTo>
                  <a:close/>
                </a:path>
                <a:path w="673734" h="808989">
                  <a:moveTo>
                    <a:pt x="248793" y="0"/>
                  </a:moveTo>
                  <a:lnTo>
                    <a:pt x="0" y="585343"/>
                  </a:lnTo>
                  <a:lnTo>
                    <a:pt x="118237" y="635635"/>
                  </a:lnTo>
                  <a:lnTo>
                    <a:pt x="222123" y="391287"/>
                  </a:lnTo>
                  <a:lnTo>
                    <a:pt x="645458" y="391287"/>
                  </a:lnTo>
                  <a:lnTo>
                    <a:pt x="654961" y="372999"/>
                  </a:lnTo>
                  <a:lnTo>
                    <a:pt x="458470" y="372999"/>
                  </a:lnTo>
                  <a:lnTo>
                    <a:pt x="442565" y="369923"/>
                  </a:lnTo>
                  <a:lnTo>
                    <a:pt x="419052" y="362585"/>
                  </a:lnTo>
                  <a:lnTo>
                    <a:pt x="387943" y="350960"/>
                  </a:lnTo>
                  <a:lnTo>
                    <a:pt x="349250" y="335025"/>
                  </a:lnTo>
                  <a:lnTo>
                    <a:pt x="261747" y="297815"/>
                  </a:lnTo>
                  <a:lnTo>
                    <a:pt x="324866" y="149352"/>
                  </a:lnTo>
                  <a:lnTo>
                    <a:pt x="585210" y="149352"/>
                  </a:lnTo>
                  <a:lnTo>
                    <a:pt x="576897" y="144145"/>
                  </a:lnTo>
                  <a:lnTo>
                    <a:pt x="540849" y="125337"/>
                  </a:lnTo>
                  <a:lnTo>
                    <a:pt x="497586" y="105791"/>
                  </a:lnTo>
                  <a:lnTo>
                    <a:pt x="248793" y="0"/>
                  </a:lnTo>
                  <a:close/>
                </a:path>
                <a:path w="673734" h="808989">
                  <a:moveTo>
                    <a:pt x="558589" y="464820"/>
                  </a:moveTo>
                  <a:lnTo>
                    <a:pt x="434086" y="464820"/>
                  </a:lnTo>
                  <a:lnTo>
                    <a:pt x="473400" y="472602"/>
                  </a:lnTo>
                  <a:lnTo>
                    <a:pt x="509619" y="474408"/>
                  </a:lnTo>
                  <a:lnTo>
                    <a:pt x="542742" y="470213"/>
                  </a:lnTo>
                  <a:lnTo>
                    <a:pt x="558589" y="464820"/>
                  </a:lnTo>
                  <a:close/>
                </a:path>
                <a:path w="673734" h="808989">
                  <a:moveTo>
                    <a:pt x="585210" y="149352"/>
                  </a:moveTo>
                  <a:lnTo>
                    <a:pt x="324866" y="149352"/>
                  </a:lnTo>
                  <a:lnTo>
                    <a:pt x="449460" y="202378"/>
                  </a:lnTo>
                  <a:lnTo>
                    <a:pt x="474440" y="213455"/>
                  </a:lnTo>
                  <a:lnTo>
                    <a:pt x="514709" y="236178"/>
                  </a:lnTo>
                  <a:lnTo>
                    <a:pt x="537337" y="268986"/>
                  </a:lnTo>
                  <a:lnTo>
                    <a:pt x="540142" y="290191"/>
                  </a:lnTo>
                  <a:lnTo>
                    <a:pt x="540194" y="295084"/>
                  </a:lnTo>
                  <a:lnTo>
                    <a:pt x="526643" y="335756"/>
                  </a:lnTo>
                  <a:lnTo>
                    <a:pt x="492063" y="367665"/>
                  </a:lnTo>
                  <a:lnTo>
                    <a:pt x="470129" y="372999"/>
                  </a:lnTo>
                  <a:lnTo>
                    <a:pt x="654961" y="372999"/>
                  </a:lnTo>
                  <a:lnTo>
                    <a:pt x="657733" y="367665"/>
                  </a:lnTo>
                  <a:lnTo>
                    <a:pt x="666877" y="341729"/>
                  </a:lnTo>
                  <a:lnTo>
                    <a:pt x="672211" y="315912"/>
                  </a:lnTo>
                  <a:lnTo>
                    <a:pt x="673735" y="290191"/>
                  </a:lnTo>
                  <a:lnTo>
                    <a:pt x="671449" y="264541"/>
                  </a:lnTo>
                  <a:lnTo>
                    <a:pt x="656209" y="217662"/>
                  </a:lnTo>
                  <a:lnTo>
                    <a:pt x="627253" y="179450"/>
                  </a:lnTo>
                  <a:lnTo>
                    <a:pt x="605706" y="162190"/>
                  </a:lnTo>
                  <a:lnTo>
                    <a:pt x="585210" y="149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753600" y="2552776"/>
            <a:ext cx="13595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0" b="1" spc="-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7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52021" y="6711506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753600" y="3794582"/>
            <a:ext cx="13595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95"/>
              </a:spcBef>
            </a:pPr>
            <a:r>
              <a:rPr sz="7000" b="1" spc="-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7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53600" y="4933569"/>
            <a:ext cx="13595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95"/>
              </a:spcBef>
            </a:pPr>
            <a:r>
              <a:rPr sz="7000" b="1" spc="-5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7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8708" y="594359"/>
            <a:ext cx="5472684" cy="8641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9725" y="5848337"/>
            <a:ext cx="1645920" cy="10196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9442" y="1916429"/>
            <a:ext cx="11349355" cy="369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After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completing</a:t>
            </a:r>
            <a:r>
              <a:rPr sz="2800" b="1" spc="-5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this</a:t>
            </a:r>
            <a:r>
              <a:rPr sz="2800" b="1" spc="-5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lesson,</a:t>
            </a:r>
            <a:r>
              <a:rPr sz="2800" b="1" spc="-4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you</a:t>
            </a:r>
            <a:r>
              <a:rPr sz="2800" b="1" spc="-6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should</a:t>
            </a:r>
            <a:r>
              <a:rPr sz="2800" b="1" spc="-6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be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able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b="1" spc="-25" dirty="0">
                <a:latin typeface="Corbel"/>
                <a:cs typeface="Corbel"/>
              </a:rPr>
              <a:t>to</a:t>
            </a:r>
            <a:endParaRPr sz="2800">
              <a:latin typeface="Corbel"/>
              <a:cs typeface="Corbel"/>
            </a:endParaRPr>
          </a:p>
          <a:p>
            <a:pPr marL="755650" marR="462280" lvl="1" indent="-457834">
              <a:lnSpc>
                <a:spcPct val="100000"/>
              </a:lnSpc>
              <a:spcBef>
                <a:spcPts val="2205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Explain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concept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relates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management,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list</a:t>
            </a:r>
            <a:r>
              <a:rPr sz="2600" spc="-25" dirty="0">
                <a:latin typeface="Corbel"/>
                <a:cs typeface="Corbel"/>
              </a:rPr>
              <a:t> the </a:t>
            </a:r>
            <a:r>
              <a:rPr sz="2600" dirty="0">
                <a:latin typeface="Corbel"/>
                <a:cs typeface="Corbel"/>
              </a:rPr>
              <a:t>advantages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managing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according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best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practices.</a:t>
            </a:r>
            <a:endParaRPr sz="2600">
              <a:latin typeface="Corbel"/>
              <a:cs typeface="Corbel"/>
            </a:endParaRPr>
          </a:p>
          <a:p>
            <a:pPr marL="755650" lvl="1" indent="-45783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Define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uncertainty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how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relate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each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other</a:t>
            </a:r>
            <a:endParaRPr sz="2600">
              <a:latin typeface="Corbel"/>
              <a:cs typeface="Corbel"/>
            </a:endParaRPr>
          </a:p>
          <a:p>
            <a:pPr marL="755650" lvl="1" indent="-45783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Differentiate</a:t>
            </a:r>
            <a:r>
              <a:rPr sz="2600" spc="-6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between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opportunity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threat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risks</a:t>
            </a:r>
            <a:endParaRPr sz="2600">
              <a:latin typeface="Corbel"/>
              <a:cs typeface="Corbel"/>
            </a:endParaRPr>
          </a:p>
          <a:p>
            <a:pPr marL="755650" lvl="1" indent="-457834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Describe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how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stakeholders’</a:t>
            </a:r>
            <a:r>
              <a:rPr sz="2600" spc="-6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tolerance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affects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management</a:t>
            </a:r>
            <a:endParaRPr sz="2600">
              <a:latin typeface="Corbel"/>
              <a:cs typeface="Corbel"/>
            </a:endParaRPr>
          </a:p>
          <a:p>
            <a:pPr marL="755650" lvl="1" indent="-45783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Identify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benefits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obstacles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management</a:t>
            </a:r>
            <a:endParaRPr sz="2600">
              <a:latin typeface="Corbel"/>
              <a:cs typeface="Corbel"/>
            </a:endParaRPr>
          </a:p>
          <a:p>
            <a:pPr marL="755650" lvl="1" indent="-45783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755650" algn="l"/>
              </a:tabLst>
            </a:pPr>
            <a:r>
              <a:rPr sz="2600" dirty="0">
                <a:latin typeface="Corbel"/>
                <a:cs typeface="Corbel"/>
              </a:rPr>
              <a:t>List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processes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5" y="594359"/>
              <a:ext cx="5481827" cy="8641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2025" y="871512"/>
              <a:ext cx="548640" cy="612228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096375" y="2290762"/>
            <a:ext cx="2926080" cy="2642870"/>
            <a:chOff x="9096375" y="2290762"/>
            <a:chExt cx="2926080" cy="26428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6375" y="3457955"/>
              <a:ext cx="2926079" cy="14755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0361" y="2290762"/>
              <a:ext cx="1880488" cy="116033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32866" y="1808733"/>
            <a:ext cx="11443335" cy="499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probability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incurring</a:t>
            </a:r>
            <a:r>
              <a:rPr sz="28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some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net</a:t>
            </a:r>
            <a:r>
              <a:rPr sz="28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loss</a:t>
            </a:r>
            <a:r>
              <a:rPr sz="28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while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pursuing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goal.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measurement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uncertainty.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According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PMBOK</a:t>
            </a:r>
            <a:r>
              <a:rPr sz="2800" spc="-13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Guide:</a:t>
            </a:r>
            <a:endParaRPr sz="2800">
              <a:latin typeface="Corbel"/>
              <a:cs typeface="Corbel"/>
            </a:endParaRPr>
          </a:p>
          <a:p>
            <a:pPr marL="1268095" marR="2564130" lvl="1" indent="-437515">
              <a:lnSpc>
                <a:spcPct val="100000"/>
              </a:lnSpc>
              <a:spcBef>
                <a:spcPts val="535"/>
              </a:spcBef>
              <a:buSzPct val="85416"/>
              <a:buFont typeface="Corbel"/>
              <a:buChar char="-"/>
              <a:tabLst>
                <a:tab pos="1268095" algn="l"/>
              </a:tabLst>
            </a:pPr>
            <a:r>
              <a:rPr sz="2400" b="1" i="1" dirty="0">
                <a:solidFill>
                  <a:srgbClr val="001F5F"/>
                </a:solidFill>
                <a:latin typeface="Corbel"/>
                <a:cs typeface="Corbel"/>
              </a:rPr>
              <a:t>“Project</a:t>
            </a:r>
            <a:r>
              <a:rPr sz="24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D911A4"/>
                </a:solidFill>
                <a:latin typeface="Corbel"/>
                <a:cs typeface="Corbel"/>
              </a:rPr>
              <a:t>uncertain</a:t>
            </a:r>
            <a:r>
              <a:rPr sz="2400" b="1" i="1" spc="-5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D911A4"/>
                </a:solidFill>
                <a:latin typeface="Corbel"/>
                <a:cs typeface="Corbel"/>
              </a:rPr>
              <a:t>event</a:t>
            </a:r>
            <a:r>
              <a:rPr sz="2400" b="1" i="1" spc="44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condition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that,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if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it </a:t>
            </a:r>
            <a:r>
              <a:rPr sz="2400" dirty="0">
                <a:latin typeface="Corbel"/>
                <a:cs typeface="Corbel"/>
              </a:rPr>
              <a:t>occurs,</a:t>
            </a:r>
            <a:r>
              <a:rPr sz="2400" spc="3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has</a:t>
            </a:r>
            <a:r>
              <a:rPr sz="2400" spc="40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positive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negative</a:t>
            </a:r>
            <a:r>
              <a:rPr sz="24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1F5F"/>
                </a:solidFill>
                <a:latin typeface="Corbel"/>
                <a:cs typeface="Corbel"/>
              </a:rPr>
              <a:t>effect</a:t>
            </a:r>
            <a:r>
              <a:rPr sz="2400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on</a:t>
            </a:r>
            <a:r>
              <a:rPr sz="2400" spc="40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one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more </a:t>
            </a:r>
            <a:r>
              <a:rPr sz="2400" b="1" i="1" dirty="0">
                <a:solidFill>
                  <a:srgbClr val="D911A4"/>
                </a:solidFill>
                <a:latin typeface="Corbel"/>
                <a:cs typeface="Corbel"/>
              </a:rPr>
              <a:t>project</a:t>
            </a:r>
            <a:r>
              <a:rPr sz="2400" b="1" i="1" spc="-4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D911A4"/>
                </a:solidFill>
                <a:latin typeface="Corbel"/>
                <a:cs typeface="Corbel"/>
              </a:rPr>
              <a:t>objectives</a:t>
            </a:r>
            <a:r>
              <a:rPr sz="2400" b="1" i="1" spc="43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such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scope,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schedule,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cost,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quality”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1268095" marR="3372485" lvl="1" indent="-437515">
              <a:lnSpc>
                <a:spcPct val="100000"/>
              </a:lnSpc>
              <a:buSzPct val="85416"/>
              <a:buChar char="-"/>
              <a:tabLst>
                <a:tab pos="1268095" algn="l"/>
              </a:tabLst>
            </a:pPr>
            <a:r>
              <a:rPr sz="2400" spc="-90" dirty="0">
                <a:latin typeface="Corbel"/>
                <a:cs typeface="Corbel"/>
              </a:rPr>
              <a:t>“A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have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one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more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causes</a:t>
            </a:r>
            <a:r>
              <a:rPr sz="2400" dirty="0">
                <a:latin typeface="Corbel"/>
                <a:cs typeface="Corbel"/>
              </a:rPr>
              <a:t>,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and,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if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it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occurs,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it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have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one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more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impacts</a:t>
            </a:r>
            <a:r>
              <a:rPr sz="2400" spc="-10" dirty="0">
                <a:latin typeface="Corbel"/>
                <a:cs typeface="Corbel"/>
              </a:rPr>
              <a:t>”.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64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b="1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means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measuring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quality</a:t>
            </a:r>
            <a:r>
              <a:rPr sz="2600" i="1" spc="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project.</a:t>
            </a:r>
            <a:endParaRPr sz="2600">
              <a:latin typeface="Corbel"/>
              <a:cs typeface="Corbel"/>
            </a:endParaRPr>
          </a:p>
          <a:p>
            <a:pPr marL="451484" marR="635635" indent="-439420">
              <a:lnSpc>
                <a:spcPct val="100000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Uncertainty</a:t>
            </a:r>
            <a:r>
              <a:rPr sz="2600" b="1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lack</a:t>
            </a:r>
            <a:r>
              <a:rPr sz="26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knowledge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about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event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reduces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confidence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in </a:t>
            </a:r>
            <a:r>
              <a:rPr sz="2600" dirty="0">
                <a:latin typeface="Corbel"/>
                <a:cs typeface="Corbel"/>
              </a:rPr>
              <a:t>conclusions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drawn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from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data.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6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all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are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bad: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present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opportunities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well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threats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project.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13392"/>
              <a:ext cx="12191999" cy="1065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8295" y="594359"/>
              <a:ext cx="7493508" cy="86410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7408" y="1741932"/>
            <a:ext cx="2761488" cy="92354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609846" y="1912747"/>
            <a:ext cx="23634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Project</a:t>
            </a:r>
            <a:r>
              <a:rPr sz="3200" spc="615" dirty="0"/>
              <a:t> </a:t>
            </a:r>
            <a:r>
              <a:rPr sz="3200" spc="-10" dirty="0"/>
              <a:t>Risks</a:t>
            </a:r>
            <a:endParaRPr sz="32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9616" y="3177539"/>
            <a:ext cx="4078224" cy="5943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1916" y="3216656"/>
            <a:ext cx="366267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orbel"/>
                <a:cs typeface="Corbel"/>
              </a:rPr>
              <a:t>Threats</a:t>
            </a:r>
            <a:r>
              <a:rPr sz="2600" b="1" spc="-25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or Negative</a:t>
            </a:r>
            <a:r>
              <a:rPr sz="2600" b="1" spc="-15" dirty="0">
                <a:latin typeface="Corbel"/>
                <a:cs typeface="Corbel"/>
              </a:rPr>
              <a:t> </a:t>
            </a:r>
            <a:r>
              <a:rPr sz="2600" b="1" spc="-10" dirty="0">
                <a:latin typeface="Corbel"/>
                <a:cs typeface="Corbel"/>
              </a:rPr>
              <a:t>Risks</a:t>
            </a:r>
            <a:endParaRPr sz="2600">
              <a:latin typeface="Corbel"/>
              <a:cs typeface="Corbe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92240" y="3195827"/>
            <a:ext cx="4558284" cy="5943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13652" y="3235579"/>
            <a:ext cx="42957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orbel"/>
                <a:cs typeface="Corbel"/>
              </a:rPr>
              <a:t>Opportunities</a:t>
            </a:r>
            <a:r>
              <a:rPr sz="2600" b="1" spc="-85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or</a:t>
            </a:r>
            <a:r>
              <a:rPr sz="2600" b="1" spc="-65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Positive</a:t>
            </a:r>
            <a:r>
              <a:rPr sz="2600" b="1" spc="-70" dirty="0">
                <a:latin typeface="Corbel"/>
                <a:cs typeface="Corbel"/>
              </a:rPr>
              <a:t> </a:t>
            </a:r>
            <a:r>
              <a:rPr sz="2600" b="1" spc="-10" dirty="0">
                <a:latin typeface="Corbel"/>
                <a:cs typeface="Corbel"/>
              </a:rPr>
              <a:t>risks</a:t>
            </a:r>
            <a:endParaRPr sz="2600">
              <a:latin typeface="Corbel"/>
              <a:cs typeface="Corbe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6531" y="3975163"/>
            <a:ext cx="5603875" cy="1097280"/>
            <a:chOff x="446531" y="3975163"/>
            <a:chExt cx="5603875" cy="1097280"/>
          </a:xfrm>
        </p:grpSpPr>
        <p:sp>
          <p:nvSpPr>
            <p:cNvPr id="14" name="object 14"/>
            <p:cNvSpPr/>
            <p:nvPr/>
          </p:nvSpPr>
          <p:spPr>
            <a:xfrm>
              <a:off x="514350" y="3975163"/>
              <a:ext cx="5535930" cy="1097280"/>
            </a:xfrm>
            <a:custGeom>
              <a:avLst/>
              <a:gdLst/>
              <a:ahLst/>
              <a:cxnLst/>
              <a:rect l="l" t="t" r="r" b="b"/>
              <a:pathLst>
                <a:path w="5535930" h="1097279">
                  <a:moveTo>
                    <a:pt x="5535676" y="0"/>
                  </a:moveTo>
                  <a:lnTo>
                    <a:pt x="0" y="0"/>
                  </a:lnTo>
                  <a:lnTo>
                    <a:pt x="0" y="1096962"/>
                  </a:lnTo>
                  <a:lnTo>
                    <a:pt x="5535676" y="1096962"/>
                  </a:lnTo>
                  <a:lnTo>
                    <a:pt x="5535676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531" y="3998976"/>
              <a:ext cx="1185671" cy="4206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14350" y="3975163"/>
            <a:ext cx="5535930" cy="1097280"/>
          </a:xfrm>
          <a:prstGeom prst="rect">
            <a:avLst/>
          </a:prstGeom>
          <a:ln w="12700">
            <a:solidFill>
              <a:srgbClr val="469248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91440" marR="145415">
              <a:lnSpc>
                <a:spcPct val="100000"/>
              </a:lnSpc>
              <a:spcBef>
                <a:spcPts val="715"/>
              </a:spcBef>
            </a:pPr>
            <a:r>
              <a:rPr sz="2000" b="1" dirty="0">
                <a:solidFill>
                  <a:srgbClr val="6600FF"/>
                </a:solidFill>
                <a:latin typeface="Corbel"/>
                <a:cs typeface="Corbel"/>
              </a:rPr>
              <a:t>Threats</a:t>
            </a:r>
            <a:r>
              <a:rPr sz="2000" b="1" spc="-50" dirty="0">
                <a:solidFill>
                  <a:srgbClr val="6600FF"/>
                </a:solidFill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which</a:t>
            </a:r>
            <a:r>
              <a:rPr sz="2000" b="1" spc="-1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occur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called</a:t>
            </a:r>
            <a:r>
              <a:rPr sz="2000" b="1" spc="-35" dirty="0"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issues</a:t>
            </a:r>
            <a:r>
              <a:rPr sz="2000" b="1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0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problems</a:t>
            </a:r>
            <a:r>
              <a:rPr sz="2000" b="1" spc="-10" dirty="0">
                <a:latin typeface="Corbel"/>
                <a:cs typeface="Corbel"/>
              </a:rPr>
              <a:t>, </a:t>
            </a:r>
            <a:r>
              <a:rPr sz="2000" b="1" dirty="0">
                <a:latin typeface="Corbel"/>
                <a:cs typeface="Corbel"/>
              </a:rPr>
              <a:t>have</a:t>
            </a:r>
            <a:r>
              <a:rPr sz="2000" b="1" spc="35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a</a:t>
            </a:r>
            <a:r>
              <a:rPr sz="2000" b="1" spc="-4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negative</a:t>
            </a:r>
            <a:r>
              <a:rPr sz="2000" b="1" spc="-3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effect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on</a:t>
            </a:r>
            <a:r>
              <a:rPr sz="2000" b="1" spc="-2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the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project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spc="-10" dirty="0">
                <a:latin typeface="Corbel"/>
                <a:cs typeface="Corbel"/>
              </a:rPr>
              <a:t>objectives. </a:t>
            </a:r>
            <a:r>
              <a:rPr sz="1800" b="1" dirty="0">
                <a:latin typeface="Corbel"/>
                <a:cs typeface="Corbel"/>
              </a:rPr>
              <a:t>E.g.,</a:t>
            </a:r>
            <a:r>
              <a:rPr sz="1800" b="1" spc="-45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Loosing</a:t>
            </a:r>
            <a:r>
              <a:rPr sz="1800" b="1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critical</a:t>
            </a:r>
            <a:r>
              <a:rPr sz="1800" b="1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resources</a:t>
            </a:r>
            <a:r>
              <a:rPr sz="1800" b="1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from</a:t>
            </a:r>
            <a:r>
              <a:rPr sz="18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1800" b="1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70320" y="3994213"/>
            <a:ext cx="5737860" cy="1097280"/>
            <a:chOff x="6370320" y="3994213"/>
            <a:chExt cx="5737860" cy="1097280"/>
          </a:xfrm>
        </p:grpSpPr>
        <p:sp>
          <p:nvSpPr>
            <p:cNvPr id="18" name="object 18"/>
            <p:cNvSpPr/>
            <p:nvPr/>
          </p:nvSpPr>
          <p:spPr>
            <a:xfrm>
              <a:off x="6438900" y="3994213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79">
                  <a:moveTo>
                    <a:pt x="5668899" y="0"/>
                  </a:moveTo>
                  <a:lnTo>
                    <a:pt x="0" y="0"/>
                  </a:lnTo>
                  <a:lnTo>
                    <a:pt x="0" y="1096962"/>
                  </a:lnTo>
                  <a:lnTo>
                    <a:pt x="5668899" y="1096962"/>
                  </a:lnTo>
                  <a:lnTo>
                    <a:pt x="5668899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0320" y="4017264"/>
              <a:ext cx="1880616" cy="4206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38900" y="3994213"/>
            <a:ext cx="5669280" cy="1097280"/>
          </a:xfrm>
          <a:prstGeom prst="rect">
            <a:avLst/>
          </a:prstGeom>
          <a:ln w="12700">
            <a:solidFill>
              <a:srgbClr val="469248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92075" marR="140335">
              <a:lnSpc>
                <a:spcPct val="100000"/>
              </a:lnSpc>
              <a:spcBef>
                <a:spcPts val="715"/>
              </a:spcBef>
            </a:pPr>
            <a:r>
              <a:rPr sz="2000" b="1" spc="-10" dirty="0">
                <a:solidFill>
                  <a:srgbClr val="6600FF"/>
                </a:solidFill>
                <a:latin typeface="Corbel"/>
                <a:cs typeface="Corbel"/>
              </a:rPr>
              <a:t>Opportunities</a:t>
            </a:r>
            <a:r>
              <a:rPr sz="2000" b="1" spc="-25" dirty="0">
                <a:solidFill>
                  <a:srgbClr val="6600FF"/>
                </a:solidFill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which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occur</a:t>
            </a:r>
            <a:r>
              <a:rPr sz="2000" b="1" spc="-2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may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be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called</a:t>
            </a:r>
            <a:r>
              <a:rPr sz="2000" b="1" spc="-45" dirty="0"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benefits, </a:t>
            </a:r>
            <a:r>
              <a:rPr sz="2000" b="1" dirty="0">
                <a:latin typeface="Corbel"/>
                <a:cs typeface="Corbel"/>
              </a:rPr>
              <a:t>have</a:t>
            </a:r>
            <a:r>
              <a:rPr sz="2000" b="1" spc="33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a</a:t>
            </a:r>
            <a:r>
              <a:rPr sz="2000" b="1" spc="-5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positive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effect</a:t>
            </a:r>
            <a:r>
              <a:rPr sz="2000" b="1" spc="-4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on</a:t>
            </a:r>
            <a:r>
              <a:rPr sz="2000" b="1" spc="-3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the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project</a:t>
            </a:r>
            <a:r>
              <a:rPr sz="2000" b="1" spc="-45" dirty="0">
                <a:latin typeface="Corbel"/>
                <a:cs typeface="Corbel"/>
              </a:rPr>
              <a:t> </a:t>
            </a:r>
            <a:r>
              <a:rPr sz="2000" b="1" spc="-10" dirty="0">
                <a:latin typeface="Corbel"/>
                <a:cs typeface="Corbel"/>
              </a:rPr>
              <a:t>objectives.</a:t>
            </a:r>
            <a:endParaRPr sz="2000">
              <a:latin typeface="Corbel"/>
              <a:cs typeface="Corbel"/>
            </a:endParaRPr>
          </a:p>
          <a:p>
            <a:pPr marL="92075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Corbel"/>
                <a:cs typeface="Corbel"/>
              </a:rPr>
              <a:t>E.g.,</a:t>
            </a:r>
            <a:r>
              <a:rPr sz="1800" b="1" spc="-35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New</a:t>
            </a:r>
            <a:r>
              <a:rPr sz="18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resource</a:t>
            </a:r>
            <a:r>
              <a:rPr sz="1800" b="1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that</a:t>
            </a:r>
            <a:r>
              <a:rPr sz="18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replacing</a:t>
            </a:r>
            <a:r>
              <a:rPr sz="18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18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lost</a:t>
            </a:r>
            <a:r>
              <a:rPr sz="18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is</a:t>
            </a:r>
            <a:r>
              <a:rPr sz="18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18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001F5F"/>
                </a:solidFill>
                <a:latin typeface="Corbel"/>
                <a:cs typeface="Corbel"/>
              </a:rPr>
              <a:t>better</a:t>
            </a:r>
            <a:r>
              <a:rPr sz="1800" b="1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spc="-20" dirty="0">
                <a:solidFill>
                  <a:srgbClr val="001F5F"/>
                </a:solidFill>
                <a:latin typeface="Corbel"/>
                <a:cs typeface="Corbel"/>
              </a:rPr>
              <a:t>one!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05961" y="2540761"/>
            <a:ext cx="5314315" cy="1459865"/>
            <a:chOff x="3505961" y="2540761"/>
            <a:chExt cx="5314315" cy="1459865"/>
          </a:xfrm>
        </p:grpSpPr>
        <p:sp>
          <p:nvSpPr>
            <p:cNvPr id="22" name="object 22"/>
            <p:cNvSpPr/>
            <p:nvPr/>
          </p:nvSpPr>
          <p:spPr>
            <a:xfrm>
              <a:off x="3543299" y="2559811"/>
              <a:ext cx="5230495" cy="647700"/>
            </a:xfrm>
            <a:custGeom>
              <a:avLst/>
              <a:gdLst/>
              <a:ahLst/>
              <a:cxnLst/>
              <a:rect l="l" t="t" r="r" b="b"/>
              <a:pathLst>
                <a:path w="5230495" h="647700">
                  <a:moveTo>
                    <a:pt x="2247900" y="888"/>
                  </a:moveTo>
                  <a:lnTo>
                    <a:pt x="2247900" y="315087"/>
                  </a:lnTo>
                  <a:lnTo>
                    <a:pt x="0" y="315087"/>
                  </a:lnTo>
                  <a:lnTo>
                    <a:pt x="0" y="629412"/>
                  </a:lnTo>
                </a:path>
                <a:path w="5230495" h="647700">
                  <a:moveTo>
                    <a:pt x="5229986" y="647700"/>
                  </a:moveTo>
                  <a:lnTo>
                    <a:pt x="5229986" y="323850"/>
                  </a:lnTo>
                  <a:lnTo>
                    <a:pt x="2247138" y="323850"/>
                  </a:lnTo>
                  <a:lnTo>
                    <a:pt x="2247138" y="0"/>
                  </a:lnTo>
                </a:path>
              </a:pathLst>
            </a:custGeom>
            <a:ln w="38100">
              <a:solidFill>
                <a:srgbClr val="469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25011" y="3725036"/>
              <a:ext cx="5276215" cy="275590"/>
            </a:xfrm>
            <a:custGeom>
              <a:avLst/>
              <a:gdLst/>
              <a:ahLst/>
              <a:cxnLst/>
              <a:rect l="l" t="t" r="r" b="b"/>
              <a:pathLst>
                <a:path w="5276215" h="275589">
                  <a:moveTo>
                    <a:pt x="0" y="0"/>
                  </a:moveTo>
                  <a:lnTo>
                    <a:pt x="0" y="274700"/>
                  </a:lnTo>
                </a:path>
                <a:path w="5276215" h="275589">
                  <a:moveTo>
                    <a:pt x="5276088" y="888"/>
                  </a:moveTo>
                  <a:lnTo>
                    <a:pt x="5276088" y="275209"/>
                  </a:lnTo>
                </a:path>
              </a:pathLst>
            </a:custGeom>
            <a:ln w="38100">
              <a:solidFill>
                <a:srgbClr val="469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8942" y="5160721"/>
            <a:ext cx="560006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4090"/>
              <a:buFont typeface="Cambria"/>
              <a:buChar char="◾"/>
              <a:tabLst>
                <a:tab pos="355600" algn="l"/>
              </a:tabLst>
            </a:pPr>
            <a:r>
              <a:rPr sz="2200" dirty="0">
                <a:latin typeface="Corbel"/>
                <a:cs typeface="Corbel"/>
              </a:rPr>
              <a:t>A</a:t>
            </a:r>
            <a:r>
              <a:rPr sz="2200" spc="-7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manager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will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proactively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manage </a:t>
            </a:r>
            <a:r>
              <a:rPr sz="2200" dirty="0">
                <a:latin typeface="Corbel"/>
                <a:cs typeface="Corbel"/>
              </a:rPr>
              <a:t>threats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to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and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look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for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ways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to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reduce</a:t>
            </a:r>
            <a:r>
              <a:rPr sz="2200" b="1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30" dirty="0">
                <a:latin typeface="Corbel"/>
                <a:cs typeface="Corbel"/>
              </a:rPr>
              <a:t> </a:t>
            </a:r>
            <a:r>
              <a:rPr sz="2200" b="1" i="1" spc="-10" dirty="0">
                <a:solidFill>
                  <a:srgbClr val="D911A4"/>
                </a:solidFill>
                <a:latin typeface="Corbel"/>
                <a:cs typeface="Corbel"/>
              </a:rPr>
              <a:t>probability</a:t>
            </a:r>
            <a:r>
              <a:rPr sz="2200" b="1" i="1" spc="-3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D911A4"/>
                </a:solidFill>
                <a:latin typeface="Corbel"/>
                <a:cs typeface="Corbel"/>
              </a:rPr>
              <a:t>or</a:t>
            </a:r>
            <a:r>
              <a:rPr sz="2200" b="1" i="1" spc="-4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D911A4"/>
                </a:solidFill>
                <a:latin typeface="Corbel"/>
                <a:cs typeface="Corbel"/>
              </a:rPr>
              <a:t>impact</a:t>
            </a:r>
            <a:r>
              <a:rPr sz="2200" b="1" i="1" spc="-2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of</a:t>
            </a:r>
            <a:r>
              <a:rPr sz="2200" spc="-3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2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threat </a:t>
            </a:r>
            <a:r>
              <a:rPr sz="2200" i="1" spc="-10" dirty="0">
                <a:solidFill>
                  <a:srgbClr val="001F5F"/>
                </a:solidFill>
                <a:latin typeface="Corbel"/>
                <a:cs typeface="Corbel"/>
              </a:rPr>
              <a:t>(Mitigate)</a:t>
            </a:r>
            <a:r>
              <a:rPr sz="22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eliminate</a:t>
            </a:r>
            <a:r>
              <a:rPr sz="2200" b="1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threat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all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together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1842" y="6573588"/>
            <a:ext cx="40963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5"/>
              </a:lnSpc>
            </a:pPr>
            <a:r>
              <a:rPr sz="2200" i="1" spc="-10" dirty="0">
                <a:solidFill>
                  <a:srgbClr val="001F5F"/>
                </a:solidFill>
                <a:latin typeface="Corbel"/>
                <a:cs typeface="Corbel"/>
              </a:rPr>
              <a:t>(avoid)</a:t>
            </a:r>
            <a:r>
              <a:rPr sz="22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transfer</a:t>
            </a:r>
            <a:r>
              <a:rPr sz="2200" b="1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to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another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party.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>
              <a:lnSpc>
                <a:spcPts val="209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5" name="object 25"/>
          <p:cNvSpPr txBox="1"/>
          <p:nvPr/>
        </p:nvSpPr>
        <p:spPr>
          <a:xfrm>
            <a:off x="6289675" y="5275021"/>
            <a:ext cx="563753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4090"/>
              <a:buFont typeface="Cambria"/>
              <a:buChar char="◾"/>
              <a:tabLst>
                <a:tab pos="355600" algn="l"/>
              </a:tabLst>
            </a:pPr>
            <a:r>
              <a:rPr sz="2200" dirty="0">
                <a:latin typeface="Corbel"/>
                <a:cs typeface="Corbel"/>
              </a:rPr>
              <a:t>A</a:t>
            </a:r>
            <a:r>
              <a:rPr sz="2200" spc="-7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manager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will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proactively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manage opportunities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to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and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look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for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20" dirty="0">
                <a:latin typeface="Corbel"/>
                <a:cs typeface="Corbel"/>
              </a:rPr>
              <a:t>ways </a:t>
            </a:r>
            <a:r>
              <a:rPr sz="2200" dirty="0">
                <a:latin typeface="Corbel"/>
                <a:cs typeface="Corbel"/>
              </a:rPr>
              <a:t>to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exploit,</a:t>
            </a:r>
            <a:r>
              <a:rPr sz="2200" b="1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enhance</a:t>
            </a:r>
            <a:r>
              <a:rPr sz="2200" dirty="0">
                <a:latin typeface="Corbel"/>
                <a:cs typeface="Corbel"/>
              </a:rPr>
              <a:t>,</a:t>
            </a:r>
            <a:r>
              <a:rPr sz="2200" spc="-3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Corbel"/>
                <a:cs typeface="Corbel"/>
              </a:rPr>
              <a:t>share</a:t>
            </a:r>
            <a:r>
              <a:rPr sz="22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opportunity.</a:t>
            </a:r>
            <a:endParaRPr sz="2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594359"/>
            <a:ext cx="7493508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0466" y="1581658"/>
            <a:ext cx="11405870" cy="530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 indent="-441325" algn="just">
              <a:lnSpc>
                <a:spcPts val="3235"/>
              </a:lnSpc>
              <a:spcBef>
                <a:spcPts val="100"/>
              </a:spcBef>
              <a:buClr>
                <a:srgbClr val="D9243D"/>
              </a:buClr>
              <a:buSzPct val="85185"/>
              <a:buFont typeface="Cambria"/>
              <a:buChar char="◾"/>
              <a:tabLst>
                <a:tab pos="454025" algn="l"/>
              </a:tabLst>
            </a:pPr>
            <a:r>
              <a:rPr sz="2700" dirty="0">
                <a:latin typeface="Corbel"/>
                <a:cs typeface="Corbel"/>
              </a:rPr>
              <a:t>It</a:t>
            </a:r>
            <a:r>
              <a:rPr sz="2700" spc="-65" dirty="0"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is</a:t>
            </a:r>
            <a:r>
              <a:rPr sz="2700" spc="-50" dirty="0"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important</a:t>
            </a:r>
            <a:r>
              <a:rPr sz="2700" spc="-40" dirty="0"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to</a:t>
            </a:r>
            <a:r>
              <a:rPr sz="2700" spc="-50" dirty="0"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distinguish</a:t>
            </a:r>
            <a:r>
              <a:rPr sz="2700" spc="-50" dirty="0"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between</a:t>
            </a:r>
            <a:r>
              <a:rPr sz="2700" spc="-55" dirty="0"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causes</a:t>
            </a:r>
            <a:r>
              <a:rPr sz="27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risks,</a:t>
            </a:r>
            <a:r>
              <a:rPr sz="27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7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dirty="0">
                <a:latin typeface="Corbel"/>
                <a:cs typeface="Corbel"/>
              </a:rPr>
              <a:t>and</a:t>
            </a:r>
            <a:r>
              <a:rPr sz="2700" spc="-40" dirty="0"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7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effects</a:t>
            </a:r>
            <a:r>
              <a:rPr sz="27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7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700" i="1" spc="-10" dirty="0">
                <a:solidFill>
                  <a:srgbClr val="001F5F"/>
                </a:solidFill>
                <a:latin typeface="Corbel"/>
                <a:cs typeface="Corbel"/>
              </a:rPr>
              <a:t>risks.</a:t>
            </a:r>
            <a:endParaRPr sz="2700">
              <a:latin typeface="Corbel"/>
              <a:cs typeface="Corbel"/>
            </a:endParaRPr>
          </a:p>
          <a:p>
            <a:pPr marL="448309" indent="-435609" algn="just">
              <a:lnSpc>
                <a:spcPts val="3354"/>
              </a:lnSpc>
              <a:buClr>
                <a:srgbClr val="D9243D"/>
              </a:buClr>
              <a:buSzPct val="83928"/>
              <a:buFont typeface="Cambria"/>
              <a:buChar char="◾"/>
              <a:tabLst>
                <a:tab pos="448309" algn="l"/>
              </a:tabLst>
            </a:pPr>
            <a:r>
              <a:rPr sz="2800" b="1" i="1" spc="-10" dirty="0">
                <a:latin typeface="Corbel"/>
                <a:cs typeface="Corbel"/>
              </a:rPr>
              <a:t>Causes</a:t>
            </a:r>
            <a:endParaRPr sz="2800">
              <a:latin typeface="Corbel"/>
              <a:cs typeface="Corbel"/>
            </a:endParaRPr>
          </a:p>
          <a:p>
            <a:pPr marL="1040765" marR="112395" lvl="1" indent="-342900" algn="just">
              <a:lnSpc>
                <a:spcPct val="100000"/>
              </a:lnSpc>
              <a:spcBef>
                <a:spcPts val="25"/>
              </a:spcBef>
              <a:buSzPct val="85416"/>
              <a:buChar char="-"/>
              <a:tabLst>
                <a:tab pos="1040765" algn="l"/>
              </a:tabLst>
            </a:pPr>
            <a:r>
              <a:rPr sz="2400" dirty="0">
                <a:latin typeface="Corbel"/>
                <a:cs typeface="Corbel"/>
              </a:rPr>
              <a:t>Events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circumstances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which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currently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exist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are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certain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exist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in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future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which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might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give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rise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400" dirty="0">
                <a:latin typeface="Corbel"/>
                <a:cs typeface="Corbel"/>
              </a:rPr>
              <a:t>.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E.g.,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Never</a:t>
            </a:r>
            <a:r>
              <a:rPr sz="2400" i="1" spc="-2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done</a:t>
            </a:r>
            <a:r>
              <a:rPr sz="2400" i="1" spc="-6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a</a:t>
            </a:r>
            <a:r>
              <a:rPr sz="2400" i="1" spc="-4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similar</a:t>
            </a:r>
            <a:r>
              <a:rPr sz="2400" i="1" spc="-4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D911A4"/>
                </a:solidFill>
                <a:latin typeface="Corbel"/>
                <a:cs typeface="Corbel"/>
              </a:rPr>
              <a:t>project</a:t>
            </a:r>
            <a:endParaRPr sz="2400">
              <a:latin typeface="Corbel"/>
              <a:cs typeface="Corbel"/>
            </a:endParaRPr>
          </a:p>
          <a:p>
            <a:pPr marL="448309" indent="-435609" algn="just">
              <a:lnSpc>
                <a:spcPts val="3329"/>
              </a:lnSpc>
              <a:buClr>
                <a:srgbClr val="D9243D"/>
              </a:buClr>
              <a:buSzPct val="83928"/>
              <a:buFont typeface="Cambria"/>
              <a:buChar char="◾"/>
              <a:tabLst>
                <a:tab pos="448309" algn="l"/>
              </a:tabLst>
            </a:pPr>
            <a:r>
              <a:rPr sz="2800" b="1" i="1" spc="-10" dirty="0">
                <a:latin typeface="Corbel"/>
                <a:cs typeface="Corbel"/>
              </a:rPr>
              <a:t>Risks</a:t>
            </a:r>
            <a:endParaRPr sz="2800">
              <a:latin typeface="Corbel"/>
              <a:cs typeface="Corbel"/>
            </a:endParaRPr>
          </a:p>
          <a:p>
            <a:pPr marL="1041400" lvl="1" indent="-343535" algn="just">
              <a:lnSpc>
                <a:spcPct val="100000"/>
              </a:lnSpc>
              <a:spcBef>
                <a:spcPts val="30"/>
              </a:spcBef>
              <a:buSzPct val="85416"/>
              <a:buChar char="-"/>
              <a:tabLst>
                <a:tab pos="1041400" algn="l"/>
              </a:tabLst>
            </a:pPr>
            <a:r>
              <a:rPr sz="2400" dirty="0">
                <a:latin typeface="Corbel"/>
                <a:cs typeface="Corbel"/>
              </a:rPr>
              <a:t>Are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uncertain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future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events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conditions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which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may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may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occur</a:t>
            </a:r>
            <a:r>
              <a:rPr sz="2400" dirty="0">
                <a:latin typeface="Corbel"/>
                <a:cs typeface="Corbel"/>
              </a:rPr>
              <a:t>,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which</a:t>
            </a:r>
            <a:endParaRPr sz="2400">
              <a:latin typeface="Corbel"/>
              <a:cs typeface="Corbel"/>
            </a:endParaRPr>
          </a:p>
          <a:p>
            <a:pPr marL="1040765" algn="just">
              <a:lnSpc>
                <a:spcPts val="2865"/>
              </a:lnSpc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would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matter</a:t>
            </a:r>
            <a:r>
              <a:rPr sz="24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if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they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did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occur.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E.g.,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Client</a:t>
            </a:r>
            <a:r>
              <a:rPr sz="2400" i="1" spc="-5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D911A4"/>
                </a:solidFill>
                <a:latin typeface="Corbel"/>
                <a:cs typeface="Corbel"/>
              </a:rPr>
              <a:t>expectations</a:t>
            </a:r>
            <a:r>
              <a:rPr sz="2400" i="1" spc="-2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may</a:t>
            </a:r>
            <a:r>
              <a:rPr sz="2400" i="1" spc="-3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be</a:t>
            </a:r>
            <a:r>
              <a:rPr sz="2400" i="1" spc="-4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D911A4"/>
                </a:solidFill>
                <a:latin typeface="Corbel"/>
                <a:cs typeface="Corbel"/>
              </a:rPr>
              <a:t>misunderstood</a:t>
            </a:r>
            <a:endParaRPr sz="2400">
              <a:latin typeface="Corbel"/>
              <a:cs typeface="Corbel"/>
            </a:endParaRPr>
          </a:p>
          <a:p>
            <a:pPr marL="448309" indent="-435609" algn="just">
              <a:lnSpc>
                <a:spcPts val="3345"/>
              </a:lnSpc>
              <a:buClr>
                <a:srgbClr val="D9243D"/>
              </a:buClr>
              <a:buSzPct val="83928"/>
              <a:buFont typeface="Cambria"/>
              <a:buChar char="◾"/>
              <a:tabLst>
                <a:tab pos="448309" algn="l"/>
              </a:tabLst>
            </a:pPr>
            <a:r>
              <a:rPr sz="2800" b="1" i="1" spc="-10" dirty="0">
                <a:latin typeface="Corbel"/>
                <a:cs typeface="Corbel"/>
              </a:rPr>
              <a:t>Effects</a:t>
            </a:r>
            <a:endParaRPr sz="2800">
              <a:latin typeface="Corbel"/>
              <a:cs typeface="Corbel"/>
            </a:endParaRPr>
          </a:p>
          <a:p>
            <a:pPr marL="1040765" marR="26670" lvl="1" indent="-342900" algn="just">
              <a:lnSpc>
                <a:spcPct val="100000"/>
              </a:lnSpc>
              <a:spcBef>
                <a:spcPts val="30"/>
              </a:spcBef>
              <a:buSzPct val="85416"/>
              <a:buChar char="-"/>
              <a:tabLst>
                <a:tab pos="1040765" algn="l"/>
              </a:tabLst>
            </a:pPr>
            <a:r>
              <a:rPr sz="2400" dirty="0">
                <a:latin typeface="Corbel"/>
                <a:cs typeface="Corbel"/>
              </a:rPr>
              <a:t>These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unplanned</a:t>
            </a:r>
            <a:r>
              <a:rPr sz="24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variations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from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objectives,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either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positive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negative, </a:t>
            </a:r>
            <a:r>
              <a:rPr sz="2400" dirty="0">
                <a:latin typeface="Corbel"/>
                <a:cs typeface="Corbel"/>
              </a:rPr>
              <a:t>which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arise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result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occurring.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E.g.,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Failing</a:t>
            </a:r>
            <a:r>
              <a:rPr sz="2400" i="1" spc="-5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to</a:t>
            </a:r>
            <a:r>
              <a:rPr sz="2400" i="1" spc="-4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meet</a:t>
            </a:r>
            <a:r>
              <a:rPr sz="2400" i="1" spc="-3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D911A4"/>
                </a:solidFill>
                <a:latin typeface="Corbel"/>
                <a:cs typeface="Corbel"/>
              </a:rPr>
              <a:t>contractual</a:t>
            </a:r>
            <a:r>
              <a:rPr sz="2400" i="1" spc="-30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D911A4"/>
                </a:solidFill>
                <a:latin typeface="Corbel"/>
                <a:cs typeface="Corbel"/>
              </a:rPr>
              <a:t>agreement</a:t>
            </a:r>
            <a:endParaRPr sz="2400">
              <a:latin typeface="Corbel"/>
              <a:cs typeface="Corbel"/>
            </a:endParaRPr>
          </a:p>
          <a:p>
            <a:pPr marL="450850" indent="-438150" algn="just">
              <a:lnSpc>
                <a:spcPts val="3000"/>
              </a:lnSpc>
              <a:buClr>
                <a:srgbClr val="D9243D"/>
              </a:buClr>
              <a:buSzPct val="84000"/>
              <a:buFont typeface="Cambria"/>
              <a:buChar char="◾"/>
              <a:tabLst>
                <a:tab pos="450850" algn="l"/>
              </a:tabLst>
            </a:pPr>
            <a:r>
              <a:rPr sz="2500" dirty="0">
                <a:solidFill>
                  <a:srgbClr val="001F5F"/>
                </a:solidFill>
                <a:latin typeface="Corbel"/>
                <a:cs typeface="Corbel"/>
              </a:rPr>
              <a:t>Structured</a:t>
            </a:r>
            <a:r>
              <a:rPr sz="2500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500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001F5F"/>
                </a:solidFill>
                <a:latin typeface="Corbel"/>
                <a:cs typeface="Corbel"/>
              </a:rPr>
              <a:t>statement</a:t>
            </a:r>
            <a:r>
              <a:rPr sz="2500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001F5F"/>
                </a:solidFill>
                <a:latin typeface="Corbel"/>
                <a:cs typeface="Corbel"/>
              </a:rPr>
              <a:t>(Meta-Language)</a:t>
            </a:r>
            <a:endParaRPr sz="2500">
              <a:latin typeface="Corbel"/>
              <a:cs typeface="Corbel"/>
            </a:endParaRPr>
          </a:p>
          <a:p>
            <a:pPr marL="1840864" marR="142240" lvl="1" indent="-342900" algn="just">
              <a:lnSpc>
                <a:spcPct val="100000"/>
              </a:lnSpc>
              <a:spcBef>
                <a:spcPts val="25"/>
              </a:spcBef>
              <a:buSzPct val="84090"/>
              <a:buChar char="-"/>
              <a:tabLst>
                <a:tab pos="1840864" algn="l"/>
                <a:tab pos="1842770" algn="l"/>
              </a:tabLst>
            </a:pPr>
            <a:r>
              <a:rPr sz="2200" dirty="0">
                <a:latin typeface="Corbel"/>
                <a:cs typeface="Corbel"/>
              </a:rPr>
              <a:t>	“Because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our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organization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has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never</a:t>
            </a:r>
            <a:r>
              <a:rPr sz="2200" spc="-3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done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like</a:t>
            </a:r>
            <a:r>
              <a:rPr sz="2200" spc="-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this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before</a:t>
            </a:r>
            <a:r>
              <a:rPr sz="2200" spc="10" dirty="0">
                <a:latin typeface="Corbel"/>
                <a:cs typeface="Corbel"/>
              </a:rPr>
              <a:t> </a:t>
            </a:r>
            <a:r>
              <a:rPr sz="2200" b="1" i="1" dirty="0">
                <a:latin typeface="Corbel"/>
                <a:cs typeface="Corbel"/>
              </a:rPr>
              <a:t>(fact</a:t>
            </a:r>
            <a:r>
              <a:rPr sz="2200" b="1" i="1" spc="-35" dirty="0">
                <a:latin typeface="Corbel"/>
                <a:cs typeface="Corbel"/>
              </a:rPr>
              <a:t> </a:t>
            </a:r>
            <a:r>
              <a:rPr sz="2200" b="1" i="1" dirty="0">
                <a:latin typeface="Corbel"/>
                <a:cs typeface="Corbel"/>
              </a:rPr>
              <a:t>=</a:t>
            </a:r>
            <a:r>
              <a:rPr sz="2200" b="1" i="1" spc="-50" dirty="0">
                <a:latin typeface="Corbel"/>
                <a:cs typeface="Corbel"/>
              </a:rPr>
              <a:t> </a:t>
            </a:r>
            <a:r>
              <a:rPr sz="2200" b="1" i="1" spc="-10" dirty="0">
                <a:latin typeface="Corbel"/>
                <a:cs typeface="Corbel"/>
              </a:rPr>
              <a:t>cause), </a:t>
            </a:r>
            <a:r>
              <a:rPr sz="2200" dirty="0">
                <a:latin typeface="Corbel"/>
                <a:cs typeface="Corbel"/>
              </a:rPr>
              <a:t>we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might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misunderstand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customer's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requirement</a:t>
            </a:r>
            <a:r>
              <a:rPr sz="2200" spc="25" dirty="0">
                <a:latin typeface="Corbel"/>
                <a:cs typeface="Corbel"/>
              </a:rPr>
              <a:t> </a:t>
            </a:r>
            <a:r>
              <a:rPr sz="2200" b="1" i="1" spc="-10" dirty="0">
                <a:latin typeface="Corbel"/>
                <a:cs typeface="Corbel"/>
              </a:rPr>
              <a:t>(uncertainty</a:t>
            </a:r>
            <a:r>
              <a:rPr sz="2200" b="1" i="1" spc="-45" dirty="0">
                <a:latin typeface="Corbel"/>
                <a:cs typeface="Corbel"/>
              </a:rPr>
              <a:t> </a:t>
            </a:r>
            <a:r>
              <a:rPr sz="2200" b="1" i="1" dirty="0">
                <a:latin typeface="Corbel"/>
                <a:cs typeface="Corbel"/>
              </a:rPr>
              <a:t>=</a:t>
            </a:r>
            <a:r>
              <a:rPr sz="2200" b="1" i="1" spc="-60" dirty="0">
                <a:latin typeface="Corbel"/>
                <a:cs typeface="Corbel"/>
              </a:rPr>
              <a:t> </a:t>
            </a:r>
            <a:r>
              <a:rPr sz="2200" b="1" i="1" dirty="0">
                <a:latin typeface="Corbel"/>
                <a:cs typeface="Corbel"/>
              </a:rPr>
              <a:t>risk),</a:t>
            </a:r>
            <a:r>
              <a:rPr sz="2200" b="1" i="1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and</a:t>
            </a:r>
            <a:r>
              <a:rPr sz="2200" spc="-75" dirty="0"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our </a:t>
            </a:r>
            <a:r>
              <a:rPr sz="2200" dirty="0">
                <a:latin typeface="Corbel"/>
                <a:cs typeface="Corbel"/>
              </a:rPr>
              <a:t>solution</a:t>
            </a:r>
            <a:r>
              <a:rPr sz="2200" spc="-7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would</a:t>
            </a:r>
            <a:r>
              <a:rPr sz="2200" spc="-7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not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meet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performance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b="1" i="1" spc="-10" dirty="0">
                <a:latin typeface="Corbel"/>
                <a:cs typeface="Corbel"/>
              </a:rPr>
              <a:t>(effect)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8318" y="6931267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solidFill>
                  <a:srgbClr val="3E3E3E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594359"/>
            <a:ext cx="7493508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2866" y="1618234"/>
            <a:ext cx="11481435" cy="5172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Project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risks</a:t>
            </a:r>
            <a:r>
              <a:rPr sz="2800" spc="-1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may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be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known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or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unknown.</a:t>
            </a:r>
            <a:endParaRPr sz="2800">
              <a:latin typeface="Corbel"/>
              <a:cs typeface="Corbel"/>
            </a:endParaRPr>
          </a:p>
          <a:p>
            <a:pPr marL="451484" marR="878205" indent="-439420">
              <a:lnSpc>
                <a:spcPts val="3180"/>
              </a:lnSpc>
              <a:spcBef>
                <a:spcPts val="260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25" dirty="0">
                <a:latin typeface="Corbel"/>
                <a:cs typeface="Corbel"/>
              </a:rPr>
              <a:t>Known-</a:t>
            </a:r>
            <a:r>
              <a:rPr sz="2800" b="1" dirty="0">
                <a:latin typeface="Corbel"/>
                <a:cs typeface="Corbel"/>
              </a:rPr>
              <a:t>unknowns:</a:t>
            </a:r>
            <a:r>
              <a:rPr sz="2800" b="1" spc="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refer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those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know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have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probability</a:t>
            </a:r>
            <a:r>
              <a:rPr sz="26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of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occurring,</a:t>
            </a:r>
            <a:r>
              <a:rPr sz="26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but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do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know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precise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impact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will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have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project.</a:t>
            </a:r>
            <a:endParaRPr sz="2600">
              <a:latin typeface="Corbel"/>
              <a:cs typeface="Corbel"/>
            </a:endParaRPr>
          </a:p>
          <a:p>
            <a:pPr marL="1269365" lvl="1" indent="-398780">
              <a:lnSpc>
                <a:spcPts val="3005"/>
              </a:lnSpc>
              <a:buSzPct val="84615"/>
              <a:buFont typeface="Arial MT"/>
              <a:buChar char="•"/>
              <a:tabLst>
                <a:tab pos="1269365" algn="l"/>
              </a:tabLst>
            </a:pPr>
            <a:r>
              <a:rPr sz="2600" dirty="0">
                <a:latin typeface="Corbel"/>
                <a:cs typeface="Corbel"/>
              </a:rPr>
              <a:t>Cannot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managed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directly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but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mitigated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by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use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contingency</a:t>
            </a:r>
            <a:endParaRPr sz="2600">
              <a:latin typeface="Corbel"/>
              <a:cs typeface="Corbel"/>
            </a:endParaRPr>
          </a:p>
          <a:p>
            <a:pPr marL="2413000" marR="641350" lvl="2" indent="-342900">
              <a:lnSpc>
                <a:spcPct val="100000"/>
              </a:lnSpc>
              <a:spcBef>
                <a:spcPts val="5"/>
              </a:spcBef>
              <a:buSzPct val="85416"/>
              <a:buFont typeface="Corbel"/>
              <a:buChar char="-"/>
              <a:tabLst>
                <a:tab pos="2413000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Example: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Key</a:t>
            </a:r>
            <a:r>
              <a:rPr sz="2400" i="1" spc="-5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personnel</a:t>
            </a:r>
            <a:r>
              <a:rPr sz="2400" i="1" spc="-7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leave</a:t>
            </a:r>
            <a:r>
              <a:rPr sz="2400" i="1" spc="-5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project,</a:t>
            </a:r>
            <a:r>
              <a:rPr sz="2400" i="1" spc="-6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Potential</a:t>
            </a:r>
            <a:r>
              <a:rPr sz="2400" i="1" spc="-6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delay</a:t>
            </a:r>
            <a:r>
              <a:rPr sz="2400" i="1" spc="-7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in</a:t>
            </a:r>
            <a:r>
              <a:rPr sz="2400" i="1" spc="-6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delivery</a:t>
            </a:r>
            <a:r>
              <a:rPr sz="2400" i="1" spc="-75" dirty="0">
                <a:latin typeface="Corbel"/>
                <a:cs typeface="Corbel"/>
              </a:rPr>
              <a:t> </a:t>
            </a:r>
            <a:r>
              <a:rPr sz="2400" i="1" spc="-20" dirty="0">
                <a:latin typeface="Corbel"/>
                <a:cs typeface="Corbel"/>
              </a:rPr>
              <a:t>from </a:t>
            </a:r>
            <a:r>
              <a:rPr sz="2400" i="1" dirty="0">
                <a:latin typeface="Corbel"/>
                <a:cs typeface="Corbel"/>
              </a:rPr>
              <a:t>third-party</a:t>
            </a:r>
            <a:r>
              <a:rPr sz="2400" i="1" spc="-105" dirty="0">
                <a:latin typeface="Corbel"/>
                <a:cs typeface="Corbel"/>
              </a:rPr>
              <a:t> </a:t>
            </a:r>
            <a:r>
              <a:rPr sz="2400" i="1" spc="-10" dirty="0">
                <a:latin typeface="Corbel"/>
                <a:cs typeface="Corbel"/>
              </a:rPr>
              <a:t>vendor,</a:t>
            </a:r>
            <a:r>
              <a:rPr sz="2400" i="1" spc="-6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Development</a:t>
            </a:r>
            <a:r>
              <a:rPr sz="2400" i="1" spc="-3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systems</a:t>
            </a:r>
            <a:r>
              <a:rPr sz="2400" i="1" spc="-4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down</a:t>
            </a:r>
            <a:r>
              <a:rPr sz="2400" dirty="0">
                <a:latin typeface="Corbel"/>
                <a:cs typeface="Corbel"/>
              </a:rPr>
              <a:t>,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etc.</a:t>
            </a:r>
            <a:endParaRPr sz="2400">
              <a:latin typeface="Corbel"/>
              <a:cs typeface="Corbel"/>
            </a:endParaRPr>
          </a:p>
          <a:p>
            <a:pPr marL="1269365" lvl="1" indent="-398780">
              <a:lnSpc>
                <a:spcPts val="3105"/>
              </a:lnSpc>
              <a:buSzPct val="84615"/>
              <a:buFont typeface="Arial MT"/>
              <a:buChar char="•"/>
              <a:tabLst>
                <a:tab pos="1269365" algn="l"/>
              </a:tabLst>
            </a:pP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Contingency</a:t>
            </a:r>
            <a:r>
              <a:rPr sz="2600" b="1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reserve</a:t>
            </a:r>
            <a:r>
              <a:rPr sz="2600" b="1" i="1" spc="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-</a:t>
            </a:r>
            <a:r>
              <a:rPr sz="2600" spc="-17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This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fund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“known-unknowns“.</a:t>
            </a:r>
            <a:endParaRPr sz="2600">
              <a:latin typeface="Corbel"/>
              <a:cs typeface="Corbel"/>
            </a:endParaRPr>
          </a:p>
          <a:p>
            <a:pPr marL="451484" marR="568960" indent="-439420">
              <a:lnSpc>
                <a:spcPts val="3180"/>
              </a:lnSpc>
              <a:spcBef>
                <a:spcPts val="250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25" dirty="0">
                <a:latin typeface="Corbel"/>
                <a:cs typeface="Corbel"/>
              </a:rPr>
              <a:t>Unknown-</a:t>
            </a:r>
            <a:r>
              <a:rPr sz="2800" b="1" dirty="0">
                <a:latin typeface="Corbel"/>
                <a:cs typeface="Corbel"/>
              </a:rPr>
              <a:t>unknowns:</a:t>
            </a:r>
            <a:r>
              <a:rPr sz="2800" b="1" spc="29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Those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do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20" dirty="0">
                <a:latin typeface="Corbel"/>
                <a:cs typeface="Corbel"/>
              </a:rPr>
              <a:t>occur,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but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extremely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difficult</a:t>
            </a:r>
            <a:r>
              <a:rPr sz="26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identify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</a:t>
            </a:r>
            <a:r>
              <a:rPr sz="2600" spc="-10" dirty="0">
                <a:latin typeface="Corbel"/>
                <a:cs typeface="Corbel"/>
              </a:rPr>
              <a:t> advance.</a:t>
            </a:r>
            <a:r>
              <a:rPr sz="2600" spc="-1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those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which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you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don’t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anticipate.</a:t>
            </a:r>
            <a:endParaRPr sz="2600">
              <a:latin typeface="Corbel"/>
              <a:cs typeface="Corbel"/>
            </a:endParaRPr>
          </a:p>
          <a:p>
            <a:pPr marL="1269365" lvl="1" indent="-342900">
              <a:lnSpc>
                <a:spcPts val="3005"/>
              </a:lnSpc>
              <a:buSzPct val="84615"/>
              <a:buFont typeface="Arial MT"/>
              <a:buChar char="•"/>
              <a:tabLst>
                <a:tab pos="1269365" algn="l"/>
              </a:tabLst>
            </a:pPr>
            <a:r>
              <a:rPr sz="2600" spc="-10" dirty="0">
                <a:latin typeface="Corbel"/>
                <a:cs typeface="Corbel"/>
              </a:rPr>
              <a:t>Basically,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you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didn’t even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identify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until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has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occurred.</a:t>
            </a:r>
            <a:endParaRPr sz="2600">
              <a:latin typeface="Corbel"/>
              <a:cs typeface="Corbel"/>
            </a:endParaRPr>
          </a:p>
          <a:p>
            <a:pPr marL="2413000" marR="385445" lvl="2" indent="-342900">
              <a:lnSpc>
                <a:spcPct val="100000"/>
              </a:lnSpc>
              <a:spcBef>
                <a:spcPts val="5"/>
              </a:spcBef>
              <a:buSzPct val="85416"/>
              <a:buFont typeface="Corbel"/>
              <a:buChar char="-"/>
              <a:tabLst>
                <a:tab pos="2413000" algn="l"/>
              </a:tabLst>
            </a:pP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Examples:</a:t>
            </a:r>
            <a:r>
              <a:rPr sz="2400" i="1" spc="-1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latin typeface="Corbel"/>
                <a:cs typeface="Corbel"/>
              </a:rPr>
              <a:t>Corporate</a:t>
            </a:r>
            <a:r>
              <a:rPr sz="2400" i="1" spc="-8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failures,</a:t>
            </a:r>
            <a:r>
              <a:rPr sz="2400" i="1" spc="-5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natural</a:t>
            </a:r>
            <a:r>
              <a:rPr sz="2400" i="1" spc="-5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disasters,</a:t>
            </a:r>
            <a:r>
              <a:rPr sz="2400" i="1" spc="-4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acts</a:t>
            </a:r>
            <a:r>
              <a:rPr sz="2400" i="1" spc="-3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of</a:t>
            </a:r>
            <a:r>
              <a:rPr sz="2400" i="1" spc="-55" dirty="0">
                <a:latin typeface="Corbel"/>
                <a:cs typeface="Corbel"/>
              </a:rPr>
              <a:t> </a:t>
            </a:r>
            <a:r>
              <a:rPr sz="2400" i="1" spc="-10" dirty="0">
                <a:latin typeface="Corbel"/>
                <a:cs typeface="Corbel"/>
              </a:rPr>
              <a:t>terrorism</a:t>
            </a:r>
            <a:r>
              <a:rPr sz="2400" i="1" spc="-5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or</a:t>
            </a:r>
            <a:r>
              <a:rPr sz="2400" i="1" spc="-50" dirty="0">
                <a:latin typeface="Corbel"/>
                <a:cs typeface="Corbel"/>
              </a:rPr>
              <a:t> </a:t>
            </a:r>
            <a:r>
              <a:rPr sz="2400" i="1" spc="-20" dirty="0">
                <a:latin typeface="Corbel"/>
                <a:cs typeface="Corbel"/>
              </a:rPr>
              <a:t>war, </a:t>
            </a:r>
            <a:r>
              <a:rPr sz="2400" i="1" dirty="0">
                <a:latin typeface="Corbel"/>
                <a:cs typeface="Corbel"/>
              </a:rPr>
              <a:t>major</a:t>
            </a:r>
            <a:r>
              <a:rPr sz="2400" i="1" spc="-7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snowstorm</a:t>
            </a:r>
            <a:r>
              <a:rPr sz="2400" i="1" spc="-4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and</a:t>
            </a:r>
            <a:r>
              <a:rPr sz="2400" i="1" spc="-60" dirty="0">
                <a:latin typeface="Corbel"/>
                <a:cs typeface="Corbel"/>
              </a:rPr>
              <a:t> </a:t>
            </a:r>
            <a:r>
              <a:rPr sz="2400" i="1" spc="-20" dirty="0">
                <a:latin typeface="Corbel"/>
                <a:cs typeface="Corbel"/>
              </a:rPr>
              <a:t>etc.</a:t>
            </a:r>
            <a:endParaRPr sz="2400">
              <a:latin typeface="Corbel"/>
              <a:cs typeface="Corbel"/>
            </a:endParaRPr>
          </a:p>
          <a:p>
            <a:pPr marL="1269365" lvl="1" indent="-342900">
              <a:lnSpc>
                <a:spcPct val="100000"/>
              </a:lnSpc>
              <a:spcBef>
                <a:spcPts val="170"/>
              </a:spcBef>
              <a:buSzPct val="84615"/>
              <a:buFont typeface="Arial MT"/>
              <a:buChar char="•"/>
              <a:tabLst>
                <a:tab pos="1269365" algn="l"/>
              </a:tabLst>
            </a:pP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600" b="1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reserve</a:t>
            </a:r>
            <a:r>
              <a:rPr sz="2600" b="1" i="1" spc="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-</a:t>
            </a:r>
            <a:r>
              <a:rPr sz="2600" spc="-17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This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“unknown-unknowns“.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594359"/>
            <a:ext cx="7493508" cy="8641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025646" y="2061210"/>
            <a:ext cx="0" cy="4272280"/>
          </a:xfrm>
          <a:custGeom>
            <a:avLst/>
            <a:gdLst/>
            <a:ahLst/>
            <a:cxnLst/>
            <a:rect l="l" t="t" r="r" b="b"/>
            <a:pathLst>
              <a:path h="4272280">
                <a:moveTo>
                  <a:pt x="0" y="0"/>
                </a:moveTo>
                <a:lnTo>
                  <a:pt x="0" y="427200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2495" y="6350673"/>
            <a:ext cx="3175" cy="0"/>
          </a:xfrm>
          <a:custGeom>
            <a:avLst/>
            <a:gdLst/>
            <a:ahLst/>
            <a:cxnLst/>
            <a:rect l="l" t="t" r="r" b="b"/>
            <a:pathLst>
              <a:path w="3175">
                <a:moveTo>
                  <a:pt x="0" y="0"/>
                </a:moveTo>
                <a:lnTo>
                  <a:pt x="2921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5282" y="2011172"/>
            <a:ext cx="7061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20" dirty="0">
                <a:solidFill>
                  <a:srgbClr val="D911A4"/>
                </a:solidFill>
                <a:latin typeface="Corbel"/>
                <a:cs typeface="Corbel"/>
              </a:rPr>
              <a:t>High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06339" y="6299098"/>
            <a:ext cx="1757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1F5F"/>
                </a:solidFill>
                <a:latin typeface="Corbel"/>
                <a:cs typeface="Corbel"/>
              </a:rPr>
              <a:t>Knowledge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5827" y="3807663"/>
            <a:ext cx="18503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1F5F"/>
                </a:solidFill>
                <a:latin typeface="Corbel"/>
                <a:cs typeface="Corbel"/>
              </a:rPr>
              <a:t>Uncertainty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4183" y="6330822"/>
            <a:ext cx="5303520" cy="0"/>
          </a:xfrm>
          <a:custGeom>
            <a:avLst/>
            <a:gdLst/>
            <a:ahLst/>
            <a:cxnLst/>
            <a:rect l="l" t="t" r="r" b="b"/>
            <a:pathLst>
              <a:path w="5303520">
                <a:moveTo>
                  <a:pt x="0" y="0"/>
                </a:moveTo>
                <a:lnTo>
                  <a:pt x="530352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93160" y="5974181"/>
            <a:ext cx="6343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5" dirty="0">
                <a:solidFill>
                  <a:srgbClr val="D911A4"/>
                </a:solidFill>
                <a:latin typeface="Corbel"/>
                <a:cs typeface="Corbel"/>
              </a:rPr>
              <a:t>Low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0417" y="6336284"/>
            <a:ext cx="7061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D911A4"/>
                </a:solidFill>
                <a:latin typeface="Corbel"/>
                <a:cs typeface="Corbel"/>
              </a:rPr>
              <a:t>High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1332" y="2248026"/>
            <a:ext cx="4104004" cy="3657600"/>
          </a:xfrm>
          <a:custGeom>
            <a:avLst/>
            <a:gdLst/>
            <a:ahLst/>
            <a:cxnLst/>
            <a:rect l="l" t="t" r="r" b="b"/>
            <a:pathLst>
              <a:path w="4104004" h="3657600">
                <a:moveTo>
                  <a:pt x="4104004" y="3288284"/>
                </a:moveTo>
                <a:lnTo>
                  <a:pt x="4066806" y="3312695"/>
                </a:lnTo>
                <a:lnTo>
                  <a:pt x="4029447" y="3336244"/>
                </a:lnTo>
                <a:lnTo>
                  <a:pt x="3991934" y="3358934"/>
                </a:lnTo>
                <a:lnTo>
                  <a:pt x="3954272" y="3380767"/>
                </a:lnTo>
                <a:lnTo>
                  <a:pt x="3916468" y="3401746"/>
                </a:lnTo>
                <a:lnTo>
                  <a:pt x="3878526" y="3421875"/>
                </a:lnTo>
                <a:lnTo>
                  <a:pt x="3840454" y="3441155"/>
                </a:lnTo>
                <a:lnTo>
                  <a:pt x="3802256" y="3459591"/>
                </a:lnTo>
                <a:lnTo>
                  <a:pt x="3763939" y="3477184"/>
                </a:lnTo>
                <a:lnTo>
                  <a:pt x="3725508" y="3493938"/>
                </a:lnTo>
                <a:lnTo>
                  <a:pt x="3686970" y="3509855"/>
                </a:lnTo>
                <a:lnTo>
                  <a:pt x="3648330" y="3524939"/>
                </a:lnTo>
                <a:lnTo>
                  <a:pt x="3609595" y="3539193"/>
                </a:lnTo>
                <a:lnTo>
                  <a:pt x="3570769" y="3552618"/>
                </a:lnTo>
                <a:lnTo>
                  <a:pt x="3531859" y="3565219"/>
                </a:lnTo>
                <a:lnTo>
                  <a:pt x="3492871" y="3576998"/>
                </a:lnTo>
                <a:lnTo>
                  <a:pt x="3453811" y="3587957"/>
                </a:lnTo>
                <a:lnTo>
                  <a:pt x="3414684" y="3598100"/>
                </a:lnTo>
                <a:lnTo>
                  <a:pt x="3375496" y="3607430"/>
                </a:lnTo>
                <a:lnTo>
                  <a:pt x="3336253" y="3615950"/>
                </a:lnTo>
                <a:lnTo>
                  <a:pt x="3296961" y="3623661"/>
                </a:lnTo>
                <a:lnTo>
                  <a:pt x="3257627" y="3630568"/>
                </a:lnTo>
                <a:lnTo>
                  <a:pt x="3218255" y="3636674"/>
                </a:lnTo>
                <a:lnTo>
                  <a:pt x="3178851" y="3641980"/>
                </a:lnTo>
                <a:lnTo>
                  <a:pt x="3139422" y="3646490"/>
                </a:lnTo>
                <a:lnTo>
                  <a:pt x="3099974" y="3650207"/>
                </a:lnTo>
                <a:lnTo>
                  <a:pt x="3060511" y="3653133"/>
                </a:lnTo>
                <a:lnTo>
                  <a:pt x="3021041" y="3655273"/>
                </a:lnTo>
                <a:lnTo>
                  <a:pt x="2981568" y="3656627"/>
                </a:lnTo>
                <a:lnTo>
                  <a:pt x="2942099" y="3657200"/>
                </a:lnTo>
                <a:lnTo>
                  <a:pt x="2902640" y="3656994"/>
                </a:lnTo>
                <a:lnTo>
                  <a:pt x="2863196" y="3656012"/>
                </a:lnTo>
                <a:lnTo>
                  <a:pt x="2823774" y="3654258"/>
                </a:lnTo>
                <a:lnTo>
                  <a:pt x="2784378" y="3651733"/>
                </a:lnTo>
                <a:lnTo>
                  <a:pt x="2745016" y="3648440"/>
                </a:lnTo>
                <a:lnTo>
                  <a:pt x="2705693" y="3644384"/>
                </a:lnTo>
                <a:lnTo>
                  <a:pt x="2666414" y="3639566"/>
                </a:lnTo>
                <a:lnTo>
                  <a:pt x="2627187" y="3633989"/>
                </a:lnTo>
                <a:lnTo>
                  <a:pt x="2588015" y="3627656"/>
                </a:lnTo>
                <a:lnTo>
                  <a:pt x="2548906" y="3620571"/>
                </a:lnTo>
                <a:lnTo>
                  <a:pt x="2509865" y="3612735"/>
                </a:lnTo>
                <a:lnTo>
                  <a:pt x="2470899" y="3604153"/>
                </a:lnTo>
                <a:lnTo>
                  <a:pt x="2432012" y="3594826"/>
                </a:lnTo>
                <a:lnTo>
                  <a:pt x="2393211" y="3584758"/>
                </a:lnTo>
                <a:lnTo>
                  <a:pt x="2354502" y="3573952"/>
                </a:lnTo>
                <a:lnTo>
                  <a:pt x="2315890" y="3562410"/>
                </a:lnTo>
                <a:lnTo>
                  <a:pt x="2277381" y="3550135"/>
                </a:lnTo>
                <a:lnTo>
                  <a:pt x="2238982" y="3537130"/>
                </a:lnTo>
                <a:lnTo>
                  <a:pt x="2200698" y="3523399"/>
                </a:lnTo>
                <a:lnTo>
                  <a:pt x="2162535" y="3508943"/>
                </a:lnTo>
                <a:lnTo>
                  <a:pt x="2124498" y="3493766"/>
                </a:lnTo>
                <a:lnTo>
                  <a:pt x="2086595" y="3477871"/>
                </a:lnTo>
                <a:lnTo>
                  <a:pt x="2048830" y="3461261"/>
                </a:lnTo>
                <a:lnTo>
                  <a:pt x="2011209" y="3443938"/>
                </a:lnTo>
                <a:lnTo>
                  <a:pt x="1973738" y="3425905"/>
                </a:lnTo>
                <a:lnTo>
                  <a:pt x="1936424" y="3407166"/>
                </a:lnTo>
                <a:lnTo>
                  <a:pt x="1899271" y="3387723"/>
                </a:lnTo>
                <a:lnTo>
                  <a:pt x="1862287" y="3367579"/>
                </a:lnTo>
                <a:lnTo>
                  <a:pt x="1825476" y="3346736"/>
                </a:lnTo>
                <a:lnTo>
                  <a:pt x="1788845" y="3325199"/>
                </a:lnTo>
                <a:lnTo>
                  <a:pt x="1752399" y="3302969"/>
                </a:lnTo>
                <a:lnTo>
                  <a:pt x="1716144" y="3280049"/>
                </a:lnTo>
                <a:lnTo>
                  <a:pt x="1680087" y="3256443"/>
                </a:lnTo>
                <a:lnTo>
                  <a:pt x="1644232" y="3232154"/>
                </a:lnTo>
                <a:lnTo>
                  <a:pt x="1608587" y="3207183"/>
                </a:lnTo>
                <a:lnTo>
                  <a:pt x="1573156" y="3181535"/>
                </a:lnTo>
                <a:lnTo>
                  <a:pt x="1537945" y="3155211"/>
                </a:lnTo>
                <a:lnTo>
                  <a:pt x="1502961" y="3128215"/>
                </a:lnTo>
                <a:lnTo>
                  <a:pt x="1468210" y="3100550"/>
                </a:lnTo>
                <a:lnTo>
                  <a:pt x="1433696" y="3072219"/>
                </a:lnTo>
                <a:lnTo>
                  <a:pt x="1399427" y="3043224"/>
                </a:lnTo>
                <a:lnTo>
                  <a:pt x="1365407" y="3013568"/>
                </a:lnTo>
                <a:lnTo>
                  <a:pt x="1331643" y="2983255"/>
                </a:lnTo>
                <a:lnTo>
                  <a:pt x="1298141" y="2952286"/>
                </a:lnTo>
                <a:lnTo>
                  <a:pt x="1264906" y="2920666"/>
                </a:lnTo>
                <a:lnTo>
                  <a:pt x="1231945" y="2888397"/>
                </a:lnTo>
                <a:lnTo>
                  <a:pt x="1199263" y="2855481"/>
                </a:lnTo>
                <a:lnTo>
                  <a:pt x="1166866" y="2821922"/>
                </a:lnTo>
                <a:lnTo>
                  <a:pt x="1134759" y="2787722"/>
                </a:lnTo>
                <a:lnTo>
                  <a:pt x="1102950" y="2752885"/>
                </a:lnTo>
                <a:lnTo>
                  <a:pt x="1071443" y="2717413"/>
                </a:lnTo>
                <a:lnTo>
                  <a:pt x="1040244" y="2681309"/>
                </a:lnTo>
                <a:lnTo>
                  <a:pt x="1009360" y="2644577"/>
                </a:lnTo>
                <a:lnTo>
                  <a:pt x="978796" y="2607218"/>
                </a:lnTo>
                <a:lnTo>
                  <a:pt x="948558" y="2569236"/>
                </a:lnTo>
                <a:lnTo>
                  <a:pt x="918652" y="2530634"/>
                </a:lnTo>
                <a:lnTo>
                  <a:pt x="889084" y="2491414"/>
                </a:lnTo>
                <a:lnTo>
                  <a:pt x="859860" y="2451579"/>
                </a:lnTo>
                <a:lnTo>
                  <a:pt x="830985" y="2411133"/>
                </a:lnTo>
                <a:lnTo>
                  <a:pt x="802465" y="2370079"/>
                </a:lnTo>
                <a:lnTo>
                  <a:pt x="774306" y="2328418"/>
                </a:lnTo>
                <a:lnTo>
                  <a:pt x="746515" y="2286154"/>
                </a:lnTo>
                <a:lnTo>
                  <a:pt x="719097" y="2243290"/>
                </a:lnTo>
                <a:lnTo>
                  <a:pt x="692057" y="2199829"/>
                </a:lnTo>
                <a:lnTo>
                  <a:pt x="665402" y="2155774"/>
                </a:lnTo>
                <a:lnTo>
                  <a:pt x="639138" y="2111127"/>
                </a:lnTo>
                <a:lnTo>
                  <a:pt x="613269" y="2065891"/>
                </a:lnTo>
                <a:lnTo>
                  <a:pt x="587804" y="2020070"/>
                </a:lnTo>
                <a:lnTo>
                  <a:pt x="562746" y="1973666"/>
                </a:lnTo>
                <a:lnTo>
                  <a:pt x="538102" y="1926681"/>
                </a:lnTo>
                <a:lnTo>
                  <a:pt x="513878" y="1879120"/>
                </a:lnTo>
                <a:lnTo>
                  <a:pt x="490080" y="1830985"/>
                </a:lnTo>
                <a:lnTo>
                  <a:pt x="466713" y="1782278"/>
                </a:lnTo>
                <a:lnTo>
                  <a:pt x="443784" y="1733002"/>
                </a:lnTo>
                <a:lnTo>
                  <a:pt x="421298" y="1683162"/>
                </a:lnTo>
                <a:lnTo>
                  <a:pt x="399261" y="1632758"/>
                </a:lnTo>
                <a:lnTo>
                  <a:pt x="377679" y="1581795"/>
                </a:lnTo>
                <a:lnTo>
                  <a:pt x="356558" y="1530274"/>
                </a:lnTo>
                <a:lnTo>
                  <a:pt x="335903" y="1478200"/>
                </a:lnTo>
                <a:lnTo>
                  <a:pt x="315721" y="1425575"/>
                </a:lnTo>
                <a:lnTo>
                  <a:pt x="298481" y="1379123"/>
                </a:lnTo>
                <a:lnTo>
                  <a:pt x="281682" y="1332420"/>
                </a:lnTo>
                <a:lnTo>
                  <a:pt x="265325" y="1285472"/>
                </a:lnTo>
                <a:lnTo>
                  <a:pt x="249411" y="1238287"/>
                </a:lnTo>
                <a:lnTo>
                  <a:pt x="233943" y="1190870"/>
                </a:lnTo>
                <a:lnTo>
                  <a:pt x="218921" y="1143227"/>
                </a:lnTo>
                <a:lnTo>
                  <a:pt x="204348" y="1095366"/>
                </a:lnTo>
                <a:lnTo>
                  <a:pt x="190224" y="1047292"/>
                </a:lnTo>
                <a:lnTo>
                  <a:pt x="176551" y="999012"/>
                </a:lnTo>
                <a:lnTo>
                  <a:pt x="163330" y="950532"/>
                </a:lnTo>
                <a:lnTo>
                  <a:pt x="150563" y="901860"/>
                </a:lnTo>
                <a:lnTo>
                  <a:pt x="138251" y="853000"/>
                </a:lnTo>
                <a:lnTo>
                  <a:pt x="126396" y="803960"/>
                </a:lnTo>
                <a:lnTo>
                  <a:pt x="115000" y="754745"/>
                </a:lnTo>
                <a:lnTo>
                  <a:pt x="104062" y="705363"/>
                </a:lnTo>
                <a:lnTo>
                  <a:pt x="93586" y="655820"/>
                </a:lnTo>
                <a:lnTo>
                  <a:pt x="83572" y="606122"/>
                </a:lnTo>
                <a:lnTo>
                  <a:pt x="74022" y="556276"/>
                </a:lnTo>
                <a:lnTo>
                  <a:pt x="64938" y="506287"/>
                </a:lnTo>
                <a:lnTo>
                  <a:pt x="56320" y="456163"/>
                </a:lnTo>
                <a:lnTo>
                  <a:pt x="48170" y="405910"/>
                </a:lnTo>
                <a:lnTo>
                  <a:pt x="40490" y="355534"/>
                </a:lnTo>
                <a:lnTo>
                  <a:pt x="33281" y="305041"/>
                </a:lnTo>
                <a:lnTo>
                  <a:pt x="26544" y="254438"/>
                </a:lnTo>
                <a:lnTo>
                  <a:pt x="20282" y="203732"/>
                </a:lnTo>
                <a:lnTo>
                  <a:pt x="14495" y="152929"/>
                </a:lnTo>
                <a:lnTo>
                  <a:pt x="9184" y="102035"/>
                </a:lnTo>
                <a:lnTo>
                  <a:pt x="4352" y="51056"/>
                </a:lnTo>
                <a:lnTo>
                  <a:pt x="0" y="0"/>
                </a:lnTo>
              </a:path>
            </a:pathLst>
          </a:custGeom>
          <a:ln w="508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26253" y="2294382"/>
            <a:ext cx="2679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C00000"/>
                </a:solidFill>
                <a:latin typeface="Corbel"/>
                <a:cs typeface="Corbel"/>
              </a:rPr>
              <a:t>Unknown-</a:t>
            </a:r>
            <a:r>
              <a:rPr sz="2400" b="1" spc="-10" dirty="0">
                <a:solidFill>
                  <a:srgbClr val="C00000"/>
                </a:solidFill>
                <a:latin typeface="Corbel"/>
                <a:cs typeface="Corbel"/>
              </a:rPr>
              <a:t>Unknown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5188458" y="3837508"/>
            <a:ext cx="23317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C00000"/>
                </a:solidFill>
                <a:latin typeface="Corbel"/>
                <a:cs typeface="Corbel"/>
              </a:rPr>
              <a:t>Unknown-</a:t>
            </a:r>
            <a:r>
              <a:rPr sz="2400" b="1" spc="-10" dirty="0">
                <a:solidFill>
                  <a:srgbClr val="C00000"/>
                </a:solidFill>
                <a:latin typeface="Corbel"/>
                <a:cs typeface="Corbel"/>
              </a:rPr>
              <a:t>Known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9834" y="5099430"/>
            <a:ext cx="1984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C00000"/>
                </a:solidFill>
                <a:latin typeface="Corbel"/>
                <a:cs typeface="Corbel"/>
              </a:rPr>
              <a:t>Known-Known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54480"/>
            <a:ext cx="12192000" cy="26034"/>
          </a:xfrm>
          <a:custGeom>
            <a:avLst/>
            <a:gdLst/>
            <a:ahLst/>
            <a:cxnLst/>
            <a:rect l="l" t="t" r="r" b="b"/>
            <a:pathLst>
              <a:path w="12192000" h="26034">
                <a:moveTo>
                  <a:pt x="0" y="25908"/>
                </a:moveTo>
                <a:lnTo>
                  <a:pt x="12192000" y="25908"/>
                </a:lnTo>
                <a:lnTo>
                  <a:pt x="12192000" y="0"/>
                </a:lnTo>
                <a:lnTo>
                  <a:pt x="0" y="0"/>
                </a:lnTo>
                <a:lnTo>
                  <a:pt x="0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26226" y="3107944"/>
            <a:ext cx="2538095" cy="3744595"/>
            <a:chOff x="6126226" y="3107944"/>
            <a:chExt cx="2538095" cy="3744595"/>
          </a:xfrm>
        </p:grpSpPr>
        <p:sp>
          <p:nvSpPr>
            <p:cNvPr id="4" name="object 4"/>
            <p:cNvSpPr/>
            <p:nvPr/>
          </p:nvSpPr>
          <p:spPr>
            <a:xfrm>
              <a:off x="6210300" y="3107944"/>
              <a:ext cx="2194560" cy="3465195"/>
            </a:xfrm>
            <a:custGeom>
              <a:avLst/>
              <a:gdLst/>
              <a:ahLst/>
              <a:cxnLst/>
              <a:rect l="l" t="t" r="r" b="b"/>
              <a:pathLst>
                <a:path w="2194559" h="3465195">
                  <a:moveTo>
                    <a:pt x="1097279" y="0"/>
                  </a:moveTo>
                  <a:lnTo>
                    <a:pt x="1049679" y="1013"/>
                  </a:lnTo>
                  <a:lnTo>
                    <a:pt x="1002597" y="4027"/>
                  </a:lnTo>
                  <a:lnTo>
                    <a:pt x="956075" y="8999"/>
                  </a:lnTo>
                  <a:lnTo>
                    <a:pt x="910153" y="15890"/>
                  </a:lnTo>
                  <a:lnTo>
                    <a:pt x="864872" y="24656"/>
                  </a:lnTo>
                  <a:lnTo>
                    <a:pt x="820275" y="35258"/>
                  </a:lnTo>
                  <a:lnTo>
                    <a:pt x="776401" y="47655"/>
                  </a:lnTo>
                  <a:lnTo>
                    <a:pt x="733293" y="61804"/>
                  </a:lnTo>
                  <a:lnTo>
                    <a:pt x="690990" y="77665"/>
                  </a:lnTo>
                  <a:lnTo>
                    <a:pt x="649536" y="95197"/>
                  </a:lnTo>
                  <a:lnTo>
                    <a:pt x="608970" y="114358"/>
                  </a:lnTo>
                  <a:lnTo>
                    <a:pt x="569334" y="135108"/>
                  </a:lnTo>
                  <a:lnTo>
                    <a:pt x="530669" y="157405"/>
                  </a:lnTo>
                  <a:lnTo>
                    <a:pt x="493016" y="181208"/>
                  </a:lnTo>
                  <a:lnTo>
                    <a:pt x="456416" y="206476"/>
                  </a:lnTo>
                  <a:lnTo>
                    <a:pt x="420911" y="233167"/>
                  </a:lnTo>
                  <a:lnTo>
                    <a:pt x="386541" y="261241"/>
                  </a:lnTo>
                  <a:lnTo>
                    <a:pt x="353348" y="290657"/>
                  </a:lnTo>
                  <a:lnTo>
                    <a:pt x="321373" y="321373"/>
                  </a:lnTo>
                  <a:lnTo>
                    <a:pt x="290657" y="353348"/>
                  </a:lnTo>
                  <a:lnTo>
                    <a:pt x="261241" y="386541"/>
                  </a:lnTo>
                  <a:lnTo>
                    <a:pt x="233167" y="420911"/>
                  </a:lnTo>
                  <a:lnTo>
                    <a:pt x="206476" y="456416"/>
                  </a:lnTo>
                  <a:lnTo>
                    <a:pt x="181208" y="493016"/>
                  </a:lnTo>
                  <a:lnTo>
                    <a:pt x="157405" y="530669"/>
                  </a:lnTo>
                  <a:lnTo>
                    <a:pt x="135108" y="569334"/>
                  </a:lnTo>
                  <a:lnTo>
                    <a:pt x="114358" y="608970"/>
                  </a:lnTo>
                  <a:lnTo>
                    <a:pt x="95197" y="649536"/>
                  </a:lnTo>
                  <a:lnTo>
                    <a:pt x="77665" y="690990"/>
                  </a:lnTo>
                  <a:lnTo>
                    <a:pt x="61804" y="733293"/>
                  </a:lnTo>
                  <a:lnTo>
                    <a:pt x="47655" y="776401"/>
                  </a:lnTo>
                  <a:lnTo>
                    <a:pt x="35258" y="820275"/>
                  </a:lnTo>
                  <a:lnTo>
                    <a:pt x="24656" y="864872"/>
                  </a:lnTo>
                  <a:lnTo>
                    <a:pt x="15890" y="910153"/>
                  </a:lnTo>
                  <a:lnTo>
                    <a:pt x="8999" y="956075"/>
                  </a:lnTo>
                  <a:lnTo>
                    <a:pt x="4027" y="1002597"/>
                  </a:lnTo>
                  <a:lnTo>
                    <a:pt x="1013" y="1049679"/>
                  </a:lnTo>
                  <a:lnTo>
                    <a:pt x="0" y="1097279"/>
                  </a:lnTo>
                  <a:lnTo>
                    <a:pt x="0" y="3465144"/>
                  </a:lnTo>
                  <a:lnTo>
                    <a:pt x="2194559" y="3465144"/>
                  </a:lnTo>
                  <a:lnTo>
                    <a:pt x="2194559" y="1097279"/>
                  </a:lnTo>
                  <a:lnTo>
                    <a:pt x="2193546" y="1049679"/>
                  </a:lnTo>
                  <a:lnTo>
                    <a:pt x="2190532" y="1002597"/>
                  </a:lnTo>
                  <a:lnTo>
                    <a:pt x="2185560" y="956075"/>
                  </a:lnTo>
                  <a:lnTo>
                    <a:pt x="2178669" y="910153"/>
                  </a:lnTo>
                  <a:lnTo>
                    <a:pt x="2169903" y="864872"/>
                  </a:lnTo>
                  <a:lnTo>
                    <a:pt x="2159301" y="820275"/>
                  </a:lnTo>
                  <a:lnTo>
                    <a:pt x="2146904" y="776401"/>
                  </a:lnTo>
                  <a:lnTo>
                    <a:pt x="2132755" y="733293"/>
                  </a:lnTo>
                  <a:lnTo>
                    <a:pt x="2116894" y="690990"/>
                  </a:lnTo>
                  <a:lnTo>
                    <a:pt x="2099362" y="649536"/>
                  </a:lnTo>
                  <a:lnTo>
                    <a:pt x="2080201" y="608970"/>
                  </a:lnTo>
                  <a:lnTo>
                    <a:pt x="2059451" y="569334"/>
                  </a:lnTo>
                  <a:lnTo>
                    <a:pt x="2037154" y="530669"/>
                  </a:lnTo>
                  <a:lnTo>
                    <a:pt x="2013351" y="493016"/>
                  </a:lnTo>
                  <a:lnTo>
                    <a:pt x="1988083" y="456416"/>
                  </a:lnTo>
                  <a:lnTo>
                    <a:pt x="1961392" y="420911"/>
                  </a:lnTo>
                  <a:lnTo>
                    <a:pt x="1933318" y="386541"/>
                  </a:lnTo>
                  <a:lnTo>
                    <a:pt x="1903902" y="353348"/>
                  </a:lnTo>
                  <a:lnTo>
                    <a:pt x="1873186" y="321373"/>
                  </a:lnTo>
                  <a:lnTo>
                    <a:pt x="1841211" y="290657"/>
                  </a:lnTo>
                  <a:lnTo>
                    <a:pt x="1808018" y="261241"/>
                  </a:lnTo>
                  <a:lnTo>
                    <a:pt x="1773648" y="233167"/>
                  </a:lnTo>
                  <a:lnTo>
                    <a:pt x="1738143" y="206476"/>
                  </a:lnTo>
                  <a:lnTo>
                    <a:pt x="1701543" y="181208"/>
                  </a:lnTo>
                  <a:lnTo>
                    <a:pt x="1663890" y="157405"/>
                  </a:lnTo>
                  <a:lnTo>
                    <a:pt x="1625225" y="135108"/>
                  </a:lnTo>
                  <a:lnTo>
                    <a:pt x="1585589" y="114358"/>
                  </a:lnTo>
                  <a:lnTo>
                    <a:pt x="1545023" y="95197"/>
                  </a:lnTo>
                  <a:lnTo>
                    <a:pt x="1503569" y="77665"/>
                  </a:lnTo>
                  <a:lnTo>
                    <a:pt x="1461266" y="61804"/>
                  </a:lnTo>
                  <a:lnTo>
                    <a:pt x="1418158" y="47655"/>
                  </a:lnTo>
                  <a:lnTo>
                    <a:pt x="1374284" y="35258"/>
                  </a:lnTo>
                  <a:lnTo>
                    <a:pt x="1329687" y="24656"/>
                  </a:lnTo>
                  <a:lnTo>
                    <a:pt x="1284406" y="15890"/>
                  </a:lnTo>
                  <a:lnTo>
                    <a:pt x="1238484" y="8999"/>
                  </a:lnTo>
                  <a:lnTo>
                    <a:pt x="1191962" y="4027"/>
                  </a:lnTo>
                  <a:lnTo>
                    <a:pt x="1144880" y="1013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0DA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26226" y="3271773"/>
              <a:ext cx="2186305" cy="3580765"/>
            </a:xfrm>
            <a:custGeom>
              <a:avLst/>
              <a:gdLst/>
              <a:ahLst/>
              <a:cxnLst/>
              <a:rect l="l" t="t" r="r" b="b"/>
              <a:pathLst>
                <a:path w="2186304" h="3580765">
                  <a:moveTo>
                    <a:pt x="2012569" y="680847"/>
                  </a:moveTo>
                  <a:lnTo>
                    <a:pt x="2010892" y="636079"/>
                  </a:lnTo>
                  <a:lnTo>
                    <a:pt x="2005952" y="592086"/>
                  </a:lnTo>
                  <a:lnTo>
                    <a:pt x="1997849" y="548957"/>
                  </a:lnTo>
                  <a:lnTo>
                    <a:pt x="1986673" y="506780"/>
                  </a:lnTo>
                  <a:lnTo>
                    <a:pt x="1972551" y="465645"/>
                  </a:lnTo>
                  <a:lnTo>
                    <a:pt x="1955558" y="425640"/>
                  </a:lnTo>
                  <a:lnTo>
                    <a:pt x="1935822" y="386854"/>
                  </a:lnTo>
                  <a:lnTo>
                    <a:pt x="1913432" y="349389"/>
                  </a:lnTo>
                  <a:lnTo>
                    <a:pt x="1888502" y="313321"/>
                  </a:lnTo>
                  <a:lnTo>
                    <a:pt x="1861121" y="278739"/>
                  </a:lnTo>
                  <a:lnTo>
                    <a:pt x="1831416" y="245745"/>
                  </a:lnTo>
                  <a:lnTo>
                    <a:pt x="1799463" y="214426"/>
                  </a:lnTo>
                  <a:lnTo>
                    <a:pt x="1765376" y="184861"/>
                  </a:lnTo>
                  <a:lnTo>
                    <a:pt x="1729257" y="157137"/>
                  </a:lnTo>
                  <a:lnTo>
                    <a:pt x="1691220" y="131368"/>
                  </a:lnTo>
                  <a:lnTo>
                    <a:pt x="1651368" y="107619"/>
                  </a:lnTo>
                  <a:lnTo>
                    <a:pt x="1609788" y="85991"/>
                  </a:lnTo>
                  <a:lnTo>
                    <a:pt x="1566595" y="66573"/>
                  </a:lnTo>
                  <a:lnTo>
                    <a:pt x="1521891" y="49441"/>
                  </a:lnTo>
                  <a:lnTo>
                    <a:pt x="1475778" y="34709"/>
                  </a:lnTo>
                  <a:lnTo>
                    <a:pt x="1428356" y="22453"/>
                  </a:lnTo>
                  <a:lnTo>
                    <a:pt x="1379740" y="12776"/>
                  </a:lnTo>
                  <a:lnTo>
                    <a:pt x="1330020" y="5740"/>
                  </a:lnTo>
                  <a:lnTo>
                    <a:pt x="1279309" y="1460"/>
                  </a:lnTo>
                  <a:lnTo>
                    <a:pt x="1227709" y="0"/>
                  </a:lnTo>
                  <a:lnTo>
                    <a:pt x="1176096" y="1460"/>
                  </a:lnTo>
                  <a:lnTo>
                    <a:pt x="1125385" y="5740"/>
                  </a:lnTo>
                  <a:lnTo>
                    <a:pt x="1075677" y="12776"/>
                  </a:lnTo>
                  <a:lnTo>
                    <a:pt x="1027061" y="22453"/>
                  </a:lnTo>
                  <a:lnTo>
                    <a:pt x="979639" y="34709"/>
                  </a:lnTo>
                  <a:lnTo>
                    <a:pt x="933538" y="49441"/>
                  </a:lnTo>
                  <a:lnTo>
                    <a:pt x="888834" y="66573"/>
                  </a:lnTo>
                  <a:lnTo>
                    <a:pt x="845654" y="85991"/>
                  </a:lnTo>
                  <a:lnTo>
                    <a:pt x="804075" y="107619"/>
                  </a:lnTo>
                  <a:lnTo>
                    <a:pt x="764222" y="131368"/>
                  </a:lnTo>
                  <a:lnTo>
                    <a:pt x="726198" y="157137"/>
                  </a:lnTo>
                  <a:lnTo>
                    <a:pt x="690092" y="184861"/>
                  </a:lnTo>
                  <a:lnTo>
                    <a:pt x="656018" y="214426"/>
                  </a:lnTo>
                  <a:lnTo>
                    <a:pt x="624065" y="245745"/>
                  </a:lnTo>
                  <a:lnTo>
                    <a:pt x="594360" y="278739"/>
                  </a:lnTo>
                  <a:lnTo>
                    <a:pt x="566991" y="313321"/>
                  </a:lnTo>
                  <a:lnTo>
                    <a:pt x="542061" y="349389"/>
                  </a:lnTo>
                  <a:lnTo>
                    <a:pt x="519684" y="386854"/>
                  </a:lnTo>
                  <a:lnTo>
                    <a:pt x="499948" y="425640"/>
                  </a:lnTo>
                  <a:lnTo>
                    <a:pt x="482968" y="465645"/>
                  </a:lnTo>
                  <a:lnTo>
                    <a:pt x="468845" y="506780"/>
                  </a:lnTo>
                  <a:lnTo>
                    <a:pt x="457682" y="548957"/>
                  </a:lnTo>
                  <a:lnTo>
                    <a:pt x="449580" y="592086"/>
                  </a:lnTo>
                  <a:lnTo>
                    <a:pt x="444639" y="636079"/>
                  </a:lnTo>
                  <a:lnTo>
                    <a:pt x="442976" y="680847"/>
                  </a:lnTo>
                  <a:lnTo>
                    <a:pt x="444639" y="725601"/>
                  </a:lnTo>
                  <a:lnTo>
                    <a:pt x="449580" y="769594"/>
                  </a:lnTo>
                  <a:lnTo>
                    <a:pt x="457682" y="812711"/>
                  </a:lnTo>
                  <a:lnTo>
                    <a:pt x="468845" y="854887"/>
                  </a:lnTo>
                  <a:lnTo>
                    <a:pt x="482968" y="896010"/>
                  </a:lnTo>
                  <a:lnTo>
                    <a:pt x="499948" y="936015"/>
                  </a:lnTo>
                  <a:lnTo>
                    <a:pt x="519684" y="974788"/>
                  </a:lnTo>
                  <a:lnTo>
                    <a:pt x="542061" y="1012266"/>
                  </a:lnTo>
                  <a:lnTo>
                    <a:pt x="566991" y="1048334"/>
                  </a:lnTo>
                  <a:lnTo>
                    <a:pt x="594360" y="1082903"/>
                  </a:lnTo>
                  <a:lnTo>
                    <a:pt x="624065" y="1115910"/>
                  </a:lnTo>
                  <a:lnTo>
                    <a:pt x="656018" y="1147241"/>
                  </a:lnTo>
                  <a:lnTo>
                    <a:pt x="690092" y="1176807"/>
                  </a:lnTo>
                  <a:lnTo>
                    <a:pt x="726198" y="1204531"/>
                  </a:lnTo>
                  <a:lnTo>
                    <a:pt x="764222" y="1230312"/>
                  </a:lnTo>
                  <a:lnTo>
                    <a:pt x="804075" y="1254061"/>
                  </a:lnTo>
                  <a:lnTo>
                    <a:pt x="845654" y="1275689"/>
                  </a:lnTo>
                  <a:lnTo>
                    <a:pt x="888834" y="1295120"/>
                  </a:lnTo>
                  <a:lnTo>
                    <a:pt x="933538" y="1312240"/>
                  </a:lnTo>
                  <a:lnTo>
                    <a:pt x="979639" y="1326984"/>
                  </a:lnTo>
                  <a:lnTo>
                    <a:pt x="1027061" y="1339240"/>
                  </a:lnTo>
                  <a:lnTo>
                    <a:pt x="1075677" y="1348930"/>
                  </a:lnTo>
                  <a:lnTo>
                    <a:pt x="1125385" y="1355966"/>
                  </a:lnTo>
                  <a:lnTo>
                    <a:pt x="1176096" y="1360246"/>
                  </a:lnTo>
                  <a:lnTo>
                    <a:pt x="1227709" y="1361694"/>
                  </a:lnTo>
                  <a:lnTo>
                    <a:pt x="1279309" y="1360246"/>
                  </a:lnTo>
                  <a:lnTo>
                    <a:pt x="1330020" y="1355966"/>
                  </a:lnTo>
                  <a:lnTo>
                    <a:pt x="1379740" y="1348930"/>
                  </a:lnTo>
                  <a:lnTo>
                    <a:pt x="1428356" y="1339240"/>
                  </a:lnTo>
                  <a:lnTo>
                    <a:pt x="1475778" y="1326984"/>
                  </a:lnTo>
                  <a:lnTo>
                    <a:pt x="1521891" y="1312240"/>
                  </a:lnTo>
                  <a:lnTo>
                    <a:pt x="1566595" y="1295120"/>
                  </a:lnTo>
                  <a:lnTo>
                    <a:pt x="1609788" y="1275689"/>
                  </a:lnTo>
                  <a:lnTo>
                    <a:pt x="1651368" y="1254061"/>
                  </a:lnTo>
                  <a:lnTo>
                    <a:pt x="1691220" y="1230312"/>
                  </a:lnTo>
                  <a:lnTo>
                    <a:pt x="1729257" y="1204531"/>
                  </a:lnTo>
                  <a:lnTo>
                    <a:pt x="1765376" y="1176807"/>
                  </a:lnTo>
                  <a:lnTo>
                    <a:pt x="1799463" y="1147241"/>
                  </a:lnTo>
                  <a:lnTo>
                    <a:pt x="1831416" y="1115910"/>
                  </a:lnTo>
                  <a:lnTo>
                    <a:pt x="1861121" y="1082903"/>
                  </a:lnTo>
                  <a:lnTo>
                    <a:pt x="1888502" y="1048334"/>
                  </a:lnTo>
                  <a:lnTo>
                    <a:pt x="1913432" y="1012266"/>
                  </a:lnTo>
                  <a:lnTo>
                    <a:pt x="1935822" y="974788"/>
                  </a:lnTo>
                  <a:lnTo>
                    <a:pt x="1955558" y="936015"/>
                  </a:lnTo>
                  <a:lnTo>
                    <a:pt x="1972551" y="896010"/>
                  </a:lnTo>
                  <a:lnTo>
                    <a:pt x="1986673" y="854887"/>
                  </a:lnTo>
                  <a:lnTo>
                    <a:pt x="1997849" y="812711"/>
                  </a:lnTo>
                  <a:lnTo>
                    <a:pt x="2005952" y="769594"/>
                  </a:lnTo>
                  <a:lnTo>
                    <a:pt x="2010892" y="725601"/>
                  </a:lnTo>
                  <a:lnTo>
                    <a:pt x="2012569" y="680847"/>
                  </a:lnTo>
                  <a:close/>
                </a:path>
                <a:path w="2186304" h="3580765">
                  <a:moveTo>
                    <a:pt x="2186051" y="3296412"/>
                  </a:moveTo>
                  <a:lnTo>
                    <a:pt x="254254" y="3296412"/>
                  </a:lnTo>
                  <a:lnTo>
                    <a:pt x="0" y="3580396"/>
                  </a:lnTo>
                  <a:lnTo>
                    <a:pt x="1763395" y="3580396"/>
                  </a:lnTo>
                  <a:lnTo>
                    <a:pt x="2186051" y="3296412"/>
                  </a:lnTo>
                  <a:close/>
                </a:path>
              </a:pathLst>
            </a:custGeom>
            <a:solidFill>
              <a:srgbClr val="038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8796" y="4899660"/>
              <a:ext cx="2057400" cy="4998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100" y="5265420"/>
              <a:ext cx="2529840" cy="4998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4580" y="5631179"/>
              <a:ext cx="2467355" cy="4998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7020" y="5996939"/>
              <a:ext cx="1459992" cy="4998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11900" y="4563821"/>
            <a:ext cx="2084705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 algn="ctr">
              <a:lnSpc>
                <a:spcPts val="3270"/>
              </a:lnSpc>
              <a:spcBef>
                <a:spcPts val="95"/>
              </a:spcBef>
            </a:pPr>
            <a:r>
              <a:rPr sz="2800" b="1" spc="-10" dirty="0">
                <a:solidFill>
                  <a:srgbClr val="3A0CE6"/>
                </a:solidFill>
                <a:latin typeface="Corbel"/>
                <a:cs typeface="Corbel"/>
              </a:rPr>
              <a:t>Timing</a:t>
            </a:r>
            <a:endParaRPr sz="2800">
              <a:latin typeface="Corbel"/>
              <a:cs typeface="Corbel"/>
            </a:endParaRPr>
          </a:p>
          <a:p>
            <a:pPr marL="12065" marR="5080" indent="-2540" algn="ctr">
              <a:lnSpc>
                <a:spcPts val="2880"/>
              </a:lnSpc>
              <a:spcBef>
                <a:spcPts val="5"/>
              </a:spcBef>
            </a:pP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When</a:t>
            </a:r>
            <a:r>
              <a:rPr sz="2400" b="1" spc="-20" dirty="0">
                <a:solidFill>
                  <a:srgbClr val="9CFBB5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in </a:t>
            </a:r>
            <a:r>
              <a:rPr sz="2400" b="1" spc="-25" dirty="0">
                <a:solidFill>
                  <a:srgbClr val="9CFBB5"/>
                </a:solidFill>
                <a:latin typeface="Corbel"/>
                <a:cs typeface="Corbel"/>
              </a:rPr>
              <a:t>the </a:t>
            </a: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project</a:t>
            </a:r>
            <a:r>
              <a:rPr sz="2400" b="1" spc="-55" dirty="0">
                <a:solidFill>
                  <a:srgbClr val="9CFBB5"/>
                </a:solidFill>
                <a:latin typeface="Corbel"/>
                <a:cs typeface="Corbel"/>
              </a:rPr>
              <a:t> </a:t>
            </a:r>
            <a:r>
              <a:rPr sz="2400" b="1" spc="-10" dirty="0">
                <a:solidFill>
                  <a:srgbClr val="9CFBB5"/>
                </a:solidFill>
                <a:latin typeface="Corbel"/>
                <a:cs typeface="Corbel"/>
              </a:rPr>
              <a:t>lifecycle</a:t>
            </a:r>
            <a:endParaRPr sz="2400">
              <a:latin typeface="Corbel"/>
              <a:cs typeface="Corbel"/>
            </a:endParaRPr>
          </a:p>
          <a:p>
            <a:pPr marL="42545" marR="37465" algn="ctr">
              <a:lnSpc>
                <a:spcPts val="2880"/>
              </a:lnSpc>
              <a:spcBef>
                <a:spcPts val="5"/>
              </a:spcBef>
            </a:pP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the</a:t>
            </a:r>
            <a:r>
              <a:rPr sz="2400" b="1" spc="-25" dirty="0">
                <a:solidFill>
                  <a:srgbClr val="9CFBB5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risk</a:t>
            </a:r>
            <a:r>
              <a:rPr sz="2400" b="1" spc="-10" dirty="0">
                <a:solidFill>
                  <a:srgbClr val="9CFBB5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is</a:t>
            </a:r>
            <a:r>
              <a:rPr sz="2400" b="1" spc="-5" dirty="0">
                <a:solidFill>
                  <a:srgbClr val="9CFBB5"/>
                </a:solidFill>
                <a:latin typeface="Corbel"/>
                <a:cs typeface="Corbel"/>
              </a:rPr>
              <a:t> </a:t>
            </a:r>
            <a:r>
              <a:rPr sz="2400" b="1" spc="-10" dirty="0">
                <a:solidFill>
                  <a:srgbClr val="9CFBB5"/>
                </a:solidFill>
                <a:latin typeface="Corbel"/>
                <a:cs typeface="Corbel"/>
              </a:rPr>
              <a:t>likely </a:t>
            </a:r>
            <a:r>
              <a:rPr sz="2400" b="1" dirty="0">
                <a:solidFill>
                  <a:srgbClr val="9CFBB5"/>
                </a:solidFill>
                <a:latin typeface="Corbel"/>
                <a:cs typeface="Corbel"/>
              </a:rPr>
              <a:t>to</a:t>
            </a:r>
            <a:r>
              <a:rPr sz="2400" b="1" spc="-10" dirty="0">
                <a:solidFill>
                  <a:srgbClr val="9CFBB5"/>
                </a:solidFill>
                <a:latin typeface="Corbel"/>
                <a:cs typeface="Corbel"/>
              </a:rPr>
              <a:t> occur</a:t>
            </a:r>
            <a:endParaRPr sz="2400">
              <a:latin typeface="Corbel"/>
              <a:cs typeface="Corbe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62013" y="2569972"/>
            <a:ext cx="3540125" cy="4282440"/>
            <a:chOff x="6962013" y="2569972"/>
            <a:chExt cx="3540125" cy="4282440"/>
          </a:xfrm>
        </p:grpSpPr>
        <p:sp>
          <p:nvSpPr>
            <p:cNvPr id="12" name="object 12"/>
            <p:cNvSpPr/>
            <p:nvPr/>
          </p:nvSpPr>
          <p:spPr>
            <a:xfrm>
              <a:off x="6962013" y="3641724"/>
              <a:ext cx="822325" cy="615315"/>
            </a:xfrm>
            <a:custGeom>
              <a:avLst/>
              <a:gdLst/>
              <a:ahLst/>
              <a:cxnLst/>
              <a:rect l="l" t="t" r="r" b="b"/>
              <a:pathLst>
                <a:path w="822325" h="615314">
                  <a:moveTo>
                    <a:pt x="822198" y="331724"/>
                  </a:moveTo>
                  <a:lnTo>
                    <a:pt x="473837" y="331724"/>
                  </a:lnTo>
                  <a:lnTo>
                    <a:pt x="473837" y="349504"/>
                  </a:lnTo>
                  <a:lnTo>
                    <a:pt x="470471" y="363588"/>
                  </a:lnTo>
                  <a:lnTo>
                    <a:pt x="461429" y="374865"/>
                  </a:lnTo>
                  <a:lnTo>
                    <a:pt x="448271" y="382358"/>
                  </a:lnTo>
                  <a:lnTo>
                    <a:pt x="432562" y="385064"/>
                  </a:lnTo>
                  <a:lnTo>
                    <a:pt x="391160" y="385064"/>
                  </a:lnTo>
                  <a:lnTo>
                    <a:pt x="375437" y="382358"/>
                  </a:lnTo>
                  <a:lnTo>
                    <a:pt x="362280" y="374865"/>
                  </a:lnTo>
                  <a:lnTo>
                    <a:pt x="353237" y="363588"/>
                  </a:lnTo>
                  <a:lnTo>
                    <a:pt x="349885" y="349504"/>
                  </a:lnTo>
                  <a:lnTo>
                    <a:pt x="349885" y="331724"/>
                  </a:lnTo>
                  <a:lnTo>
                    <a:pt x="0" y="331724"/>
                  </a:lnTo>
                  <a:lnTo>
                    <a:pt x="0" y="579501"/>
                  </a:lnTo>
                  <a:lnTo>
                    <a:pt x="3352" y="593051"/>
                  </a:lnTo>
                  <a:lnTo>
                    <a:pt x="12407" y="604380"/>
                  </a:lnTo>
                  <a:lnTo>
                    <a:pt x="25603" y="612178"/>
                  </a:lnTo>
                  <a:lnTo>
                    <a:pt x="41402" y="615061"/>
                  </a:lnTo>
                  <a:lnTo>
                    <a:pt x="780923" y="615061"/>
                  </a:lnTo>
                  <a:lnTo>
                    <a:pt x="797229" y="612178"/>
                  </a:lnTo>
                  <a:lnTo>
                    <a:pt x="810323" y="604380"/>
                  </a:lnTo>
                  <a:lnTo>
                    <a:pt x="819023" y="593051"/>
                  </a:lnTo>
                  <a:lnTo>
                    <a:pt x="822198" y="579501"/>
                  </a:lnTo>
                  <a:lnTo>
                    <a:pt x="822198" y="331724"/>
                  </a:lnTo>
                  <a:close/>
                </a:path>
                <a:path w="822325" h="615314">
                  <a:moveTo>
                    <a:pt x="822198" y="155194"/>
                  </a:moveTo>
                  <a:lnTo>
                    <a:pt x="819023" y="141173"/>
                  </a:lnTo>
                  <a:lnTo>
                    <a:pt x="810310" y="129895"/>
                  </a:lnTo>
                  <a:lnTo>
                    <a:pt x="797229" y="122377"/>
                  </a:lnTo>
                  <a:lnTo>
                    <a:pt x="780923" y="119634"/>
                  </a:lnTo>
                  <a:lnTo>
                    <a:pt x="575691" y="119634"/>
                  </a:lnTo>
                  <a:lnTo>
                    <a:pt x="575691" y="61595"/>
                  </a:lnTo>
                  <a:lnTo>
                    <a:pt x="573709" y="53213"/>
                  </a:lnTo>
                  <a:lnTo>
                    <a:pt x="570115" y="37998"/>
                  </a:lnTo>
                  <a:lnTo>
                    <a:pt x="554875" y="18376"/>
                  </a:lnTo>
                  <a:lnTo>
                    <a:pt x="532130" y="4965"/>
                  </a:lnTo>
                  <a:lnTo>
                    <a:pt x="513715" y="1714"/>
                  </a:lnTo>
                  <a:lnTo>
                    <a:pt x="513715" y="56769"/>
                  </a:lnTo>
                  <a:lnTo>
                    <a:pt x="513715" y="119634"/>
                  </a:lnTo>
                  <a:lnTo>
                    <a:pt x="308610" y="119634"/>
                  </a:lnTo>
                  <a:lnTo>
                    <a:pt x="308610" y="56769"/>
                  </a:lnTo>
                  <a:lnTo>
                    <a:pt x="312674" y="53213"/>
                  </a:lnTo>
                  <a:lnTo>
                    <a:pt x="511048" y="53213"/>
                  </a:lnTo>
                  <a:lnTo>
                    <a:pt x="513715" y="56769"/>
                  </a:lnTo>
                  <a:lnTo>
                    <a:pt x="513715" y="1714"/>
                  </a:lnTo>
                  <a:lnTo>
                    <a:pt x="504063" y="0"/>
                  </a:lnTo>
                  <a:lnTo>
                    <a:pt x="319532" y="0"/>
                  </a:lnTo>
                  <a:lnTo>
                    <a:pt x="291312" y="4965"/>
                  </a:lnTo>
                  <a:lnTo>
                    <a:pt x="268122" y="18376"/>
                  </a:lnTo>
                  <a:lnTo>
                    <a:pt x="252412" y="37998"/>
                  </a:lnTo>
                  <a:lnTo>
                    <a:pt x="246634" y="61595"/>
                  </a:lnTo>
                  <a:lnTo>
                    <a:pt x="246634" y="119634"/>
                  </a:lnTo>
                  <a:lnTo>
                    <a:pt x="41402" y="119634"/>
                  </a:lnTo>
                  <a:lnTo>
                    <a:pt x="25603" y="122377"/>
                  </a:lnTo>
                  <a:lnTo>
                    <a:pt x="12407" y="129895"/>
                  </a:lnTo>
                  <a:lnTo>
                    <a:pt x="3352" y="141173"/>
                  </a:lnTo>
                  <a:lnTo>
                    <a:pt x="0" y="155194"/>
                  </a:lnTo>
                  <a:lnTo>
                    <a:pt x="0" y="296164"/>
                  </a:lnTo>
                  <a:lnTo>
                    <a:pt x="349885" y="296164"/>
                  </a:lnTo>
                  <a:lnTo>
                    <a:pt x="349885" y="278511"/>
                  </a:lnTo>
                  <a:lnTo>
                    <a:pt x="473837" y="278511"/>
                  </a:lnTo>
                  <a:lnTo>
                    <a:pt x="473837" y="296164"/>
                  </a:lnTo>
                  <a:lnTo>
                    <a:pt x="822198" y="296164"/>
                  </a:lnTo>
                  <a:lnTo>
                    <a:pt x="822198" y="278511"/>
                  </a:lnTo>
                  <a:lnTo>
                    <a:pt x="822198" y="155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96732" y="2569972"/>
              <a:ext cx="2103120" cy="4003675"/>
            </a:xfrm>
            <a:custGeom>
              <a:avLst/>
              <a:gdLst/>
              <a:ahLst/>
              <a:cxnLst/>
              <a:rect l="l" t="t" r="r" b="b"/>
              <a:pathLst>
                <a:path w="2103120" h="4003675">
                  <a:moveTo>
                    <a:pt x="1051560" y="0"/>
                  </a:moveTo>
                  <a:lnTo>
                    <a:pt x="1003434" y="1082"/>
                  </a:lnTo>
                  <a:lnTo>
                    <a:pt x="955863" y="4297"/>
                  </a:lnTo>
                  <a:lnTo>
                    <a:pt x="908894" y="9599"/>
                  </a:lnTo>
                  <a:lnTo>
                    <a:pt x="862571" y="16941"/>
                  </a:lnTo>
                  <a:lnTo>
                    <a:pt x="816942" y="26278"/>
                  </a:lnTo>
                  <a:lnTo>
                    <a:pt x="772054" y="37562"/>
                  </a:lnTo>
                  <a:lnTo>
                    <a:pt x="727952" y="50747"/>
                  </a:lnTo>
                  <a:lnTo>
                    <a:pt x="684683" y="65787"/>
                  </a:lnTo>
                  <a:lnTo>
                    <a:pt x="642294" y="82635"/>
                  </a:lnTo>
                  <a:lnTo>
                    <a:pt x="600831" y="101245"/>
                  </a:lnTo>
                  <a:lnTo>
                    <a:pt x="560340" y="121571"/>
                  </a:lnTo>
                  <a:lnTo>
                    <a:pt x="520869" y="143566"/>
                  </a:lnTo>
                  <a:lnTo>
                    <a:pt x="482463" y="167184"/>
                  </a:lnTo>
                  <a:lnTo>
                    <a:pt x="445168" y="192378"/>
                  </a:lnTo>
                  <a:lnTo>
                    <a:pt x="409032" y="219102"/>
                  </a:lnTo>
                  <a:lnTo>
                    <a:pt x="374101" y="247310"/>
                  </a:lnTo>
                  <a:lnTo>
                    <a:pt x="340421" y="276955"/>
                  </a:lnTo>
                  <a:lnTo>
                    <a:pt x="308038" y="307990"/>
                  </a:lnTo>
                  <a:lnTo>
                    <a:pt x="277000" y="340370"/>
                  </a:lnTo>
                  <a:lnTo>
                    <a:pt x="247352" y="374048"/>
                  </a:lnTo>
                  <a:lnTo>
                    <a:pt x="219141" y="408978"/>
                  </a:lnTo>
                  <a:lnTo>
                    <a:pt x="192413" y="445113"/>
                  </a:lnTo>
                  <a:lnTo>
                    <a:pt x="167215" y="482406"/>
                  </a:lnTo>
                  <a:lnTo>
                    <a:pt x="143594" y="520812"/>
                  </a:lnTo>
                  <a:lnTo>
                    <a:pt x="121596" y="560284"/>
                  </a:lnTo>
                  <a:lnTo>
                    <a:pt x="101266" y="600776"/>
                  </a:lnTo>
                  <a:lnTo>
                    <a:pt x="82653" y="642240"/>
                  </a:lnTo>
                  <a:lnTo>
                    <a:pt x="65801" y="684632"/>
                  </a:lnTo>
                  <a:lnTo>
                    <a:pt x="50758" y="727904"/>
                  </a:lnTo>
                  <a:lnTo>
                    <a:pt x="37570" y="772010"/>
                  </a:lnTo>
                  <a:lnTo>
                    <a:pt x="26284" y="816903"/>
                  </a:lnTo>
                  <a:lnTo>
                    <a:pt x="16945" y="862538"/>
                  </a:lnTo>
                  <a:lnTo>
                    <a:pt x="9601" y="908867"/>
                  </a:lnTo>
                  <a:lnTo>
                    <a:pt x="4298" y="955845"/>
                  </a:lnTo>
                  <a:lnTo>
                    <a:pt x="1082" y="1003424"/>
                  </a:lnTo>
                  <a:lnTo>
                    <a:pt x="0" y="1051560"/>
                  </a:lnTo>
                  <a:lnTo>
                    <a:pt x="0" y="4003116"/>
                  </a:lnTo>
                  <a:lnTo>
                    <a:pt x="2103120" y="4003116"/>
                  </a:lnTo>
                  <a:lnTo>
                    <a:pt x="2103120" y="1051560"/>
                  </a:lnTo>
                  <a:lnTo>
                    <a:pt x="2102037" y="1003424"/>
                  </a:lnTo>
                  <a:lnTo>
                    <a:pt x="2098822" y="955845"/>
                  </a:lnTo>
                  <a:lnTo>
                    <a:pt x="2093520" y="908867"/>
                  </a:lnTo>
                  <a:lnTo>
                    <a:pt x="2086178" y="862538"/>
                  </a:lnTo>
                  <a:lnTo>
                    <a:pt x="2076841" y="816903"/>
                  </a:lnTo>
                  <a:lnTo>
                    <a:pt x="2065557" y="772010"/>
                  </a:lnTo>
                  <a:lnTo>
                    <a:pt x="2052372" y="727904"/>
                  </a:lnTo>
                  <a:lnTo>
                    <a:pt x="2037332" y="684632"/>
                  </a:lnTo>
                  <a:lnTo>
                    <a:pt x="2020484" y="642240"/>
                  </a:lnTo>
                  <a:lnTo>
                    <a:pt x="2001874" y="600776"/>
                  </a:lnTo>
                  <a:lnTo>
                    <a:pt x="1981548" y="560284"/>
                  </a:lnTo>
                  <a:lnTo>
                    <a:pt x="1959553" y="520812"/>
                  </a:lnTo>
                  <a:lnTo>
                    <a:pt x="1935935" y="482406"/>
                  </a:lnTo>
                  <a:lnTo>
                    <a:pt x="1910741" y="445113"/>
                  </a:lnTo>
                  <a:lnTo>
                    <a:pt x="1884017" y="408978"/>
                  </a:lnTo>
                  <a:lnTo>
                    <a:pt x="1855809" y="374048"/>
                  </a:lnTo>
                  <a:lnTo>
                    <a:pt x="1826164" y="340370"/>
                  </a:lnTo>
                  <a:lnTo>
                    <a:pt x="1795129" y="307990"/>
                  </a:lnTo>
                  <a:lnTo>
                    <a:pt x="1762749" y="276955"/>
                  </a:lnTo>
                  <a:lnTo>
                    <a:pt x="1729071" y="247310"/>
                  </a:lnTo>
                  <a:lnTo>
                    <a:pt x="1694141" y="219102"/>
                  </a:lnTo>
                  <a:lnTo>
                    <a:pt x="1658006" y="192378"/>
                  </a:lnTo>
                  <a:lnTo>
                    <a:pt x="1620713" y="167184"/>
                  </a:lnTo>
                  <a:lnTo>
                    <a:pt x="1582307" y="143566"/>
                  </a:lnTo>
                  <a:lnTo>
                    <a:pt x="1542835" y="121571"/>
                  </a:lnTo>
                  <a:lnTo>
                    <a:pt x="1502343" y="101245"/>
                  </a:lnTo>
                  <a:lnTo>
                    <a:pt x="1460879" y="82635"/>
                  </a:lnTo>
                  <a:lnTo>
                    <a:pt x="1418487" y="65787"/>
                  </a:lnTo>
                  <a:lnTo>
                    <a:pt x="1375215" y="50747"/>
                  </a:lnTo>
                  <a:lnTo>
                    <a:pt x="1331109" y="37562"/>
                  </a:lnTo>
                  <a:lnTo>
                    <a:pt x="1286216" y="26278"/>
                  </a:lnTo>
                  <a:lnTo>
                    <a:pt x="1240581" y="16941"/>
                  </a:lnTo>
                  <a:lnTo>
                    <a:pt x="1194252" y="9599"/>
                  </a:lnTo>
                  <a:lnTo>
                    <a:pt x="1147274" y="4297"/>
                  </a:lnTo>
                  <a:lnTo>
                    <a:pt x="1099695" y="1082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0E5B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58811" y="2721101"/>
              <a:ext cx="2743200" cy="4131310"/>
            </a:xfrm>
            <a:custGeom>
              <a:avLst/>
              <a:gdLst/>
              <a:ahLst/>
              <a:cxnLst/>
              <a:rect l="l" t="t" r="r" b="b"/>
              <a:pathLst>
                <a:path w="2743200" h="4131309">
                  <a:moveTo>
                    <a:pt x="2294255" y="680847"/>
                  </a:moveTo>
                  <a:lnTo>
                    <a:pt x="2292578" y="636079"/>
                  </a:lnTo>
                  <a:lnTo>
                    <a:pt x="2287638" y="592086"/>
                  </a:lnTo>
                  <a:lnTo>
                    <a:pt x="2279535" y="548957"/>
                  </a:lnTo>
                  <a:lnTo>
                    <a:pt x="2268359" y="506780"/>
                  </a:lnTo>
                  <a:lnTo>
                    <a:pt x="2254237" y="465645"/>
                  </a:lnTo>
                  <a:lnTo>
                    <a:pt x="2237244" y="425640"/>
                  </a:lnTo>
                  <a:lnTo>
                    <a:pt x="2217509" y="386854"/>
                  </a:lnTo>
                  <a:lnTo>
                    <a:pt x="2195131" y="349389"/>
                  </a:lnTo>
                  <a:lnTo>
                    <a:pt x="2170188" y="313321"/>
                  </a:lnTo>
                  <a:lnTo>
                    <a:pt x="2142820" y="278739"/>
                  </a:lnTo>
                  <a:lnTo>
                    <a:pt x="2113102" y="245745"/>
                  </a:lnTo>
                  <a:lnTo>
                    <a:pt x="2081161" y="214426"/>
                  </a:lnTo>
                  <a:lnTo>
                    <a:pt x="2047074" y="184861"/>
                  </a:lnTo>
                  <a:lnTo>
                    <a:pt x="2010968" y="157137"/>
                  </a:lnTo>
                  <a:lnTo>
                    <a:pt x="1972932" y="131368"/>
                  </a:lnTo>
                  <a:lnTo>
                    <a:pt x="1933079" y="107619"/>
                  </a:lnTo>
                  <a:lnTo>
                    <a:pt x="1891512" y="85991"/>
                  </a:lnTo>
                  <a:lnTo>
                    <a:pt x="1848319" y="66573"/>
                  </a:lnTo>
                  <a:lnTo>
                    <a:pt x="1803628" y="49441"/>
                  </a:lnTo>
                  <a:lnTo>
                    <a:pt x="1757527" y="34709"/>
                  </a:lnTo>
                  <a:lnTo>
                    <a:pt x="1710118" y="22453"/>
                  </a:lnTo>
                  <a:lnTo>
                    <a:pt x="1661502" y="12776"/>
                  </a:lnTo>
                  <a:lnTo>
                    <a:pt x="1611807" y="5740"/>
                  </a:lnTo>
                  <a:lnTo>
                    <a:pt x="1561109" y="1460"/>
                  </a:lnTo>
                  <a:lnTo>
                    <a:pt x="1509522" y="0"/>
                  </a:lnTo>
                  <a:lnTo>
                    <a:pt x="1457909" y="1460"/>
                  </a:lnTo>
                  <a:lnTo>
                    <a:pt x="1407198" y="5740"/>
                  </a:lnTo>
                  <a:lnTo>
                    <a:pt x="1357477" y="12776"/>
                  </a:lnTo>
                  <a:lnTo>
                    <a:pt x="1308862" y="22453"/>
                  </a:lnTo>
                  <a:lnTo>
                    <a:pt x="1261440" y="34709"/>
                  </a:lnTo>
                  <a:lnTo>
                    <a:pt x="1215326" y="49441"/>
                  </a:lnTo>
                  <a:lnTo>
                    <a:pt x="1170622" y="66573"/>
                  </a:lnTo>
                  <a:lnTo>
                    <a:pt x="1127429" y="85991"/>
                  </a:lnTo>
                  <a:lnTo>
                    <a:pt x="1085850" y="107619"/>
                  </a:lnTo>
                  <a:lnTo>
                    <a:pt x="1045997" y="131368"/>
                  </a:lnTo>
                  <a:lnTo>
                    <a:pt x="1007960" y="157137"/>
                  </a:lnTo>
                  <a:lnTo>
                    <a:pt x="971842" y="184861"/>
                  </a:lnTo>
                  <a:lnTo>
                    <a:pt x="937755" y="214426"/>
                  </a:lnTo>
                  <a:lnTo>
                    <a:pt x="905802" y="245745"/>
                  </a:lnTo>
                  <a:lnTo>
                    <a:pt x="876096" y="278739"/>
                  </a:lnTo>
                  <a:lnTo>
                    <a:pt x="848715" y="313321"/>
                  </a:lnTo>
                  <a:lnTo>
                    <a:pt x="823785" y="349389"/>
                  </a:lnTo>
                  <a:lnTo>
                    <a:pt x="801395" y="386854"/>
                  </a:lnTo>
                  <a:lnTo>
                    <a:pt x="781659" y="425640"/>
                  </a:lnTo>
                  <a:lnTo>
                    <a:pt x="764667" y="465645"/>
                  </a:lnTo>
                  <a:lnTo>
                    <a:pt x="750544" y="506780"/>
                  </a:lnTo>
                  <a:lnTo>
                    <a:pt x="739368" y="548957"/>
                  </a:lnTo>
                  <a:lnTo>
                    <a:pt x="731266" y="592086"/>
                  </a:lnTo>
                  <a:lnTo>
                    <a:pt x="726325" y="636079"/>
                  </a:lnTo>
                  <a:lnTo>
                    <a:pt x="724662" y="680847"/>
                  </a:lnTo>
                  <a:lnTo>
                    <a:pt x="726325" y="725627"/>
                  </a:lnTo>
                  <a:lnTo>
                    <a:pt x="731266" y="769620"/>
                  </a:lnTo>
                  <a:lnTo>
                    <a:pt x="739368" y="812749"/>
                  </a:lnTo>
                  <a:lnTo>
                    <a:pt x="750544" y="854925"/>
                  </a:lnTo>
                  <a:lnTo>
                    <a:pt x="764667" y="896061"/>
                  </a:lnTo>
                  <a:lnTo>
                    <a:pt x="781659" y="936066"/>
                  </a:lnTo>
                  <a:lnTo>
                    <a:pt x="801395" y="974852"/>
                  </a:lnTo>
                  <a:lnTo>
                    <a:pt x="823785" y="1012317"/>
                  </a:lnTo>
                  <a:lnTo>
                    <a:pt x="848715" y="1048385"/>
                  </a:lnTo>
                  <a:lnTo>
                    <a:pt x="876096" y="1082967"/>
                  </a:lnTo>
                  <a:lnTo>
                    <a:pt x="905802" y="1115961"/>
                  </a:lnTo>
                  <a:lnTo>
                    <a:pt x="937755" y="1147279"/>
                  </a:lnTo>
                  <a:lnTo>
                    <a:pt x="971842" y="1176845"/>
                  </a:lnTo>
                  <a:lnTo>
                    <a:pt x="1007960" y="1204569"/>
                  </a:lnTo>
                  <a:lnTo>
                    <a:pt x="1045997" y="1230337"/>
                  </a:lnTo>
                  <a:lnTo>
                    <a:pt x="1085850" y="1254086"/>
                  </a:lnTo>
                  <a:lnTo>
                    <a:pt x="1127429" y="1275715"/>
                  </a:lnTo>
                  <a:lnTo>
                    <a:pt x="1170622" y="1295133"/>
                  </a:lnTo>
                  <a:lnTo>
                    <a:pt x="1215326" y="1312265"/>
                  </a:lnTo>
                  <a:lnTo>
                    <a:pt x="1261440" y="1326997"/>
                  </a:lnTo>
                  <a:lnTo>
                    <a:pt x="1308862" y="1339253"/>
                  </a:lnTo>
                  <a:lnTo>
                    <a:pt x="1357477" y="1348930"/>
                  </a:lnTo>
                  <a:lnTo>
                    <a:pt x="1407198" y="1355966"/>
                  </a:lnTo>
                  <a:lnTo>
                    <a:pt x="1457909" y="1360246"/>
                  </a:lnTo>
                  <a:lnTo>
                    <a:pt x="1509522" y="1361694"/>
                  </a:lnTo>
                  <a:lnTo>
                    <a:pt x="1561109" y="1360246"/>
                  </a:lnTo>
                  <a:lnTo>
                    <a:pt x="1611807" y="1355966"/>
                  </a:lnTo>
                  <a:lnTo>
                    <a:pt x="1661502" y="1348930"/>
                  </a:lnTo>
                  <a:lnTo>
                    <a:pt x="1710118" y="1339253"/>
                  </a:lnTo>
                  <a:lnTo>
                    <a:pt x="1757527" y="1326997"/>
                  </a:lnTo>
                  <a:lnTo>
                    <a:pt x="1803628" y="1312265"/>
                  </a:lnTo>
                  <a:lnTo>
                    <a:pt x="1848319" y="1295133"/>
                  </a:lnTo>
                  <a:lnTo>
                    <a:pt x="1891512" y="1275715"/>
                  </a:lnTo>
                  <a:lnTo>
                    <a:pt x="1933079" y="1254086"/>
                  </a:lnTo>
                  <a:lnTo>
                    <a:pt x="1972932" y="1230337"/>
                  </a:lnTo>
                  <a:lnTo>
                    <a:pt x="2010968" y="1204569"/>
                  </a:lnTo>
                  <a:lnTo>
                    <a:pt x="2047074" y="1176845"/>
                  </a:lnTo>
                  <a:lnTo>
                    <a:pt x="2081161" y="1147279"/>
                  </a:lnTo>
                  <a:lnTo>
                    <a:pt x="2113102" y="1115961"/>
                  </a:lnTo>
                  <a:lnTo>
                    <a:pt x="2142820" y="1082967"/>
                  </a:lnTo>
                  <a:lnTo>
                    <a:pt x="2170188" y="1048385"/>
                  </a:lnTo>
                  <a:lnTo>
                    <a:pt x="2195131" y="1012317"/>
                  </a:lnTo>
                  <a:lnTo>
                    <a:pt x="2217509" y="974852"/>
                  </a:lnTo>
                  <a:lnTo>
                    <a:pt x="2237244" y="936066"/>
                  </a:lnTo>
                  <a:lnTo>
                    <a:pt x="2254237" y="896061"/>
                  </a:lnTo>
                  <a:lnTo>
                    <a:pt x="2268359" y="854925"/>
                  </a:lnTo>
                  <a:lnTo>
                    <a:pt x="2279535" y="812749"/>
                  </a:lnTo>
                  <a:lnTo>
                    <a:pt x="2287638" y="769620"/>
                  </a:lnTo>
                  <a:lnTo>
                    <a:pt x="2292578" y="725627"/>
                  </a:lnTo>
                  <a:lnTo>
                    <a:pt x="2294255" y="680847"/>
                  </a:lnTo>
                  <a:close/>
                </a:path>
                <a:path w="2743200" h="4131309">
                  <a:moveTo>
                    <a:pt x="2743200" y="3847071"/>
                  </a:moveTo>
                  <a:lnTo>
                    <a:pt x="542671" y="3847071"/>
                  </a:lnTo>
                  <a:lnTo>
                    <a:pt x="0" y="4131068"/>
                  </a:lnTo>
                  <a:lnTo>
                    <a:pt x="1824482" y="4131068"/>
                  </a:lnTo>
                  <a:lnTo>
                    <a:pt x="2743200" y="3847071"/>
                  </a:lnTo>
                  <a:close/>
                </a:path>
              </a:pathLst>
            </a:custGeom>
            <a:solidFill>
              <a:srgbClr val="1741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1916" y="4538472"/>
              <a:ext cx="1853183" cy="4998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3544" y="4904232"/>
              <a:ext cx="1711452" cy="4998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3524" y="5269992"/>
              <a:ext cx="2033016" cy="4998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7616" y="5635751"/>
              <a:ext cx="2083307" cy="4998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8992" y="6001512"/>
              <a:ext cx="1339596" cy="49987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535669" y="4122703"/>
            <a:ext cx="1666239" cy="233743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44450" algn="ctr">
              <a:lnSpc>
                <a:spcPct val="101200"/>
              </a:lnSpc>
              <a:spcBef>
                <a:spcPts val="295"/>
              </a:spcBef>
            </a:pPr>
            <a:r>
              <a:rPr sz="2800" b="1" spc="-10" dirty="0">
                <a:solidFill>
                  <a:srgbClr val="F7A2E7"/>
                </a:solidFill>
                <a:latin typeface="Corbel"/>
                <a:cs typeface="Corbel"/>
              </a:rPr>
              <a:t>Frequency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How</a:t>
            </a:r>
            <a:r>
              <a:rPr sz="2400" b="1" spc="-20" dirty="0">
                <a:solidFill>
                  <a:srgbClr val="FFFF00"/>
                </a:solidFill>
                <a:latin typeface="Corbel"/>
                <a:cs typeface="Corbel"/>
              </a:rPr>
              <a:t> often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the</a:t>
            </a:r>
            <a:r>
              <a:rPr sz="2400" b="1" spc="-40" dirty="0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risk</a:t>
            </a:r>
            <a:r>
              <a:rPr sz="2400" b="1" spc="-10" dirty="0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sz="2400" b="1" spc="-25" dirty="0">
                <a:solidFill>
                  <a:srgbClr val="FFFF00"/>
                </a:solidFill>
                <a:latin typeface="Corbel"/>
                <a:cs typeface="Corbel"/>
              </a:rPr>
              <a:t>is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expected</a:t>
            </a:r>
            <a:r>
              <a:rPr sz="2400" b="1" spc="-45" dirty="0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sz="2400" b="1" spc="-25" dirty="0">
                <a:solidFill>
                  <a:srgbClr val="FFFF00"/>
                </a:solidFill>
                <a:latin typeface="Corbel"/>
                <a:cs typeface="Corbel"/>
              </a:rPr>
              <a:t>to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occur</a:t>
            </a:r>
            <a:r>
              <a:rPr sz="2400" b="1" spc="-65" dirty="0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FFFF00"/>
                </a:solidFill>
                <a:latin typeface="Corbel"/>
                <a:cs typeface="Corbel"/>
              </a:rPr>
              <a:t>on</a:t>
            </a:r>
            <a:r>
              <a:rPr sz="2400" b="1" spc="-60" dirty="0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sz="2400" b="1" spc="-25" dirty="0">
                <a:solidFill>
                  <a:srgbClr val="FFFF00"/>
                </a:solidFill>
                <a:latin typeface="Corbel"/>
                <a:cs typeface="Corbel"/>
              </a:rPr>
              <a:t>the </a:t>
            </a:r>
            <a:r>
              <a:rPr sz="2400" b="1" spc="-10" dirty="0">
                <a:solidFill>
                  <a:srgbClr val="FFFF00"/>
                </a:solidFill>
                <a:latin typeface="Corbel"/>
                <a:cs typeface="Corbel"/>
              </a:rPr>
              <a:t>project</a:t>
            </a:r>
            <a:endParaRPr sz="2400">
              <a:latin typeface="Corbel"/>
              <a:cs typeface="Corbe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98721" y="3092450"/>
            <a:ext cx="5678805" cy="3740785"/>
            <a:chOff x="3998721" y="3092450"/>
            <a:chExt cx="5678805" cy="3740785"/>
          </a:xfrm>
        </p:grpSpPr>
        <p:sp>
          <p:nvSpPr>
            <p:cNvPr id="22" name="object 22"/>
            <p:cNvSpPr/>
            <p:nvPr/>
          </p:nvSpPr>
          <p:spPr>
            <a:xfrm>
              <a:off x="8854947" y="3121532"/>
              <a:ext cx="822325" cy="495934"/>
            </a:xfrm>
            <a:custGeom>
              <a:avLst/>
              <a:gdLst/>
              <a:ahLst/>
              <a:cxnLst/>
              <a:rect l="l" t="t" r="r" b="b"/>
              <a:pathLst>
                <a:path w="822325" h="495935">
                  <a:moveTo>
                    <a:pt x="822198" y="0"/>
                  </a:moveTo>
                  <a:lnTo>
                    <a:pt x="0" y="0"/>
                  </a:lnTo>
                  <a:lnTo>
                    <a:pt x="0" y="495426"/>
                  </a:lnTo>
                  <a:lnTo>
                    <a:pt x="822198" y="495426"/>
                  </a:lnTo>
                  <a:lnTo>
                    <a:pt x="822198" y="442087"/>
                  </a:lnTo>
                  <a:lnTo>
                    <a:pt x="92201" y="442087"/>
                  </a:lnTo>
                  <a:lnTo>
                    <a:pt x="119664" y="418464"/>
                  </a:lnTo>
                  <a:lnTo>
                    <a:pt x="61975" y="418464"/>
                  </a:lnTo>
                  <a:lnTo>
                    <a:pt x="61975" y="77088"/>
                  </a:lnTo>
                  <a:lnTo>
                    <a:pt x="120439" y="77088"/>
                  </a:lnTo>
                  <a:lnTo>
                    <a:pt x="92201" y="53339"/>
                  </a:lnTo>
                  <a:lnTo>
                    <a:pt x="822198" y="53339"/>
                  </a:lnTo>
                  <a:lnTo>
                    <a:pt x="822198" y="0"/>
                  </a:lnTo>
                  <a:close/>
                </a:path>
                <a:path w="822325" h="495935">
                  <a:moveTo>
                    <a:pt x="589286" y="270255"/>
                  </a:moveTo>
                  <a:lnTo>
                    <a:pt x="533019" y="270255"/>
                  </a:lnTo>
                  <a:lnTo>
                    <a:pt x="732662" y="442087"/>
                  </a:lnTo>
                  <a:lnTo>
                    <a:pt x="822198" y="442087"/>
                  </a:lnTo>
                  <a:lnTo>
                    <a:pt x="822198" y="418464"/>
                  </a:lnTo>
                  <a:lnTo>
                    <a:pt x="760222" y="418464"/>
                  </a:lnTo>
                  <a:lnTo>
                    <a:pt x="589286" y="270255"/>
                  </a:lnTo>
                  <a:close/>
                </a:path>
                <a:path w="822325" h="495935">
                  <a:moveTo>
                    <a:pt x="120439" y="77088"/>
                  </a:moveTo>
                  <a:lnTo>
                    <a:pt x="61975" y="77088"/>
                  </a:lnTo>
                  <a:lnTo>
                    <a:pt x="263017" y="245363"/>
                  </a:lnTo>
                  <a:lnTo>
                    <a:pt x="61975" y="418464"/>
                  </a:lnTo>
                  <a:lnTo>
                    <a:pt x="119664" y="418464"/>
                  </a:lnTo>
                  <a:lnTo>
                    <a:pt x="291973" y="270255"/>
                  </a:lnTo>
                  <a:lnTo>
                    <a:pt x="350112" y="270255"/>
                  </a:lnTo>
                  <a:lnTo>
                    <a:pt x="120439" y="77088"/>
                  </a:lnTo>
                  <a:close/>
                </a:path>
                <a:path w="822325" h="495935">
                  <a:moveTo>
                    <a:pt x="822198" y="78231"/>
                  </a:moveTo>
                  <a:lnTo>
                    <a:pt x="760222" y="78231"/>
                  </a:lnTo>
                  <a:lnTo>
                    <a:pt x="760222" y="418464"/>
                  </a:lnTo>
                  <a:lnTo>
                    <a:pt x="822198" y="418464"/>
                  </a:lnTo>
                  <a:lnTo>
                    <a:pt x="822198" y="78231"/>
                  </a:lnTo>
                  <a:close/>
                </a:path>
                <a:path w="822325" h="495935">
                  <a:moveTo>
                    <a:pt x="350112" y="270255"/>
                  </a:moveTo>
                  <a:lnTo>
                    <a:pt x="291973" y="270255"/>
                  </a:lnTo>
                  <a:lnTo>
                    <a:pt x="369061" y="334263"/>
                  </a:lnTo>
                  <a:lnTo>
                    <a:pt x="378876" y="341165"/>
                  </a:lnTo>
                  <a:lnTo>
                    <a:pt x="389572" y="345947"/>
                  </a:lnTo>
                  <a:lnTo>
                    <a:pt x="401030" y="348730"/>
                  </a:lnTo>
                  <a:lnTo>
                    <a:pt x="413130" y="349630"/>
                  </a:lnTo>
                  <a:lnTo>
                    <a:pt x="424495" y="348730"/>
                  </a:lnTo>
                  <a:lnTo>
                    <a:pt x="435562" y="345947"/>
                  </a:lnTo>
                  <a:lnTo>
                    <a:pt x="446081" y="341165"/>
                  </a:lnTo>
                  <a:lnTo>
                    <a:pt x="455802" y="334263"/>
                  </a:lnTo>
                  <a:lnTo>
                    <a:pt x="479396" y="314705"/>
                  </a:lnTo>
                  <a:lnTo>
                    <a:pt x="405892" y="314705"/>
                  </a:lnTo>
                  <a:lnTo>
                    <a:pt x="400811" y="312927"/>
                  </a:lnTo>
                  <a:lnTo>
                    <a:pt x="350112" y="270255"/>
                  </a:lnTo>
                  <a:close/>
                </a:path>
                <a:path w="822325" h="495935">
                  <a:moveTo>
                    <a:pt x="822198" y="53339"/>
                  </a:moveTo>
                  <a:lnTo>
                    <a:pt x="731266" y="53339"/>
                  </a:lnTo>
                  <a:lnTo>
                    <a:pt x="425576" y="309371"/>
                  </a:lnTo>
                  <a:lnTo>
                    <a:pt x="421385" y="312927"/>
                  </a:lnTo>
                  <a:lnTo>
                    <a:pt x="416305" y="314705"/>
                  </a:lnTo>
                  <a:lnTo>
                    <a:pt x="479396" y="314705"/>
                  </a:lnTo>
                  <a:lnTo>
                    <a:pt x="533019" y="270255"/>
                  </a:lnTo>
                  <a:lnTo>
                    <a:pt x="589286" y="270255"/>
                  </a:lnTo>
                  <a:lnTo>
                    <a:pt x="560577" y="245363"/>
                  </a:lnTo>
                  <a:lnTo>
                    <a:pt x="760222" y="78231"/>
                  </a:lnTo>
                  <a:lnTo>
                    <a:pt x="822198" y="78231"/>
                  </a:lnTo>
                  <a:lnTo>
                    <a:pt x="822198" y="533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3105" y="3092450"/>
              <a:ext cx="2103120" cy="3465195"/>
            </a:xfrm>
            <a:custGeom>
              <a:avLst/>
              <a:gdLst/>
              <a:ahLst/>
              <a:cxnLst/>
              <a:rect l="l" t="t" r="r" b="b"/>
              <a:pathLst>
                <a:path w="2103120" h="3465195">
                  <a:moveTo>
                    <a:pt x="1051560" y="0"/>
                  </a:moveTo>
                  <a:lnTo>
                    <a:pt x="1003424" y="1082"/>
                  </a:lnTo>
                  <a:lnTo>
                    <a:pt x="955845" y="4297"/>
                  </a:lnTo>
                  <a:lnTo>
                    <a:pt x="908867" y="9599"/>
                  </a:lnTo>
                  <a:lnTo>
                    <a:pt x="862538" y="16941"/>
                  </a:lnTo>
                  <a:lnTo>
                    <a:pt x="816903" y="26278"/>
                  </a:lnTo>
                  <a:lnTo>
                    <a:pt x="772010" y="37562"/>
                  </a:lnTo>
                  <a:lnTo>
                    <a:pt x="727904" y="50747"/>
                  </a:lnTo>
                  <a:lnTo>
                    <a:pt x="684632" y="65787"/>
                  </a:lnTo>
                  <a:lnTo>
                    <a:pt x="642240" y="82635"/>
                  </a:lnTo>
                  <a:lnTo>
                    <a:pt x="600776" y="101245"/>
                  </a:lnTo>
                  <a:lnTo>
                    <a:pt x="560284" y="121571"/>
                  </a:lnTo>
                  <a:lnTo>
                    <a:pt x="520812" y="143566"/>
                  </a:lnTo>
                  <a:lnTo>
                    <a:pt x="482406" y="167184"/>
                  </a:lnTo>
                  <a:lnTo>
                    <a:pt x="445113" y="192378"/>
                  </a:lnTo>
                  <a:lnTo>
                    <a:pt x="408978" y="219102"/>
                  </a:lnTo>
                  <a:lnTo>
                    <a:pt x="374048" y="247310"/>
                  </a:lnTo>
                  <a:lnTo>
                    <a:pt x="340370" y="276955"/>
                  </a:lnTo>
                  <a:lnTo>
                    <a:pt x="307990" y="307990"/>
                  </a:lnTo>
                  <a:lnTo>
                    <a:pt x="276955" y="340370"/>
                  </a:lnTo>
                  <a:lnTo>
                    <a:pt x="247310" y="374048"/>
                  </a:lnTo>
                  <a:lnTo>
                    <a:pt x="219102" y="408978"/>
                  </a:lnTo>
                  <a:lnTo>
                    <a:pt x="192378" y="445113"/>
                  </a:lnTo>
                  <a:lnTo>
                    <a:pt x="167184" y="482406"/>
                  </a:lnTo>
                  <a:lnTo>
                    <a:pt x="143566" y="520812"/>
                  </a:lnTo>
                  <a:lnTo>
                    <a:pt x="121571" y="560284"/>
                  </a:lnTo>
                  <a:lnTo>
                    <a:pt x="101245" y="600776"/>
                  </a:lnTo>
                  <a:lnTo>
                    <a:pt x="82635" y="642240"/>
                  </a:lnTo>
                  <a:lnTo>
                    <a:pt x="65787" y="684632"/>
                  </a:lnTo>
                  <a:lnTo>
                    <a:pt x="50747" y="727904"/>
                  </a:lnTo>
                  <a:lnTo>
                    <a:pt x="37562" y="772010"/>
                  </a:lnTo>
                  <a:lnTo>
                    <a:pt x="26278" y="816903"/>
                  </a:lnTo>
                  <a:lnTo>
                    <a:pt x="16941" y="862538"/>
                  </a:lnTo>
                  <a:lnTo>
                    <a:pt x="9599" y="908867"/>
                  </a:lnTo>
                  <a:lnTo>
                    <a:pt x="4297" y="955845"/>
                  </a:lnTo>
                  <a:lnTo>
                    <a:pt x="1082" y="1003424"/>
                  </a:lnTo>
                  <a:lnTo>
                    <a:pt x="0" y="1051560"/>
                  </a:lnTo>
                  <a:lnTo>
                    <a:pt x="0" y="3465144"/>
                  </a:lnTo>
                  <a:lnTo>
                    <a:pt x="2103120" y="3465144"/>
                  </a:lnTo>
                  <a:lnTo>
                    <a:pt x="2103120" y="1051560"/>
                  </a:lnTo>
                  <a:lnTo>
                    <a:pt x="2102037" y="1003424"/>
                  </a:lnTo>
                  <a:lnTo>
                    <a:pt x="2098822" y="955845"/>
                  </a:lnTo>
                  <a:lnTo>
                    <a:pt x="2093520" y="908867"/>
                  </a:lnTo>
                  <a:lnTo>
                    <a:pt x="2086178" y="862538"/>
                  </a:lnTo>
                  <a:lnTo>
                    <a:pt x="2076841" y="816903"/>
                  </a:lnTo>
                  <a:lnTo>
                    <a:pt x="2065557" y="772010"/>
                  </a:lnTo>
                  <a:lnTo>
                    <a:pt x="2052372" y="727904"/>
                  </a:lnTo>
                  <a:lnTo>
                    <a:pt x="2037332" y="684632"/>
                  </a:lnTo>
                  <a:lnTo>
                    <a:pt x="2020484" y="642240"/>
                  </a:lnTo>
                  <a:lnTo>
                    <a:pt x="2001874" y="600776"/>
                  </a:lnTo>
                  <a:lnTo>
                    <a:pt x="1981548" y="560284"/>
                  </a:lnTo>
                  <a:lnTo>
                    <a:pt x="1959553" y="520812"/>
                  </a:lnTo>
                  <a:lnTo>
                    <a:pt x="1935935" y="482406"/>
                  </a:lnTo>
                  <a:lnTo>
                    <a:pt x="1910741" y="445113"/>
                  </a:lnTo>
                  <a:lnTo>
                    <a:pt x="1884017" y="408978"/>
                  </a:lnTo>
                  <a:lnTo>
                    <a:pt x="1855809" y="374048"/>
                  </a:lnTo>
                  <a:lnTo>
                    <a:pt x="1826164" y="340370"/>
                  </a:lnTo>
                  <a:lnTo>
                    <a:pt x="1795129" y="307990"/>
                  </a:lnTo>
                  <a:lnTo>
                    <a:pt x="1762749" y="276955"/>
                  </a:lnTo>
                  <a:lnTo>
                    <a:pt x="1729071" y="247310"/>
                  </a:lnTo>
                  <a:lnTo>
                    <a:pt x="1694141" y="219102"/>
                  </a:lnTo>
                  <a:lnTo>
                    <a:pt x="1658006" y="192378"/>
                  </a:lnTo>
                  <a:lnTo>
                    <a:pt x="1620713" y="167184"/>
                  </a:lnTo>
                  <a:lnTo>
                    <a:pt x="1582307" y="143566"/>
                  </a:lnTo>
                  <a:lnTo>
                    <a:pt x="1542835" y="121571"/>
                  </a:lnTo>
                  <a:lnTo>
                    <a:pt x="1502343" y="101245"/>
                  </a:lnTo>
                  <a:lnTo>
                    <a:pt x="1460879" y="82635"/>
                  </a:lnTo>
                  <a:lnTo>
                    <a:pt x="1418487" y="65787"/>
                  </a:lnTo>
                  <a:lnTo>
                    <a:pt x="1375215" y="50747"/>
                  </a:lnTo>
                  <a:lnTo>
                    <a:pt x="1331109" y="37562"/>
                  </a:lnTo>
                  <a:lnTo>
                    <a:pt x="1286216" y="26278"/>
                  </a:lnTo>
                  <a:lnTo>
                    <a:pt x="1240581" y="16941"/>
                  </a:lnTo>
                  <a:lnTo>
                    <a:pt x="1194252" y="9599"/>
                  </a:lnTo>
                  <a:lnTo>
                    <a:pt x="1147274" y="4297"/>
                  </a:lnTo>
                  <a:lnTo>
                    <a:pt x="1099695" y="1082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FDAB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98722" y="3233038"/>
              <a:ext cx="2194560" cy="3599815"/>
            </a:xfrm>
            <a:custGeom>
              <a:avLst/>
              <a:gdLst/>
              <a:ahLst/>
              <a:cxnLst/>
              <a:rect l="l" t="t" r="r" b="b"/>
              <a:pathLst>
                <a:path w="2194560" h="3599815">
                  <a:moveTo>
                    <a:pt x="1781048" y="680847"/>
                  </a:moveTo>
                  <a:lnTo>
                    <a:pt x="1779371" y="636079"/>
                  </a:lnTo>
                  <a:lnTo>
                    <a:pt x="1774431" y="592086"/>
                  </a:lnTo>
                  <a:lnTo>
                    <a:pt x="1766328" y="548957"/>
                  </a:lnTo>
                  <a:lnTo>
                    <a:pt x="1755152" y="506780"/>
                  </a:lnTo>
                  <a:lnTo>
                    <a:pt x="1741030" y="465645"/>
                  </a:lnTo>
                  <a:lnTo>
                    <a:pt x="1724037" y="425640"/>
                  </a:lnTo>
                  <a:lnTo>
                    <a:pt x="1704301" y="386854"/>
                  </a:lnTo>
                  <a:lnTo>
                    <a:pt x="1681911" y="349389"/>
                  </a:lnTo>
                  <a:lnTo>
                    <a:pt x="1656981" y="313321"/>
                  </a:lnTo>
                  <a:lnTo>
                    <a:pt x="1629600" y="278739"/>
                  </a:lnTo>
                  <a:lnTo>
                    <a:pt x="1599895" y="245745"/>
                  </a:lnTo>
                  <a:lnTo>
                    <a:pt x="1567942" y="214426"/>
                  </a:lnTo>
                  <a:lnTo>
                    <a:pt x="1533855" y="184861"/>
                  </a:lnTo>
                  <a:lnTo>
                    <a:pt x="1497736" y="157137"/>
                  </a:lnTo>
                  <a:lnTo>
                    <a:pt x="1459699" y="131368"/>
                  </a:lnTo>
                  <a:lnTo>
                    <a:pt x="1419847" y="107619"/>
                  </a:lnTo>
                  <a:lnTo>
                    <a:pt x="1378267" y="85991"/>
                  </a:lnTo>
                  <a:lnTo>
                    <a:pt x="1335074" y="66573"/>
                  </a:lnTo>
                  <a:lnTo>
                    <a:pt x="1290370" y="49441"/>
                  </a:lnTo>
                  <a:lnTo>
                    <a:pt x="1244257" y="34709"/>
                  </a:lnTo>
                  <a:lnTo>
                    <a:pt x="1196835" y="22453"/>
                  </a:lnTo>
                  <a:lnTo>
                    <a:pt x="1148219" y="12776"/>
                  </a:lnTo>
                  <a:lnTo>
                    <a:pt x="1098499" y="5740"/>
                  </a:lnTo>
                  <a:lnTo>
                    <a:pt x="1047788" y="1460"/>
                  </a:lnTo>
                  <a:lnTo>
                    <a:pt x="996188" y="0"/>
                  </a:lnTo>
                  <a:lnTo>
                    <a:pt x="944575" y="1460"/>
                  </a:lnTo>
                  <a:lnTo>
                    <a:pt x="893864" y="5740"/>
                  </a:lnTo>
                  <a:lnTo>
                    <a:pt x="844156" y="12776"/>
                  </a:lnTo>
                  <a:lnTo>
                    <a:pt x="795540" y="22453"/>
                  </a:lnTo>
                  <a:lnTo>
                    <a:pt x="748118" y="34709"/>
                  </a:lnTo>
                  <a:lnTo>
                    <a:pt x="702017" y="49441"/>
                  </a:lnTo>
                  <a:lnTo>
                    <a:pt x="657313" y="66573"/>
                  </a:lnTo>
                  <a:lnTo>
                    <a:pt x="614133" y="85991"/>
                  </a:lnTo>
                  <a:lnTo>
                    <a:pt x="572554" y="107619"/>
                  </a:lnTo>
                  <a:lnTo>
                    <a:pt x="532701" y="131368"/>
                  </a:lnTo>
                  <a:lnTo>
                    <a:pt x="494677" y="157137"/>
                  </a:lnTo>
                  <a:lnTo>
                    <a:pt x="458571" y="184861"/>
                  </a:lnTo>
                  <a:lnTo>
                    <a:pt x="424497" y="214426"/>
                  </a:lnTo>
                  <a:lnTo>
                    <a:pt x="392544" y="245745"/>
                  </a:lnTo>
                  <a:lnTo>
                    <a:pt x="362839" y="278739"/>
                  </a:lnTo>
                  <a:lnTo>
                    <a:pt x="335470" y="313321"/>
                  </a:lnTo>
                  <a:lnTo>
                    <a:pt x="310540" y="349389"/>
                  </a:lnTo>
                  <a:lnTo>
                    <a:pt x="288163" y="386854"/>
                  </a:lnTo>
                  <a:lnTo>
                    <a:pt x="268427" y="425640"/>
                  </a:lnTo>
                  <a:lnTo>
                    <a:pt x="251447" y="465645"/>
                  </a:lnTo>
                  <a:lnTo>
                    <a:pt x="237324" y="506780"/>
                  </a:lnTo>
                  <a:lnTo>
                    <a:pt x="226161" y="548957"/>
                  </a:lnTo>
                  <a:lnTo>
                    <a:pt x="218059" y="592086"/>
                  </a:lnTo>
                  <a:lnTo>
                    <a:pt x="213118" y="636079"/>
                  </a:lnTo>
                  <a:lnTo>
                    <a:pt x="211455" y="680847"/>
                  </a:lnTo>
                  <a:lnTo>
                    <a:pt x="213118" y="725601"/>
                  </a:lnTo>
                  <a:lnTo>
                    <a:pt x="218059" y="769594"/>
                  </a:lnTo>
                  <a:lnTo>
                    <a:pt x="226161" y="812711"/>
                  </a:lnTo>
                  <a:lnTo>
                    <a:pt x="237324" y="854887"/>
                  </a:lnTo>
                  <a:lnTo>
                    <a:pt x="251447" y="896010"/>
                  </a:lnTo>
                  <a:lnTo>
                    <a:pt x="268427" y="936015"/>
                  </a:lnTo>
                  <a:lnTo>
                    <a:pt x="288163" y="974788"/>
                  </a:lnTo>
                  <a:lnTo>
                    <a:pt x="310540" y="1012266"/>
                  </a:lnTo>
                  <a:lnTo>
                    <a:pt x="335470" y="1048334"/>
                  </a:lnTo>
                  <a:lnTo>
                    <a:pt x="362839" y="1082903"/>
                  </a:lnTo>
                  <a:lnTo>
                    <a:pt x="392544" y="1115910"/>
                  </a:lnTo>
                  <a:lnTo>
                    <a:pt x="424497" y="1147241"/>
                  </a:lnTo>
                  <a:lnTo>
                    <a:pt x="458571" y="1176807"/>
                  </a:lnTo>
                  <a:lnTo>
                    <a:pt x="494677" y="1204531"/>
                  </a:lnTo>
                  <a:lnTo>
                    <a:pt x="532701" y="1230312"/>
                  </a:lnTo>
                  <a:lnTo>
                    <a:pt x="572554" y="1254061"/>
                  </a:lnTo>
                  <a:lnTo>
                    <a:pt x="614133" y="1275689"/>
                  </a:lnTo>
                  <a:lnTo>
                    <a:pt x="657313" y="1295120"/>
                  </a:lnTo>
                  <a:lnTo>
                    <a:pt x="702017" y="1312240"/>
                  </a:lnTo>
                  <a:lnTo>
                    <a:pt x="748118" y="1326984"/>
                  </a:lnTo>
                  <a:lnTo>
                    <a:pt x="795540" y="1339240"/>
                  </a:lnTo>
                  <a:lnTo>
                    <a:pt x="844156" y="1348930"/>
                  </a:lnTo>
                  <a:lnTo>
                    <a:pt x="893864" y="1355966"/>
                  </a:lnTo>
                  <a:lnTo>
                    <a:pt x="944575" y="1360246"/>
                  </a:lnTo>
                  <a:lnTo>
                    <a:pt x="996188" y="1361694"/>
                  </a:lnTo>
                  <a:lnTo>
                    <a:pt x="1047788" y="1360246"/>
                  </a:lnTo>
                  <a:lnTo>
                    <a:pt x="1098499" y="1355966"/>
                  </a:lnTo>
                  <a:lnTo>
                    <a:pt x="1148219" y="1348930"/>
                  </a:lnTo>
                  <a:lnTo>
                    <a:pt x="1196835" y="1339240"/>
                  </a:lnTo>
                  <a:lnTo>
                    <a:pt x="1244257" y="1326984"/>
                  </a:lnTo>
                  <a:lnTo>
                    <a:pt x="1290370" y="1312240"/>
                  </a:lnTo>
                  <a:lnTo>
                    <a:pt x="1335074" y="1295120"/>
                  </a:lnTo>
                  <a:lnTo>
                    <a:pt x="1378267" y="1275689"/>
                  </a:lnTo>
                  <a:lnTo>
                    <a:pt x="1419847" y="1254061"/>
                  </a:lnTo>
                  <a:lnTo>
                    <a:pt x="1459699" y="1230312"/>
                  </a:lnTo>
                  <a:lnTo>
                    <a:pt x="1497736" y="1204531"/>
                  </a:lnTo>
                  <a:lnTo>
                    <a:pt x="1533855" y="1176807"/>
                  </a:lnTo>
                  <a:lnTo>
                    <a:pt x="1567942" y="1147241"/>
                  </a:lnTo>
                  <a:lnTo>
                    <a:pt x="1599895" y="1115910"/>
                  </a:lnTo>
                  <a:lnTo>
                    <a:pt x="1629600" y="1082903"/>
                  </a:lnTo>
                  <a:lnTo>
                    <a:pt x="1656981" y="1048334"/>
                  </a:lnTo>
                  <a:lnTo>
                    <a:pt x="1681911" y="1012266"/>
                  </a:lnTo>
                  <a:lnTo>
                    <a:pt x="1704301" y="974788"/>
                  </a:lnTo>
                  <a:lnTo>
                    <a:pt x="1724037" y="936015"/>
                  </a:lnTo>
                  <a:lnTo>
                    <a:pt x="1741030" y="896010"/>
                  </a:lnTo>
                  <a:lnTo>
                    <a:pt x="1755152" y="854887"/>
                  </a:lnTo>
                  <a:lnTo>
                    <a:pt x="1766328" y="812711"/>
                  </a:lnTo>
                  <a:lnTo>
                    <a:pt x="1774431" y="769594"/>
                  </a:lnTo>
                  <a:lnTo>
                    <a:pt x="1779371" y="725601"/>
                  </a:lnTo>
                  <a:lnTo>
                    <a:pt x="1781048" y="680847"/>
                  </a:lnTo>
                  <a:close/>
                </a:path>
                <a:path w="2194560" h="3599815">
                  <a:moveTo>
                    <a:pt x="2194560" y="3599662"/>
                  </a:moveTo>
                  <a:lnTo>
                    <a:pt x="1939417" y="3325342"/>
                  </a:lnTo>
                  <a:lnTo>
                    <a:pt x="0" y="3325342"/>
                  </a:lnTo>
                  <a:lnTo>
                    <a:pt x="424307" y="3599662"/>
                  </a:lnTo>
                  <a:lnTo>
                    <a:pt x="2194560" y="3599662"/>
                  </a:lnTo>
                  <a:close/>
                </a:path>
              </a:pathLst>
            </a:custGeom>
            <a:solidFill>
              <a:srgbClr val="E999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68851" y="4566730"/>
            <a:ext cx="1430020" cy="16503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297815" algn="just">
              <a:lnSpc>
                <a:spcPct val="103600"/>
              </a:lnSpc>
              <a:spcBef>
                <a:spcPts val="400"/>
              </a:spcBef>
            </a:pPr>
            <a:r>
              <a:rPr sz="2800" b="1" spc="-10" dirty="0">
                <a:solidFill>
                  <a:srgbClr val="1515BC"/>
                </a:solidFill>
                <a:latin typeface="Corbel"/>
                <a:cs typeface="Corbel"/>
              </a:rPr>
              <a:t>Impact </a:t>
            </a:r>
            <a:r>
              <a:rPr sz="2400" b="1" dirty="0">
                <a:solidFill>
                  <a:srgbClr val="D911A4"/>
                </a:solidFill>
                <a:latin typeface="Corbel"/>
                <a:cs typeface="Corbel"/>
              </a:rPr>
              <a:t>The</a:t>
            </a:r>
            <a:r>
              <a:rPr sz="2400" b="1" spc="-10" dirty="0">
                <a:solidFill>
                  <a:srgbClr val="D911A4"/>
                </a:solidFill>
                <a:latin typeface="Corbel"/>
                <a:cs typeface="Corbel"/>
              </a:rPr>
              <a:t> range </a:t>
            </a:r>
            <a:r>
              <a:rPr sz="2400" b="1" dirty="0">
                <a:solidFill>
                  <a:srgbClr val="D911A4"/>
                </a:solidFill>
                <a:latin typeface="Corbel"/>
                <a:cs typeface="Corbel"/>
              </a:rPr>
              <a:t>of</a:t>
            </a:r>
            <a:r>
              <a:rPr sz="2400" b="1" spc="-15" dirty="0">
                <a:solidFill>
                  <a:srgbClr val="D911A4"/>
                </a:solidFill>
                <a:latin typeface="Corbel"/>
                <a:cs typeface="Corbel"/>
              </a:rPr>
              <a:t> </a:t>
            </a:r>
            <a:r>
              <a:rPr sz="2400" b="1" spc="-10" dirty="0">
                <a:solidFill>
                  <a:srgbClr val="D911A4"/>
                </a:solidFill>
                <a:latin typeface="Corbel"/>
                <a:cs typeface="Corbel"/>
              </a:rPr>
              <a:t>possible outcomes</a:t>
            </a:r>
            <a:endParaRPr sz="2400">
              <a:latin typeface="Corbel"/>
              <a:cs typeface="Corbe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98039" y="2554477"/>
            <a:ext cx="3259454" cy="4282440"/>
            <a:chOff x="2098039" y="2554477"/>
            <a:chExt cx="3259454" cy="4282440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16575" y="3895216"/>
              <a:ext cx="159765" cy="1374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9601" y="3895216"/>
              <a:ext cx="159765" cy="13741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11116" y="4051553"/>
              <a:ext cx="744220" cy="189865"/>
            </a:xfrm>
            <a:custGeom>
              <a:avLst/>
              <a:gdLst/>
              <a:ahLst/>
              <a:cxnLst/>
              <a:rect l="l" t="t" r="r" b="b"/>
              <a:pathLst>
                <a:path w="744220" h="189864">
                  <a:moveTo>
                    <a:pt x="289306" y="34417"/>
                  </a:moveTo>
                  <a:lnTo>
                    <a:pt x="286512" y="33274"/>
                  </a:lnTo>
                  <a:lnTo>
                    <a:pt x="283718" y="28575"/>
                  </a:lnTo>
                  <a:lnTo>
                    <a:pt x="269214" y="22072"/>
                  </a:lnTo>
                  <a:lnTo>
                    <a:pt x="208788" y="4559"/>
                  </a:lnTo>
                  <a:lnTo>
                    <a:pt x="159766" y="0"/>
                  </a:lnTo>
                  <a:lnTo>
                    <a:pt x="142468" y="482"/>
                  </a:lnTo>
                  <a:lnTo>
                    <a:pt x="93599" y="8382"/>
                  </a:lnTo>
                  <a:lnTo>
                    <a:pt x="52870" y="21717"/>
                  </a:lnTo>
                  <a:lnTo>
                    <a:pt x="15113" y="40386"/>
                  </a:lnTo>
                  <a:lnTo>
                    <a:pt x="0" y="67564"/>
                  </a:lnTo>
                  <a:lnTo>
                    <a:pt x="0" y="137541"/>
                  </a:lnTo>
                  <a:lnTo>
                    <a:pt x="176276" y="137541"/>
                  </a:lnTo>
                  <a:lnTo>
                    <a:pt x="176276" y="122174"/>
                  </a:lnTo>
                  <a:lnTo>
                    <a:pt x="178269" y="107340"/>
                  </a:lnTo>
                  <a:lnTo>
                    <a:pt x="208026" y="68834"/>
                  </a:lnTo>
                  <a:lnTo>
                    <a:pt x="247091" y="48958"/>
                  </a:lnTo>
                  <a:lnTo>
                    <a:pt x="267868" y="41160"/>
                  </a:lnTo>
                  <a:lnTo>
                    <a:pt x="289306" y="34417"/>
                  </a:lnTo>
                  <a:close/>
                </a:path>
                <a:path w="744220" h="189864">
                  <a:moveTo>
                    <a:pt x="531622" y="122174"/>
                  </a:moveTo>
                  <a:lnTo>
                    <a:pt x="498182" y="83019"/>
                  </a:lnTo>
                  <a:lnTo>
                    <a:pt x="458546" y="67017"/>
                  </a:lnTo>
                  <a:lnTo>
                    <a:pt x="404939" y="55727"/>
                  </a:lnTo>
                  <a:lnTo>
                    <a:pt x="371856" y="53340"/>
                  </a:lnTo>
                  <a:lnTo>
                    <a:pt x="355346" y="53822"/>
                  </a:lnTo>
                  <a:lnTo>
                    <a:pt x="305816" y="61722"/>
                  </a:lnTo>
                  <a:lnTo>
                    <a:pt x="265684" y="75057"/>
                  </a:lnTo>
                  <a:lnTo>
                    <a:pt x="228600" y="93726"/>
                  </a:lnTo>
                  <a:lnTo>
                    <a:pt x="212090" y="122174"/>
                  </a:lnTo>
                  <a:lnTo>
                    <a:pt x="212090" y="189611"/>
                  </a:lnTo>
                  <a:lnTo>
                    <a:pt x="531622" y="189611"/>
                  </a:lnTo>
                  <a:lnTo>
                    <a:pt x="531622" y="122174"/>
                  </a:lnTo>
                  <a:close/>
                </a:path>
                <a:path w="744220" h="189864">
                  <a:moveTo>
                    <a:pt x="743712" y="67564"/>
                  </a:moveTo>
                  <a:lnTo>
                    <a:pt x="710412" y="29692"/>
                  </a:lnTo>
                  <a:lnTo>
                    <a:pt x="671169" y="13728"/>
                  </a:lnTo>
                  <a:lnTo>
                    <a:pt x="618007" y="1955"/>
                  </a:lnTo>
                  <a:lnTo>
                    <a:pt x="583946" y="0"/>
                  </a:lnTo>
                  <a:lnTo>
                    <a:pt x="567994" y="482"/>
                  </a:lnTo>
                  <a:lnTo>
                    <a:pt x="519176" y="8382"/>
                  </a:lnTo>
                  <a:lnTo>
                    <a:pt x="473303" y="24053"/>
                  </a:lnTo>
                  <a:lnTo>
                    <a:pt x="455930" y="34417"/>
                  </a:lnTo>
                  <a:lnTo>
                    <a:pt x="477481" y="40640"/>
                  </a:lnTo>
                  <a:lnTo>
                    <a:pt x="498551" y="48628"/>
                  </a:lnTo>
                  <a:lnTo>
                    <a:pt x="537083" y="69977"/>
                  </a:lnTo>
                  <a:lnTo>
                    <a:pt x="565404" y="106705"/>
                  </a:lnTo>
                  <a:lnTo>
                    <a:pt x="567436" y="122174"/>
                  </a:lnTo>
                  <a:lnTo>
                    <a:pt x="567436" y="137541"/>
                  </a:lnTo>
                  <a:lnTo>
                    <a:pt x="743712" y="137541"/>
                  </a:lnTo>
                  <a:lnTo>
                    <a:pt x="743712" y="675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03088" y="3948556"/>
              <a:ext cx="159765" cy="13741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11116" y="3534917"/>
              <a:ext cx="746760" cy="318135"/>
            </a:xfrm>
            <a:custGeom>
              <a:avLst/>
              <a:gdLst/>
              <a:ahLst/>
              <a:cxnLst/>
              <a:rect l="l" t="t" r="r" b="b"/>
              <a:pathLst>
                <a:path w="746760" h="318135">
                  <a:moveTo>
                    <a:pt x="256159" y="265430"/>
                  </a:moveTo>
                  <a:lnTo>
                    <a:pt x="191516" y="265430"/>
                  </a:lnTo>
                  <a:lnTo>
                    <a:pt x="191516" y="317627"/>
                  </a:lnTo>
                  <a:lnTo>
                    <a:pt x="256159" y="265430"/>
                  </a:lnTo>
                  <a:close/>
                </a:path>
                <a:path w="746760" h="318135">
                  <a:moveTo>
                    <a:pt x="403479" y="265430"/>
                  </a:moveTo>
                  <a:lnTo>
                    <a:pt x="326389" y="265430"/>
                  </a:lnTo>
                  <a:lnTo>
                    <a:pt x="366395" y="317627"/>
                  </a:lnTo>
                  <a:lnTo>
                    <a:pt x="403479" y="265430"/>
                  </a:lnTo>
                  <a:close/>
                </a:path>
                <a:path w="746760" h="318135">
                  <a:moveTo>
                    <a:pt x="541274" y="265430"/>
                  </a:moveTo>
                  <a:lnTo>
                    <a:pt x="476504" y="265430"/>
                  </a:lnTo>
                  <a:lnTo>
                    <a:pt x="541274" y="317627"/>
                  </a:lnTo>
                  <a:lnTo>
                    <a:pt x="541274" y="265430"/>
                  </a:lnTo>
                  <a:close/>
                </a:path>
                <a:path w="746760" h="318135">
                  <a:moveTo>
                    <a:pt x="705104" y="0"/>
                  </a:moveTo>
                  <a:lnTo>
                    <a:pt x="41275" y="0"/>
                  </a:lnTo>
                  <a:lnTo>
                    <a:pt x="24967" y="2716"/>
                  </a:lnTo>
                  <a:lnTo>
                    <a:pt x="11874" y="10207"/>
                  </a:lnTo>
                  <a:lnTo>
                    <a:pt x="3163" y="21484"/>
                  </a:lnTo>
                  <a:lnTo>
                    <a:pt x="0" y="35560"/>
                  </a:lnTo>
                  <a:lnTo>
                    <a:pt x="0" y="229870"/>
                  </a:lnTo>
                  <a:lnTo>
                    <a:pt x="3163" y="243945"/>
                  </a:lnTo>
                  <a:lnTo>
                    <a:pt x="11874" y="255222"/>
                  </a:lnTo>
                  <a:lnTo>
                    <a:pt x="24967" y="262713"/>
                  </a:lnTo>
                  <a:lnTo>
                    <a:pt x="41275" y="265430"/>
                  </a:lnTo>
                  <a:lnTo>
                    <a:pt x="705104" y="265430"/>
                  </a:lnTo>
                  <a:lnTo>
                    <a:pt x="721411" y="262713"/>
                  </a:lnTo>
                  <a:lnTo>
                    <a:pt x="734504" y="255222"/>
                  </a:lnTo>
                  <a:lnTo>
                    <a:pt x="743215" y="243945"/>
                  </a:lnTo>
                  <a:lnTo>
                    <a:pt x="746379" y="229870"/>
                  </a:lnTo>
                  <a:lnTo>
                    <a:pt x="746379" y="184785"/>
                  </a:lnTo>
                  <a:lnTo>
                    <a:pt x="101981" y="184785"/>
                  </a:lnTo>
                  <a:lnTo>
                    <a:pt x="101981" y="168275"/>
                  </a:lnTo>
                  <a:lnTo>
                    <a:pt x="746379" y="168275"/>
                  </a:lnTo>
                  <a:lnTo>
                    <a:pt x="746379" y="140970"/>
                  </a:lnTo>
                  <a:lnTo>
                    <a:pt x="101981" y="140970"/>
                  </a:lnTo>
                  <a:lnTo>
                    <a:pt x="101981" y="123190"/>
                  </a:lnTo>
                  <a:lnTo>
                    <a:pt x="746379" y="123190"/>
                  </a:lnTo>
                  <a:lnTo>
                    <a:pt x="746379" y="97155"/>
                  </a:lnTo>
                  <a:lnTo>
                    <a:pt x="101981" y="97155"/>
                  </a:lnTo>
                  <a:lnTo>
                    <a:pt x="101981" y="79375"/>
                  </a:lnTo>
                  <a:lnTo>
                    <a:pt x="746379" y="79375"/>
                  </a:lnTo>
                  <a:lnTo>
                    <a:pt x="746379" y="35560"/>
                  </a:lnTo>
                  <a:lnTo>
                    <a:pt x="743215" y="21484"/>
                  </a:lnTo>
                  <a:lnTo>
                    <a:pt x="734504" y="10207"/>
                  </a:lnTo>
                  <a:lnTo>
                    <a:pt x="721411" y="2716"/>
                  </a:lnTo>
                  <a:lnTo>
                    <a:pt x="705104" y="0"/>
                  </a:lnTo>
                  <a:close/>
                </a:path>
                <a:path w="746760" h="318135">
                  <a:moveTo>
                    <a:pt x="746379" y="168275"/>
                  </a:moveTo>
                  <a:lnTo>
                    <a:pt x="479298" y="168275"/>
                  </a:lnTo>
                  <a:lnTo>
                    <a:pt x="479298" y="184785"/>
                  </a:lnTo>
                  <a:lnTo>
                    <a:pt x="746379" y="184785"/>
                  </a:lnTo>
                  <a:lnTo>
                    <a:pt x="746379" y="168275"/>
                  </a:lnTo>
                  <a:close/>
                </a:path>
                <a:path w="746760" h="318135">
                  <a:moveTo>
                    <a:pt x="746379" y="123190"/>
                  </a:moveTo>
                  <a:lnTo>
                    <a:pt x="643128" y="123190"/>
                  </a:lnTo>
                  <a:lnTo>
                    <a:pt x="643128" y="140970"/>
                  </a:lnTo>
                  <a:lnTo>
                    <a:pt x="746379" y="140970"/>
                  </a:lnTo>
                  <a:lnTo>
                    <a:pt x="746379" y="123190"/>
                  </a:lnTo>
                  <a:close/>
                </a:path>
                <a:path w="746760" h="318135">
                  <a:moveTo>
                    <a:pt x="746379" y="79375"/>
                  </a:moveTo>
                  <a:lnTo>
                    <a:pt x="582549" y="79375"/>
                  </a:lnTo>
                  <a:lnTo>
                    <a:pt x="582549" y="97155"/>
                  </a:lnTo>
                  <a:lnTo>
                    <a:pt x="746379" y="97155"/>
                  </a:lnTo>
                  <a:lnTo>
                    <a:pt x="746379" y="79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98039" y="2554477"/>
              <a:ext cx="1929130" cy="4003675"/>
            </a:xfrm>
            <a:custGeom>
              <a:avLst/>
              <a:gdLst/>
              <a:ahLst/>
              <a:cxnLst/>
              <a:rect l="l" t="t" r="r" b="b"/>
              <a:pathLst>
                <a:path w="1929129" h="4003675">
                  <a:moveTo>
                    <a:pt x="964311" y="0"/>
                  </a:moveTo>
                  <a:lnTo>
                    <a:pt x="916176" y="1180"/>
                  </a:lnTo>
                  <a:lnTo>
                    <a:pt x="868653" y="4684"/>
                  </a:lnTo>
                  <a:lnTo>
                    <a:pt x="821797" y="10457"/>
                  </a:lnTo>
                  <a:lnTo>
                    <a:pt x="775663" y="18442"/>
                  </a:lnTo>
                  <a:lnTo>
                    <a:pt x="730306" y="28586"/>
                  </a:lnTo>
                  <a:lnTo>
                    <a:pt x="685781" y="40833"/>
                  </a:lnTo>
                  <a:lnTo>
                    <a:pt x="642144" y="55126"/>
                  </a:lnTo>
                  <a:lnTo>
                    <a:pt x="599450" y="71412"/>
                  </a:lnTo>
                  <a:lnTo>
                    <a:pt x="557754" y="89635"/>
                  </a:lnTo>
                  <a:lnTo>
                    <a:pt x="517111" y="109740"/>
                  </a:lnTo>
                  <a:lnTo>
                    <a:pt x="477576" y="131670"/>
                  </a:lnTo>
                  <a:lnTo>
                    <a:pt x="439205" y="155372"/>
                  </a:lnTo>
                  <a:lnTo>
                    <a:pt x="402053" y="180789"/>
                  </a:lnTo>
                  <a:lnTo>
                    <a:pt x="366175" y="207867"/>
                  </a:lnTo>
                  <a:lnTo>
                    <a:pt x="331626" y="236550"/>
                  </a:lnTo>
                  <a:lnTo>
                    <a:pt x="298461" y="266783"/>
                  </a:lnTo>
                  <a:lnTo>
                    <a:pt x="266737" y="298510"/>
                  </a:lnTo>
                  <a:lnTo>
                    <a:pt x="236507" y="331677"/>
                  </a:lnTo>
                  <a:lnTo>
                    <a:pt x="207828" y="366228"/>
                  </a:lnTo>
                  <a:lnTo>
                    <a:pt x="180753" y="402108"/>
                  </a:lnTo>
                  <a:lnTo>
                    <a:pt x="155340" y="439261"/>
                  </a:lnTo>
                  <a:lnTo>
                    <a:pt x="131642" y="477632"/>
                  </a:lnTo>
                  <a:lnTo>
                    <a:pt x="109715" y="517167"/>
                  </a:lnTo>
                  <a:lnTo>
                    <a:pt x="89615" y="557809"/>
                  </a:lnTo>
                  <a:lnTo>
                    <a:pt x="71395" y="599503"/>
                  </a:lnTo>
                  <a:lnTo>
                    <a:pt x="55113" y="642195"/>
                  </a:lnTo>
                  <a:lnTo>
                    <a:pt x="40822" y="685828"/>
                  </a:lnTo>
                  <a:lnTo>
                    <a:pt x="28579" y="730348"/>
                  </a:lnTo>
                  <a:lnTo>
                    <a:pt x="18437" y="775699"/>
                  </a:lnTo>
                  <a:lnTo>
                    <a:pt x="10454" y="821826"/>
                  </a:lnTo>
                  <a:lnTo>
                    <a:pt x="4683" y="868674"/>
                  </a:lnTo>
                  <a:lnTo>
                    <a:pt x="1179" y="916187"/>
                  </a:lnTo>
                  <a:lnTo>
                    <a:pt x="0" y="964311"/>
                  </a:lnTo>
                  <a:lnTo>
                    <a:pt x="0" y="4003116"/>
                  </a:lnTo>
                  <a:lnTo>
                    <a:pt x="1928622" y="4003116"/>
                  </a:lnTo>
                  <a:lnTo>
                    <a:pt x="1928495" y="964311"/>
                  </a:lnTo>
                  <a:lnTo>
                    <a:pt x="1927315" y="916187"/>
                  </a:lnTo>
                  <a:lnTo>
                    <a:pt x="1923811" y="868674"/>
                  </a:lnTo>
                  <a:lnTo>
                    <a:pt x="1918040" y="821826"/>
                  </a:lnTo>
                  <a:lnTo>
                    <a:pt x="1910057" y="775699"/>
                  </a:lnTo>
                  <a:lnTo>
                    <a:pt x="1899916" y="730348"/>
                  </a:lnTo>
                  <a:lnTo>
                    <a:pt x="1887672" y="685828"/>
                  </a:lnTo>
                  <a:lnTo>
                    <a:pt x="1873382" y="642195"/>
                  </a:lnTo>
                  <a:lnTo>
                    <a:pt x="1857100" y="599503"/>
                  </a:lnTo>
                  <a:lnTo>
                    <a:pt x="1838882" y="557809"/>
                  </a:lnTo>
                  <a:lnTo>
                    <a:pt x="1818782" y="517167"/>
                  </a:lnTo>
                  <a:lnTo>
                    <a:pt x="1796857" y="477632"/>
                  </a:lnTo>
                  <a:lnTo>
                    <a:pt x="1773160" y="439261"/>
                  </a:lnTo>
                  <a:lnTo>
                    <a:pt x="1747748" y="402108"/>
                  </a:lnTo>
                  <a:lnTo>
                    <a:pt x="1720676" y="366228"/>
                  </a:lnTo>
                  <a:lnTo>
                    <a:pt x="1691999" y="331677"/>
                  </a:lnTo>
                  <a:lnTo>
                    <a:pt x="1661772" y="298510"/>
                  </a:lnTo>
                  <a:lnTo>
                    <a:pt x="1630050" y="266783"/>
                  </a:lnTo>
                  <a:lnTo>
                    <a:pt x="1596889" y="236550"/>
                  </a:lnTo>
                  <a:lnTo>
                    <a:pt x="1562344" y="207867"/>
                  </a:lnTo>
                  <a:lnTo>
                    <a:pt x="1526470" y="180789"/>
                  </a:lnTo>
                  <a:lnTo>
                    <a:pt x="1489322" y="155372"/>
                  </a:lnTo>
                  <a:lnTo>
                    <a:pt x="1450956" y="131670"/>
                  </a:lnTo>
                  <a:lnTo>
                    <a:pt x="1411426" y="109740"/>
                  </a:lnTo>
                  <a:lnTo>
                    <a:pt x="1370789" y="89635"/>
                  </a:lnTo>
                  <a:lnTo>
                    <a:pt x="1329099" y="71412"/>
                  </a:lnTo>
                  <a:lnTo>
                    <a:pt x="1286412" y="55126"/>
                  </a:lnTo>
                  <a:lnTo>
                    <a:pt x="1242782" y="40833"/>
                  </a:lnTo>
                  <a:lnTo>
                    <a:pt x="1198265" y="28586"/>
                  </a:lnTo>
                  <a:lnTo>
                    <a:pt x="1152917" y="18442"/>
                  </a:lnTo>
                  <a:lnTo>
                    <a:pt x="1106792" y="10457"/>
                  </a:lnTo>
                  <a:lnTo>
                    <a:pt x="1059946" y="4684"/>
                  </a:lnTo>
                  <a:lnTo>
                    <a:pt x="1012434" y="1180"/>
                  </a:lnTo>
                  <a:lnTo>
                    <a:pt x="964311" y="0"/>
                  </a:lnTo>
                  <a:close/>
                </a:path>
              </a:pathLst>
            </a:custGeom>
            <a:solidFill>
              <a:srgbClr val="D22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98040" y="2705607"/>
              <a:ext cx="2395855" cy="4131310"/>
            </a:xfrm>
            <a:custGeom>
              <a:avLst/>
              <a:gdLst/>
              <a:ahLst/>
              <a:cxnLst/>
              <a:rect l="l" t="t" r="r" b="b"/>
              <a:pathLst>
                <a:path w="2395854" h="4131309">
                  <a:moveTo>
                    <a:pt x="1741424" y="680847"/>
                  </a:moveTo>
                  <a:lnTo>
                    <a:pt x="1739747" y="636079"/>
                  </a:lnTo>
                  <a:lnTo>
                    <a:pt x="1734807" y="592086"/>
                  </a:lnTo>
                  <a:lnTo>
                    <a:pt x="1726704" y="548957"/>
                  </a:lnTo>
                  <a:lnTo>
                    <a:pt x="1715541" y="506780"/>
                  </a:lnTo>
                  <a:lnTo>
                    <a:pt x="1701419" y="465645"/>
                  </a:lnTo>
                  <a:lnTo>
                    <a:pt x="1684439" y="425640"/>
                  </a:lnTo>
                  <a:lnTo>
                    <a:pt x="1664703" y="386854"/>
                  </a:lnTo>
                  <a:lnTo>
                    <a:pt x="1642325" y="349389"/>
                  </a:lnTo>
                  <a:lnTo>
                    <a:pt x="1617395" y="313321"/>
                  </a:lnTo>
                  <a:lnTo>
                    <a:pt x="1590027" y="278739"/>
                  </a:lnTo>
                  <a:lnTo>
                    <a:pt x="1560322" y="245745"/>
                  </a:lnTo>
                  <a:lnTo>
                    <a:pt x="1528368" y="214426"/>
                  </a:lnTo>
                  <a:lnTo>
                    <a:pt x="1494294" y="184861"/>
                  </a:lnTo>
                  <a:lnTo>
                    <a:pt x="1458188" y="157137"/>
                  </a:lnTo>
                  <a:lnTo>
                    <a:pt x="1420164" y="131368"/>
                  </a:lnTo>
                  <a:lnTo>
                    <a:pt x="1380312" y="107619"/>
                  </a:lnTo>
                  <a:lnTo>
                    <a:pt x="1338732" y="85991"/>
                  </a:lnTo>
                  <a:lnTo>
                    <a:pt x="1295552" y="66573"/>
                  </a:lnTo>
                  <a:lnTo>
                    <a:pt x="1250848" y="49441"/>
                  </a:lnTo>
                  <a:lnTo>
                    <a:pt x="1204747" y="34709"/>
                  </a:lnTo>
                  <a:lnTo>
                    <a:pt x="1157325" y="22453"/>
                  </a:lnTo>
                  <a:lnTo>
                    <a:pt x="1108710" y="12776"/>
                  </a:lnTo>
                  <a:lnTo>
                    <a:pt x="1059002" y="5740"/>
                  </a:lnTo>
                  <a:lnTo>
                    <a:pt x="1008291" y="1460"/>
                  </a:lnTo>
                  <a:lnTo>
                    <a:pt x="956691" y="0"/>
                  </a:lnTo>
                  <a:lnTo>
                    <a:pt x="905078" y="1460"/>
                  </a:lnTo>
                  <a:lnTo>
                    <a:pt x="854367" y="5740"/>
                  </a:lnTo>
                  <a:lnTo>
                    <a:pt x="804646" y="12776"/>
                  </a:lnTo>
                  <a:lnTo>
                    <a:pt x="756031" y="22453"/>
                  </a:lnTo>
                  <a:lnTo>
                    <a:pt x="708609" y="34709"/>
                  </a:lnTo>
                  <a:lnTo>
                    <a:pt x="662495" y="49441"/>
                  </a:lnTo>
                  <a:lnTo>
                    <a:pt x="617791" y="66573"/>
                  </a:lnTo>
                  <a:lnTo>
                    <a:pt x="574598" y="85991"/>
                  </a:lnTo>
                  <a:lnTo>
                    <a:pt x="533019" y="107619"/>
                  </a:lnTo>
                  <a:lnTo>
                    <a:pt x="493166" y="131368"/>
                  </a:lnTo>
                  <a:lnTo>
                    <a:pt x="455129" y="157137"/>
                  </a:lnTo>
                  <a:lnTo>
                    <a:pt x="419011" y="184861"/>
                  </a:lnTo>
                  <a:lnTo>
                    <a:pt x="384924" y="214426"/>
                  </a:lnTo>
                  <a:lnTo>
                    <a:pt x="352971" y="245745"/>
                  </a:lnTo>
                  <a:lnTo>
                    <a:pt x="323265" y="278739"/>
                  </a:lnTo>
                  <a:lnTo>
                    <a:pt x="295884" y="313321"/>
                  </a:lnTo>
                  <a:lnTo>
                    <a:pt x="270954" y="349389"/>
                  </a:lnTo>
                  <a:lnTo>
                    <a:pt x="248564" y="386854"/>
                  </a:lnTo>
                  <a:lnTo>
                    <a:pt x="228828" y="425640"/>
                  </a:lnTo>
                  <a:lnTo>
                    <a:pt x="211836" y="465645"/>
                  </a:lnTo>
                  <a:lnTo>
                    <a:pt x="197713" y="506780"/>
                  </a:lnTo>
                  <a:lnTo>
                    <a:pt x="186537" y="548957"/>
                  </a:lnTo>
                  <a:lnTo>
                    <a:pt x="178435" y="592086"/>
                  </a:lnTo>
                  <a:lnTo>
                    <a:pt x="173494" y="636079"/>
                  </a:lnTo>
                  <a:lnTo>
                    <a:pt x="171831" y="680847"/>
                  </a:lnTo>
                  <a:lnTo>
                    <a:pt x="173494" y="725627"/>
                  </a:lnTo>
                  <a:lnTo>
                    <a:pt x="178435" y="769620"/>
                  </a:lnTo>
                  <a:lnTo>
                    <a:pt x="186537" y="812749"/>
                  </a:lnTo>
                  <a:lnTo>
                    <a:pt x="197713" y="854925"/>
                  </a:lnTo>
                  <a:lnTo>
                    <a:pt x="211836" y="896061"/>
                  </a:lnTo>
                  <a:lnTo>
                    <a:pt x="228828" y="936066"/>
                  </a:lnTo>
                  <a:lnTo>
                    <a:pt x="248564" y="974852"/>
                  </a:lnTo>
                  <a:lnTo>
                    <a:pt x="270954" y="1012317"/>
                  </a:lnTo>
                  <a:lnTo>
                    <a:pt x="295884" y="1048385"/>
                  </a:lnTo>
                  <a:lnTo>
                    <a:pt x="323265" y="1082967"/>
                  </a:lnTo>
                  <a:lnTo>
                    <a:pt x="352971" y="1115961"/>
                  </a:lnTo>
                  <a:lnTo>
                    <a:pt x="384924" y="1147279"/>
                  </a:lnTo>
                  <a:lnTo>
                    <a:pt x="419011" y="1176845"/>
                  </a:lnTo>
                  <a:lnTo>
                    <a:pt x="455129" y="1204569"/>
                  </a:lnTo>
                  <a:lnTo>
                    <a:pt x="493166" y="1230337"/>
                  </a:lnTo>
                  <a:lnTo>
                    <a:pt x="533019" y="1254086"/>
                  </a:lnTo>
                  <a:lnTo>
                    <a:pt x="574598" y="1275715"/>
                  </a:lnTo>
                  <a:lnTo>
                    <a:pt x="617791" y="1295133"/>
                  </a:lnTo>
                  <a:lnTo>
                    <a:pt x="662495" y="1312265"/>
                  </a:lnTo>
                  <a:lnTo>
                    <a:pt x="708609" y="1326997"/>
                  </a:lnTo>
                  <a:lnTo>
                    <a:pt x="756031" y="1339253"/>
                  </a:lnTo>
                  <a:lnTo>
                    <a:pt x="804646" y="1348930"/>
                  </a:lnTo>
                  <a:lnTo>
                    <a:pt x="854367" y="1355966"/>
                  </a:lnTo>
                  <a:lnTo>
                    <a:pt x="905078" y="1360246"/>
                  </a:lnTo>
                  <a:lnTo>
                    <a:pt x="956691" y="1361694"/>
                  </a:lnTo>
                  <a:lnTo>
                    <a:pt x="1008291" y="1360246"/>
                  </a:lnTo>
                  <a:lnTo>
                    <a:pt x="1059002" y="1355966"/>
                  </a:lnTo>
                  <a:lnTo>
                    <a:pt x="1108710" y="1348930"/>
                  </a:lnTo>
                  <a:lnTo>
                    <a:pt x="1157325" y="1339253"/>
                  </a:lnTo>
                  <a:lnTo>
                    <a:pt x="1204747" y="1326997"/>
                  </a:lnTo>
                  <a:lnTo>
                    <a:pt x="1250848" y="1312265"/>
                  </a:lnTo>
                  <a:lnTo>
                    <a:pt x="1295552" y="1295133"/>
                  </a:lnTo>
                  <a:lnTo>
                    <a:pt x="1338732" y="1275715"/>
                  </a:lnTo>
                  <a:lnTo>
                    <a:pt x="1380312" y="1254086"/>
                  </a:lnTo>
                  <a:lnTo>
                    <a:pt x="1420164" y="1230337"/>
                  </a:lnTo>
                  <a:lnTo>
                    <a:pt x="1458188" y="1204569"/>
                  </a:lnTo>
                  <a:lnTo>
                    <a:pt x="1494294" y="1176845"/>
                  </a:lnTo>
                  <a:lnTo>
                    <a:pt x="1528368" y="1147279"/>
                  </a:lnTo>
                  <a:lnTo>
                    <a:pt x="1560322" y="1115961"/>
                  </a:lnTo>
                  <a:lnTo>
                    <a:pt x="1590027" y="1082967"/>
                  </a:lnTo>
                  <a:lnTo>
                    <a:pt x="1617395" y="1048385"/>
                  </a:lnTo>
                  <a:lnTo>
                    <a:pt x="1642325" y="1012317"/>
                  </a:lnTo>
                  <a:lnTo>
                    <a:pt x="1664703" y="974852"/>
                  </a:lnTo>
                  <a:lnTo>
                    <a:pt x="1684439" y="936066"/>
                  </a:lnTo>
                  <a:lnTo>
                    <a:pt x="1701419" y="896061"/>
                  </a:lnTo>
                  <a:lnTo>
                    <a:pt x="1715541" y="854925"/>
                  </a:lnTo>
                  <a:lnTo>
                    <a:pt x="1726704" y="812749"/>
                  </a:lnTo>
                  <a:lnTo>
                    <a:pt x="1734807" y="769620"/>
                  </a:lnTo>
                  <a:lnTo>
                    <a:pt x="1739747" y="725627"/>
                  </a:lnTo>
                  <a:lnTo>
                    <a:pt x="1741424" y="680847"/>
                  </a:lnTo>
                  <a:close/>
                </a:path>
                <a:path w="2395854" h="4131309">
                  <a:moveTo>
                    <a:pt x="2395347" y="4131068"/>
                  </a:moveTo>
                  <a:lnTo>
                    <a:pt x="1921510" y="3847071"/>
                  </a:lnTo>
                  <a:lnTo>
                    <a:pt x="0" y="3847071"/>
                  </a:lnTo>
                  <a:lnTo>
                    <a:pt x="802259" y="4131068"/>
                  </a:lnTo>
                  <a:lnTo>
                    <a:pt x="2395347" y="4131068"/>
                  </a:lnTo>
                  <a:close/>
                </a:path>
              </a:pathLst>
            </a:custGeom>
            <a:solidFill>
              <a:srgbClr val="BB0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30576" y="4099281"/>
            <a:ext cx="1463675" cy="211899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2800" b="1" spc="-20" dirty="0">
                <a:solidFill>
                  <a:srgbClr val="1515BC"/>
                </a:solidFill>
                <a:latin typeface="Corbel"/>
                <a:cs typeface="Corbel"/>
              </a:rPr>
              <a:t>What</a:t>
            </a:r>
            <a:endParaRPr sz="2800">
              <a:latin typeface="Corbel"/>
              <a:cs typeface="Corbe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740"/>
              </a:spcBef>
            </a:pPr>
            <a:r>
              <a:rPr sz="2400" b="1" spc="-25" dirty="0">
                <a:solidFill>
                  <a:srgbClr val="001F5F"/>
                </a:solidFill>
                <a:latin typeface="Corbel"/>
                <a:cs typeface="Corbel"/>
              </a:rPr>
              <a:t>The </a:t>
            </a:r>
            <a:r>
              <a:rPr sz="2400" b="1" spc="-10" dirty="0">
                <a:solidFill>
                  <a:srgbClr val="001F5F"/>
                </a:solidFill>
                <a:latin typeface="Corbel"/>
                <a:cs typeface="Corbel"/>
              </a:rPr>
              <a:t>probability </a:t>
            </a:r>
            <a:r>
              <a:rPr sz="2400" b="1" dirty="0">
                <a:solidFill>
                  <a:srgbClr val="001F5F"/>
                </a:solidFill>
                <a:latin typeface="Corbel"/>
                <a:cs typeface="Corbel"/>
              </a:rPr>
              <a:t>that</a:t>
            </a:r>
            <a:r>
              <a:rPr sz="2400" b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orbel"/>
                <a:cs typeface="Corbel"/>
              </a:rPr>
              <a:t>it</a:t>
            </a:r>
            <a:r>
              <a:rPr sz="2400" b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orbel"/>
                <a:cs typeface="Corbel"/>
              </a:rPr>
              <a:t>will </a:t>
            </a:r>
            <a:r>
              <a:rPr sz="2400" b="1" spc="-10" dirty="0">
                <a:solidFill>
                  <a:srgbClr val="001F5F"/>
                </a:solidFill>
                <a:latin typeface="Corbel"/>
                <a:cs typeface="Corbel"/>
              </a:rPr>
              <a:t>occur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770378" y="2982213"/>
            <a:ext cx="533400" cy="743585"/>
          </a:xfrm>
          <a:custGeom>
            <a:avLst/>
            <a:gdLst/>
            <a:ahLst/>
            <a:cxnLst/>
            <a:rect l="l" t="t" r="r" b="b"/>
            <a:pathLst>
              <a:path w="533400" h="743585">
                <a:moveTo>
                  <a:pt x="333375" y="689737"/>
                </a:moveTo>
                <a:lnTo>
                  <a:pt x="199771" y="689737"/>
                </a:lnTo>
                <a:lnTo>
                  <a:pt x="206375" y="710615"/>
                </a:lnTo>
                <a:lnTo>
                  <a:pt x="220878" y="727557"/>
                </a:lnTo>
                <a:lnTo>
                  <a:pt x="241338" y="738924"/>
                </a:lnTo>
                <a:lnTo>
                  <a:pt x="265811" y="743077"/>
                </a:lnTo>
                <a:lnTo>
                  <a:pt x="291084" y="738924"/>
                </a:lnTo>
                <a:lnTo>
                  <a:pt x="311975" y="727557"/>
                </a:lnTo>
                <a:lnTo>
                  <a:pt x="326669" y="710615"/>
                </a:lnTo>
                <a:lnTo>
                  <a:pt x="333375" y="689737"/>
                </a:lnTo>
                <a:close/>
              </a:path>
              <a:path w="533400" h="743585">
                <a:moveTo>
                  <a:pt x="399415" y="628142"/>
                </a:moveTo>
                <a:lnTo>
                  <a:pt x="397179" y="617423"/>
                </a:lnTo>
                <a:lnTo>
                  <a:pt x="390944" y="608799"/>
                </a:lnTo>
                <a:lnTo>
                  <a:pt x="381355" y="603059"/>
                </a:lnTo>
                <a:lnTo>
                  <a:pt x="369062" y="600964"/>
                </a:lnTo>
                <a:lnTo>
                  <a:pt x="163957" y="600964"/>
                </a:lnTo>
                <a:lnTo>
                  <a:pt x="151650" y="603059"/>
                </a:lnTo>
                <a:lnTo>
                  <a:pt x="142062" y="608799"/>
                </a:lnTo>
                <a:lnTo>
                  <a:pt x="135826" y="617423"/>
                </a:lnTo>
                <a:lnTo>
                  <a:pt x="133604" y="628142"/>
                </a:lnTo>
                <a:lnTo>
                  <a:pt x="135826" y="638721"/>
                </a:lnTo>
                <a:lnTo>
                  <a:pt x="142062" y="646988"/>
                </a:lnTo>
                <a:lnTo>
                  <a:pt x="151650" y="652386"/>
                </a:lnTo>
                <a:lnTo>
                  <a:pt x="163957" y="654304"/>
                </a:lnTo>
                <a:lnTo>
                  <a:pt x="369062" y="654304"/>
                </a:lnTo>
                <a:lnTo>
                  <a:pt x="381355" y="652386"/>
                </a:lnTo>
                <a:lnTo>
                  <a:pt x="390944" y="646988"/>
                </a:lnTo>
                <a:lnTo>
                  <a:pt x="397179" y="638721"/>
                </a:lnTo>
                <a:lnTo>
                  <a:pt x="399415" y="628142"/>
                </a:lnTo>
                <a:close/>
              </a:path>
              <a:path w="533400" h="743585">
                <a:moveTo>
                  <a:pt x="399415" y="539242"/>
                </a:moveTo>
                <a:lnTo>
                  <a:pt x="397179" y="528701"/>
                </a:lnTo>
                <a:lnTo>
                  <a:pt x="390944" y="520471"/>
                </a:lnTo>
                <a:lnTo>
                  <a:pt x="381355" y="515124"/>
                </a:lnTo>
                <a:lnTo>
                  <a:pt x="369062" y="513207"/>
                </a:lnTo>
                <a:lnTo>
                  <a:pt x="163957" y="513207"/>
                </a:lnTo>
                <a:lnTo>
                  <a:pt x="151650" y="515124"/>
                </a:lnTo>
                <a:lnTo>
                  <a:pt x="142062" y="520471"/>
                </a:lnTo>
                <a:lnTo>
                  <a:pt x="135826" y="528701"/>
                </a:lnTo>
                <a:lnTo>
                  <a:pt x="133604" y="539242"/>
                </a:lnTo>
                <a:lnTo>
                  <a:pt x="135826" y="549871"/>
                </a:lnTo>
                <a:lnTo>
                  <a:pt x="142062" y="558139"/>
                </a:lnTo>
                <a:lnTo>
                  <a:pt x="151650" y="563499"/>
                </a:lnTo>
                <a:lnTo>
                  <a:pt x="163957" y="565404"/>
                </a:lnTo>
                <a:lnTo>
                  <a:pt x="369062" y="565404"/>
                </a:lnTo>
                <a:lnTo>
                  <a:pt x="381355" y="563499"/>
                </a:lnTo>
                <a:lnTo>
                  <a:pt x="390944" y="558139"/>
                </a:lnTo>
                <a:lnTo>
                  <a:pt x="397179" y="549871"/>
                </a:lnTo>
                <a:lnTo>
                  <a:pt x="399415" y="539242"/>
                </a:lnTo>
                <a:close/>
              </a:path>
              <a:path w="533400" h="743585">
                <a:moveTo>
                  <a:pt x="533019" y="227584"/>
                </a:moveTo>
                <a:lnTo>
                  <a:pt x="526770" y="181800"/>
                </a:lnTo>
                <a:lnTo>
                  <a:pt x="510819" y="139217"/>
                </a:lnTo>
                <a:lnTo>
                  <a:pt x="486117" y="100723"/>
                </a:lnTo>
                <a:lnTo>
                  <a:pt x="472440" y="86588"/>
                </a:lnTo>
                <a:lnTo>
                  <a:pt x="472440" y="227584"/>
                </a:lnTo>
                <a:lnTo>
                  <a:pt x="472440" y="234696"/>
                </a:lnTo>
                <a:lnTo>
                  <a:pt x="471043" y="234696"/>
                </a:lnTo>
                <a:lnTo>
                  <a:pt x="470052" y="250672"/>
                </a:lnTo>
                <a:lnTo>
                  <a:pt x="467271" y="266407"/>
                </a:lnTo>
                <a:lnTo>
                  <a:pt x="450583" y="309397"/>
                </a:lnTo>
                <a:lnTo>
                  <a:pt x="422910" y="344932"/>
                </a:lnTo>
                <a:lnTo>
                  <a:pt x="405853" y="363842"/>
                </a:lnTo>
                <a:lnTo>
                  <a:pt x="390105" y="383286"/>
                </a:lnTo>
                <a:lnTo>
                  <a:pt x="375932" y="403415"/>
                </a:lnTo>
                <a:lnTo>
                  <a:pt x="363601" y="424307"/>
                </a:lnTo>
                <a:lnTo>
                  <a:pt x="170815" y="424307"/>
                </a:lnTo>
                <a:lnTo>
                  <a:pt x="143268" y="383286"/>
                </a:lnTo>
                <a:lnTo>
                  <a:pt x="111633" y="344932"/>
                </a:lnTo>
                <a:lnTo>
                  <a:pt x="100977" y="333832"/>
                </a:lnTo>
                <a:lnTo>
                  <a:pt x="91795" y="321945"/>
                </a:lnTo>
                <a:lnTo>
                  <a:pt x="70954" y="281686"/>
                </a:lnTo>
                <a:lnTo>
                  <a:pt x="62090" y="235839"/>
                </a:lnTo>
                <a:lnTo>
                  <a:pt x="61976" y="227584"/>
                </a:lnTo>
                <a:lnTo>
                  <a:pt x="70319" y="181800"/>
                </a:lnTo>
                <a:lnTo>
                  <a:pt x="70396" y="181343"/>
                </a:lnTo>
                <a:lnTo>
                  <a:pt x="91643" y="139700"/>
                </a:lnTo>
                <a:lnTo>
                  <a:pt x="123825" y="104317"/>
                </a:lnTo>
                <a:lnTo>
                  <a:pt x="165061" y="76847"/>
                </a:lnTo>
                <a:lnTo>
                  <a:pt x="213474" y="58928"/>
                </a:lnTo>
                <a:lnTo>
                  <a:pt x="267208" y="52197"/>
                </a:lnTo>
                <a:lnTo>
                  <a:pt x="321665" y="58928"/>
                </a:lnTo>
                <a:lnTo>
                  <a:pt x="321246" y="58928"/>
                </a:lnTo>
                <a:lnTo>
                  <a:pt x="369658" y="76593"/>
                </a:lnTo>
                <a:lnTo>
                  <a:pt x="411111" y="103886"/>
                </a:lnTo>
                <a:lnTo>
                  <a:pt x="443395" y="139217"/>
                </a:lnTo>
                <a:lnTo>
                  <a:pt x="464489" y="180949"/>
                </a:lnTo>
                <a:lnTo>
                  <a:pt x="472440" y="227584"/>
                </a:lnTo>
                <a:lnTo>
                  <a:pt x="472440" y="86588"/>
                </a:lnTo>
                <a:lnTo>
                  <a:pt x="432460" y="52197"/>
                </a:lnTo>
                <a:lnTo>
                  <a:pt x="369366" y="18440"/>
                </a:lnTo>
                <a:lnTo>
                  <a:pt x="319506" y="5003"/>
                </a:lnTo>
                <a:lnTo>
                  <a:pt x="265811" y="0"/>
                </a:lnTo>
                <a:lnTo>
                  <a:pt x="212966" y="5003"/>
                </a:lnTo>
                <a:lnTo>
                  <a:pt x="163639" y="18440"/>
                </a:lnTo>
                <a:lnTo>
                  <a:pt x="118872" y="39458"/>
                </a:lnTo>
                <a:lnTo>
                  <a:pt x="79705" y="67170"/>
                </a:lnTo>
                <a:lnTo>
                  <a:pt x="47180" y="100723"/>
                </a:lnTo>
                <a:lnTo>
                  <a:pt x="22364" y="139217"/>
                </a:lnTo>
                <a:lnTo>
                  <a:pt x="6286" y="181800"/>
                </a:lnTo>
                <a:lnTo>
                  <a:pt x="0" y="227584"/>
                </a:lnTo>
                <a:lnTo>
                  <a:pt x="0" y="235839"/>
                </a:lnTo>
                <a:lnTo>
                  <a:pt x="5372" y="276021"/>
                </a:lnTo>
                <a:lnTo>
                  <a:pt x="17907" y="315341"/>
                </a:lnTo>
                <a:lnTo>
                  <a:pt x="38760" y="349681"/>
                </a:lnTo>
                <a:lnTo>
                  <a:pt x="64770" y="380492"/>
                </a:lnTo>
                <a:lnTo>
                  <a:pt x="83337" y="401015"/>
                </a:lnTo>
                <a:lnTo>
                  <a:pt x="100888" y="425665"/>
                </a:lnTo>
                <a:lnTo>
                  <a:pt x="115874" y="449668"/>
                </a:lnTo>
                <a:lnTo>
                  <a:pt x="126746" y="468249"/>
                </a:lnTo>
                <a:lnTo>
                  <a:pt x="130810" y="474091"/>
                </a:lnTo>
                <a:lnTo>
                  <a:pt x="137795" y="477647"/>
                </a:lnTo>
                <a:lnTo>
                  <a:pt x="395351" y="477647"/>
                </a:lnTo>
                <a:lnTo>
                  <a:pt x="403606" y="474091"/>
                </a:lnTo>
                <a:lnTo>
                  <a:pt x="406273" y="468249"/>
                </a:lnTo>
                <a:lnTo>
                  <a:pt x="417156" y="449668"/>
                </a:lnTo>
                <a:lnTo>
                  <a:pt x="432282" y="425665"/>
                </a:lnTo>
                <a:lnTo>
                  <a:pt x="433273" y="424307"/>
                </a:lnTo>
                <a:lnTo>
                  <a:pt x="450253" y="401015"/>
                </a:lnTo>
                <a:lnTo>
                  <a:pt x="469646" y="380492"/>
                </a:lnTo>
                <a:lnTo>
                  <a:pt x="482942" y="365658"/>
                </a:lnTo>
                <a:lnTo>
                  <a:pt x="506450" y="332828"/>
                </a:lnTo>
                <a:lnTo>
                  <a:pt x="522566" y="295732"/>
                </a:lnTo>
                <a:lnTo>
                  <a:pt x="531774" y="256108"/>
                </a:lnTo>
                <a:lnTo>
                  <a:pt x="533019" y="235839"/>
                </a:lnTo>
                <a:lnTo>
                  <a:pt x="533019" y="2275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0" y="0"/>
            <a:ext cx="12192000" cy="1554480"/>
          </a:xfrm>
          <a:custGeom>
            <a:avLst/>
            <a:gdLst/>
            <a:ahLst/>
            <a:cxnLst/>
            <a:rect l="l" t="t" r="r" b="b"/>
            <a:pathLst>
              <a:path w="12192000" h="1554480">
                <a:moveTo>
                  <a:pt x="12192000" y="0"/>
                </a:moveTo>
                <a:lnTo>
                  <a:pt x="0" y="0"/>
                </a:lnTo>
                <a:lnTo>
                  <a:pt x="0" y="1554479"/>
                </a:lnTo>
                <a:lnTo>
                  <a:pt x="12192000" y="155447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2684145" y="728218"/>
            <a:ext cx="68224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Risk</a:t>
            </a:r>
            <a:r>
              <a:rPr spc="-20" dirty="0"/>
              <a:t> </a:t>
            </a:r>
            <a:r>
              <a:rPr spc="-40" dirty="0"/>
              <a:t>(Cont’d)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8" name="object 38"/>
          <p:cNvSpPr txBox="1"/>
          <p:nvPr/>
        </p:nvSpPr>
        <p:spPr>
          <a:xfrm>
            <a:off x="669442" y="1806905"/>
            <a:ext cx="8852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6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Factors:</a:t>
            </a:r>
            <a:r>
              <a:rPr sz="2800" b="1" spc="-2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When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looking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at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risk,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one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should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determine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807" y="580644"/>
            <a:ext cx="8417052" cy="9372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4766" y="1829562"/>
            <a:ext cx="109797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10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Also,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you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should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know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difference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between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two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following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types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risk:</a:t>
            </a:r>
            <a:endParaRPr sz="26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9250" y="3296920"/>
            <a:ext cx="8949690" cy="491490"/>
            <a:chOff x="1619250" y="3296920"/>
            <a:chExt cx="8949690" cy="491490"/>
          </a:xfrm>
        </p:grpSpPr>
        <p:sp>
          <p:nvSpPr>
            <p:cNvPr id="5" name="object 5"/>
            <p:cNvSpPr/>
            <p:nvPr/>
          </p:nvSpPr>
          <p:spPr>
            <a:xfrm>
              <a:off x="1619250" y="3296920"/>
              <a:ext cx="4293870" cy="491490"/>
            </a:xfrm>
            <a:custGeom>
              <a:avLst/>
              <a:gdLst/>
              <a:ahLst/>
              <a:cxnLst/>
              <a:rect l="l" t="t" r="r" b="b"/>
              <a:pathLst>
                <a:path w="4293870" h="491489">
                  <a:moveTo>
                    <a:pt x="4293870" y="0"/>
                  </a:moveTo>
                  <a:lnTo>
                    <a:pt x="0" y="0"/>
                  </a:lnTo>
                  <a:lnTo>
                    <a:pt x="0" y="491489"/>
                  </a:lnTo>
                  <a:lnTo>
                    <a:pt x="4293870" y="491489"/>
                  </a:lnTo>
                  <a:lnTo>
                    <a:pt x="4293870" y="0"/>
                  </a:lnTo>
                  <a:close/>
                </a:path>
              </a:pathLst>
            </a:custGeom>
            <a:solidFill>
              <a:srgbClr val="FFEF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79820" y="3296920"/>
              <a:ext cx="4389120" cy="491490"/>
            </a:xfrm>
            <a:custGeom>
              <a:avLst/>
              <a:gdLst/>
              <a:ahLst/>
              <a:cxnLst/>
              <a:rect l="l" t="t" r="r" b="b"/>
              <a:pathLst>
                <a:path w="4389120" h="491489">
                  <a:moveTo>
                    <a:pt x="4389120" y="0"/>
                  </a:moveTo>
                  <a:lnTo>
                    <a:pt x="0" y="0"/>
                  </a:lnTo>
                  <a:lnTo>
                    <a:pt x="0" y="491489"/>
                  </a:lnTo>
                  <a:lnTo>
                    <a:pt x="4389120" y="491489"/>
                  </a:lnTo>
                  <a:lnTo>
                    <a:pt x="438912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98117" y="3361435"/>
            <a:ext cx="87299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36770" algn="l"/>
              </a:tabLst>
            </a:pP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normal</a:t>
            </a:r>
            <a:r>
              <a:rPr sz="2000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000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000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doing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orbel"/>
                <a:cs typeface="Corbel"/>
              </a:rPr>
              <a:t>business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	</a:t>
            </a:r>
            <a:r>
              <a:rPr sz="2000" spc="-10" dirty="0">
                <a:solidFill>
                  <a:srgbClr val="001F5F"/>
                </a:solidFill>
                <a:latin typeface="Corbel"/>
                <a:cs typeface="Corbel"/>
              </a:rPr>
              <a:t>Represents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only</a:t>
            </a:r>
            <a:r>
              <a:rPr sz="2000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an</a:t>
            </a:r>
            <a:r>
              <a:rPr sz="2000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opportunity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for</a:t>
            </a:r>
            <a:r>
              <a:rPr sz="2000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i="1" spc="-20" dirty="0">
                <a:solidFill>
                  <a:srgbClr val="3A0CE6"/>
                </a:solidFill>
                <a:latin typeface="Corbel"/>
                <a:cs typeface="Corbel"/>
              </a:rPr>
              <a:t>loss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0200" y="3921125"/>
            <a:ext cx="4312920" cy="491490"/>
          </a:xfrm>
          <a:prstGeom prst="rect">
            <a:avLst/>
          </a:prstGeom>
          <a:solidFill>
            <a:srgbClr val="FFEFC8"/>
          </a:solidFill>
        </p:spPr>
        <p:txBody>
          <a:bodyPr vert="horz" wrap="square" lIns="0" tIns="781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15"/>
              </a:spcBef>
            </a:pP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Presents</a:t>
            </a:r>
            <a:r>
              <a:rPr sz="2000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an</a:t>
            </a:r>
            <a:r>
              <a:rPr sz="2000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opportunity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for</a:t>
            </a:r>
            <a:r>
              <a:rPr sz="2000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i="1" dirty="0">
                <a:solidFill>
                  <a:srgbClr val="3A0CE6"/>
                </a:solidFill>
                <a:latin typeface="Corbel"/>
                <a:cs typeface="Corbel"/>
              </a:rPr>
              <a:t>gain</a:t>
            </a:r>
            <a:r>
              <a:rPr sz="2000" i="1" spc="-30" dirty="0">
                <a:solidFill>
                  <a:srgbClr val="3A0CE6"/>
                </a:solidFill>
                <a:latin typeface="Corbel"/>
                <a:cs typeface="Corbel"/>
              </a:rPr>
              <a:t> </a:t>
            </a:r>
            <a:r>
              <a:rPr sz="2000" i="1" dirty="0">
                <a:solidFill>
                  <a:srgbClr val="3A0CE6"/>
                </a:solidFill>
                <a:latin typeface="Corbel"/>
                <a:cs typeface="Corbel"/>
              </a:rPr>
              <a:t>or</a:t>
            </a:r>
            <a:r>
              <a:rPr sz="2000" i="1" spc="-30" dirty="0">
                <a:solidFill>
                  <a:srgbClr val="3A0CE6"/>
                </a:solidFill>
                <a:latin typeface="Corbel"/>
                <a:cs typeface="Corbel"/>
              </a:rPr>
              <a:t> </a:t>
            </a:r>
            <a:r>
              <a:rPr sz="2000" i="1" spc="-20" dirty="0">
                <a:solidFill>
                  <a:srgbClr val="3A0CE6"/>
                </a:solidFill>
                <a:latin typeface="Corbel"/>
                <a:cs typeface="Corbel"/>
              </a:rPr>
              <a:t>loss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9820" y="3921125"/>
            <a:ext cx="4389120" cy="491490"/>
          </a:xfrm>
          <a:prstGeom prst="rect">
            <a:avLst/>
          </a:prstGeom>
          <a:solidFill>
            <a:srgbClr val="DFEFF5"/>
          </a:solidFill>
        </p:spPr>
        <p:txBody>
          <a:bodyPr vert="horz" wrap="square" lIns="0" tIns="781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Should</a:t>
            </a:r>
            <a:r>
              <a:rPr sz="2000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000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insured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0200" y="4545329"/>
            <a:ext cx="4312920" cy="2103120"/>
          </a:xfrm>
          <a:custGeom>
            <a:avLst/>
            <a:gdLst/>
            <a:ahLst/>
            <a:cxnLst/>
            <a:rect l="l" t="t" r="r" b="b"/>
            <a:pathLst>
              <a:path w="4312920" h="2103120">
                <a:moveTo>
                  <a:pt x="4312920" y="0"/>
                </a:moveTo>
                <a:lnTo>
                  <a:pt x="0" y="0"/>
                </a:lnTo>
                <a:lnTo>
                  <a:pt x="0" y="2103120"/>
                </a:lnTo>
                <a:lnTo>
                  <a:pt x="4312920" y="2103120"/>
                </a:lnTo>
                <a:lnTo>
                  <a:pt x="43129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91894" y="4593082"/>
            <a:ext cx="2197735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Should</a:t>
            </a:r>
            <a:r>
              <a:rPr sz="2000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0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managed:</a:t>
            </a:r>
            <a:endParaRPr sz="2000">
              <a:latin typeface="Corbel"/>
              <a:cs typeface="Corbel"/>
            </a:endParaRPr>
          </a:p>
          <a:p>
            <a:pPr marL="342900">
              <a:lnSpc>
                <a:spcPct val="100000"/>
              </a:lnSpc>
              <a:spcBef>
                <a:spcPts val="10"/>
              </a:spcBef>
              <a:tabLst>
                <a:tab pos="6851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001F5F"/>
                </a:solidFill>
                <a:latin typeface="Corbel"/>
                <a:cs typeface="Corbel"/>
              </a:rPr>
              <a:t>Plan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4794" y="5173726"/>
            <a:ext cx="23761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22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001F5F"/>
                </a:solidFill>
                <a:latin typeface="Corbel"/>
                <a:cs typeface="Corbel"/>
              </a:rPr>
              <a:t>Identify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tabLst>
                <a:tab pos="3422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Qualitative</a:t>
            </a:r>
            <a:r>
              <a:rPr sz="1800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orbel"/>
                <a:cs typeface="Corbel"/>
              </a:rPr>
              <a:t>Analysis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tabLst>
                <a:tab pos="3422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Quantitative</a:t>
            </a:r>
            <a:r>
              <a:rPr sz="1800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orbel"/>
                <a:cs typeface="Corbel"/>
              </a:rPr>
              <a:t>Analysis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tabLst>
                <a:tab pos="3422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001F5F"/>
                </a:solidFill>
                <a:latin typeface="Corbel"/>
                <a:cs typeface="Corbel"/>
              </a:rPr>
              <a:t>Response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tabLst>
                <a:tab pos="342265" algn="l"/>
              </a:tabLst>
            </a:pPr>
            <a:r>
              <a:rPr sz="1800" spc="-409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C00000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001F5F"/>
                </a:solidFill>
                <a:latin typeface="Corbel"/>
                <a:cs typeface="Corbel"/>
              </a:rPr>
              <a:t>Control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79820" y="4545329"/>
            <a:ext cx="4389120" cy="2103120"/>
          </a:xfrm>
          <a:custGeom>
            <a:avLst/>
            <a:gdLst/>
            <a:ahLst/>
            <a:cxnLst/>
            <a:rect l="l" t="t" r="r" b="b"/>
            <a:pathLst>
              <a:path w="4389120" h="2103120">
                <a:moveTo>
                  <a:pt x="4389120" y="0"/>
                </a:moveTo>
                <a:lnTo>
                  <a:pt x="0" y="0"/>
                </a:lnTo>
                <a:lnTo>
                  <a:pt x="0" y="2103120"/>
                </a:lnTo>
                <a:lnTo>
                  <a:pt x="4389120" y="2103120"/>
                </a:lnTo>
                <a:lnTo>
                  <a:pt x="4389120" y="0"/>
                </a:lnTo>
                <a:close/>
              </a:path>
            </a:pathLst>
          </a:custGeom>
          <a:solidFill>
            <a:srgbClr val="F9E7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71895" y="4609845"/>
            <a:ext cx="3719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Divided</a:t>
            </a:r>
            <a:r>
              <a:rPr sz="1800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into</a:t>
            </a:r>
            <a:r>
              <a:rPr sz="18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four</a:t>
            </a:r>
            <a:r>
              <a:rPr sz="1800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001F5F"/>
                </a:solidFill>
                <a:latin typeface="Corbel"/>
                <a:cs typeface="Corbel"/>
              </a:rPr>
              <a:t>categories:</a:t>
            </a:r>
            <a:endParaRPr sz="1800">
              <a:latin typeface="Corbel"/>
              <a:cs typeface="Corbel"/>
            </a:endParaRPr>
          </a:p>
          <a:p>
            <a:pPr marL="172085">
              <a:lnSpc>
                <a:spcPct val="100000"/>
              </a:lnSpc>
            </a:pPr>
            <a:r>
              <a:rPr sz="1800" spc="-360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spc="-25" dirty="0">
                <a:solidFill>
                  <a:srgbClr val="C00000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Property</a:t>
            </a:r>
            <a:r>
              <a:rPr sz="1800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damage</a:t>
            </a:r>
            <a:r>
              <a:rPr sz="1800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(fire, flood,</a:t>
            </a:r>
            <a:r>
              <a:rPr sz="1800" i="1" spc="-20" dirty="0">
                <a:solidFill>
                  <a:srgbClr val="001F5F"/>
                </a:solidFill>
                <a:latin typeface="Corbel"/>
                <a:cs typeface="Corbel"/>
              </a:rPr>
              <a:t> wind)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4107" y="5158485"/>
            <a:ext cx="39084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85750">
              <a:lnSpc>
                <a:spcPct val="100000"/>
              </a:lnSpc>
              <a:spcBef>
                <a:spcPts val="100"/>
              </a:spcBef>
            </a:pPr>
            <a:r>
              <a:rPr sz="1800" spc="-360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spc="-10" dirty="0">
                <a:solidFill>
                  <a:srgbClr val="C00000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Indirect</a:t>
            </a:r>
            <a:r>
              <a:rPr sz="1800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consequential</a:t>
            </a:r>
            <a:r>
              <a:rPr sz="1800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loss</a:t>
            </a:r>
            <a:r>
              <a:rPr sz="1800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(cost</a:t>
            </a:r>
            <a:r>
              <a:rPr sz="18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spc="-25" dirty="0">
                <a:solidFill>
                  <a:srgbClr val="001F5F"/>
                </a:solidFill>
                <a:latin typeface="Corbel"/>
                <a:cs typeface="Corbel"/>
              </a:rPr>
              <a:t>of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cleanup</a:t>
            </a:r>
            <a:r>
              <a:rPr sz="1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after</a:t>
            </a:r>
            <a:r>
              <a:rPr sz="18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18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loss,</a:t>
            </a:r>
            <a:r>
              <a:rPr sz="18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disrupted</a:t>
            </a:r>
            <a:r>
              <a:rPr sz="1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spc="-10" dirty="0">
                <a:solidFill>
                  <a:srgbClr val="001F5F"/>
                </a:solidFill>
                <a:latin typeface="Corbel"/>
                <a:cs typeface="Corbel"/>
              </a:rPr>
              <a:t>business)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r>
              <a:rPr sz="1800" spc="-360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spc="-10" dirty="0">
                <a:solidFill>
                  <a:srgbClr val="C00000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Legal</a:t>
            </a:r>
            <a:r>
              <a:rPr sz="1800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liability</a:t>
            </a:r>
            <a:r>
              <a:rPr sz="1800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(injury</a:t>
            </a:r>
            <a:r>
              <a:rPr sz="18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to </a:t>
            </a:r>
            <a:r>
              <a:rPr sz="1800" i="1" spc="-10" dirty="0">
                <a:solidFill>
                  <a:srgbClr val="001F5F"/>
                </a:solidFill>
                <a:latin typeface="Corbel"/>
                <a:cs typeface="Corbel"/>
              </a:rPr>
              <a:t>visitors)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r>
              <a:rPr sz="1800" spc="-360" dirty="0">
                <a:solidFill>
                  <a:srgbClr val="C00000"/>
                </a:solidFill>
                <a:latin typeface="Lucida Sans Unicode"/>
                <a:cs typeface="Lucida Sans Unicode"/>
              </a:rPr>
              <a:t>▶</a:t>
            </a:r>
            <a:r>
              <a:rPr sz="1800" spc="-25" dirty="0">
                <a:solidFill>
                  <a:srgbClr val="C00000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Personal</a:t>
            </a:r>
            <a:r>
              <a:rPr sz="1800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001F5F"/>
                </a:solidFill>
                <a:latin typeface="Corbel"/>
                <a:cs typeface="Corbel"/>
              </a:rPr>
              <a:t>injury</a:t>
            </a:r>
            <a:r>
              <a:rPr sz="1800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(employee</a:t>
            </a:r>
            <a:r>
              <a:rPr sz="1800" i="1" spc="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spc="-10" dirty="0">
                <a:solidFill>
                  <a:srgbClr val="001F5F"/>
                </a:solidFill>
                <a:latin typeface="Corbel"/>
                <a:cs typeface="Corbel"/>
              </a:rPr>
              <a:t>injuries;</a:t>
            </a:r>
            <a:endParaRPr sz="1800">
              <a:latin typeface="Corbel"/>
              <a:cs typeface="Corbel"/>
            </a:endParaRPr>
          </a:p>
          <a:p>
            <a:pPr marL="285115">
              <a:lnSpc>
                <a:spcPct val="100000"/>
              </a:lnSpc>
            </a:pPr>
            <a:r>
              <a:rPr sz="1800" i="1" dirty="0">
                <a:solidFill>
                  <a:srgbClr val="001F5F"/>
                </a:solidFill>
                <a:latin typeface="Corbel"/>
                <a:cs typeface="Corbel"/>
              </a:rPr>
              <a:t>worker</a:t>
            </a:r>
            <a:r>
              <a:rPr sz="18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1800" i="1" spc="-10" dirty="0">
                <a:solidFill>
                  <a:srgbClr val="001F5F"/>
                </a:solidFill>
                <a:latin typeface="Corbel"/>
                <a:cs typeface="Corbel"/>
              </a:rPr>
              <a:t>compensation)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1633" y="2700654"/>
            <a:ext cx="7702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50410" algn="l"/>
              </a:tabLst>
            </a:pPr>
            <a:r>
              <a:rPr sz="2800" b="1" dirty="0">
                <a:solidFill>
                  <a:srgbClr val="D12420"/>
                </a:solidFill>
                <a:latin typeface="Corbel"/>
                <a:cs typeface="Corbel"/>
              </a:rPr>
              <a:t>Business</a:t>
            </a:r>
            <a:r>
              <a:rPr sz="2800" b="1" spc="-110" dirty="0">
                <a:solidFill>
                  <a:srgbClr val="D12420"/>
                </a:solidFill>
                <a:latin typeface="Corbel"/>
                <a:cs typeface="Corbel"/>
              </a:rPr>
              <a:t> </a:t>
            </a:r>
            <a:r>
              <a:rPr sz="2800" b="1" spc="-20" dirty="0">
                <a:solidFill>
                  <a:srgbClr val="D12420"/>
                </a:solidFill>
                <a:latin typeface="Corbel"/>
                <a:cs typeface="Corbel"/>
              </a:rPr>
              <a:t>Risk</a:t>
            </a:r>
            <a:r>
              <a:rPr sz="2800" b="1" dirty="0">
                <a:solidFill>
                  <a:srgbClr val="D12420"/>
                </a:solidFill>
                <a:latin typeface="Corbel"/>
                <a:cs typeface="Corbel"/>
              </a:rPr>
              <a:t>	</a:t>
            </a:r>
            <a:r>
              <a:rPr sz="2800" b="1" dirty="0">
                <a:solidFill>
                  <a:srgbClr val="006FC0"/>
                </a:solidFill>
                <a:latin typeface="Corbel"/>
                <a:cs typeface="Corbel"/>
              </a:rPr>
              <a:t>Insurable</a:t>
            </a:r>
            <a:r>
              <a:rPr sz="2800" b="1" spc="-95" dirty="0">
                <a:solidFill>
                  <a:srgbClr val="006FC0"/>
                </a:solidFill>
                <a:latin typeface="Corbel"/>
                <a:cs typeface="Corbel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orbel"/>
                <a:cs typeface="Corbel"/>
              </a:rPr>
              <a:t>Risk</a:t>
            </a:r>
            <a:r>
              <a:rPr sz="2800" b="1" spc="-80" dirty="0">
                <a:solidFill>
                  <a:srgbClr val="006FC0"/>
                </a:solidFill>
                <a:latin typeface="Corbel"/>
                <a:cs typeface="Corbel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orbel"/>
                <a:cs typeface="Corbel"/>
              </a:rPr>
              <a:t>(Pure)</a:t>
            </a:r>
            <a:endParaRPr sz="2800">
              <a:latin typeface="Corbel"/>
              <a:cs typeface="Corbe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39252" y="2696082"/>
            <a:ext cx="8898255" cy="700405"/>
            <a:chOff x="1639252" y="2696082"/>
            <a:chExt cx="8898255" cy="700405"/>
          </a:xfrm>
        </p:grpSpPr>
        <p:sp>
          <p:nvSpPr>
            <p:cNvPr id="18" name="object 18"/>
            <p:cNvSpPr/>
            <p:nvPr/>
          </p:nvSpPr>
          <p:spPr>
            <a:xfrm>
              <a:off x="1653539" y="3173475"/>
              <a:ext cx="8869680" cy="0"/>
            </a:xfrm>
            <a:custGeom>
              <a:avLst/>
              <a:gdLst/>
              <a:ahLst/>
              <a:cxnLst/>
              <a:rect l="l" t="t" r="r" b="b"/>
              <a:pathLst>
                <a:path w="8869680">
                  <a:moveTo>
                    <a:pt x="0" y="0"/>
                  </a:moveTo>
                  <a:lnTo>
                    <a:pt x="8869680" y="0"/>
                  </a:lnTo>
                </a:path>
              </a:pathLst>
            </a:custGeom>
            <a:ln w="285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62599" y="2721482"/>
              <a:ext cx="822960" cy="649605"/>
            </a:xfrm>
            <a:custGeom>
              <a:avLst/>
              <a:gdLst/>
              <a:ahLst/>
              <a:cxnLst/>
              <a:rect l="l" t="t" r="r" b="b"/>
              <a:pathLst>
                <a:path w="822960" h="649604">
                  <a:moveTo>
                    <a:pt x="411479" y="0"/>
                  </a:moveTo>
                  <a:lnTo>
                    <a:pt x="359874" y="2528"/>
                  </a:lnTo>
                  <a:lnTo>
                    <a:pt x="310179" y="9911"/>
                  </a:lnTo>
                  <a:lnTo>
                    <a:pt x="262780" y="21844"/>
                  </a:lnTo>
                  <a:lnTo>
                    <a:pt x="218063" y="38024"/>
                  </a:lnTo>
                  <a:lnTo>
                    <a:pt x="176414" y="58147"/>
                  </a:lnTo>
                  <a:lnTo>
                    <a:pt x="138220" y="81908"/>
                  </a:lnTo>
                  <a:lnTo>
                    <a:pt x="103865" y="109005"/>
                  </a:lnTo>
                  <a:lnTo>
                    <a:pt x="73737" y="139134"/>
                  </a:lnTo>
                  <a:lnTo>
                    <a:pt x="48221" y="171990"/>
                  </a:lnTo>
                  <a:lnTo>
                    <a:pt x="27703" y="207269"/>
                  </a:lnTo>
                  <a:lnTo>
                    <a:pt x="12570" y="244668"/>
                  </a:lnTo>
                  <a:lnTo>
                    <a:pt x="3206" y="283884"/>
                  </a:lnTo>
                  <a:lnTo>
                    <a:pt x="0" y="324612"/>
                  </a:lnTo>
                  <a:lnTo>
                    <a:pt x="3206" y="365314"/>
                  </a:lnTo>
                  <a:lnTo>
                    <a:pt x="12570" y="404513"/>
                  </a:lnTo>
                  <a:lnTo>
                    <a:pt x="27703" y="441902"/>
                  </a:lnTo>
                  <a:lnTo>
                    <a:pt x="48221" y="477177"/>
                  </a:lnTo>
                  <a:lnTo>
                    <a:pt x="73737" y="510034"/>
                  </a:lnTo>
                  <a:lnTo>
                    <a:pt x="103865" y="540167"/>
                  </a:lnTo>
                  <a:lnTo>
                    <a:pt x="138220" y="567271"/>
                  </a:lnTo>
                  <a:lnTo>
                    <a:pt x="176414" y="591042"/>
                  </a:lnTo>
                  <a:lnTo>
                    <a:pt x="218063" y="611174"/>
                  </a:lnTo>
                  <a:lnTo>
                    <a:pt x="262780" y="627363"/>
                  </a:lnTo>
                  <a:lnTo>
                    <a:pt x="310179" y="639305"/>
                  </a:lnTo>
                  <a:lnTo>
                    <a:pt x="359874" y="646693"/>
                  </a:lnTo>
                  <a:lnTo>
                    <a:pt x="411479" y="649224"/>
                  </a:lnTo>
                  <a:lnTo>
                    <a:pt x="463085" y="646693"/>
                  </a:lnTo>
                  <a:lnTo>
                    <a:pt x="512780" y="639305"/>
                  </a:lnTo>
                  <a:lnTo>
                    <a:pt x="560179" y="627363"/>
                  </a:lnTo>
                  <a:lnTo>
                    <a:pt x="604896" y="611174"/>
                  </a:lnTo>
                  <a:lnTo>
                    <a:pt x="646545" y="591042"/>
                  </a:lnTo>
                  <a:lnTo>
                    <a:pt x="684739" y="567271"/>
                  </a:lnTo>
                  <a:lnTo>
                    <a:pt x="719094" y="540167"/>
                  </a:lnTo>
                  <a:lnTo>
                    <a:pt x="749222" y="510034"/>
                  </a:lnTo>
                  <a:lnTo>
                    <a:pt x="774738" y="477177"/>
                  </a:lnTo>
                  <a:lnTo>
                    <a:pt x="795256" y="441902"/>
                  </a:lnTo>
                  <a:lnTo>
                    <a:pt x="810389" y="404513"/>
                  </a:lnTo>
                  <a:lnTo>
                    <a:pt x="819753" y="365314"/>
                  </a:lnTo>
                  <a:lnTo>
                    <a:pt x="822960" y="324612"/>
                  </a:lnTo>
                  <a:lnTo>
                    <a:pt x="819753" y="283884"/>
                  </a:lnTo>
                  <a:lnTo>
                    <a:pt x="810389" y="244668"/>
                  </a:lnTo>
                  <a:lnTo>
                    <a:pt x="795256" y="207269"/>
                  </a:lnTo>
                  <a:lnTo>
                    <a:pt x="774738" y="171990"/>
                  </a:lnTo>
                  <a:lnTo>
                    <a:pt x="749222" y="139134"/>
                  </a:lnTo>
                  <a:lnTo>
                    <a:pt x="719094" y="109005"/>
                  </a:lnTo>
                  <a:lnTo>
                    <a:pt x="684739" y="81908"/>
                  </a:lnTo>
                  <a:lnTo>
                    <a:pt x="646545" y="58147"/>
                  </a:lnTo>
                  <a:lnTo>
                    <a:pt x="604896" y="38024"/>
                  </a:lnTo>
                  <a:lnTo>
                    <a:pt x="560179" y="21844"/>
                  </a:lnTo>
                  <a:lnTo>
                    <a:pt x="512780" y="9911"/>
                  </a:lnTo>
                  <a:lnTo>
                    <a:pt x="463085" y="2528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C2F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62599" y="2721482"/>
              <a:ext cx="822960" cy="649605"/>
            </a:xfrm>
            <a:custGeom>
              <a:avLst/>
              <a:gdLst/>
              <a:ahLst/>
              <a:cxnLst/>
              <a:rect l="l" t="t" r="r" b="b"/>
              <a:pathLst>
                <a:path w="822960" h="649604">
                  <a:moveTo>
                    <a:pt x="0" y="324612"/>
                  </a:moveTo>
                  <a:lnTo>
                    <a:pt x="3206" y="283884"/>
                  </a:lnTo>
                  <a:lnTo>
                    <a:pt x="12570" y="244668"/>
                  </a:lnTo>
                  <a:lnTo>
                    <a:pt x="27703" y="207269"/>
                  </a:lnTo>
                  <a:lnTo>
                    <a:pt x="48221" y="171990"/>
                  </a:lnTo>
                  <a:lnTo>
                    <a:pt x="73737" y="139134"/>
                  </a:lnTo>
                  <a:lnTo>
                    <a:pt x="103865" y="109005"/>
                  </a:lnTo>
                  <a:lnTo>
                    <a:pt x="138220" y="81908"/>
                  </a:lnTo>
                  <a:lnTo>
                    <a:pt x="176414" y="58147"/>
                  </a:lnTo>
                  <a:lnTo>
                    <a:pt x="218063" y="38024"/>
                  </a:lnTo>
                  <a:lnTo>
                    <a:pt x="262780" y="21844"/>
                  </a:lnTo>
                  <a:lnTo>
                    <a:pt x="310179" y="9911"/>
                  </a:lnTo>
                  <a:lnTo>
                    <a:pt x="359874" y="2528"/>
                  </a:lnTo>
                  <a:lnTo>
                    <a:pt x="411479" y="0"/>
                  </a:lnTo>
                  <a:lnTo>
                    <a:pt x="463085" y="2528"/>
                  </a:lnTo>
                  <a:lnTo>
                    <a:pt x="512780" y="9911"/>
                  </a:lnTo>
                  <a:lnTo>
                    <a:pt x="560179" y="21844"/>
                  </a:lnTo>
                  <a:lnTo>
                    <a:pt x="604896" y="38024"/>
                  </a:lnTo>
                  <a:lnTo>
                    <a:pt x="646545" y="58147"/>
                  </a:lnTo>
                  <a:lnTo>
                    <a:pt x="684739" y="81908"/>
                  </a:lnTo>
                  <a:lnTo>
                    <a:pt x="719094" y="109005"/>
                  </a:lnTo>
                  <a:lnTo>
                    <a:pt x="749222" y="139134"/>
                  </a:lnTo>
                  <a:lnTo>
                    <a:pt x="774738" y="171990"/>
                  </a:lnTo>
                  <a:lnTo>
                    <a:pt x="795256" y="207269"/>
                  </a:lnTo>
                  <a:lnTo>
                    <a:pt x="810389" y="244668"/>
                  </a:lnTo>
                  <a:lnTo>
                    <a:pt x="819753" y="283884"/>
                  </a:lnTo>
                  <a:lnTo>
                    <a:pt x="822960" y="324612"/>
                  </a:lnTo>
                  <a:lnTo>
                    <a:pt x="819753" y="365314"/>
                  </a:lnTo>
                  <a:lnTo>
                    <a:pt x="810389" y="404513"/>
                  </a:lnTo>
                  <a:lnTo>
                    <a:pt x="795256" y="441902"/>
                  </a:lnTo>
                  <a:lnTo>
                    <a:pt x="774738" y="477177"/>
                  </a:lnTo>
                  <a:lnTo>
                    <a:pt x="749222" y="510034"/>
                  </a:lnTo>
                  <a:lnTo>
                    <a:pt x="719094" y="540167"/>
                  </a:lnTo>
                  <a:lnTo>
                    <a:pt x="684739" y="567271"/>
                  </a:lnTo>
                  <a:lnTo>
                    <a:pt x="646545" y="591042"/>
                  </a:lnTo>
                  <a:lnTo>
                    <a:pt x="604896" y="611174"/>
                  </a:lnTo>
                  <a:lnTo>
                    <a:pt x="560179" y="627363"/>
                  </a:lnTo>
                  <a:lnTo>
                    <a:pt x="512780" y="639305"/>
                  </a:lnTo>
                  <a:lnTo>
                    <a:pt x="463085" y="646693"/>
                  </a:lnTo>
                  <a:lnTo>
                    <a:pt x="411479" y="649224"/>
                  </a:lnTo>
                  <a:lnTo>
                    <a:pt x="359874" y="646693"/>
                  </a:lnTo>
                  <a:lnTo>
                    <a:pt x="310179" y="639305"/>
                  </a:lnTo>
                  <a:lnTo>
                    <a:pt x="262780" y="627363"/>
                  </a:lnTo>
                  <a:lnTo>
                    <a:pt x="218063" y="611174"/>
                  </a:lnTo>
                  <a:lnTo>
                    <a:pt x="176414" y="591042"/>
                  </a:lnTo>
                  <a:lnTo>
                    <a:pt x="138220" y="567271"/>
                  </a:lnTo>
                  <a:lnTo>
                    <a:pt x="103865" y="540167"/>
                  </a:lnTo>
                  <a:lnTo>
                    <a:pt x="73737" y="510034"/>
                  </a:lnTo>
                  <a:lnTo>
                    <a:pt x="48221" y="477177"/>
                  </a:lnTo>
                  <a:lnTo>
                    <a:pt x="27703" y="441902"/>
                  </a:lnTo>
                  <a:lnTo>
                    <a:pt x="12570" y="404513"/>
                  </a:lnTo>
                  <a:lnTo>
                    <a:pt x="3206" y="365314"/>
                  </a:lnTo>
                  <a:lnTo>
                    <a:pt x="0" y="324612"/>
                  </a:lnTo>
                  <a:close/>
                </a:path>
              </a:pathLst>
            </a:custGeom>
            <a:ln w="507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7651" y="2763011"/>
              <a:ext cx="778763" cy="49987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776340" y="2830448"/>
            <a:ext cx="396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orbel"/>
                <a:cs typeface="Corbel"/>
              </a:rPr>
              <a:t>VS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54480" y="3348990"/>
            <a:ext cx="8961120" cy="3291840"/>
          </a:xfrm>
          <a:custGeom>
            <a:avLst/>
            <a:gdLst/>
            <a:ahLst/>
            <a:cxnLst/>
            <a:rect l="l" t="t" r="r" b="b"/>
            <a:pathLst>
              <a:path w="8961120" h="3291840">
                <a:moveTo>
                  <a:pt x="4484370" y="3291840"/>
                </a:moveTo>
                <a:lnTo>
                  <a:pt x="4419600" y="0"/>
                </a:lnTo>
              </a:path>
              <a:path w="8961120" h="3291840">
                <a:moveTo>
                  <a:pt x="0" y="3287788"/>
                </a:moveTo>
                <a:lnTo>
                  <a:pt x="8961120" y="3287788"/>
                </a:lnTo>
              </a:path>
            </a:pathLst>
          </a:custGeom>
          <a:ln w="2857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7932" y="580644"/>
            <a:ext cx="4178808" cy="9372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4766" y="1675637"/>
            <a:ext cx="11275695" cy="255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9525" indent="-439420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A</a:t>
            </a:r>
            <a:r>
              <a:rPr sz="2800" b="1" spc="-6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2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potential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event</a:t>
            </a:r>
            <a:r>
              <a:rPr sz="2800" dirty="0">
                <a:latin typeface="Corbel"/>
                <a:cs typeface="Corbel"/>
              </a:rPr>
              <a:t>,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which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if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it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occurs,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no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longer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becomes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potential </a:t>
            </a:r>
            <a:r>
              <a:rPr sz="2800" dirty="0">
                <a:latin typeface="Corbel"/>
                <a:cs typeface="Corbel"/>
              </a:rPr>
              <a:t>problem,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but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actual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problem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called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orbel"/>
                <a:cs typeface="Corbel"/>
              </a:rPr>
              <a:t>issue</a:t>
            </a:r>
            <a:r>
              <a:rPr sz="2800" spc="-10" dirty="0">
                <a:latin typeface="Corbel"/>
                <a:cs typeface="Corbel"/>
              </a:rPr>
              <a:t>.</a:t>
            </a:r>
            <a:endParaRPr sz="2800">
              <a:latin typeface="Corbel"/>
              <a:cs typeface="Corbel"/>
            </a:endParaRPr>
          </a:p>
          <a:p>
            <a:pPr marL="451484" marR="5080" indent="-439420">
              <a:lnSpc>
                <a:spcPct val="100099"/>
              </a:lnSpc>
              <a:spcBef>
                <a:spcPts val="10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An</a:t>
            </a:r>
            <a:r>
              <a:rPr sz="2800" b="1" spc="-4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issue</a:t>
            </a:r>
            <a:r>
              <a:rPr sz="2800" b="1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situation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circumstance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occurred,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is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occurring</a:t>
            </a:r>
            <a:r>
              <a:rPr sz="2600" dirty="0">
                <a:latin typeface="Corbel"/>
                <a:cs typeface="Corbel"/>
              </a:rPr>
              <a:t>,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spc="-50" dirty="0">
                <a:latin typeface="Corbel"/>
                <a:cs typeface="Corbel"/>
              </a:rPr>
              <a:t>a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100%</a:t>
            </a:r>
            <a:r>
              <a:rPr sz="26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probability</a:t>
            </a:r>
            <a:r>
              <a:rPr sz="26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occurring;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will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have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detrimental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impact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program’s </a:t>
            </a:r>
            <a:r>
              <a:rPr sz="2600" dirty="0">
                <a:latin typeface="Corbel"/>
                <a:cs typeface="Corbel"/>
              </a:rPr>
              <a:t>schedule,</a:t>
            </a:r>
            <a:r>
              <a:rPr sz="2600" spc="-6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cost,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customer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satisfaction,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technical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quality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objectives.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8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Issues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can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be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initiated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result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findings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or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failure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mitigate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risks.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50900" y="4465320"/>
          <a:ext cx="11144250" cy="219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ts val="2730"/>
                        </a:lnSpc>
                      </a:pPr>
                      <a:r>
                        <a:rPr sz="2400" b="1" spc="-2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Risk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730"/>
                        </a:lnSpc>
                      </a:pPr>
                      <a:r>
                        <a:rPr sz="24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Issue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Risk</a:t>
                      </a:r>
                      <a:r>
                        <a:rPr sz="20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uncertain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event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or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event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that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might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happen</a:t>
                      </a:r>
                      <a:r>
                        <a:rPr sz="20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20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future.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28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Issue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an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event</a:t>
                      </a:r>
                      <a:r>
                        <a:rPr sz="20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that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has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already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occurred.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Once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risk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identified,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its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impact</a:t>
                      </a:r>
                      <a:r>
                        <a:rPr sz="20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should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be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analyzed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response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plan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should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be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prepared.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28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Once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impact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Issue</a:t>
                      </a:r>
                      <a:r>
                        <a:rPr sz="20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analyzed,</a:t>
                      </a:r>
                      <a:r>
                        <a:rPr sz="20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20" dirty="0">
                          <a:latin typeface="Corbel"/>
                          <a:cs typeface="Corbel"/>
                        </a:rPr>
                        <a:t>same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orbel"/>
                          <a:cs typeface="Corbel"/>
                        </a:rPr>
                        <a:t>should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be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resolved</a:t>
                      </a:r>
                      <a:r>
                        <a:rPr sz="20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or</a:t>
                      </a:r>
                      <a:r>
                        <a:rPr sz="20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escalated.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b="1" i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Examples: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459740" indent="-27686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59740" algn="l"/>
                        </a:tabLst>
                      </a:pPr>
                      <a:r>
                        <a:rPr sz="2000" spc="-10" dirty="0">
                          <a:latin typeface="Corbel"/>
                          <a:cs typeface="Corbel"/>
                        </a:rPr>
                        <a:t>Potential</a:t>
                      </a:r>
                      <a:r>
                        <a:rPr sz="2000" spc="-6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weather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delays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during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construction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280"/>
                        </a:lnSpc>
                      </a:pPr>
                      <a:r>
                        <a:rPr sz="2000" b="1" i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Examples: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410209" indent="-22669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10209" algn="l"/>
                        </a:tabLst>
                      </a:pPr>
                      <a:r>
                        <a:rPr sz="2000" spc="-35" dirty="0">
                          <a:latin typeface="Corbel"/>
                          <a:cs typeface="Corbel"/>
                        </a:rPr>
                        <a:t>Two</a:t>
                      </a:r>
                      <a:r>
                        <a:rPr sz="2000" spc="-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weeks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20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rain</a:t>
                      </a:r>
                      <a:r>
                        <a:rPr sz="2000" spc="-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have</a:t>
                      </a:r>
                      <a:r>
                        <a:rPr sz="20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dirty="0">
                          <a:latin typeface="Corbel"/>
                          <a:cs typeface="Corbel"/>
                        </a:rPr>
                        <a:t>delayed</a:t>
                      </a:r>
                      <a:r>
                        <a:rPr sz="20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spc="-10" dirty="0">
                          <a:latin typeface="Corbel"/>
                          <a:cs typeface="Corbel"/>
                        </a:rPr>
                        <a:t>construction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626363"/>
            <a:ext cx="10259568" cy="8595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5563" y="1732533"/>
            <a:ext cx="11482070" cy="472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It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useful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consider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project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two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levels: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individual</a:t>
            </a:r>
            <a:r>
              <a:rPr sz="28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&amp;</a:t>
            </a:r>
            <a:r>
              <a:rPr sz="28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overall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20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20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b="1" dirty="0">
                <a:latin typeface="Corbel"/>
                <a:cs typeface="Corbel"/>
              </a:rPr>
              <a:t>Individual</a:t>
            </a:r>
            <a:r>
              <a:rPr sz="2600" b="1" spc="-90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Project</a:t>
            </a:r>
            <a:r>
              <a:rPr sz="2600" b="1" spc="-55" dirty="0">
                <a:latin typeface="Corbel"/>
                <a:cs typeface="Corbel"/>
              </a:rPr>
              <a:t> </a:t>
            </a:r>
            <a:r>
              <a:rPr sz="2600" b="1" spc="-20" dirty="0">
                <a:latin typeface="Corbel"/>
                <a:cs typeface="Corbel"/>
              </a:rPr>
              <a:t>Risk</a:t>
            </a:r>
            <a:endParaRPr sz="2600">
              <a:latin typeface="Corbel"/>
              <a:cs typeface="Corbel"/>
            </a:endParaRPr>
          </a:p>
          <a:p>
            <a:pPr marL="1384300" marR="177800" lvl="1" indent="-342900">
              <a:lnSpc>
                <a:spcPct val="100000"/>
              </a:lnSpc>
              <a:spcBef>
                <a:spcPts val="30"/>
              </a:spcBef>
              <a:buSzPct val="84090"/>
              <a:buFont typeface="Corbel"/>
              <a:buChar char="-"/>
              <a:tabLst>
                <a:tab pos="1384300" algn="l"/>
              </a:tabLst>
            </a:pP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Specific</a:t>
            </a:r>
            <a:r>
              <a:rPr sz="22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uncertain</a:t>
            </a:r>
            <a:r>
              <a:rPr sz="22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event</a:t>
            </a:r>
            <a:r>
              <a:rPr sz="22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condition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that,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if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it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occurs,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has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positive</a:t>
            </a:r>
            <a:r>
              <a:rPr sz="22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2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negative</a:t>
            </a:r>
            <a:r>
              <a:rPr sz="22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effect</a:t>
            </a:r>
            <a:r>
              <a:rPr sz="22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on </a:t>
            </a:r>
            <a:r>
              <a:rPr sz="2200" dirty="0">
                <a:latin typeface="Corbel"/>
                <a:cs typeface="Corbel"/>
              </a:rPr>
              <a:t>one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more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2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spc="-10" dirty="0">
                <a:solidFill>
                  <a:srgbClr val="001F5F"/>
                </a:solidFill>
                <a:latin typeface="Corbel"/>
                <a:cs typeface="Corbel"/>
              </a:rPr>
              <a:t>objectives</a:t>
            </a:r>
            <a:r>
              <a:rPr sz="2200" spc="-10" dirty="0">
                <a:latin typeface="Corbel"/>
                <a:cs typeface="Corbel"/>
              </a:rPr>
              <a:t>,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elements</a:t>
            </a:r>
            <a:r>
              <a:rPr sz="2200" spc="-2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tasks.</a:t>
            </a:r>
            <a:endParaRPr sz="2200">
              <a:latin typeface="Corbel"/>
              <a:cs typeface="Corbel"/>
            </a:endParaRPr>
          </a:p>
          <a:p>
            <a:pPr marL="1384300" marR="899794" lvl="1" indent="-342900">
              <a:lnSpc>
                <a:spcPct val="100000"/>
              </a:lnSpc>
              <a:buSzPct val="84090"/>
              <a:buChar char="-"/>
              <a:tabLst>
                <a:tab pos="1384300" algn="l"/>
              </a:tabLst>
            </a:pPr>
            <a:r>
              <a:rPr sz="2200" spc="-10" dirty="0">
                <a:latin typeface="Corbel"/>
                <a:cs typeface="Corbel"/>
              </a:rPr>
              <a:t>Day-to-</a:t>
            </a:r>
            <a:r>
              <a:rPr sz="2200" dirty="0">
                <a:latin typeface="Corbel"/>
                <a:cs typeface="Corbel"/>
              </a:rPr>
              <a:t>day</a:t>
            </a:r>
            <a:r>
              <a:rPr sz="2200" spc="-7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Risk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Management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focuses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on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these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individual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risk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in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order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to </a:t>
            </a:r>
            <a:r>
              <a:rPr sz="2200" dirty="0">
                <a:latin typeface="Corbel"/>
                <a:cs typeface="Corbel"/>
              </a:rPr>
              <a:t>enhance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prospects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of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successful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outcome.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spc="-60" dirty="0">
                <a:latin typeface="Corbel"/>
                <a:cs typeface="Corbel"/>
              </a:rPr>
              <a:t>‰</a:t>
            </a:r>
            <a:endParaRPr sz="2200">
              <a:latin typeface="Corbel"/>
              <a:cs typeface="Corbel"/>
            </a:endParaRPr>
          </a:p>
          <a:p>
            <a:pPr marL="451484" indent="-438784">
              <a:lnSpc>
                <a:spcPts val="3095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b="1" dirty="0">
                <a:latin typeface="Corbel"/>
                <a:cs typeface="Corbel"/>
              </a:rPr>
              <a:t>Overall</a:t>
            </a:r>
            <a:r>
              <a:rPr sz="2600" b="1" spc="-80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project</a:t>
            </a:r>
            <a:r>
              <a:rPr sz="2600" b="1" spc="-80" dirty="0">
                <a:latin typeface="Corbel"/>
                <a:cs typeface="Corbel"/>
              </a:rPr>
              <a:t> </a:t>
            </a:r>
            <a:r>
              <a:rPr sz="2600" b="1" spc="-20" dirty="0">
                <a:latin typeface="Corbel"/>
                <a:cs typeface="Corbel"/>
              </a:rPr>
              <a:t>risk</a:t>
            </a:r>
            <a:endParaRPr sz="2600">
              <a:latin typeface="Corbel"/>
              <a:cs typeface="Corbel"/>
            </a:endParaRPr>
          </a:p>
          <a:p>
            <a:pPr marL="1384300" marR="5080" lvl="1" indent="-342900">
              <a:lnSpc>
                <a:spcPct val="100000"/>
              </a:lnSpc>
              <a:spcBef>
                <a:spcPts val="30"/>
              </a:spcBef>
              <a:buSzPct val="84090"/>
              <a:buChar char="-"/>
              <a:tabLst>
                <a:tab pos="1384300" algn="l"/>
              </a:tabLst>
            </a:pPr>
            <a:r>
              <a:rPr sz="2200" dirty="0">
                <a:latin typeface="Corbel"/>
                <a:cs typeface="Corbel"/>
              </a:rPr>
              <a:t>The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effect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of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uncertainty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on</a:t>
            </a:r>
            <a:r>
              <a:rPr sz="2200" spc="-4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2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as</a:t>
            </a:r>
            <a:r>
              <a:rPr sz="22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2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i="1" dirty="0">
                <a:solidFill>
                  <a:srgbClr val="001F5F"/>
                </a:solidFill>
                <a:latin typeface="Corbel"/>
                <a:cs typeface="Corbel"/>
              </a:rPr>
              <a:t>whole</a:t>
            </a:r>
            <a:r>
              <a:rPr sz="2200" dirty="0">
                <a:latin typeface="Corbel"/>
                <a:cs typeface="Corbel"/>
              </a:rPr>
              <a:t>,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arising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from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all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sources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25" dirty="0">
                <a:latin typeface="Corbel"/>
                <a:cs typeface="Corbel"/>
              </a:rPr>
              <a:t>of </a:t>
            </a:r>
            <a:r>
              <a:rPr sz="2200" spc="-10" dirty="0">
                <a:latin typeface="Corbel"/>
                <a:cs typeface="Corbel"/>
              </a:rPr>
              <a:t>uncertainty,</a:t>
            </a:r>
            <a:r>
              <a:rPr sz="2200" spc="-8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including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individual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6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risks,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representing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exposure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of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stakeholders </a:t>
            </a:r>
            <a:r>
              <a:rPr sz="2200" dirty="0">
                <a:latin typeface="Corbel"/>
                <a:cs typeface="Corbel"/>
              </a:rPr>
              <a:t>to</a:t>
            </a:r>
            <a:r>
              <a:rPr sz="2200" spc="-7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the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implications</a:t>
            </a:r>
            <a:r>
              <a:rPr sz="2200" spc="-3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of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variations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in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project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outcome,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both</a:t>
            </a:r>
            <a:r>
              <a:rPr sz="2200" spc="-55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positive</a:t>
            </a:r>
            <a:r>
              <a:rPr sz="2200" spc="-50" dirty="0">
                <a:latin typeface="Corbel"/>
                <a:cs typeface="Corbel"/>
              </a:rPr>
              <a:t> </a:t>
            </a:r>
            <a:r>
              <a:rPr sz="2200" dirty="0">
                <a:latin typeface="Corbel"/>
                <a:cs typeface="Corbel"/>
              </a:rPr>
              <a:t>&amp;</a:t>
            </a:r>
            <a:r>
              <a:rPr sz="2200" spc="-6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negative.</a:t>
            </a:r>
            <a:endParaRPr sz="2200">
              <a:latin typeface="Corbel"/>
              <a:cs typeface="Corbel"/>
            </a:endParaRPr>
          </a:p>
          <a:p>
            <a:pPr marL="451484" indent="-438784">
              <a:lnSpc>
                <a:spcPts val="3095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Risk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initially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addressed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during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planning</a:t>
            </a:r>
            <a:r>
              <a:rPr sz="26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shaping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strategy.</a:t>
            </a:r>
            <a:endParaRPr sz="2600">
              <a:latin typeface="Corbel"/>
              <a:cs typeface="Corbel"/>
            </a:endParaRPr>
          </a:p>
          <a:p>
            <a:pPr marL="1384300" marR="123825" lvl="1" indent="-342900">
              <a:lnSpc>
                <a:spcPct val="100000"/>
              </a:lnSpc>
              <a:spcBef>
                <a:spcPts val="5"/>
              </a:spcBef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Risk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should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also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monitored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managed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progresses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ensure </a:t>
            </a:r>
            <a:r>
              <a:rPr sz="2400" dirty="0">
                <a:latin typeface="Corbel"/>
                <a:cs typeface="Corbel"/>
              </a:rPr>
              <a:t>that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stays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on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track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emergent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addressed.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618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Life</a:t>
            </a:r>
            <a:r>
              <a:rPr spc="-220" dirty="0"/>
              <a:t> </a:t>
            </a:r>
            <a:r>
              <a:rPr spc="-10" dirty="0"/>
              <a:t>Cycle</a:t>
            </a:r>
            <a:r>
              <a:rPr spc="-8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20" dirty="0"/>
              <a:t>Risk</a:t>
            </a:r>
          </a:p>
        </p:txBody>
      </p:sp>
      <p:pic>
        <p:nvPicPr>
          <p:cNvPr id="6" name="object 6" descr="C:\Users\Hp\Desktop\PMBOK Chapters\Chapter 02\Figures and Tables\F2.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609" y="1768745"/>
            <a:ext cx="5684609" cy="35820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2366" y="1735582"/>
            <a:ext cx="11308080" cy="522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484" marR="5958205" indent="-439420">
              <a:lnSpc>
                <a:spcPct val="100000"/>
              </a:lnSpc>
              <a:spcBef>
                <a:spcPts val="100"/>
              </a:spcBef>
              <a:buClr>
                <a:srgbClr val="D9243D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More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things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unknown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the </a:t>
            </a:r>
            <a:r>
              <a:rPr sz="2400" dirty="0">
                <a:latin typeface="Corbel"/>
                <a:cs typeface="Corbel"/>
              </a:rPr>
              <a:t>beginning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project,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but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must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be </a:t>
            </a:r>
            <a:r>
              <a:rPr sz="2400" dirty="0">
                <a:latin typeface="Corbel"/>
                <a:cs typeface="Corbel"/>
              </a:rPr>
              <a:t>considered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initiation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phase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and </a:t>
            </a:r>
            <a:r>
              <a:rPr sz="2400" dirty="0">
                <a:latin typeface="Corbel"/>
                <a:cs typeface="Corbel"/>
              </a:rPr>
              <a:t>weighed</a:t>
            </a:r>
            <a:r>
              <a:rPr sz="2400" spc="-8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against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8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potential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benefit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project’s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success</a:t>
            </a:r>
            <a:r>
              <a:rPr sz="24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order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to </a:t>
            </a:r>
            <a:r>
              <a:rPr sz="2400" dirty="0">
                <a:latin typeface="Corbel"/>
                <a:cs typeface="Corbel"/>
              </a:rPr>
              <a:t>decide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if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should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chosen.</a:t>
            </a:r>
            <a:endParaRPr sz="2400">
              <a:latin typeface="Corbel"/>
              <a:cs typeface="Corbel"/>
            </a:endParaRPr>
          </a:p>
          <a:p>
            <a:pPr marL="451484" marR="6171565" indent="-439420">
              <a:lnSpc>
                <a:spcPct val="100000"/>
              </a:lnSpc>
              <a:spcBef>
                <a:spcPts val="204"/>
              </a:spcBef>
              <a:buClr>
                <a:srgbClr val="D9243D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As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progresses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more </a:t>
            </a:r>
            <a:r>
              <a:rPr sz="2400" dirty="0">
                <a:latin typeface="Corbel"/>
                <a:cs typeface="Corbel"/>
              </a:rPr>
              <a:t>information</a:t>
            </a:r>
            <a:r>
              <a:rPr sz="2400" spc="-8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becomes</a:t>
            </a:r>
            <a:r>
              <a:rPr sz="2400" spc="-8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available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the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team,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total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on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the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typically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reduces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487680" marR="5080" indent="-439420">
              <a:lnSpc>
                <a:spcPct val="100000"/>
              </a:lnSpc>
              <a:spcBef>
                <a:spcPts val="190"/>
              </a:spcBef>
              <a:buClr>
                <a:srgbClr val="D9243D"/>
              </a:buClr>
              <a:buSzPct val="85416"/>
              <a:buFont typeface="Cambria"/>
              <a:buChar char="◾"/>
              <a:tabLst>
                <a:tab pos="487680" algn="l"/>
              </a:tabLst>
            </a:pPr>
            <a:r>
              <a:rPr sz="2400" dirty="0">
                <a:latin typeface="Corbel"/>
                <a:cs typeface="Corbel"/>
              </a:rPr>
              <a:t>The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cost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changes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correcting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errors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typically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increases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substantially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project </a:t>
            </a:r>
            <a:r>
              <a:rPr sz="2400" dirty="0">
                <a:latin typeface="Corbel"/>
                <a:cs typeface="Corbel"/>
              </a:rPr>
              <a:t>approaches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completion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487680" marR="103505" indent="-439420">
              <a:lnSpc>
                <a:spcPct val="100000"/>
              </a:lnSpc>
              <a:spcBef>
                <a:spcPts val="204"/>
              </a:spcBef>
              <a:buClr>
                <a:srgbClr val="D9243D"/>
              </a:buClr>
              <a:buSzPct val="85416"/>
              <a:buFont typeface="Cambria"/>
              <a:buChar char="◾"/>
              <a:tabLst>
                <a:tab pos="487680" algn="l"/>
              </a:tabLst>
            </a:pPr>
            <a:r>
              <a:rPr sz="2400" dirty="0">
                <a:latin typeface="Corbel"/>
                <a:cs typeface="Corbel"/>
              </a:rPr>
              <a:t>The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plan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needs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updated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new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information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checked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off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that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are </a:t>
            </a:r>
            <a:r>
              <a:rPr sz="2400" dirty="0">
                <a:latin typeface="Corbel"/>
                <a:cs typeface="Corbel"/>
              </a:rPr>
              <a:t>related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activities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that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have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been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performed.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5563" y="1694318"/>
            <a:ext cx="11359515" cy="48418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385"/>
              </a:spcBef>
              <a:buClr>
                <a:srgbClr val="D9243D"/>
              </a:buClr>
              <a:buSzPct val="85000"/>
              <a:buFont typeface="Cambria"/>
              <a:buChar char="◾"/>
              <a:tabLst>
                <a:tab pos="451484" algn="l"/>
              </a:tabLst>
            </a:pPr>
            <a:r>
              <a:rPr sz="3000" b="1" i="1" dirty="0">
                <a:solidFill>
                  <a:srgbClr val="001F5F"/>
                </a:solidFill>
                <a:latin typeface="Corbel"/>
                <a:cs typeface="Corbel"/>
              </a:rPr>
              <a:t>Iterative</a:t>
            </a:r>
            <a:r>
              <a:rPr sz="3000" b="1" i="1" spc="-10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3000" b="1" i="1" spc="-10" dirty="0">
                <a:solidFill>
                  <a:srgbClr val="001F5F"/>
                </a:solidFill>
                <a:latin typeface="Corbel"/>
                <a:cs typeface="Corbel"/>
              </a:rPr>
              <a:t>Process</a:t>
            </a:r>
            <a:endParaRPr sz="3000">
              <a:latin typeface="Corbel"/>
              <a:cs typeface="Corbel"/>
            </a:endParaRPr>
          </a:p>
          <a:p>
            <a:pPr marL="1155700" marR="152400" lvl="1" indent="-457200">
              <a:lnSpc>
                <a:spcPct val="100000"/>
              </a:lnSpc>
              <a:spcBef>
                <a:spcPts val="240"/>
              </a:spcBef>
              <a:buSzPct val="90000"/>
              <a:buFont typeface="Arial MT"/>
              <a:buChar char="•"/>
              <a:tabLst>
                <a:tab pos="1155700" algn="l"/>
              </a:tabLst>
            </a:pPr>
            <a:r>
              <a:rPr sz="2500" dirty="0">
                <a:latin typeface="Corbel"/>
                <a:cs typeface="Corbel"/>
              </a:rPr>
              <a:t>Some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5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will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occur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while</a:t>
            </a:r>
            <a:r>
              <a:rPr sz="25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others</a:t>
            </a:r>
            <a:r>
              <a:rPr sz="25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will</a:t>
            </a:r>
            <a:r>
              <a:rPr sz="25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500" dirty="0">
                <a:latin typeface="Corbel"/>
                <a:cs typeface="Corbel"/>
              </a:rPr>
              <a:t>,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new</a:t>
            </a:r>
            <a:r>
              <a:rPr sz="25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5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will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arise</a:t>
            </a:r>
            <a:r>
              <a:rPr sz="25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or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be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discovered, </a:t>
            </a:r>
            <a:r>
              <a:rPr sz="2500" dirty="0">
                <a:latin typeface="Corbel"/>
                <a:cs typeface="Corbel"/>
              </a:rPr>
              <a:t>and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the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i="1" spc="-10" dirty="0">
                <a:solidFill>
                  <a:srgbClr val="001F5F"/>
                </a:solidFill>
                <a:latin typeface="Corbel"/>
                <a:cs typeface="Corbel"/>
              </a:rPr>
              <a:t>characteristics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of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those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already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identified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may</a:t>
            </a:r>
            <a:r>
              <a:rPr sz="2500" spc="-3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change.</a:t>
            </a:r>
            <a:endParaRPr sz="2500">
              <a:latin typeface="Corbel"/>
              <a:cs typeface="Corbel"/>
            </a:endParaRPr>
          </a:p>
          <a:p>
            <a:pPr marL="1155700" marR="422275" lvl="1" indent="-457200">
              <a:lnSpc>
                <a:spcPct val="100000"/>
              </a:lnSpc>
              <a:spcBef>
                <a:spcPts val="195"/>
              </a:spcBef>
              <a:buSzPct val="90000"/>
              <a:buFont typeface="Arial MT"/>
              <a:buChar char="•"/>
              <a:tabLst>
                <a:tab pos="1155700" algn="l"/>
              </a:tabLst>
            </a:pPr>
            <a:r>
              <a:rPr sz="2500" dirty="0">
                <a:latin typeface="Corbel"/>
                <a:cs typeface="Corbel"/>
              </a:rPr>
              <a:t>The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Project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Risk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Management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processes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should</a:t>
            </a:r>
            <a:r>
              <a:rPr sz="25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5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repeated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and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spc="-25" dirty="0">
                <a:latin typeface="Corbel"/>
                <a:cs typeface="Corbel"/>
              </a:rPr>
              <a:t>the </a:t>
            </a:r>
            <a:r>
              <a:rPr sz="2500" spc="-10" dirty="0">
                <a:latin typeface="Corbel"/>
                <a:cs typeface="Corbel"/>
              </a:rPr>
              <a:t>corresponding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plans</a:t>
            </a:r>
            <a:r>
              <a:rPr sz="25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progressively</a:t>
            </a:r>
            <a:r>
              <a:rPr sz="25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elaborated</a:t>
            </a:r>
            <a:r>
              <a:rPr sz="25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throughout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the</a:t>
            </a:r>
            <a:r>
              <a:rPr sz="2500" spc="-7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lifetime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of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spc="-25" dirty="0">
                <a:latin typeface="Corbel"/>
                <a:cs typeface="Corbel"/>
              </a:rPr>
              <a:t>the </a:t>
            </a:r>
            <a:r>
              <a:rPr sz="2500" spc="-10" dirty="0">
                <a:latin typeface="Corbel"/>
                <a:cs typeface="Corbel"/>
              </a:rPr>
              <a:t>project.</a:t>
            </a:r>
            <a:endParaRPr sz="2500">
              <a:latin typeface="Corbel"/>
              <a:cs typeface="Corbel"/>
            </a:endParaRPr>
          </a:p>
          <a:p>
            <a:pPr marL="1155700" marR="231775" lvl="1" indent="-457200">
              <a:lnSpc>
                <a:spcPct val="100000"/>
              </a:lnSpc>
              <a:spcBef>
                <a:spcPts val="204"/>
              </a:spcBef>
              <a:buSzPct val="90000"/>
              <a:buFont typeface="Arial MT"/>
              <a:buChar char="•"/>
              <a:tabLst>
                <a:tab pos="1155700" algn="l"/>
              </a:tabLst>
            </a:pPr>
            <a:r>
              <a:rPr sz="2500" spc="-80" dirty="0">
                <a:latin typeface="Corbel"/>
                <a:cs typeface="Corbel"/>
              </a:rPr>
              <a:t>To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ensure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that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Project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Risk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Management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remains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effective,</a:t>
            </a:r>
            <a:r>
              <a:rPr sz="2500" spc="-2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the</a:t>
            </a:r>
            <a:r>
              <a:rPr sz="2500" spc="-20" dirty="0">
                <a:latin typeface="Corbel"/>
                <a:cs typeface="Corbel"/>
              </a:rPr>
              <a:t> </a:t>
            </a:r>
            <a:r>
              <a:rPr sz="2500" i="1" spc="-10" dirty="0">
                <a:solidFill>
                  <a:srgbClr val="001F5F"/>
                </a:solidFill>
                <a:latin typeface="Corbel"/>
                <a:cs typeface="Corbel"/>
              </a:rPr>
              <a:t>identification </a:t>
            </a:r>
            <a:r>
              <a:rPr sz="2500" dirty="0">
                <a:latin typeface="Corbel"/>
                <a:cs typeface="Corbel"/>
              </a:rPr>
              <a:t>and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analysis</a:t>
            </a:r>
            <a:r>
              <a:rPr sz="25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of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risks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should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be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revisited</a:t>
            </a:r>
            <a:r>
              <a:rPr sz="25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spc="-10" dirty="0">
                <a:solidFill>
                  <a:srgbClr val="001F5F"/>
                </a:solidFill>
                <a:latin typeface="Corbel"/>
                <a:cs typeface="Corbel"/>
              </a:rPr>
              <a:t>periodically</a:t>
            </a:r>
            <a:r>
              <a:rPr sz="2500" spc="-10" dirty="0">
                <a:latin typeface="Corbel"/>
                <a:cs typeface="Corbel"/>
              </a:rPr>
              <a:t>.</a:t>
            </a:r>
            <a:endParaRPr sz="2500">
              <a:latin typeface="Corbel"/>
              <a:cs typeface="Corbel"/>
            </a:endParaRPr>
          </a:p>
          <a:p>
            <a:pPr marL="1155700" marR="5080" lvl="1" indent="-457200">
              <a:lnSpc>
                <a:spcPct val="100000"/>
              </a:lnSpc>
              <a:spcBef>
                <a:spcPts val="204"/>
              </a:spcBef>
              <a:buSzPct val="90000"/>
              <a:buFont typeface="Arial MT"/>
              <a:buChar char="•"/>
              <a:tabLst>
                <a:tab pos="1155700" algn="l"/>
              </a:tabLst>
            </a:pPr>
            <a:r>
              <a:rPr sz="2500" dirty="0">
                <a:latin typeface="Corbel"/>
                <a:cs typeface="Corbel"/>
              </a:rPr>
              <a:t>The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progress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on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5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response</a:t>
            </a:r>
            <a:r>
              <a:rPr sz="25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actions</a:t>
            </a:r>
            <a:r>
              <a:rPr sz="25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should</a:t>
            </a:r>
            <a:r>
              <a:rPr sz="25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5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monitored</a:t>
            </a:r>
            <a:r>
              <a:rPr sz="2500" dirty="0">
                <a:latin typeface="Corbel"/>
                <a:cs typeface="Corbel"/>
              </a:rPr>
              <a:t>,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and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the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action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plans </a:t>
            </a:r>
            <a:r>
              <a:rPr sz="2500" dirty="0">
                <a:latin typeface="Corbel"/>
                <a:cs typeface="Corbel"/>
              </a:rPr>
              <a:t>adjusted</a:t>
            </a:r>
            <a:r>
              <a:rPr sz="2500" spc="-9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accordingly.</a:t>
            </a:r>
            <a:endParaRPr sz="2500">
              <a:latin typeface="Corbel"/>
              <a:cs typeface="Corbel"/>
            </a:endParaRPr>
          </a:p>
          <a:p>
            <a:pPr marL="1155700" marR="641350" lvl="1" indent="-457200">
              <a:lnSpc>
                <a:spcPct val="100000"/>
              </a:lnSpc>
              <a:spcBef>
                <a:spcPts val="195"/>
              </a:spcBef>
              <a:buSzPct val="90000"/>
              <a:buFont typeface="Arial MT"/>
              <a:buChar char="•"/>
              <a:tabLst>
                <a:tab pos="1155700" algn="l"/>
              </a:tabLst>
            </a:pPr>
            <a:r>
              <a:rPr sz="2500" dirty="0">
                <a:latin typeface="Corbel"/>
                <a:cs typeface="Corbel"/>
              </a:rPr>
              <a:t>If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external</a:t>
            </a:r>
            <a:r>
              <a:rPr sz="2500" spc="-7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circumstances</a:t>
            </a:r>
            <a:r>
              <a:rPr sz="2500" spc="-2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change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significantly,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it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may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also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be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necessary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spc="-25" dirty="0">
                <a:latin typeface="Corbel"/>
                <a:cs typeface="Corbel"/>
              </a:rPr>
              <a:t>to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revisit</a:t>
            </a:r>
            <a:r>
              <a:rPr sz="25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5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5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5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i="1" dirty="0">
                <a:solidFill>
                  <a:srgbClr val="001F5F"/>
                </a:solidFill>
                <a:latin typeface="Corbel"/>
                <a:cs typeface="Corbel"/>
              </a:rPr>
              <a:t>planning</a:t>
            </a:r>
            <a:r>
              <a:rPr sz="25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process.</a:t>
            </a:r>
            <a:endParaRPr sz="25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80" dirty="0"/>
              <a:t> </a:t>
            </a:r>
            <a:r>
              <a:rPr dirty="0"/>
              <a:t>Life</a:t>
            </a:r>
            <a:r>
              <a:rPr spc="-215" dirty="0"/>
              <a:t> </a:t>
            </a:r>
            <a:r>
              <a:rPr spc="-10" dirty="0"/>
              <a:t>Cycle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Risk</a:t>
            </a:r>
            <a:r>
              <a:rPr spc="-50" dirty="0"/>
              <a:t> </a:t>
            </a:r>
            <a:r>
              <a:rPr spc="-30" dirty="0"/>
              <a:t>(Cont’d)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5563" y="1732533"/>
            <a:ext cx="11314430" cy="511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5080" indent="-439420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8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attitude</a:t>
            </a:r>
            <a:r>
              <a:rPr sz="2800" b="1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disposition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toward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uncertainty,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adopted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explicitly</a:t>
            </a:r>
            <a:r>
              <a:rPr sz="28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25" dirty="0">
                <a:solidFill>
                  <a:srgbClr val="001F5F"/>
                </a:solidFill>
                <a:latin typeface="Corbel"/>
                <a:cs typeface="Corbel"/>
              </a:rPr>
              <a:t>or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implicitly</a:t>
            </a:r>
            <a:r>
              <a:rPr sz="28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by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individuals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groups,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driven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by</a:t>
            </a:r>
            <a:r>
              <a:rPr sz="28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perception</a:t>
            </a:r>
            <a:r>
              <a:rPr sz="2800" dirty="0">
                <a:latin typeface="Corbel"/>
                <a:cs typeface="Corbel"/>
              </a:rPr>
              <a:t>,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evidenced</a:t>
            </a:r>
            <a:r>
              <a:rPr sz="2800" spc="-80" dirty="0">
                <a:latin typeface="Corbel"/>
                <a:cs typeface="Corbel"/>
              </a:rPr>
              <a:t> </a:t>
            </a:r>
            <a:r>
              <a:rPr sz="2800" spc="-25" dirty="0">
                <a:latin typeface="Corbel"/>
                <a:cs typeface="Corbel"/>
              </a:rPr>
              <a:t>by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observable</a:t>
            </a:r>
            <a:r>
              <a:rPr sz="28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behavior</a:t>
            </a:r>
            <a:r>
              <a:rPr sz="2800" spc="-10" dirty="0">
                <a:latin typeface="Corbel"/>
                <a:cs typeface="Corbel"/>
              </a:rPr>
              <a:t>.</a:t>
            </a:r>
            <a:endParaRPr sz="2800">
              <a:latin typeface="Corbel"/>
              <a:cs typeface="Corbel"/>
            </a:endParaRPr>
          </a:p>
          <a:p>
            <a:pPr marL="451484" marR="170815" indent="-439420">
              <a:lnSpc>
                <a:spcPct val="100000"/>
              </a:lnSpc>
              <a:spcBef>
                <a:spcPts val="204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The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attitudes</a:t>
            </a:r>
            <a:r>
              <a:rPr sz="2800" spc="-2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both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organization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stakeholders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may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25" dirty="0">
                <a:latin typeface="Corbel"/>
                <a:cs typeface="Corbel"/>
              </a:rPr>
              <a:t>be </a:t>
            </a:r>
            <a:r>
              <a:rPr sz="2800" dirty="0">
                <a:latin typeface="Corbel"/>
                <a:cs typeface="Corbel"/>
              </a:rPr>
              <a:t>influenced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by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number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factors,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which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are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broadly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classified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into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three:</a:t>
            </a:r>
            <a:endParaRPr sz="2800">
              <a:latin typeface="Corbel"/>
              <a:cs typeface="Corbel"/>
            </a:endParaRPr>
          </a:p>
          <a:p>
            <a:pPr marL="1273175" marR="168910" lvl="1" indent="-3937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1384300" algn="l"/>
              </a:tabLst>
            </a:pPr>
            <a:r>
              <a:rPr sz="2600" b="1" dirty="0">
                <a:latin typeface="Corbel"/>
                <a:cs typeface="Corbel"/>
              </a:rPr>
              <a:t>Risk</a:t>
            </a:r>
            <a:r>
              <a:rPr sz="2600" b="1" spc="-35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appetite</a:t>
            </a:r>
            <a:r>
              <a:rPr sz="2600" b="1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–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degree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uncertainty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entity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willing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take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in 	</a:t>
            </a:r>
            <a:r>
              <a:rPr sz="2600" dirty="0">
                <a:latin typeface="Corbel"/>
                <a:cs typeface="Corbel"/>
              </a:rPr>
              <a:t>anticipation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reward.</a:t>
            </a:r>
            <a:endParaRPr sz="2600">
              <a:latin typeface="Corbel"/>
              <a:cs typeface="Corbel"/>
            </a:endParaRPr>
          </a:p>
          <a:p>
            <a:pPr marL="1275080" marR="307340" lvl="1" indent="-39560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384300" algn="l"/>
              </a:tabLst>
            </a:pPr>
            <a:r>
              <a:rPr sz="2600" b="1" dirty="0">
                <a:latin typeface="Corbel"/>
                <a:cs typeface="Corbel"/>
              </a:rPr>
              <a:t>Risk</a:t>
            </a:r>
            <a:r>
              <a:rPr sz="2600" b="1" spc="-10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tolerance</a:t>
            </a:r>
            <a:r>
              <a:rPr sz="2600" b="1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–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degree,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amount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volume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an 	</a:t>
            </a:r>
            <a:r>
              <a:rPr sz="2600" dirty="0">
                <a:latin typeface="Corbel"/>
                <a:cs typeface="Corbel"/>
              </a:rPr>
              <a:t>organization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individual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will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withstand</a:t>
            </a:r>
            <a:r>
              <a:rPr sz="2600" dirty="0">
                <a:latin typeface="Corbel"/>
                <a:cs typeface="Corbel"/>
              </a:rPr>
              <a:t>.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Basically,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tolerance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range!</a:t>
            </a:r>
            <a:endParaRPr sz="2600">
              <a:latin typeface="Corbel"/>
              <a:cs typeface="Corbel"/>
            </a:endParaRPr>
          </a:p>
          <a:p>
            <a:pPr marL="1271270" marR="281940" lvl="1" indent="-39179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384300" algn="l"/>
              </a:tabLst>
            </a:pPr>
            <a:r>
              <a:rPr sz="2600" b="1" dirty="0">
                <a:latin typeface="Corbel"/>
                <a:cs typeface="Corbel"/>
              </a:rPr>
              <a:t>Risk</a:t>
            </a:r>
            <a:r>
              <a:rPr sz="2600" b="1" spc="-30" dirty="0">
                <a:latin typeface="Corbel"/>
                <a:cs typeface="Corbel"/>
              </a:rPr>
              <a:t> </a:t>
            </a:r>
            <a:r>
              <a:rPr sz="2600" b="1" dirty="0">
                <a:latin typeface="Corbel"/>
                <a:cs typeface="Corbel"/>
              </a:rPr>
              <a:t>threshold</a:t>
            </a:r>
            <a:r>
              <a:rPr sz="2600" b="1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–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measures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along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level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uncertainty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level</a:t>
            </a:r>
            <a:r>
              <a:rPr sz="2600" spc="-25" dirty="0">
                <a:latin typeface="Corbel"/>
                <a:cs typeface="Corbel"/>
              </a:rPr>
              <a:t> of 	</a:t>
            </a:r>
            <a:r>
              <a:rPr sz="2600" dirty="0">
                <a:latin typeface="Corbel"/>
                <a:cs typeface="Corbel"/>
              </a:rPr>
              <a:t>impact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at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which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stakeholder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may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have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specific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interest.</a:t>
            </a:r>
            <a:r>
              <a:rPr sz="2600" spc="-1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threshold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is 	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point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which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becomes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unacceptable</a:t>
            </a:r>
            <a:r>
              <a:rPr sz="2600" spc="-10" dirty="0"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57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190" dirty="0"/>
              <a:t> </a:t>
            </a:r>
            <a:r>
              <a:rPr spc="-10" dirty="0"/>
              <a:t>Attitude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5563" y="2010931"/>
            <a:ext cx="11169650" cy="44018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30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For</a:t>
            </a:r>
            <a:r>
              <a:rPr sz="28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example,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customer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or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sponsor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may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state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that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8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budget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is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limited</a:t>
            </a:r>
            <a:r>
              <a:rPr sz="2800" spc="-10" dirty="0">
                <a:latin typeface="Corbel"/>
                <a:cs typeface="Corbel"/>
              </a:rPr>
              <a:t>.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204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spc="-10" dirty="0">
                <a:latin typeface="Corbel"/>
                <a:cs typeface="Corbel"/>
              </a:rPr>
              <a:t>However,</a:t>
            </a:r>
            <a:r>
              <a:rPr sz="2800" spc="-8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we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do</a:t>
            </a:r>
            <a:r>
              <a:rPr sz="28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have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any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strict</a:t>
            </a:r>
            <a:r>
              <a:rPr sz="28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deadlines</a:t>
            </a:r>
            <a:r>
              <a:rPr sz="2800" spc="-10" dirty="0">
                <a:latin typeface="Corbel"/>
                <a:cs typeface="Corbel"/>
              </a:rPr>
              <a:t>.</a:t>
            </a:r>
            <a:endParaRPr sz="2800">
              <a:latin typeface="Corbel"/>
              <a:cs typeface="Corbel"/>
            </a:endParaRPr>
          </a:p>
          <a:p>
            <a:pPr marL="1841500" marR="61594" lvl="1" indent="-437515">
              <a:lnSpc>
                <a:spcPct val="100000"/>
              </a:lnSpc>
              <a:spcBef>
                <a:spcPts val="210"/>
              </a:spcBef>
              <a:buSzPct val="84615"/>
              <a:buChar char="-"/>
              <a:tabLst>
                <a:tab pos="1841500" algn="l"/>
              </a:tabLst>
            </a:pPr>
            <a:r>
              <a:rPr sz="2600" dirty="0">
                <a:latin typeface="Corbel"/>
                <a:cs typeface="Corbel"/>
              </a:rPr>
              <a:t>It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means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appetites</a:t>
            </a:r>
            <a:r>
              <a:rPr sz="26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costs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are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low</a:t>
            </a:r>
            <a:r>
              <a:rPr sz="2600" dirty="0">
                <a:latin typeface="Corbel"/>
                <a:cs typeface="Corbel"/>
              </a:rPr>
              <a:t>,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while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schedule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may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take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higher</a:t>
            </a:r>
            <a:r>
              <a:rPr sz="26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level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600" spc="-10" dirty="0"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8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On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other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hand,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they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may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say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that</a:t>
            </a:r>
            <a:r>
              <a:rPr sz="2800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we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can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take</a:t>
            </a:r>
            <a:r>
              <a:rPr sz="2800" spc="-1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up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$10,000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risks.</a:t>
            </a:r>
            <a:endParaRPr sz="2800">
              <a:latin typeface="Corbel"/>
              <a:cs typeface="Corbel"/>
            </a:endParaRPr>
          </a:p>
          <a:p>
            <a:pPr marL="1841500" lvl="1" indent="-437515">
              <a:lnSpc>
                <a:spcPct val="100000"/>
              </a:lnSpc>
              <a:spcBef>
                <a:spcPts val="225"/>
              </a:spcBef>
              <a:buSzPct val="84615"/>
              <a:buChar char="-"/>
              <a:tabLst>
                <a:tab pos="1841500" algn="l"/>
              </a:tabLst>
            </a:pPr>
            <a:r>
              <a:rPr sz="2600" dirty="0">
                <a:latin typeface="Corbel"/>
                <a:cs typeface="Corbel"/>
              </a:rPr>
              <a:t>That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their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tolerance</a:t>
            </a: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for</a:t>
            </a: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600" b="1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10" dirty="0">
                <a:latin typeface="Corbel"/>
                <a:cs typeface="Corbel"/>
              </a:rPr>
              <a:t> budget.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8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Also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if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they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say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that</a:t>
            </a:r>
            <a:r>
              <a:rPr sz="2800" spc="-2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we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can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accept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8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on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more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than</a:t>
            </a:r>
            <a:r>
              <a:rPr sz="28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10,000</a:t>
            </a:r>
            <a:r>
              <a:rPr sz="28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dollars.</a:t>
            </a:r>
            <a:endParaRPr sz="2800">
              <a:latin typeface="Corbel"/>
              <a:cs typeface="Corbel"/>
            </a:endParaRPr>
          </a:p>
          <a:p>
            <a:pPr marL="1841500" lvl="1" indent="-457200">
              <a:lnSpc>
                <a:spcPct val="100000"/>
              </a:lnSpc>
              <a:spcBef>
                <a:spcPts val="215"/>
              </a:spcBef>
              <a:buSzPct val="84615"/>
              <a:buChar char="-"/>
              <a:tabLst>
                <a:tab pos="1841500" algn="l"/>
              </a:tabLst>
            </a:pPr>
            <a:r>
              <a:rPr sz="2600" dirty="0">
                <a:latin typeface="Corbel"/>
                <a:cs typeface="Corbel"/>
              </a:rPr>
              <a:t>That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will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 threshold</a:t>
            </a:r>
            <a:r>
              <a:rPr sz="2600" spc="-10" dirty="0"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8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It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important</a:t>
            </a:r>
            <a:r>
              <a:rPr sz="2800" spc="-2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know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these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levels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for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sure.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204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It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wise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find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out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these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values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directly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from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stakeholders.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488563" y="625220"/>
            <a:ext cx="51873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04" dirty="0"/>
              <a:t> </a:t>
            </a:r>
            <a:r>
              <a:rPr dirty="0"/>
              <a:t>Attitude</a:t>
            </a:r>
            <a:r>
              <a:rPr spc="-5" dirty="0"/>
              <a:t> </a:t>
            </a:r>
            <a:r>
              <a:rPr spc="-45" dirty="0"/>
              <a:t>(Cont’d)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037171"/>
            <a:ext cx="12192000" cy="278130"/>
          </a:xfrm>
          <a:custGeom>
            <a:avLst/>
            <a:gdLst/>
            <a:ahLst/>
            <a:cxnLst/>
            <a:rect l="l" t="t" r="r" b="b"/>
            <a:pathLst>
              <a:path w="12192000" h="278129">
                <a:moveTo>
                  <a:pt x="12192000" y="0"/>
                </a:moveTo>
                <a:lnTo>
                  <a:pt x="0" y="0"/>
                </a:lnTo>
                <a:lnTo>
                  <a:pt x="0" y="278028"/>
                </a:lnTo>
                <a:lnTo>
                  <a:pt x="12192000" y="2780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483" y="1954402"/>
            <a:ext cx="5339651" cy="45429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5405" y="3739388"/>
            <a:ext cx="13677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5275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C00000"/>
                </a:solidFill>
                <a:latin typeface="Arial"/>
                <a:cs typeface="Arial"/>
              </a:rPr>
              <a:t>Risk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Attitude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9823" y="3893311"/>
            <a:ext cx="10020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Risk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Seeking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5785" y="4056633"/>
            <a:ext cx="52565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enjoy</a:t>
            </a:r>
            <a:r>
              <a:rPr sz="1800" i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risk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don’t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worry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much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repercussions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materialize.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focused</a:t>
            </a:r>
            <a:r>
              <a:rPr sz="1800" i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on</a:t>
            </a:r>
            <a:r>
              <a:rPr sz="1800" i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benefits</a:t>
            </a:r>
            <a:r>
              <a:rPr sz="1800" i="1" spc="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get.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1727" y="3637407"/>
            <a:ext cx="360045" cy="384175"/>
          </a:xfrm>
          <a:prstGeom prst="rect">
            <a:avLst/>
          </a:prstGeom>
          <a:solidFill>
            <a:srgbClr val="90C220"/>
          </a:solidFill>
        </p:spPr>
        <p:txBody>
          <a:bodyPr vert="horz" wrap="square" lIns="0" tIns="9652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76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6814" y="2426335"/>
            <a:ext cx="8636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50495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Risk 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Averse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5785" y="2516504"/>
            <a:ext cx="50266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Risk</a:t>
            </a:r>
            <a:r>
              <a:rPr sz="1800" spc="-11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Averse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people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don’t like</a:t>
            </a:r>
            <a:r>
              <a:rPr sz="18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uncertainty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They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intend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take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path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most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certain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even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least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rewarding.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1727" y="2097532"/>
            <a:ext cx="360045" cy="384175"/>
          </a:xfrm>
          <a:prstGeom prst="rect">
            <a:avLst/>
          </a:prstGeom>
          <a:solidFill>
            <a:srgbClr val="07A297"/>
          </a:solidFill>
        </p:spPr>
        <p:txBody>
          <a:bodyPr vert="horz" wrap="square" lIns="0" tIns="9652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76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2236" y="5436870"/>
            <a:ext cx="9036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Risk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Neutral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5785" y="5596890"/>
            <a:ext cx="52044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Risk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Neutral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quite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1F5F"/>
                </a:solidFill>
                <a:latin typeface="Arial"/>
                <a:cs typeface="Arial"/>
              </a:rPr>
              <a:t>calculative</a:t>
            </a:r>
            <a:r>
              <a:rPr sz="1800" i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they </a:t>
            </a:r>
            <a:r>
              <a:rPr sz="1800" dirty="0">
                <a:latin typeface="Arial MT"/>
                <a:cs typeface="Arial MT"/>
              </a:rPr>
              <a:t>weigh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deciding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risk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not.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1727" y="5177282"/>
            <a:ext cx="360045" cy="384175"/>
          </a:xfrm>
          <a:prstGeom prst="rect">
            <a:avLst/>
          </a:prstGeom>
          <a:solidFill>
            <a:srgbClr val="FAA100"/>
          </a:solidFill>
        </p:spPr>
        <p:txBody>
          <a:bodyPr vert="horz" wrap="square" lIns="0" tIns="9715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765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12192000" cy="1554480"/>
          </a:xfrm>
          <a:custGeom>
            <a:avLst/>
            <a:gdLst/>
            <a:ahLst/>
            <a:cxnLst/>
            <a:rect l="l" t="t" r="r" b="b"/>
            <a:pathLst>
              <a:path w="12192000" h="1554480">
                <a:moveTo>
                  <a:pt x="12192000" y="0"/>
                </a:moveTo>
                <a:lnTo>
                  <a:pt x="0" y="0"/>
                </a:lnTo>
                <a:lnTo>
                  <a:pt x="0" y="1554479"/>
                </a:lnTo>
                <a:lnTo>
                  <a:pt x="12192000" y="1554479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593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04" dirty="0"/>
              <a:t> </a:t>
            </a:r>
            <a:r>
              <a:rPr dirty="0"/>
              <a:t>Attitude</a:t>
            </a:r>
            <a:r>
              <a:rPr spc="-5" dirty="0"/>
              <a:t> </a:t>
            </a:r>
            <a:r>
              <a:rPr spc="-45" dirty="0"/>
              <a:t>(Cont’d)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923778" y="674930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25" dirty="0">
                <a:latin typeface="Arial MT"/>
                <a:cs typeface="Arial MT"/>
              </a:rPr>
              <a:t>17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1534413"/>
            <a:ext cx="11051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dirty="0">
                <a:latin typeface="Corbel"/>
                <a:cs typeface="Corbel"/>
              </a:rPr>
              <a:t>Risk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attitude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exists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on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continuous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spectrum,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but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common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includes: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54480"/>
              <a:ext cx="12192000" cy="26034"/>
            </a:xfrm>
            <a:custGeom>
              <a:avLst/>
              <a:gdLst/>
              <a:ahLst/>
              <a:cxnLst/>
              <a:rect l="l" t="t" r="r" b="b"/>
              <a:pathLst>
                <a:path w="12192000" h="26034">
                  <a:moveTo>
                    <a:pt x="0" y="25908"/>
                  </a:moveTo>
                  <a:lnTo>
                    <a:pt x="12192000" y="2590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54480"/>
            </a:xfrm>
            <a:custGeom>
              <a:avLst/>
              <a:gdLst/>
              <a:ahLst/>
              <a:cxnLst/>
              <a:rect l="l" t="t" r="r" b="b"/>
              <a:pathLst>
                <a:path w="12192000" h="1554480">
                  <a:moveTo>
                    <a:pt x="12192000" y="0"/>
                  </a:moveTo>
                  <a:lnTo>
                    <a:pt x="0" y="0"/>
                  </a:lnTo>
                  <a:lnTo>
                    <a:pt x="0" y="1554479"/>
                  </a:lnTo>
                  <a:lnTo>
                    <a:pt x="12192000" y="15544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5563" y="1860880"/>
            <a:ext cx="11110595" cy="435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090" marR="5080" indent="-454025" algn="just">
              <a:lnSpc>
                <a:spcPct val="10000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69265" algn="l"/>
              </a:tabLst>
            </a:pPr>
            <a:r>
              <a:rPr sz="2800" dirty="0">
                <a:latin typeface="Corbel"/>
                <a:cs typeface="Corbel"/>
              </a:rPr>
              <a:t>Understanding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stakeholders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attitudes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is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important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component</a:t>
            </a:r>
            <a:r>
              <a:rPr sz="2800" spc="430" dirty="0">
                <a:latin typeface="Corbel"/>
                <a:cs typeface="Corbel"/>
              </a:rPr>
              <a:t> </a:t>
            </a:r>
            <a:r>
              <a:rPr sz="2800" spc="-25" dirty="0">
                <a:latin typeface="Corbel"/>
                <a:cs typeface="Corbel"/>
              </a:rPr>
              <a:t>of 	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8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management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planning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that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precedes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identification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analysis, 	</a:t>
            </a:r>
            <a:r>
              <a:rPr sz="2800" dirty="0">
                <a:latin typeface="Corbel"/>
                <a:cs typeface="Corbel"/>
              </a:rPr>
              <a:t>in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order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to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optimize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both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8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success</a:t>
            </a:r>
            <a:r>
              <a:rPr sz="28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stakeholder</a:t>
            </a:r>
            <a:r>
              <a:rPr sz="28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satisfaction</a:t>
            </a:r>
            <a:r>
              <a:rPr sz="28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spc="-20" dirty="0">
                <a:latin typeface="Corbel"/>
                <a:cs typeface="Corbel"/>
              </a:rPr>
              <a:t>with 	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project’s</a:t>
            </a:r>
            <a:r>
              <a:rPr sz="28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results</a:t>
            </a:r>
            <a:r>
              <a:rPr sz="2800" spc="-10" dirty="0">
                <a:latin typeface="Corbel"/>
                <a:cs typeface="Corbel"/>
              </a:rPr>
              <a:t>.</a:t>
            </a:r>
            <a:endParaRPr sz="2800">
              <a:latin typeface="Corbel"/>
              <a:cs typeface="Corbel"/>
            </a:endParaRPr>
          </a:p>
          <a:p>
            <a:pPr marL="466090" marR="690245" indent="-454025" algn="just">
              <a:lnSpc>
                <a:spcPct val="100000"/>
              </a:lnSpc>
              <a:spcBef>
                <a:spcPts val="60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69265" algn="l"/>
              </a:tabLst>
            </a:pPr>
            <a:r>
              <a:rPr sz="2800" spc="-10" dirty="0">
                <a:latin typeface="Corbel"/>
                <a:cs typeface="Corbel"/>
              </a:rPr>
              <a:t>Attitudes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should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identified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managed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proactively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updated 	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throughout</a:t>
            </a:r>
            <a:r>
              <a:rPr sz="28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Project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Management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process.</a:t>
            </a:r>
            <a:endParaRPr sz="2800">
              <a:latin typeface="Corbel"/>
              <a:cs typeface="Corbel"/>
            </a:endParaRPr>
          </a:p>
          <a:p>
            <a:pPr marL="1842135" lvl="1" indent="-343535" algn="just">
              <a:lnSpc>
                <a:spcPct val="100000"/>
              </a:lnSpc>
              <a:spcBef>
                <a:spcPts val="630"/>
              </a:spcBef>
              <a:buSzPct val="85416"/>
              <a:buChar char="-"/>
              <a:tabLst>
                <a:tab pos="1842135" algn="l"/>
              </a:tabLst>
            </a:pPr>
            <a:r>
              <a:rPr sz="2400" dirty="0">
                <a:latin typeface="Corbel"/>
                <a:cs typeface="Corbel"/>
              </a:rPr>
              <a:t>Attitudes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differ</a:t>
            </a:r>
            <a:r>
              <a:rPr sz="24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from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one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another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same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</a:t>
            </a:r>
            <a:endParaRPr sz="2400">
              <a:latin typeface="Corbel"/>
              <a:cs typeface="Corbel"/>
            </a:endParaRPr>
          </a:p>
          <a:p>
            <a:pPr marL="1842135" lvl="1" indent="-343535" algn="just">
              <a:lnSpc>
                <a:spcPct val="100000"/>
              </a:lnSpc>
              <a:spcBef>
                <a:spcPts val="600"/>
              </a:spcBef>
              <a:buSzPct val="85416"/>
              <a:buChar char="-"/>
              <a:tabLst>
                <a:tab pos="1842135" algn="l"/>
              </a:tabLst>
            </a:pPr>
            <a:r>
              <a:rPr sz="2400" dirty="0">
                <a:latin typeface="Corbel"/>
                <a:cs typeface="Corbel"/>
              </a:rPr>
              <a:t>Attitudes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usually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differ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from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one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group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stakeholders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another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1841500" marR="351790" lvl="1" indent="-342900" algn="just">
              <a:lnSpc>
                <a:spcPct val="100000"/>
              </a:lnSpc>
              <a:spcBef>
                <a:spcPts val="600"/>
              </a:spcBef>
              <a:buSzPct val="85416"/>
              <a:buChar char="-"/>
              <a:tabLst>
                <a:tab pos="1841500" algn="l"/>
              </a:tabLst>
            </a:pPr>
            <a:r>
              <a:rPr sz="2400" dirty="0">
                <a:latin typeface="Corbel"/>
                <a:cs typeface="Corbel"/>
              </a:rPr>
              <a:t>Single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adopt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different</a:t>
            </a:r>
            <a:r>
              <a:rPr sz="24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attitudes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at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various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stages</a:t>
            </a:r>
            <a:r>
              <a:rPr sz="24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in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same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project.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61826" y="6931267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18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Risk</a:t>
            </a:r>
            <a:r>
              <a:rPr spc="-204" dirty="0"/>
              <a:t> </a:t>
            </a:r>
            <a:r>
              <a:rPr dirty="0"/>
              <a:t>Attitude</a:t>
            </a:r>
            <a:r>
              <a:rPr spc="-5" dirty="0"/>
              <a:t> </a:t>
            </a:r>
            <a:r>
              <a:rPr spc="-45" dirty="0"/>
              <a:t>(Cont’d)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476358" y="3371155"/>
            <a:ext cx="2351405" cy="3828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600" spc="-25" dirty="0">
                <a:latin typeface="Corbel"/>
                <a:cs typeface="Corbel"/>
              </a:rPr>
              <a:t>s.</a:t>
            </a: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915"/>
              </a:spcBef>
            </a:pPr>
            <a:endParaRPr sz="2600">
              <a:latin typeface="Corbel"/>
              <a:cs typeface="Corbel"/>
            </a:endParaRPr>
          </a:p>
          <a:p>
            <a:pPr marL="73025">
              <a:lnSpc>
                <a:spcPct val="100000"/>
              </a:lnSpc>
            </a:pPr>
            <a:r>
              <a:rPr sz="2400" spc="-50" dirty="0">
                <a:latin typeface="Corbel"/>
                <a:cs typeface="Corbel"/>
              </a:rPr>
              <a:t>)</a:t>
            </a:r>
            <a:endParaRPr sz="24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24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400">
              <a:latin typeface="Corbel"/>
              <a:cs typeface="Corbel"/>
            </a:endParaRPr>
          </a:p>
          <a:p>
            <a:pPr algn="r">
              <a:lnSpc>
                <a:spcPct val="100000"/>
              </a:lnSpc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19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Risk</a:t>
            </a:r>
            <a:r>
              <a:rPr spc="-2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275" y="795312"/>
            <a:ext cx="548640" cy="612228"/>
          </a:xfrm>
          <a:prstGeom prst="rect">
            <a:avLst/>
          </a:prstGeom>
        </p:spPr>
      </p:pic>
      <p:pic>
        <p:nvPicPr>
          <p:cNvPr id="8" name="object 8" descr="ÙØªÙØ¬Ø© Ø¨Ø­Ø« Ø§ÙØµÙØ± Ø¹Ù âªPROJECT RISK MANAGEMENTâ¬â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2150" y="2502323"/>
            <a:ext cx="2554604" cy="4723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9740" y="1601216"/>
            <a:ext cx="11343005" cy="5474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68580" indent="-43942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i="1" dirty="0">
                <a:latin typeface="Corbel"/>
                <a:cs typeface="Corbel"/>
              </a:rPr>
              <a:t>Project</a:t>
            </a:r>
            <a:r>
              <a:rPr sz="2800" b="1" i="1" spc="-90" dirty="0">
                <a:latin typeface="Corbel"/>
                <a:cs typeface="Corbel"/>
              </a:rPr>
              <a:t> </a:t>
            </a:r>
            <a:r>
              <a:rPr sz="2800" b="1" i="1" dirty="0">
                <a:latin typeface="Corbel"/>
                <a:cs typeface="Corbel"/>
              </a:rPr>
              <a:t>Risk</a:t>
            </a:r>
            <a:r>
              <a:rPr sz="2800" b="1" i="1" spc="-60" dirty="0">
                <a:latin typeface="Corbel"/>
                <a:cs typeface="Corbel"/>
              </a:rPr>
              <a:t> </a:t>
            </a:r>
            <a:r>
              <a:rPr sz="2800" b="1" i="1" dirty="0">
                <a:latin typeface="Corbel"/>
                <a:cs typeface="Corbel"/>
              </a:rPr>
              <a:t>Management</a:t>
            </a:r>
            <a:r>
              <a:rPr sz="2800" b="1" i="1" spc="-3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includes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the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processes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of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conducting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spc="-20" dirty="0">
                <a:latin typeface="Corbel"/>
                <a:cs typeface="Corbel"/>
              </a:rPr>
              <a:t>risk </a:t>
            </a:r>
            <a:r>
              <a:rPr sz="2800" spc="-10" dirty="0">
                <a:latin typeface="Corbel"/>
                <a:cs typeface="Corbel"/>
              </a:rPr>
              <a:t>management</a:t>
            </a:r>
            <a:r>
              <a:rPr sz="2800" spc="-9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planning,</a:t>
            </a:r>
            <a:r>
              <a:rPr sz="2800" i="1" spc="-114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identification,</a:t>
            </a:r>
            <a:r>
              <a:rPr sz="2800" i="1" spc="-1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analysis,</a:t>
            </a:r>
            <a:r>
              <a:rPr sz="2800" i="1" spc="-114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response</a:t>
            </a:r>
            <a:r>
              <a:rPr sz="2800" i="1" spc="-10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planning,</a:t>
            </a:r>
            <a:r>
              <a:rPr sz="2800" i="1" spc="-114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i="1" spc="-10" dirty="0">
                <a:solidFill>
                  <a:srgbClr val="001F5F"/>
                </a:solidFill>
                <a:latin typeface="Corbel"/>
                <a:cs typeface="Corbel"/>
              </a:rPr>
              <a:t>response implementation</a:t>
            </a:r>
            <a:r>
              <a:rPr sz="2800" spc="-10" dirty="0">
                <a:latin typeface="Corbel"/>
                <a:cs typeface="Corbel"/>
              </a:rPr>
              <a:t>,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35" dirty="0">
                <a:latin typeface="Corbel"/>
                <a:cs typeface="Corbel"/>
              </a:rPr>
              <a:t> </a:t>
            </a:r>
            <a:r>
              <a:rPr sz="2800" i="1" dirty="0">
                <a:solidFill>
                  <a:srgbClr val="001F5F"/>
                </a:solidFill>
                <a:latin typeface="Corbel"/>
                <a:cs typeface="Corbel"/>
              </a:rPr>
              <a:t>monitoring</a:t>
            </a:r>
            <a:r>
              <a:rPr sz="28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risk</a:t>
            </a:r>
            <a:r>
              <a:rPr sz="2800" spc="-4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on</a:t>
            </a:r>
            <a:r>
              <a:rPr sz="2800" spc="-4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</a:t>
            </a:r>
            <a:r>
              <a:rPr sz="2800" spc="-20" dirty="0">
                <a:latin typeface="Corbel"/>
                <a:cs typeface="Corbel"/>
              </a:rPr>
              <a:t> </a:t>
            </a:r>
            <a:r>
              <a:rPr sz="2800" spc="-10" dirty="0">
                <a:latin typeface="Corbel"/>
                <a:cs typeface="Corbel"/>
              </a:rPr>
              <a:t>project.</a:t>
            </a:r>
            <a:endParaRPr sz="2800">
              <a:latin typeface="Corbel"/>
              <a:cs typeface="Corbel"/>
            </a:endParaRPr>
          </a:p>
          <a:p>
            <a:pPr marL="1671320" marR="2317750" indent="-342900">
              <a:lnSpc>
                <a:spcPts val="3120"/>
              </a:lnSpc>
              <a:spcBef>
                <a:spcPts val="80"/>
              </a:spcBef>
              <a:tabLst>
                <a:tab pos="1671320" algn="l"/>
              </a:tabLst>
            </a:pPr>
            <a:r>
              <a:rPr sz="2500" spc="450" dirty="0">
                <a:latin typeface="Corbel"/>
                <a:cs typeface="Corbel"/>
              </a:rPr>
              <a:t>-</a:t>
            </a:r>
            <a:r>
              <a:rPr sz="2500" dirty="0">
                <a:latin typeface="Corbel"/>
                <a:cs typeface="Corbel"/>
              </a:rPr>
              <a:t>	</a:t>
            </a:r>
            <a:r>
              <a:rPr sz="2600" dirty="0">
                <a:latin typeface="Corbel"/>
                <a:cs typeface="Corbel"/>
              </a:rPr>
              <a:t>It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aims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identify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not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addressed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by</a:t>
            </a:r>
            <a:r>
              <a:rPr sz="2600" spc="484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other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processe</a:t>
            </a:r>
            <a:endParaRPr sz="2600">
              <a:latin typeface="Corbel"/>
              <a:cs typeface="Corbel"/>
            </a:endParaRPr>
          </a:p>
          <a:p>
            <a:pPr marL="509905" lvl="1" indent="-438784">
              <a:lnSpc>
                <a:spcPts val="3240"/>
              </a:lnSpc>
              <a:buClr>
                <a:srgbClr val="C00000"/>
              </a:buClr>
              <a:buSzPct val="83928"/>
              <a:buFont typeface="Cambria"/>
              <a:buChar char="◾"/>
              <a:tabLst>
                <a:tab pos="509905" algn="l"/>
              </a:tabLst>
            </a:pPr>
            <a:r>
              <a:rPr sz="28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800" b="1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endParaRPr sz="2800">
              <a:latin typeface="Corbel"/>
              <a:cs typeface="Corbel"/>
            </a:endParaRPr>
          </a:p>
          <a:p>
            <a:pPr marL="509905" marR="2549525" lvl="1" indent="-439420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509905" algn="l"/>
              </a:tabLst>
            </a:pPr>
            <a:r>
              <a:rPr sz="2600" dirty="0">
                <a:latin typeface="Corbel"/>
                <a:cs typeface="Corbel"/>
              </a:rPr>
              <a:t>A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proactive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attempt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recognize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internal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events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external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threats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affect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likelihood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project’s success.</a:t>
            </a:r>
            <a:endParaRPr sz="2600">
              <a:latin typeface="Corbel"/>
              <a:cs typeface="Corbel"/>
            </a:endParaRPr>
          </a:p>
          <a:p>
            <a:pPr marL="2243455" lvl="2" indent="-343535">
              <a:lnSpc>
                <a:spcPct val="100000"/>
              </a:lnSpc>
              <a:spcBef>
                <a:spcPts val="10"/>
              </a:spcBef>
              <a:buChar char="-"/>
              <a:tabLst>
                <a:tab pos="2243455" algn="l"/>
              </a:tabLst>
            </a:pPr>
            <a:r>
              <a:rPr sz="2400" dirty="0">
                <a:latin typeface="Corbel"/>
                <a:cs typeface="Corbel"/>
              </a:rPr>
              <a:t>What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go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wrong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(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event</a:t>
            </a:r>
            <a:r>
              <a:rPr sz="2400" spc="-10" dirty="0">
                <a:latin typeface="Corbel"/>
                <a:cs typeface="Corbel"/>
              </a:rPr>
              <a:t>)</a:t>
            </a:r>
            <a:endParaRPr sz="2400">
              <a:latin typeface="Corbel"/>
              <a:cs typeface="Corbel"/>
            </a:endParaRPr>
          </a:p>
          <a:p>
            <a:pPr marL="2243455" lvl="2" indent="-343535">
              <a:lnSpc>
                <a:spcPct val="100000"/>
              </a:lnSpc>
              <a:buChar char="-"/>
              <a:tabLst>
                <a:tab pos="2243455" algn="l"/>
              </a:tabLst>
            </a:pPr>
            <a:r>
              <a:rPr sz="2400" dirty="0">
                <a:latin typeface="Corbel"/>
                <a:cs typeface="Corbel"/>
              </a:rPr>
              <a:t>How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minimize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event’s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impact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(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consequences</a:t>
            </a:r>
            <a:endParaRPr sz="2400">
              <a:latin typeface="Corbel"/>
              <a:cs typeface="Corbel"/>
            </a:endParaRPr>
          </a:p>
          <a:p>
            <a:pPr marL="2243455" lvl="2" indent="-343535">
              <a:lnSpc>
                <a:spcPct val="100000"/>
              </a:lnSpc>
              <a:buChar char="-"/>
              <a:tabLst>
                <a:tab pos="2243455" algn="l"/>
              </a:tabLst>
            </a:pPr>
            <a:r>
              <a:rPr sz="2400" dirty="0">
                <a:latin typeface="Corbel"/>
                <a:cs typeface="Corbel"/>
              </a:rPr>
              <a:t>What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can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done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before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event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occurs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(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anticipation</a:t>
            </a:r>
            <a:r>
              <a:rPr sz="2400" spc="-10" dirty="0">
                <a:latin typeface="Corbel"/>
                <a:cs typeface="Corbel"/>
              </a:rPr>
              <a:t>)</a:t>
            </a:r>
            <a:endParaRPr sz="2400">
              <a:latin typeface="Corbel"/>
              <a:cs typeface="Corbel"/>
            </a:endParaRPr>
          </a:p>
          <a:p>
            <a:pPr marL="2243455" lvl="2" indent="-343535">
              <a:lnSpc>
                <a:spcPct val="100000"/>
              </a:lnSpc>
              <a:buChar char="-"/>
              <a:tabLst>
                <a:tab pos="2243455" algn="l"/>
              </a:tabLst>
            </a:pPr>
            <a:r>
              <a:rPr sz="2400" dirty="0">
                <a:latin typeface="Corbel"/>
                <a:cs typeface="Corbel"/>
              </a:rPr>
              <a:t>What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do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when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event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occurs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(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contingency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plans</a:t>
            </a:r>
            <a:r>
              <a:rPr sz="2400" spc="-10" dirty="0">
                <a:latin typeface="Corbel"/>
                <a:cs typeface="Corbel"/>
              </a:rPr>
              <a:t>)</a:t>
            </a:r>
            <a:endParaRPr sz="2400">
              <a:latin typeface="Corbel"/>
              <a:cs typeface="Corbel"/>
            </a:endParaRPr>
          </a:p>
          <a:p>
            <a:pPr marR="5080" algn="r">
              <a:lnSpc>
                <a:spcPct val="100000"/>
              </a:lnSpc>
              <a:spcBef>
                <a:spcPts val="2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19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13392"/>
              <a:ext cx="12191999" cy="1065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8175" y="635508"/>
              <a:ext cx="9916668" cy="8732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61826" y="690961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20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1629917"/>
            <a:ext cx="11170285" cy="524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ts val="3350"/>
              </a:lnSpc>
              <a:spcBef>
                <a:spcPts val="95"/>
              </a:spcBef>
              <a:buClr>
                <a:srgbClr val="D9243D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spc="-30" dirty="0">
                <a:latin typeface="Corbel"/>
                <a:cs typeface="Corbel"/>
              </a:rPr>
              <a:t>Trends</a:t>
            </a:r>
            <a:r>
              <a:rPr sz="2800" spc="-7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and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emerging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practices</a:t>
            </a:r>
            <a:r>
              <a:rPr sz="2800" spc="-5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for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PRM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include</a:t>
            </a:r>
            <a:r>
              <a:rPr sz="2800" spc="-6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but</a:t>
            </a:r>
            <a:r>
              <a:rPr sz="2800" spc="-65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are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not</a:t>
            </a:r>
            <a:r>
              <a:rPr sz="2800" spc="-70" dirty="0">
                <a:latin typeface="Corbel"/>
                <a:cs typeface="Corbel"/>
              </a:rPr>
              <a:t> </a:t>
            </a:r>
            <a:r>
              <a:rPr sz="2800" dirty="0">
                <a:latin typeface="Corbel"/>
                <a:cs typeface="Corbel"/>
              </a:rPr>
              <a:t>limited</a:t>
            </a:r>
            <a:r>
              <a:rPr sz="2800" spc="-55" dirty="0">
                <a:latin typeface="Corbel"/>
                <a:cs typeface="Corbel"/>
              </a:rPr>
              <a:t> </a:t>
            </a:r>
            <a:r>
              <a:rPr sz="2800" spc="-25" dirty="0">
                <a:latin typeface="Corbel"/>
                <a:cs typeface="Corbel"/>
              </a:rPr>
              <a:t>to:</a:t>
            </a:r>
            <a:endParaRPr sz="2800">
              <a:latin typeface="Corbel"/>
              <a:cs typeface="Corbel"/>
            </a:endParaRPr>
          </a:p>
          <a:p>
            <a:pPr marL="967740" lvl="1" indent="-469265">
              <a:lnSpc>
                <a:spcPts val="3829"/>
              </a:lnSpc>
              <a:buAutoNum type="alphaUcPeriod"/>
              <a:tabLst>
                <a:tab pos="967740" algn="l"/>
              </a:tabLst>
            </a:pPr>
            <a:r>
              <a:rPr sz="3200" b="1" spc="-10" dirty="0">
                <a:solidFill>
                  <a:srgbClr val="001F5F"/>
                </a:solidFill>
                <a:latin typeface="Corbel"/>
                <a:cs typeface="Corbel"/>
              </a:rPr>
              <a:t>Non-</a:t>
            </a:r>
            <a:r>
              <a:rPr sz="3200" b="1" dirty="0">
                <a:solidFill>
                  <a:srgbClr val="001F5F"/>
                </a:solidFill>
                <a:latin typeface="Corbel"/>
                <a:cs typeface="Corbel"/>
              </a:rPr>
              <a:t>event</a:t>
            </a:r>
            <a:r>
              <a:rPr sz="3200" b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endParaRPr sz="3200">
              <a:latin typeface="Corbel"/>
              <a:cs typeface="Corbel"/>
            </a:endParaRPr>
          </a:p>
          <a:p>
            <a:pPr marL="469900" marR="152400" indent="-457200">
              <a:lnSpc>
                <a:spcPct val="100000"/>
              </a:lnSpc>
              <a:spcBef>
                <a:spcPts val="3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dirty="0">
                <a:latin typeface="Corbel"/>
                <a:cs typeface="Corbel"/>
              </a:rPr>
              <a:t>Most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focus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only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future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events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may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or </a:t>
            </a:r>
            <a:r>
              <a:rPr sz="2600" dirty="0">
                <a:latin typeface="Corbel"/>
                <a:cs typeface="Corbel"/>
              </a:rPr>
              <a:t>may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not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spc="-40" dirty="0">
                <a:latin typeface="Corbel"/>
                <a:cs typeface="Corbel"/>
              </a:rPr>
              <a:t>occur.</a:t>
            </a:r>
            <a:r>
              <a:rPr sz="2600" spc="-18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There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 increasing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recognition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 </a:t>
            </a: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non-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event</a:t>
            </a:r>
            <a:r>
              <a:rPr sz="26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6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need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to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identified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managed.</a:t>
            </a:r>
            <a:r>
              <a:rPr sz="2600" spc="-19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There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two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main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types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20" dirty="0">
                <a:latin typeface="Corbel"/>
                <a:cs typeface="Corbel"/>
              </a:rPr>
              <a:t>non-</a:t>
            </a:r>
            <a:r>
              <a:rPr sz="2600" dirty="0">
                <a:latin typeface="Corbel"/>
                <a:cs typeface="Corbel"/>
              </a:rPr>
              <a:t>event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risks:</a:t>
            </a:r>
            <a:endParaRPr sz="2600">
              <a:latin typeface="Corbel"/>
              <a:cs typeface="Corbel"/>
            </a:endParaRPr>
          </a:p>
          <a:p>
            <a:pPr marL="1270000" marR="78105" indent="-342900">
              <a:lnSpc>
                <a:spcPct val="100000"/>
              </a:lnSpc>
              <a:spcBef>
                <a:spcPts val="5"/>
              </a:spcBef>
              <a:buSzPct val="84615"/>
              <a:buFont typeface="Corbel"/>
              <a:buChar char="-"/>
              <a:tabLst>
                <a:tab pos="1270000" algn="l"/>
              </a:tabLst>
            </a:pP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Variability</a:t>
            </a:r>
            <a:r>
              <a:rPr sz="2600" b="1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(also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called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“aleatoric</a:t>
            </a:r>
            <a:r>
              <a:rPr sz="26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uncertainty”</a:t>
            </a:r>
            <a:r>
              <a:rPr sz="2600" dirty="0">
                <a:latin typeface="Corbel"/>
                <a:cs typeface="Corbel"/>
              </a:rPr>
              <a:t>),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uncertainty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exists </a:t>
            </a:r>
            <a:r>
              <a:rPr sz="2600" dirty="0">
                <a:latin typeface="Corbel"/>
                <a:cs typeface="Corbel"/>
              </a:rPr>
              <a:t>about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some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key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characteristics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planned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event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activity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decision.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Examples</a:t>
            </a:r>
            <a:r>
              <a:rPr sz="2600" dirty="0">
                <a:latin typeface="Corbel"/>
                <a:cs typeface="Corbel"/>
              </a:rPr>
              <a:t>:</a:t>
            </a:r>
            <a:r>
              <a:rPr sz="2600" spc="-8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productivity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may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above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below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target,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unseasonal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weather conditions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may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occur</a:t>
            </a:r>
            <a:r>
              <a:rPr sz="24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during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construction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phase.</a:t>
            </a:r>
            <a:endParaRPr sz="2400">
              <a:latin typeface="Corbel"/>
              <a:cs typeface="Corbel"/>
            </a:endParaRPr>
          </a:p>
          <a:p>
            <a:pPr marL="1270000" marR="5080" indent="-342900">
              <a:lnSpc>
                <a:spcPct val="100000"/>
              </a:lnSpc>
              <a:buSzPct val="84615"/>
              <a:buFont typeface="Corbel"/>
              <a:buChar char="-"/>
              <a:tabLst>
                <a:tab pos="1270000" algn="l"/>
              </a:tabLst>
            </a:pP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Ambiguity</a:t>
            </a:r>
            <a:r>
              <a:rPr sz="2600" b="1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b="1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(</a:t>
            </a:r>
            <a:r>
              <a:rPr sz="2600" dirty="0">
                <a:latin typeface="Corbel"/>
                <a:cs typeface="Corbel"/>
              </a:rPr>
              <a:t>also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known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“epistemic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uncertainty</a:t>
            </a:r>
            <a:r>
              <a:rPr sz="2600" dirty="0">
                <a:latin typeface="Corbel"/>
                <a:cs typeface="Corbel"/>
              </a:rPr>
              <a:t>”),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uncertainty</a:t>
            </a:r>
            <a:r>
              <a:rPr sz="2600" spc="-10" dirty="0">
                <a:latin typeface="Corbel"/>
                <a:cs typeface="Corbel"/>
              </a:rPr>
              <a:t> exists </a:t>
            </a:r>
            <a:r>
              <a:rPr sz="2600" dirty="0">
                <a:latin typeface="Corbel"/>
                <a:cs typeface="Corbel"/>
              </a:rPr>
              <a:t>about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what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might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happen</a:t>
            </a:r>
            <a:r>
              <a:rPr sz="26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future</a:t>
            </a:r>
            <a:r>
              <a:rPr sz="2600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arising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from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lack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knowledge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or </a:t>
            </a:r>
            <a:r>
              <a:rPr sz="2600" dirty="0">
                <a:latin typeface="Corbel"/>
                <a:cs typeface="Corbel"/>
              </a:rPr>
              <a:t>understanding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.</a:t>
            </a:r>
            <a:r>
              <a:rPr sz="26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latin typeface="Corbel"/>
                <a:cs typeface="Corbel"/>
              </a:rPr>
              <a:t>Examples:</a:t>
            </a:r>
            <a:r>
              <a:rPr sz="2600" i="1" spc="-40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elements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requirement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technical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solution,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future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developments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r>
              <a:rPr sz="24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regulatory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frameworks,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inherent</a:t>
            </a:r>
            <a:r>
              <a:rPr sz="2400" i="1" spc="-9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systemic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complexity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3494" y="6844385"/>
            <a:ext cx="14116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6" y="617219"/>
              <a:ext cx="11928348" cy="8595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61826" y="690961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21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38860" y="1626870"/>
            <a:ext cx="35820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B.</a:t>
            </a:r>
            <a:r>
              <a:rPr sz="3200" spc="-40" dirty="0"/>
              <a:t> </a:t>
            </a:r>
            <a:r>
              <a:rPr sz="3200" dirty="0"/>
              <a:t>Project</a:t>
            </a:r>
            <a:r>
              <a:rPr sz="3200" spc="-35" dirty="0"/>
              <a:t> </a:t>
            </a:r>
            <a:r>
              <a:rPr sz="3200" spc="-10" dirty="0"/>
              <a:t>Resilience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535940" y="2119122"/>
            <a:ext cx="11428095" cy="4569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441325" indent="-457200">
              <a:lnSpc>
                <a:spcPct val="100000"/>
              </a:lnSpc>
              <a:spcBef>
                <a:spcPts val="10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dirty="0">
                <a:latin typeface="Corbel"/>
                <a:cs typeface="Corbel"/>
              </a:rPr>
              <a:t>The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existence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emergent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becoming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clear,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with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growing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awareness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of </a:t>
            </a:r>
            <a:r>
              <a:rPr sz="2600" dirty="0">
                <a:latin typeface="Corbel"/>
                <a:cs typeface="Corbel"/>
              </a:rPr>
              <a:t>so-called</a:t>
            </a:r>
            <a:r>
              <a:rPr sz="2600" spc="15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unknowable-unknowns</a:t>
            </a:r>
            <a:r>
              <a:rPr sz="2600" spc="-10" dirty="0"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spcBef>
                <a:spcPts val="10"/>
              </a:spcBef>
              <a:buSzPct val="85416"/>
              <a:buChar char="-"/>
              <a:tabLst>
                <a:tab pos="1841500" algn="l"/>
              </a:tabLst>
            </a:pPr>
            <a:r>
              <a:rPr sz="2400" dirty="0">
                <a:latin typeface="Corbel"/>
                <a:cs typeface="Corbel"/>
              </a:rPr>
              <a:t>The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technical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name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these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Corbel"/>
                <a:cs typeface="Corbel"/>
              </a:rPr>
              <a:t>“ontological</a:t>
            </a:r>
            <a:r>
              <a:rPr sz="2400" b="1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i="1" spc="-10" dirty="0">
                <a:solidFill>
                  <a:srgbClr val="001F5F"/>
                </a:solidFill>
                <a:latin typeface="Corbel"/>
                <a:cs typeface="Corbel"/>
              </a:rPr>
              <a:t>uncertainty,”</a:t>
            </a:r>
            <a:r>
              <a:rPr sz="2400" b="1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they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are</a:t>
            </a:r>
            <a:endParaRPr sz="2400">
              <a:latin typeface="Corbel"/>
              <a:cs typeface="Corbel"/>
            </a:endParaRPr>
          </a:p>
          <a:p>
            <a:pPr marL="1841500">
              <a:lnSpc>
                <a:spcPts val="2875"/>
              </a:lnSpc>
            </a:pPr>
            <a:r>
              <a:rPr sz="2400" dirty="0">
                <a:latin typeface="Corbel"/>
                <a:cs typeface="Corbel"/>
              </a:rPr>
              <a:t>more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commonly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known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b="1" i="1" spc="-10" dirty="0">
                <a:solidFill>
                  <a:srgbClr val="001F5F"/>
                </a:solidFill>
                <a:latin typeface="Corbel"/>
                <a:cs typeface="Corbel"/>
              </a:rPr>
              <a:t>“Black</a:t>
            </a:r>
            <a:r>
              <a:rPr sz="2400" b="1" i="1" spc="-114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i="1" dirty="0">
                <a:solidFill>
                  <a:srgbClr val="001F5F"/>
                </a:solidFill>
                <a:latin typeface="Corbel"/>
                <a:cs typeface="Corbel"/>
              </a:rPr>
              <a:t>Swans”</a:t>
            </a:r>
            <a:r>
              <a:rPr sz="2400" b="1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(Taleb, </a:t>
            </a:r>
            <a:r>
              <a:rPr sz="2400" spc="-10" dirty="0">
                <a:latin typeface="Corbel"/>
                <a:cs typeface="Corbel"/>
              </a:rPr>
              <a:t>2007).</a:t>
            </a:r>
            <a:endParaRPr sz="2400">
              <a:latin typeface="Corbel"/>
              <a:cs typeface="Corbel"/>
            </a:endParaRPr>
          </a:p>
          <a:p>
            <a:pPr marL="469265" indent="-456565">
              <a:lnSpc>
                <a:spcPts val="3115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69265" algn="l"/>
              </a:tabLst>
            </a:pPr>
            <a:r>
              <a:rPr sz="2600" dirty="0">
                <a:latin typeface="Corbel"/>
                <a:cs typeface="Corbel"/>
              </a:rPr>
              <a:t>These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that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only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recognized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after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they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have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occurred.</a:t>
            </a:r>
            <a:endParaRPr sz="2600">
              <a:latin typeface="Corbel"/>
              <a:cs typeface="Corbel"/>
            </a:endParaRPr>
          </a:p>
          <a:p>
            <a:pPr marL="469900" marR="5080" indent="-457200">
              <a:lnSpc>
                <a:spcPct val="100000"/>
              </a:lnSpc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Emergent</a:t>
            </a:r>
            <a:r>
              <a:rPr sz="2600" b="1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b="1" i="1" dirty="0">
                <a:solidFill>
                  <a:srgbClr val="001F5F"/>
                </a:solidFill>
                <a:latin typeface="Corbel"/>
                <a:cs typeface="Corbel"/>
              </a:rPr>
              <a:t>risks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tackled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through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developing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resilience</a:t>
            </a:r>
            <a:r>
              <a:rPr sz="2600" spc="-10" dirty="0">
                <a:latin typeface="Corbel"/>
                <a:cs typeface="Corbel"/>
              </a:rPr>
              <a:t>.</a:t>
            </a:r>
            <a:r>
              <a:rPr sz="2600" spc="-18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This</a:t>
            </a:r>
            <a:r>
              <a:rPr sz="2600" spc="-10" dirty="0">
                <a:latin typeface="Corbel"/>
                <a:cs typeface="Corbel"/>
              </a:rPr>
              <a:t> requires </a:t>
            </a:r>
            <a:r>
              <a:rPr sz="2600" dirty="0">
                <a:latin typeface="Corbel"/>
                <a:cs typeface="Corbel"/>
              </a:rPr>
              <a:t>each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0" dirty="0">
                <a:latin typeface="Corbel"/>
                <a:cs typeface="Corbel"/>
              </a:rPr>
              <a:t> have:</a:t>
            </a:r>
            <a:endParaRPr sz="26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spcBef>
                <a:spcPts val="10"/>
              </a:spcBef>
              <a:buSzPct val="89583"/>
              <a:buChar char="-"/>
              <a:tabLst>
                <a:tab pos="1841500" algn="l"/>
              </a:tabLst>
            </a:pPr>
            <a:r>
              <a:rPr sz="2400" dirty="0">
                <a:latin typeface="Corbel"/>
                <a:cs typeface="Corbel"/>
              </a:rPr>
              <a:t>Right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level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budget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schedule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contingency</a:t>
            </a:r>
            <a:endParaRPr sz="24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buSzPct val="89583"/>
              <a:buChar char="-"/>
              <a:tabLst>
                <a:tab pos="1841500" algn="l"/>
              </a:tabLst>
            </a:pPr>
            <a:r>
              <a:rPr sz="2400" dirty="0">
                <a:latin typeface="Corbel"/>
                <a:cs typeface="Corbel"/>
              </a:rPr>
              <a:t>Flexible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processes</a:t>
            </a:r>
            <a:endParaRPr sz="24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buSzPct val="89583"/>
              <a:buChar char="-"/>
              <a:tabLst>
                <a:tab pos="1841500" algn="l"/>
              </a:tabLst>
            </a:pPr>
            <a:r>
              <a:rPr sz="2400" spc="-10" dirty="0">
                <a:latin typeface="Corbel"/>
                <a:cs typeface="Corbel"/>
              </a:rPr>
              <a:t>Empowered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team</a:t>
            </a:r>
            <a:endParaRPr sz="24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buSzPct val="89583"/>
              <a:buChar char="-"/>
              <a:tabLst>
                <a:tab pos="1841500" algn="l"/>
              </a:tabLst>
            </a:pPr>
            <a:r>
              <a:rPr sz="2400" dirty="0">
                <a:latin typeface="Corbel"/>
                <a:cs typeface="Corbel"/>
              </a:rPr>
              <a:t>Frequent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review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early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warning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sign</a:t>
            </a:r>
            <a:endParaRPr sz="2400">
              <a:latin typeface="Corbel"/>
              <a:cs typeface="Corbel"/>
            </a:endParaRPr>
          </a:p>
          <a:p>
            <a:pPr marL="1841500" lvl="1" indent="-342900">
              <a:lnSpc>
                <a:spcPct val="100000"/>
              </a:lnSpc>
              <a:buSzPct val="89583"/>
              <a:buFont typeface="Corbel"/>
              <a:buChar char="-"/>
              <a:tabLst>
                <a:tab pos="1841500" algn="l"/>
              </a:tabLst>
            </a:pPr>
            <a:r>
              <a:rPr sz="2400" i="1" dirty="0">
                <a:latin typeface="Corbel"/>
                <a:cs typeface="Corbel"/>
              </a:rPr>
              <a:t>Clear</a:t>
            </a:r>
            <a:r>
              <a:rPr sz="2400" i="1" spc="-60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input</a:t>
            </a:r>
            <a:r>
              <a:rPr sz="2400" i="1" spc="-5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from</a:t>
            </a:r>
            <a:r>
              <a:rPr sz="2400" i="1" spc="-65" dirty="0">
                <a:latin typeface="Corbel"/>
                <a:cs typeface="Corbel"/>
              </a:rPr>
              <a:t> </a:t>
            </a:r>
            <a:r>
              <a:rPr sz="2400" i="1" dirty="0">
                <a:latin typeface="Corbel"/>
                <a:cs typeface="Corbel"/>
              </a:rPr>
              <a:t>stakeholders</a:t>
            </a:r>
            <a:r>
              <a:rPr sz="2400" i="1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scope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strategy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adjustments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emergent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994" y="6663029"/>
            <a:ext cx="1666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rbel"/>
                <a:cs typeface="Corbel"/>
              </a:rPr>
              <a:t>risk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response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6" y="617219"/>
              <a:ext cx="11928348" cy="8595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39800" y="1817370"/>
            <a:ext cx="55841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C.</a:t>
            </a:r>
            <a:r>
              <a:rPr sz="3200" spc="-60" dirty="0"/>
              <a:t> </a:t>
            </a:r>
            <a:r>
              <a:rPr sz="3200" dirty="0"/>
              <a:t>Integrated</a:t>
            </a:r>
            <a:r>
              <a:rPr sz="3200" spc="-50" dirty="0"/>
              <a:t> </a:t>
            </a:r>
            <a:r>
              <a:rPr sz="3200" dirty="0"/>
              <a:t>Risk</a:t>
            </a:r>
            <a:r>
              <a:rPr sz="3200" spc="-50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35940" y="2309622"/>
            <a:ext cx="11196955" cy="426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dirty="0">
                <a:latin typeface="Corbel"/>
                <a:cs typeface="Corbel"/>
              </a:rPr>
              <a:t>Projects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exist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organizational</a:t>
            </a:r>
            <a:r>
              <a:rPr sz="26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context</a:t>
            </a:r>
            <a:r>
              <a:rPr sz="2600" dirty="0">
                <a:latin typeface="Corbel"/>
                <a:cs typeface="Corbel"/>
              </a:rPr>
              <a:t>,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they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may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form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part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program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portfolio</a:t>
            </a:r>
            <a:r>
              <a:rPr sz="2600" spc="-10" dirty="0">
                <a:latin typeface="Corbel"/>
                <a:cs typeface="Corbel"/>
              </a:rPr>
              <a:t>.</a:t>
            </a:r>
            <a:endParaRPr sz="2600">
              <a:latin typeface="Corbel"/>
              <a:cs typeface="Corbel"/>
            </a:endParaRPr>
          </a:p>
          <a:p>
            <a:pPr marL="2298700" marR="803910" lvl="1" indent="-342900">
              <a:lnSpc>
                <a:spcPct val="100000"/>
              </a:lnSpc>
              <a:spcBef>
                <a:spcPts val="10"/>
              </a:spcBef>
              <a:buSzPct val="89583"/>
              <a:buChar char="-"/>
              <a:tabLst>
                <a:tab pos="2298700" algn="l"/>
              </a:tabLst>
            </a:pPr>
            <a:r>
              <a:rPr sz="2400" dirty="0">
                <a:latin typeface="Corbel"/>
                <a:cs typeface="Corbel"/>
              </a:rPr>
              <a:t>Risk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exists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each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these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levels,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should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owned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and </a:t>
            </a:r>
            <a:r>
              <a:rPr sz="2400" dirty="0">
                <a:latin typeface="Corbel"/>
                <a:cs typeface="Corbel"/>
              </a:rPr>
              <a:t>managed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appropriate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level.</a:t>
            </a:r>
            <a:endParaRPr sz="2400">
              <a:latin typeface="Corbel"/>
              <a:cs typeface="Corbel"/>
            </a:endParaRPr>
          </a:p>
          <a:p>
            <a:pPr marL="469900" marR="206375" indent="-457200">
              <a:lnSpc>
                <a:spcPts val="3120"/>
              </a:lnSpc>
              <a:spcBef>
                <a:spcPts val="95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dirty="0">
                <a:latin typeface="Corbel"/>
                <a:cs typeface="Corbel"/>
              </a:rPr>
              <a:t>Some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identified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at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i="1" dirty="0">
                <a:latin typeface="Corbel"/>
                <a:cs typeface="Corbel"/>
              </a:rPr>
              <a:t>higher</a:t>
            </a:r>
            <a:r>
              <a:rPr sz="2600" i="1" spc="-15" dirty="0">
                <a:latin typeface="Corbel"/>
                <a:cs typeface="Corbel"/>
              </a:rPr>
              <a:t> </a:t>
            </a:r>
            <a:r>
              <a:rPr sz="2600" i="1" dirty="0">
                <a:latin typeface="Corbel"/>
                <a:cs typeface="Corbel"/>
              </a:rPr>
              <a:t>levels</a:t>
            </a:r>
            <a:r>
              <a:rPr sz="2600" i="1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will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delegated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6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team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for </a:t>
            </a:r>
            <a:r>
              <a:rPr sz="2600" dirty="0">
                <a:latin typeface="Corbel"/>
                <a:cs typeface="Corbel"/>
              </a:rPr>
              <a:t>management,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some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escalated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higher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levels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if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spc="-20" dirty="0">
                <a:latin typeface="Corbel"/>
                <a:cs typeface="Corbel"/>
              </a:rPr>
              <a:t>they</a:t>
            </a:r>
            <a:endParaRPr sz="2600">
              <a:latin typeface="Corbel"/>
              <a:cs typeface="Corbel"/>
            </a:endParaRPr>
          </a:p>
          <a:p>
            <a:pPr marL="469900">
              <a:lnSpc>
                <a:spcPts val="3020"/>
              </a:lnSpc>
            </a:pPr>
            <a:r>
              <a:rPr sz="2600" dirty="0">
                <a:latin typeface="Corbel"/>
                <a:cs typeface="Corbel"/>
              </a:rPr>
              <a:t>are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best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managed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outside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project.</a:t>
            </a:r>
            <a:endParaRPr sz="2600">
              <a:latin typeface="Corbel"/>
              <a:cs typeface="Corbel"/>
            </a:endParaRPr>
          </a:p>
          <a:p>
            <a:pPr marL="2298700" marR="293370" lvl="1" indent="-342900">
              <a:lnSpc>
                <a:spcPct val="100000"/>
              </a:lnSpc>
              <a:spcBef>
                <a:spcPts val="5"/>
              </a:spcBef>
              <a:buSzPct val="89583"/>
              <a:buChar char="-"/>
              <a:tabLst>
                <a:tab pos="2298700" algn="l"/>
              </a:tabLst>
            </a:pPr>
            <a:r>
              <a:rPr sz="2400" dirty="0">
                <a:latin typeface="Corbel"/>
                <a:cs typeface="Corbel"/>
              </a:rPr>
              <a:t>A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coordinated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approach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enterprise-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wide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management </a:t>
            </a:r>
            <a:r>
              <a:rPr sz="2400" spc="-10" dirty="0">
                <a:latin typeface="Corbel"/>
                <a:cs typeface="Corbel"/>
              </a:rPr>
              <a:t>ensures </a:t>
            </a:r>
            <a:r>
              <a:rPr sz="2400" dirty="0">
                <a:latin typeface="Corbel"/>
                <a:cs typeface="Corbel"/>
              </a:rPr>
              <a:t>alignment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coherence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way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managed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across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all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levels.</a:t>
            </a:r>
            <a:endParaRPr sz="2400">
              <a:latin typeface="Corbel"/>
              <a:cs typeface="Corbel"/>
            </a:endParaRPr>
          </a:p>
          <a:p>
            <a:pPr marL="469900" marR="1132840" indent="-457200">
              <a:lnSpc>
                <a:spcPts val="3120"/>
              </a:lnSpc>
              <a:spcBef>
                <a:spcPts val="100"/>
              </a:spcBef>
              <a:buClr>
                <a:srgbClr val="D9243D"/>
              </a:buClr>
              <a:buSzPct val="84615"/>
              <a:buFont typeface="Cambria"/>
              <a:buChar char="◾"/>
              <a:tabLst>
                <a:tab pos="469900" algn="l"/>
              </a:tabLst>
            </a:pPr>
            <a:r>
              <a:rPr sz="2600" dirty="0">
                <a:latin typeface="Corbel"/>
                <a:cs typeface="Corbel"/>
              </a:rPr>
              <a:t>This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builds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efficiency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into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structure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programs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10" dirty="0">
                <a:latin typeface="Corbel"/>
                <a:cs typeface="Corbel"/>
              </a:rPr>
              <a:t> portfolios, </a:t>
            </a:r>
            <a:r>
              <a:rPr sz="2600" dirty="0">
                <a:latin typeface="Corbel"/>
                <a:cs typeface="Corbel"/>
              </a:rPr>
              <a:t>providing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greatest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overall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value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given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level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exposure.</a:t>
            </a:r>
            <a:endParaRPr sz="2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6" y="617219"/>
              <a:ext cx="11928348" cy="8595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89482" y="1817370"/>
            <a:ext cx="8865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5" dirty="0"/>
              <a:t>D.</a:t>
            </a:r>
            <a:r>
              <a:rPr sz="3200" spc="-135" dirty="0"/>
              <a:t> </a:t>
            </a:r>
            <a:r>
              <a:rPr sz="3200" spc="-10" dirty="0"/>
              <a:t>Considerations</a:t>
            </a:r>
            <a:r>
              <a:rPr sz="3200" spc="-90" dirty="0"/>
              <a:t> </a:t>
            </a:r>
            <a:r>
              <a:rPr sz="3200" spc="-10" dirty="0"/>
              <a:t>for</a:t>
            </a:r>
            <a:r>
              <a:rPr sz="3200" spc="-160" dirty="0"/>
              <a:t> </a:t>
            </a:r>
            <a:r>
              <a:rPr sz="3200" dirty="0"/>
              <a:t>Agile/adaptive</a:t>
            </a:r>
            <a:r>
              <a:rPr sz="3200" spc="-50" dirty="0"/>
              <a:t> </a:t>
            </a:r>
            <a:r>
              <a:rPr sz="3200" spc="-10" dirty="0"/>
              <a:t>Environments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990" y="2610611"/>
            <a:ext cx="10886681" cy="35910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High-</a:t>
            </a:r>
            <a:r>
              <a:rPr dirty="0"/>
              <a:t>variability</a:t>
            </a:r>
            <a:r>
              <a:rPr spc="-20" dirty="0"/>
              <a:t> </a:t>
            </a:r>
            <a:r>
              <a:rPr spc="-10" dirty="0"/>
              <a:t>environments,</a:t>
            </a:r>
            <a:r>
              <a:rPr spc="-15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dirty="0"/>
              <a:t>definition,</a:t>
            </a:r>
            <a:r>
              <a:rPr spc="-5" dirty="0"/>
              <a:t> </a:t>
            </a:r>
            <a:r>
              <a:rPr dirty="0"/>
              <a:t>incur</a:t>
            </a:r>
            <a:r>
              <a:rPr spc="-30" dirty="0"/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more</a:t>
            </a:r>
            <a:r>
              <a:rPr i="1" spc="-3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uncertainty</a:t>
            </a:r>
            <a:r>
              <a:rPr i="1" spc="-2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and</a:t>
            </a:r>
            <a:r>
              <a:rPr i="1" spc="-3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spc="-10" dirty="0">
                <a:solidFill>
                  <a:srgbClr val="1515BC"/>
                </a:solidFill>
                <a:latin typeface="Corbel"/>
                <a:cs typeface="Corbel"/>
              </a:rPr>
              <a:t>risk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pc="-10" dirty="0"/>
          </a:p>
          <a:p>
            <a:pPr marL="245745" marR="5080">
              <a:lnSpc>
                <a:spcPct val="100000"/>
              </a:lnSpc>
            </a:pPr>
            <a:r>
              <a:rPr dirty="0"/>
              <a:t>Projects</a:t>
            </a:r>
            <a:r>
              <a:rPr spc="-50" dirty="0"/>
              <a:t> </a:t>
            </a:r>
            <a:r>
              <a:rPr dirty="0"/>
              <a:t>managed</a:t>
            </a:r>
            <a:r>
              <a:rPr spc="-25" dirty="0"/>
              <a:t> </a:t>
            </a:r>
            <a:r>
              <a:rPr dirty="0"/>
              <a:t>using</a:t>
            </a:r>
            <a:r>
              <a:rPr spc="-45" dirty="0"/>
              <a:t> </a:t>
            </a:r>
            <a:r>
              <a:rPr dirty="0"/>
              <a:t>adaptive</a:t>
            </a:r>
            <a:r>
              <a:rPr spc="-25" dirty="0"/>
              <a:t> </a:t>
            </a:r>
            <a:r>
              <a:rPr dirty="0"/>
              <a:t>approaches</a:t>
            </a:r>
            <a:r>
              <a:rPr spc="-25" dirty="0"/>
              <a:t> </a:t>
            </a:r>
            <a:r>
              <a:rPr dirty="0"/>
              <a:t>make</a:t>
            </a:r>
            <a:r>
              <a:rPr spc="-25" dirty="0"/>
              <a:t> </a:t>
            </a:r>
            <a:r>
              <a:rPr dirty="0"/>
              <a:t>use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frequent</a:t>
            </a:r>
            <a:r>
              <a:rPr i="1" spc="-2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reviews</a:t>
            </a:r>
            <a:r>
              <a:rPr i="1" spc="-5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spc="-25" dirty="0">
                <a:solidFill>
                  <a:srgbClr val="1515BC"/>
                </a:solidFill>
                <a:latin typeface="Corbel"/>
                <a:cs typeface="Corbel"/>
              </a:rPr>
              <a:t>of </a:t>
            </a:r>
            <a:r>
              <a:rPr i="1" spc="-10" dirty="0">
                <a:solidFill>
                  <a:srgbClr val="1515BC"/>
                </a:solidFill>
                <a:latin typeface="Corbel"/>
                <a:cs typeface="Corbel"/>
              </a:rPr>
              <a:t>incremental</a:t>
            </a:r>
            <a:r>
              <a:rPr i="1" spc="-5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work</a:t>
            </a:r>
            <a:r>
              <a:rPr i="1" spc="-3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products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cross-</a:t>
            </a:r>
            <a:r>
              <a:rPr dirty="0"/>
              <a:t>functional</a:t>
            </a:r>
            <a:r>
              <a:rPr spc="-45" dirty="0"/>
              <a:t> </a:t>
            </a:r>
            <a:r>
              <a:rPr dirty="0"/>
              <a:t>project</a:t>
            </a:r>
            <a:r>
              <a:rPr spc="-15" dirty="0"/>
              <a:t> </a:t>
            </a:r>
            <a:r>
              <a:rPr dirty="0"/>
              <a:t>teams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accelerate</a:t>
            </a:r>
            <a:r>
              <a:rPr spc="-30" dirty="0"/>
              <a:t> </a:t>
            </a:r>
            <a:r>
              <a:rPr spc="-10" dirty="0"/>
              <a:t>knowledge </a:t>
            </a:r>
            <a:r>
              <a:rPr dirty="0"/>
              <a:t>sharing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ensure</a:t>
            </a:r>
            <a:r>
              <a:rPr spc="-30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risk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understood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managed.</a:t>
            </a:r>
          </a:p>
          <a:p>
            <a:pPr marL="267970" marR="215900">
              <a:lnSpc>
                <a:spcPct val="100000"/>
              </a:lnSpc>
              <a:spcBef>
                <a:spcPts val="1480"/>
              </a:spcBef>
            </a:pPr>
            <a:r>
              <a:rPr dirty="0"/>
              <a:t>Risk</a:t>
            </a:r>
            <a:r>
              <a:rPr spc="-4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considered</a:t>
            </a:r>
            <a:r>
              <a:rPr spc="-25" dirty="0"/>
              <a:t> </a:t>
            </a:r>
            <a:r>
              <a:rPr dirty="0"/>
              <a:t>when</a:t>
            </a:r>
            <a:r>
              <a:rPr spc="-20" dirty="0"/>
              <a:t> </a:t>
            </a:r>
            <a:r>
              <a:rPr dirty="0"/>
              <a:t>selecting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content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each</a:t>
            </a:r>
            <a:r>
              <a:rPr spc="-25" dirty="0"/>
              <a:t> </a:t>
            </a:r>
            <a:r>
              <a:rPr dirty="0"/>
              <a:t>iteration, and</a:t>
            </a:r>
            <a:r>
              <a:rPr spc="-25" dirty="0"/>
              <a:t> </a:t>
            </a:r>
            <a:r>
              <a:rPr dirty="0"/>
              <a:t>risks</a:t>
            </a:r>
            <a:r>
              <a:rPr spc="-30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also</a:t>
            </a:r>
            <a:r>
              <a:rPr spc="-25" dirty="0"/>
              <a:t> be </a:t>
            </a:r>
            <a:r>
              <a:rPr i="1" spc="-10" dirty="0">
                <a:solidFill>
                  <a:srgbClr val="1515BC"/>
                </a:solidFill>
                <a:latin typeface="Corbel"/>
                <a:cs typeface="Corbel"/>
              </a:rPr>
              <a:t>identified,</a:t>
            </a:r>
            <a:r>
              <a:rPr i="1" spc="-4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analyzed,</a:t>
            </a:r>
            <a:r>
              <a:rPr i="1" spc="-4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and</a:t>
            </a:r>
            <a:r>
              <a:rPr i="1" spc="-3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managed</a:t>
            </a:r>
            <a:r>
              <a:rPr i="1" spc="-4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during</a:t>
            </a:r>
            <a:r>
              <a:rPr i="1" spc="-3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each</a:t>
            </a:r>
            <a:r>
              <a:rPr i="1" spc="-3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spc="-10" dirty="0">
                <a:solidFill>
                  <a:srgbClr val="1515BC"/>
                </a:solidFill>
                <a:latin typeface="Corbel"/>
                <a:cs typeface="Corbel"/>
              </a:rPr>
              <a:t>iteration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pc="-10" dirty="0"/>
          </a:p>
          <a:p>
            <a:pPr marL="12700" marR="341630">
              <a:lnSpc>
                <a:spcPct val="100000"/>
              </a:lnSpc>
              <a:spcBef>
                <a:spcPts val="5"/>
              </a:spcBef>
            </a:pPr>
            <a:r>
              <a:rPr dirty="0"/>
              <a:t>Additionally,</a:t>
            </a:r>
            <a:r>
              <a:rPr spc="-35" dirty="0"/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the</a:t>
            </a:r>
            <a:r>
              <a:rPr i="1" spc="-2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spc="-10" dirty="0">
                <a:solidFill>
                  <a:srgbClr val="1515BC"/>
                </a:solidFill>
                <a:latin typeface="Corbel"/>
                <a:cs typeface="Corbel"/>
              </a:rPr>
              <a:t>requirements</a:t>
            </a:r>
            <a:r>
              <a:rPr i="1" spc="-3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are</a:t>
            </a:r>
            <a:r>
              <a:rPr i="1" spc="-2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kept</a:t>
            </a:r>
            <a:r>
              <a:rPr i="1" spc="-2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as</a:t>
            </a:r>
            <a:r>
              <a:rPr i="1" spc="-3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a</a:t>
            </a:r>
            <a:r>
              <a:rPr i="1" spc="-25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living</a:t>
            </a:r>
            <a:r>
              <a:rPr i="1" spc="-4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i="1" dirty="0">
                <a:solidFill>
                  <a:srgbClr val="1515BC"/>
                </a:solidFill>
                <a:latin typeface="Corbel"/>
                <a:cs typeface="Corbel"/>
              </a:rPr>
              <a:t>document</a:t>
            </a:r>
            <a:r>
              <a:rPr i="1" spc="20" dirty="0">
                <a:solidFill>
                  <a:srgbClr val="1515BC"/>
                </a:solidFill>
                <a:latin typeface="Corbel"/>
                <a:cs typeface="Corbel"/>
              </a:rPr>
              <a:t> </a:t>
            </a:r>
            <a:r>
              <a:rPr dirty="0"/>
              <a:t>that is</a:t>
            </a:r>
            <a:r>
              <a:rPr spc="-25" dirty="0"/>
              <a:t> </a:t>
            </a:r>
            <a:r>
              <a:rPr dirty="0"/>
              <a:t>updated</a:t>
            </a:r>
            <a:r>
              <a:rPr spc="-25" dirty="0"/>
              <a:t> </a:t>
            </a:r>
            <a:r>
              <a:rPr spc="-10" dirty="0"/>
              <a:t>regularly,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work</a:t>
            </a:r>
            <a:r>
              <a:rPr spc="-20" dirty="0"/>
              <a:t> </a:t>
            </a:r>
            <a:r>
              <a:rPr dirty="0"/>
              <a:t>may</a:t>
            </a:r>
            <a:r>
              <a:rPr spc="-2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reprioritized</a:t>
            </a:r>
            <a:r>
              <a:rPr spc="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progresses,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10" dirty="0"/>
              <a:t>improved </a:t>
            </a:r>
            <a:r>
              <a:rPr dirty="0"/>
              <a:t>understanding</a:t>
            </a:r>
            <a:r>
              <a:rPr spc="-5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current</a:t>
            </a:r>
            <a:r>
              <a:rPr spc="-30" dirty="0"/>
              <a:t> </a:t>
            </a:r>
            <a:r>
              <a:rPr dirty="0"/>
              <a:t>risk</a:t>
            </a:r>
            <a:r>
              <a:rPr spc="-25" dirty="0"/>
              <a:t> </a:t>
            </a:r>
            <a:r>
              <a:rPr spc="-10" dirty="0"/>
              <a:t>exposure.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13392"/>
              <a:ext cx="12191999" cy="1065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463" y="585216"/>
              <a:ext cx="9381744" cy="86410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561826" y="690961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210" y="3875532"/>
            <a:ext cx="1694814" cy="725805"/>
            <a:chOff x="591210" y="3875532"/>
            <a:chExt cx="1694814" cy="7258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363" y="3875532"/>
              <a:ext cx="1659534" cy="4206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210" y="4180332"/>
              <a:ext cx="1694688" cy="420624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90550" y="1947862"/>
          <a:ext cx="11220449" cy="34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 rowSpan="2">
                  <a:txBody>
                    <a:bodyPr/>
                    <a:lstStyle/>
                    <a:p>
                      <a:pPr marL="564515" marR="161290" indent="-398145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sz="2200" b="1" spc="-2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Knowledge Area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2419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FD2D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Project</a:t>
                      </a:r>
                      <a:r>
                        <a:rPr sz="2200" b="1" spc="-114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2200" b="1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Management</a:t>
                      </a:r>
                      <a:r>
                        <a:rPr sz="2200" b="1" spc="-65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Process</a:t>
                      </a:r>
                      <a:r>
                        <a:rPr sz="2200" b="1" spc="-10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Groups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93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FD2DF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Initiating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196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026794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Planning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196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Executing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1962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569595" marR="213995" indent="-349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Monitoring</a:t>
                      </a:r>
                      <a:r>
                        <a:rPr sz="2200" b="1" spc="-25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&amp; </a:t>
                      </a: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Control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b="1" spc="-10" dirty="0">
                          <a:solidFill>
                            <a:srgbClr val="001F5F"/>
                          </a:solidFill>
                          <a:latin typeface="Corbel"/>
                          <a:cs typeface="Corbel"/>
                        </a:rPr>
                        <a:t>Closing</a:t>
                      </a:r>
                      <a:endParaRPr sz="2200">
                        <a:latin typeface="Corbel"/>
                        <a:cs typeface="Corbel"/>
                      </a:endParaRPr>
                    </a:p>
                  </a:txBody>
                  <a:tcPr marL="0" marR="0" marT="1962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13030" marR="105410" indent="819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rgbClr val="1515BC"/>
                          </a:solidFill>
                          <a:latin typeface="Corbel"/>
                          <a:cs typeface="Corbel"/>
                        </a:rPr>
                        <a:t>Project</a:t>
                      </a:r>
                      <a:r>
                        <a:rPr sz="2000" b="1" spc="-70" dirty="0">
                          <a:solidFill>
                            <a:srgbClr val="1515BC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1515BC"/>
                          </a:solidFill>
                          <a:latin typeface="Corbel"/>
                          <a:cs typeface="Corbel"/>
                        </a:rPr>
                        <a:t>Risk </a:t>
                      </a:r>
                      <a:r>
                        <a:rPr sz="2000" b="1" spc="-10" dirty="0">
                          <a:solidFill>
                            <a:srgbClr val="1515BC"/>
                          </a:solidFill>
                          <a:latin typeface="Corbel"/>
                          <a:cs typeface="Corbel"/>
                        </a:rPr>
                        <a:t>Management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010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b="1" dirty="0">
                          <a:latin typeface="Corbel"/>
                          <a:cs typeface="Corbel"/>
                        </a:rPr>
                        <a:t>Plan</a:t>
                      </a:r>
                      <a:r>
                        <a:rPr sz="2000" b="1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Risk</a:t>
                      </a:r>
                      <a:r>
                        <a:rPr sz="2000" b="1" spc="-10" dirty="0">
                          <a:latin typeface="Corbel"/>
                          <a:cs typeface="Corbel"/>
                        </a:rPr>
                        <a:t> Management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Identify</a:t>
                      </a:r>
                      <a:r>
                        <a:rPr sz="2000" b="1" spc="-6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20" dirty="0">
                          <a:latin typeface="Corbel"/>
                          <a:cs typeface="Corbel"/>
                        </a:rPr>
                        <a:t>Risk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92075" marR="344805">
                        <a:lnSpc>
                          <a:spcPct val="100000"/>
                        </a:lnSpc>
                      </a:pPr>
                      <a:r>
                        <a:rPr sz="2000" b="1" spc="-25" dirty="0">
                          <a:latin typeface="Corbel"/>
                          <a:cs typeface="Corbel"/>
                        </a:rPr>
                        <a:t>Perform</a:t>
                      </a:r>
                      <a:r>
                        <a:rPr sz="2000" b="1" spc="-8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Qualitative</a:t>
                      </a:r>
                      <a:r>
                        <a:rPr sz="2000" b="1" spc="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20" dirty="0">
                          <a:latin typeface="Corbel"/>
                          <a:cs typeface="Corbel"/>
                        </a:rPr>
                        <a:t>Risk </a:t>
                      </a:r>
                      <a:r>
                        <a:rPr sz="2000" b="1" spc="-10" dirty="0">
                          <a:latin typeface="Corbel"/>
                          <a:cs typeface="Corbel"/>
                        </a:rPr>
                        <a:t>Analysis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25" dirty="0">
                          <a:latin typeface="Corbel"/>
                          <a:cs typeface="Corbel"/>
                        </a:rPr>
                        <a:t>Perform</a:t>
                      </a:r>
                      <a:r>
                        <a:rPr sz="2000" b="1" spc="-9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Quantitative</a:t>
                      </a:r>
                      <a:r>
                        <a:rPr sz="2000" b="1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20" dirty="0">
                          <a:latin typeface="Corbel"/>
                          <a:cs typeface="Corbel"/>
                        </a:rPr>
                        <a:t>Risk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orbel"/>
                          <a:cs typeface="Corbel"/>
                        </a:rPr>
                        <a:t>Analysis</a:t>
                      </a:r>
                      <a:endParaRPr sz="20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rbel"/>
                          <a:cs typeface="Corbel"/>
                        </a:rPr>
                        <a:t>Plan</a:t>
                      </a:r>
                      <a:r>
                        <a:rPr sz="2000" b="1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Risk</a:t>
                      </a:r>
                      <a:r>
                        <a:rPr sz="2000" b="1" spc="-10" dirty="0">
                          <a:latin typeface="Corbel"/>
                          <a:cs typeface="Corbel"/>
                        </a:rPr>
                        <a:t> Response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F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6520" marR="488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latin typeface="Corbel"/>
                          <a:cs typeface="Corbel"/>
                        </a:rPr>
                        <a:t>Monitor</a:t>
                      </a:r>
                      <a:r>
                        <a:rPr sz="2000" b="1" spc="-7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25" dirty="0">
                          <a:latin typeface="Corbel"/>
                          <a:cs typeface="Corbel"/>
                        </a:rPr>
                        <a:t>and </a:t>
                      </a:r>
                      <a:r>
                        <a:rPr sz="2000" b="1" dirty="0">
                          <a:latin typeface="Corbel"/>
                          <a:cs typeface="Corbel"/>
                        </a:rPr>
                        <a:t>Control</a:t>
                      </a:r>
                      <a:r>
                        <a:rPr sz="2000" b="1" spc="-7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2000" b="1" spc="-10" dirty="0">
                          <a:latin typeface="Corbel"/>
                          <a:cs typeface="Corbel"/>
                        </a:rPr>
                        <a:t>Risks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F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31342" y="5577078"/>
            <a:ext cx="108635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484" marR="5080" indent="-439420">
              <a:lnSpc>
                <a:spcPct val="100000"/>
              </a:lnSpc>
              <a:spcBef>
                <a:spcPts val="100"/>
              </a:spcBef>
              <a:buClr>
                <a:srgbClr val="D9243D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Be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careful!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identified 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starting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initiating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continually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kept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up-</a:t>
            </a:r>
            <a:r>
              <a:rPr sz="2400" i="1" spc="-20" dirty="0">
                <a:solidFill>
                  <a:srgbClr val="001F5F"/>
                </a:solidFill>
                <a:latin typeface="Corbel"/>
                <a:cs typeface="Corbel"/>
              </a:rPr>
              <a:t>to-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date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added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while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underway.</a:t>
            </a:r>
            <a:r>
              <a:rPr sz="2400" spc="-1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manager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and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team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look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what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has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happened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project,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current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status</a:t>
            </a:r>
            <a:r>
              <a:rPr sz="2400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spc="-10" dirty="0">
                <a:latin typeface="Corbel"/>
                <a:cs typeface="Corbel"/>
              </a:rPr>
              <a:t>,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what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is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yet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come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reassess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potential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threats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opportunities.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037171"/>
            <a:ext cx="12192000" cy="278130"/>
          </a:xfrm>
          <a:custGeom>
            <a:avLst/>
            <a:gdLst/>
            <a:ahLst/>
            <a:cxnLst/>
            <a:rect l="l" t="t" r="r" b="b"/>
            <a:pathLst>
              <a:path w="12192000" h="278129">
                <a:moveTo>
                  <a:pt x="12192000" y="0"/>
                </a:moveTo>
                <a:lnTo>
                  <a:pt x="0" y="0"/>
                </a:lnTo>
                <a:lnTo>
                  <a:pt x="0" y="278028"/>
                </a:lnTo>
                <a:lnTo>
                  <a:pt x="12192000" y="2780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849" y="3684778"/>
            <a:ext cx="9923691" cy="11410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90561" y="2917647"/>
            <a:ext cx="31826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organization</a:t>
            </a:r>
            <a:r>
              <a:rPr sz="20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its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day-to-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day</a:t>
            </a:r>
            <a:r>
              <a:rPr sz="2000" b="1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activities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5700" y="4036314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3A0CE6"/>
                </a:solidFill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9346" y="5008879"/>
            <a:ext cx="26333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marR="5080" indent="-41338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3A0CE6"/>
                </a:solidFill>
                <a:latin typeface="Arial"/>
                <a:cs typeface="Arial"/>
              </a:rPr>
              <a:t>Complete,</a:t>
            </a:r>
            <a:r>
              <a:rPr sz="2000" b="1" spc="-55" dirty="0">
                <a:solidFill>
                  <a:srgbClr val="3A0CE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systematic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structured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1197" y="4036314"/>
            <a:ext cx="28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3A0CE6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8622" y="2864307"/>
            <a:ext cx="27660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3A0CE6"/>
                </a:solidFill>
                <a:latin typeface="Arial"/>
                <a:cs typeface="Arial"/>
              </a:rPr>
              <a:t>Aligned</a:t>
            </a:r>
            <a:r>
              <a:rPr sz="2000" b="1" spc="-40" dirty="0">
                <a:solidFill>
                  <a:srgbClr val="3A0CE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your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organization’s</a:t>
            </a:r>
            <a:r>
              <a:rPr sz="2000" b="1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mission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440" y="1688338"/>
            <a:ext cx="10578465" cy="1255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1484" marR="5080" indent="-439420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A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successful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approach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initiative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framework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within </a:t>
            </a:r>
            <a:r>
              <a:rPr sz="2600" dirty="0">
                <a:latin typeface="Corbel"/>
                <a:cs typeface="Corbel"/>
              </a:rPr>
              <a:t>an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organization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known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5" dirty="0">
                <a:latin typeface="Corbel"/>
                <a:cs typeface="Corbel"/>
              </a:rPr>
              <a:t> </a:t>
            </a:r>
            <a:r>
              <a:rPr sz="2600" b="1" i="1" spc="-10" dirty="0">
                <a:solidFill>
                  <a:srgbClr val="001F5F"/>
                </a:solidFill>
                <a:latin typeface="Corbel"/>
                <a:cs typeface="Corbel"/>
              </a:rPr>
              <a:t>PACED</a:t>
            </a:r>
            <a:r>
              <a:rPr sz="2600" spc="-10" dirty="0">
                <a:latin typeface="Corbel"/>
                <a:cs typeface="Corbel"/>
              </a:rPr>
              <a:t>:</a:t>
            </a:r>
            <a:endParaRPr sz="2600">
              <a:latin typeface="Corbel"/>
              <a:cs typeface="Corbel"/>
            </a:endParaRPr>
          </a:p>
          <a:p>
            <a:pPr marL="6553834">
              <a:lnSpc>
                <a:spcPct val="100000"/>
              </a:lnSpc>
              <a:spcBef>
                <a:spcPts val="1035"/>
              </a:spcBef>
            </a:pPr>
            <a:r>
              <a:rPr sz="2000" b="1" dirty="0">
                <a:solidFill>
                  <a:srgbClr val="3A0CE6"/>
                </a:solidFill>
                <a:latin typeface="Arial"/>
                <a:cs typeface="Arial"/>
              </a:rPr>
              <a:t>Embedded</a:t>
            </a:r>
            <a:r>
              <a:rPr sz="2000" b="1" spc="-20" dirty="0">
                <a:solidFill>
                  <a:srgbClr val="3A0CE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into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culture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7236" y="4036314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3A0CE6"/>
                </a:solidFill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0616" y="4036314"/>
            <a:ext cx="3606800" cy="160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86280" algn="l"/>
              </a:tabLst>
            </a:pPr>
            <a:r>
              <a:rPr sz="2800" b="1" spc="-50" dirty="0">
                <a:solidFill>
                  <a:srgbClr val="3A0CE6"/>
                </a:solidFill>
                <a:latin typeface="Arial"/>
                <a:cs typeface="Arial"/>
              </a:rPr>
              <a:t>E</a:t>
            </a:r>
            <a:r>
              <a:rPr sz="2800" b="1" dirty="0">
                <a:solidFill>
                  <a:srgbClr val="3A0CE6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3A0CE6"/>
                </a:solidFill>
                <a:latin typeface="Arial"/>
                <a:cs typeface="Arial"/>
              </a:rPr>
              <a:t>D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800">
              <a:latin typeface="Arial"/>
              <a:cs typeface="Arial"/>
            </a:endParaRPr>
          </a:p>
          <a:p>
            <a:pPr marL="941069" marR="5080" indent="-40005">
              <a:lnSpc>
                <a:spcPct val="100000"/>
              </a:lnSpc>
            </a:pPr>
            <a:r>
              <a:rPr sz="2000" b="1" dirty="0">
                <a:solidFill>
                  <a:srgbClr val="3A0CE6"/>
                </a:solidFill>
                <a:latin typeface="Arial"/>
                <a:cs typeface="Arial"/>
              </a:rPr>
              <a:t>Dynamic,</a:t>
            </a:r>
            <a:r>
              <a:rPr sz="2000" b="1" spc="-55" dirty="0">
                <a:solidFill>
                  <a:srgbClr val="3A0CE6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iterative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responsive</a:t>
            </a:r>
            <a:r>
              <a:rPr sz="20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20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change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0630" y="5008879"/>
            <a:ext cx="3082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3A0CE6"/>
                </a:solidFill>
                <a:latin typeface="Arial"/>
                <a:cs typeface="Arial"/>
              </a:rPr>
              <a:t>Proportionate</a:t>
            </a:r>
            <a:r>
              <a:rPr sz="2000" b="1" spc="-55" dirty="0">
                <a:solidFill>
                  <a:srgbClr val="3A0CE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level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risk/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size</a:t>
            </a:r>
            <a:r>
              <a:rPr sz="2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your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organization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92000" cy="1537970"/>
          </a:xfrm>
          <a:custGeom>
            <a:avLst/>
            <a:gdLst/>
            <a:ahLst/>
            <a:cxnLst/>
            <a:rect l="l" t="t" r="r" b="b"/>
            <a:pathLst>
              <a:path w="12192000" h="1537970">
                <a:moveTo>
                  <a:pt x="12192000" y="0"/>
                </a:moveTo>
                <a:lnTo>
                  <a:pt x="0" y="0"/>
                </a:lnTo>
                <a:lnTo>
                  <a:pt x="0" y="1537462"/>
                </a:lnTo>
                <a:lnTo>
                  <a:pt x="12192000" y="15374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721258" y="587120"/>
            <a:ext cx="10768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70" dirty="0"/>
              <a:t> </a:t>
            </a:r>
            <a:r>
              <a:rPr dirty="0"/>
              <a:t>Risk</a:t>
            </a:r>
            <a:r>
              <a:rPr spc="-30" dirty="0"/>
              <a:t> </a:t>
            </a:r>
            <a:r>
              <a:rPr dirty="0"/>
              <a:t>Management</a:t>
            </a:r>
            <a:r>
              <a:rPr spc="-65" dirty="0"/>
              <a:t> </a:t>
            </a:r>
            <a:r>
              <a:rPr dirty="0"/>
              <a:t>Processes</a:t>
            </a:r>
            <a:r>
              <a:rPr spc="-60" dirty="0"/>
              <a:t> </a:t>
            </a:r>
            <a:r>
              <a:rPr spc="-10" dirty="0"/>
              <a:t>(Cont’d)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3" y="585216"/>
              <a:ext cx="11388852" cy="86410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561826" y="690961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26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8723" y="3057905"/>
            <a:ext cx="2546985" cy="1936750"/>
            <a:chOff x="458723" y="3057905"/>
            <a:chExt cx="2546985" cy="1936750"/>
          </a:xfrm>
        </p:grpSpPr>
        <p:sp>
          <p:nvSpPr>
            <p:cNvPr id="8" name="object 8"/>
            <p:cNvSpPr/>
            <p:nvPr/>
          </p:nvSpPr>
          <p:spPr>
            <a:xfrm>
              <a:off x="942212" y="3057905"/>
              <a:ext cx="2063750" cy="1716405"/>
            </a:xfrm>
            <a:custGeom>
              <a:avLst/>
              <a:gdLst/>
              <a:ahLst/>
              <a:cxnLst/>
              <a:rect l="l" t="t" r="r" b="b"/>
              <a:pathLst>
                <a:path w="2063750" h="1716404">
                  <a:moveTo>
                    <a:pt x="1089279" y="0"/>
                  </a:moveTo>
                  <a:lnTo>
                    <a:pt x="1027683" y="14779"/>
                  </a:lnTo>
                  <a:lnTo>
                    <a:pt x="976376" y="58039"/>
                  </a:lnTo>
                  <a:lnTo>
                    <a:pt x="936574" y="124370"/>
                  </a:lnTo>
                  <a:lnTo>
                    <a:pt x="928004" y="170749"/>
                  </a:lnTo>
                  <a:lnTo>
                    <a:pt x="932997" y="217275"/>
                  </a:lnTo>
                  <a:lnTo>
                    <a:pt x="951158" y="260424"/>
                  </a:lnTo>
                  <a:lnTo>
                    <a:pt x="982091" y="296672"/>
                  </a:lnTo>
                  <a:lnTo>
                    <a:pt x="1066164" y="367411"/>
                  </a:lnTo>
                  <a:lnTo>
                    <a:pt x="141312" y="367411"/>
                  </a:lnTo>
                  <a:lnTo>
                    <a:pt x="96663" y="375089"/>
                  </a:lnTo>
                  <a:lnTo>
                    <a:pt x="57873" y="396472"/>
                  </a:lnTo>
                  <a:lnTo>
                    <a:pt x="27277" y="429078"/>
                  </a:lnTo>
                  <a:lnTo>
                    <a:pt x="7208" y="470425"/>
                  </a:lnTo>
                  <a:lnTo>
                    <a:pt x="0" y="518033"/>
                  </a:lnTo>
                  <a:lnTo>
                    <a:pt x="0" y="1200912"/>
                  </a:lnTo>
                  <a:lnTo>
                    <a:pt x="7208" y="1248519"/>
                  </a:lnTo>
                  <a:lnTo>
                    <a:pt x="27277" y="1289866"/>
                  </a:lnTo>
                  <a:lnTo>
                    <a:pt x="57873" y="1322472"/>
                  </a:lnTo>
                  <a:lnTo>
                    <a:pt x="96663" y="1343855"/>
                  </a:lnTo>
                  <a:lnTo>
                    <a:pt x="141312" y="1351534"/>
                  </a:lnTo>
                  <a:lnTo>
                    <a:pt x="1062228" y="1351534"/>
                  </a:lnTo>
                  <a:lnTo>
                    <a:pt x="981201" y="1419987"/>
                  </a:lnTo>
                  <a:lnTo>
                    <a:pt x="950230" y="1455990"/>
                  </a:lnTo>
                  <a:lnTo>
                    <a:pt x="931974" y="1499017"/>
                  </a:lnTo>
                  <a:lnTo>
                    <a:pt x="926868" y="1545543"/>
                  </a:lnTo>
                  <a:lnTo>
                    <a:pt x="935343" y="1592044"/>
                  </a:lnTo>
                  <a:lnTo>
                    <a:pt x="957834" y="1634998"/>
                  </a:lnTo>
                  <a:lnTo>
                    <a:pt x="998614" y="1683327"/>
                  </a:lnTo>
                  <a:lnTo>
                    <a:pt x="1056062" y="1712565"/>
                  </a:lnTo>
                  <a:lnTo>
                    <a:pt x="1087501" y="1716278"/>
                  </a:lnTo>
                  <a:lnTo>
                    <a:pt x="1110968" y="1714222"/>
                  </a:lnTo>
                  <a:lnTo>
                    <a:pt x="1133983" y="1708023"/>
                  </a:lnTo>
                  <a:lnTo>
                    <a:pt x="1156045" y="1697632"/>
                  </a:lnTo>
                  <a:lnTo>
                    <a:pt x="1176655" y="1683004"/>
                  </a:lnTo>
                  <a:lnTo>
                    <a:pt x="1968881" y="1013714"/>
                  </a:lnTo>
                  <a:lnTo>
                    <a:pt x="1980348" y="1006471"/>
                  </a:lnTo>
                  <a:lnTo>
                    <a:pt x="2034240" y="952238"/>
                  </a:lnTo>
                  <a:lnTo>
                    <a:pt x="2060501" y="890563"/>
                  </a:lnTo>
                  <a:lnTo>
                    <a:pt x="2063369" y="856869"/>
                  </a:lnTo>
                  <a:lnTo>
                    <a:pt x="2060555" y="823469"/>
                  </a:lnTo>
                  <a:lnTo>
                    <a:pt x="2050859" y="791416"/>
                  </a:lnTo>
                  <a:lnTo>
                    <a:pt x="2034401" y="762053"/>
                  </a:lnTo>
                  <a:lnTo>
                    <a:pt x="2011299" y="736727"/>
                  </a:lnTo>
                  <a:lnTo>
                    <a:pt x="2001831" y="725894"/>
                  </a:lnTo>
                  <a:lnTo>
                    <a:pt x="1991566" y="716264"/>
                  </a:lnTo>
                  <a:lnTo>
                    <a:pt x="1980563" y="707848"/>
                  </a:lnTo>
                  <a:lnTo>
                    <a:pt x="1968881" y="700659"/>
                  </a:lnTo>
                  <a:lnTo>
                    <a:pt x="1177925" y="33147"/>
                  </a:lnTo>
                  <a:lnTo>
                    <a:pt x="1157412" y="18538"/>
                  </a:lnTo>
                  <a:lnTo>
                    <a:pt x="1135459" y="8191"/>
                  </a:lnTo>
                  <a:lnTo>
                    <a:pt x="1112577" y="2035"/>
                  </a:lnTo>
                  <a:lnTo>
                    <a:pt x="1089279" y="0"/>
                  </a:lnTo>
                  <a:close/>
                </a:path>
              </a:pathLst>
            </a:custGeom>
            <a:solidFill>
              <a:srgbClr val="5EB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48154" y="3674872"/>
              <a:ext cx="452755" cy="482600"/>
            </a:xfrm>
            <a:custGeom>
              <a:avLst/>
              <a:gdLst/>
              <a:ahLst/>
              <a:cxnLst/>
              <a:rect l="l" t="t" r="r" b="b"/>
              <a:pathLst>
                <a:path w="452755" h="482600">
                  <a:moveTo>
                    <a:pt x="330581" y="422020"/>
                  </a:moveTo>
                  <a:lnTo>
                    <a:pt x="120224" y="422020"/>
                  </a:lnTo>
                  <a:lnTo>
                    <a:pt x="134426" y="430633"/>
                  </a:lnTo>
                  <a:lnTo>
                    <a:pt x="149233" y="437959"/>
                  </a:lnTo>
                  <a:lnTo>
                    <a:pt x="164598" y="443952"/>
                  </a:lnTo>
                  <a:lnTo>
                    <a:pt x="180467" y="448563"/>
                  </a:lnTo>
                  <a:lnTo>
                    <a:pt x="185927" y="471677"/>
                  </a:lnTo>
                  <a:lnTo>
                    <a:pt x="187473" y="478027"/>
                  </a:lnTo>
                  <a:lnTo>
                    <a:pt x="192658" y="482472"/>
                  </a:lnTo>
                  <a:lnTo>
                    <a:pt x="257809" y="482472"/>
                  </a:lnTo>
                  <a:lnTo>
                    <a:pt x="263144" y="478027"/>
                  </a:lnTo>
                  <a:lnTo>
                    <a:pt x="264668" y="471677"/>
                  </a:lnTo>
                  <a:lnTo>
                    <a:pt x="270128" y="448563"/>
                  </a:lnTo>
                  <a:lnTo>
                    <a:pt x="285950" y="443952"/>
                  </a:lnTo>
                  <a:lnTo>
                    <a:pt x="301355" y="437959"/>
                  </a:lnTo>
                  <a:lnTo>
                    <a:pt x="316259" y="430633"/>
                  </a:lnTo>
                  <a:lnTo>
                    <a:pt x="330581" y="422020"/>
                  </a:lnTo>
                  <a:close/>
                </a:path>
                <a:path w="452755" h="482600">
                  <a:moveTo>
                    <a:pt x="96795" y="48132"/>
                  </a:moveTo>
                  <a:lnTo>
                    <a:pt x="90392" y="48132"/>
                  </a:lnTo>
                  <a:lnTo>
                    <a:pt x="87249" y="49529"/>
                  </a:lnTo>
                  <a:lnTo>
                    <a:pt x="84590" y="52324"/>
                  </a:lnTo>
                  <a:lnTo>
                    <a:pt x="42925" y="96774"/>
                  </a:lnTo>
                  <a:lnTo>
                    <a:pt x="42163" y="103886"/>
                  </a:lnTo>
                  <a:lnTo>
                    <a:pt x="45409" y="109474"/>
                  </a:lnTo>
                  <a:lnTo>
                    <a:pt x="56768" y="129793"/>
                  </a:lnTo>
                  <a:lnTo>
                    <a:pt x="48596" y="145089"/>
                  </a:lnTo>
                  <a:lnTo>
                    <a:pt x="41702" y="161004"/>
                  </a:lnTo>
                  <a:lnTo>
                    <a:pt x="36087" y="177442"/>
                  </a:lnTo>
                  <a:lnTo>
                    <a:pt x="31750" y="194310"/>
                  </a:lnTo>
                  <a:lnTo>
                    <a:pt x="10159" y="200151"/>
                  </a:lnTo>
                  <a:lnTo>
                    <a:pt x="3693" y="201802"/>
                  </a:lnTo>
                  <a:lnTo>
                    <a:pt x="4097" y="201802"/>
                  </a:lnTo>
                  <a:lnTo>
                    <a:pt x="0" y="207390"/>
                  </a:lnTo>
                  <a:lnTo>
                    <a:pt x="0" y="276860"/>
                  </a:lnTo>
                  <a:lnTo>
                    <a:pt x="4286" y="282575"/>
                  </a:lnTo>
                  <a:lnTo>
                    <a:pt x="4640" y="282575"/>
                  </a:lnTo>
                  <a:lnTo>
                    <a:pt x="10032" y="284099"/>
                  </a:lnTo>
                  <a:lnTo>
                    <a:pt x="32232" y="289940"/>
                  </a:lnTo>
                  <a:lnTo>
                    <a:pt x="31782" y="289940"/>
                  </a:lnTo>
                  <a:lnTo>
                    <a:pt x="36094" y="306879"/>
                  </a:lnTo>
                  <a:lnTo>
                    <a:pt x="41736" y="323341"/>
                  </a:lnTo>
                  <a:lnTo>
                    <a:pt x="48648" y="339232"/>
                  </a:lnTo>
                  <a:lnTo>
                    <a:pt x="56768" y="354456"/>
                  </a:lnTo>
                  <a:lnTo>
                    <a:pt x="45142" y="374903"/>
                  </a:lnTo>
                  <a:lnTo>
                    <a:pt x="42163" y="380364"/>
                  </a:lnTo>
                  <a:lnTo>
                    <a:pt x="42925" y="387476"/>
                  </a:lnTo>
                  <a:lnTo>
                    <a:pt x="47243" y="392048"/>
                  </a:lnTo>
                  <a:lnTo>
                    <a:pt x="84708" y="432053"/>
                  </a:lnTo>
                  <a:lnTo>
                    <a:pt x="87249" y="434720"/>
                  </a:lnTo>
                  <a:lnTo>
                    <a:pt x="90677" y="436117"/>
                  </a:lnTo>
                  <a:lnTo>
                    <a:pt x="96393" y="436117"/>
                  </a:lnTo>
                  <a:lnTo>
                    <a:pt x="98806" y="435482"/>
                  </a:lnTo>
                  <a:lnTo>
                    <a:pt x="100964" y="434213"/>
                  </a:lnTo>
                  <a:lnTo>
                    <a:pt x="119818" y="422020"/>
                  </a:lnTo>
                  <a:lnTo>
                    <a:pt x="375312" y="422020"/>
                  </a:lnTo>
                  <a:lnTo>
                    <a:pt x="403351" y="392175"/>
                  </a:lnTo>
                  <a:lnTo>
                    <a:pt x="407669" y="387476"/>
                  </a:lnTo>
                  <a:lnTo>
                    <a:pt x="408431" y="380364"/>
                  </a:lnTo>
                  <a:lnTo>
                    <a:pt x="405256" y="374903"/>
                  </a:lnTo>
                  <a:lnTo>
                    <a:pt x="402133" y="369315"/>
                  </a:lnTo>
                  <a:lnTo>
                    <a:pt x="225297" y="369315"/>
                  </a:lnTo>
                  <a:lnTo>
                    <a:pt x="178911" y="359310"/>
                  </a:lnTo>
                  <a:lnTo>
                    <a:pt x="141001" y="332041"/>
                  </a:lnTo>
                  <a:lnTo>
                    <a:pt x="115427" y="291627"/>
                  </a:lnTo>
                  <a:lnTo>
                    <a:pt x="106044" y="242188"/>
                  </a:lnTo>
                  <a:lnTo>
                    <a:pt x="115427" y="192676"/>
                  </a:lnTo>
                  <a:lnTo>
                    <a:pt x="141001" y="152225"/>
                  </a:lnTo>
                  <a:lnTo>
                    <a:pt x="178911" y="124942"/>
                  </a:lnTo>
                  <a:lnTo>
                    <a:pt x="225297" y="114935"/>
                  </a:lnTo>
                  <a:lnTo>
                    <a:pt x="402278" y="114935"/>
                  </a:lnTo>
                  <a:lnTo>
                    <a:pt x="405383" y="109474"/>
                  </a:lnTo>
                  <a:lnTo>
                    <a:pt x="408431" y="103886"/>
                  </a:lnTo>
                  <a:lnTo>
                    <a:pt x="407669" y="96774"/>
                  </a:lnTo>
                  <a:lnTo>
                    <a:pt x="375312" y="62356"/>
                  </a:lnTo>
                  <a:lnTo>
                    <a:pt x="120213" y="62356"/>
                  </a:lnTo>
                  <a:lnTo>
                    <a:pt x="100964" y="50037"/>
                  </a:lnTo>
                  <a:lnTo>
                    <a:pt x="98806" y="48767"/>
                  </a:lnTo>
                  <a:lnTo>
                    <a:pt x="96795" y="48132"/>
                  </a:lnTo>
                  <a:close/>
                </a:path>
                <a:path w="452755" h="482600">
                  <a:moveTo>
                    <a:pt x="375312" y="422020"/>
                  </a:moveTo>
                  <a:lnTo>
                    <a:pt x="330581" y="422020"/>
                  </a:lnTo>
                  <a:lnTo>
                    <a:pt x="349631" y="434213"/>
                  </a:lnTo>
                  <a:lnTo>
                    <a:pt x="351789" y="435482"/>
                  </a:lnTo>
                  <a:lnTo>
                    <a:pt x="354202" y="436117"/>
                  </a:lnTo>
                  <a:lnTo>
                    <a:pt x="359918" y="436117"/>
                  </a:lnTo>
                  <a:lnTo>
                    <a:pt x="363346" y="434720"/>
                  </a:lnTo>
                  <a:lnTo>
                    <a:pt x="365887" y="432053"/>
                  </a:lnTo>
                  <a:lnTo>
                    <a:pt x="375312" y="422020"/>
                  </a:lnTo>
                  <a:close/>
                </a:path>
                <a:path w="452755" h="482600">
                  <a:moveTo>
                    <a:pt x="402278" y="114935"/>
                  </a:moveTo>
                  <a:lnTo>
                    <a:pt x="225297" y="114935"/>
                  </a:lnTo>
                  <a:lnTo>
                    <a:pt x="271684" y="124942"/>
                  </a:lnTo>
                  <a:lnTo>
                    <a:pt x="309594" y="152225"/>
                  </a:lnTo>
                  <a:lnTo>
                    <a:pt x="335168" y="192676"/>
                  </a:lnTo>
                  <a:lnTo>
                    <a:pt x="344550" y="242188"/>
                  </a:lnTo>
                  <a:lnTo>
                    <a:pt x="335168" y="291627"/>
                  </a:lnTo>
                  <a:lnTo>
                    <a:pt x="309594" y="332041"/>
                  </a:lnTo>
                  <a:lnTo>
                    <a:pt x="271684" y="359310"/>
                  </a:lnTo>
                  <a:lnTo>
                    <a:pt x="225297" y="369315"/>
                  </a:lnTo>
                  <a:lnTo>
                    <a:pt x="402133" y="369315"/>
                  </a:lnTo>
                  <a:lnTo>
                    <a:pt x="393826" y="354456"/>
                  </a:lnTo>
                  <a:lnTo>
                    <a:pt x="401968" y="339232"/>
                  </a:lnTo>
                  <a:lnTo>
                    <a:pt x="408860" y="323341"/>
                  </a:lnTo>
                  <a:lnTo>
                    <a:pt x="414490" y="306879"/>
                  </a:lnTo>
                  <a:lnTo>
                    <a:pt x="418845" y="289940"/>
                  </a:lnTo>
                  <a:lnTo>
                    <a:pt x="448182" y="282575"/>
                  </a:lnTo>
                  <a:lnTo>
                    <a:pt x="452374" y="276860"/>
                  </a:lnTo>
                  <a:lnTo>
                    <a:pt x="452374" y="207390"/>
                  </a:lnTo>
                  <a:lnTo>
                    <a:pt x="448182" y="201802"/>
                  </a:lnTo>
                  <a:lnTo>
                    <a:pt x="442340" y="200151"/>
                  </a:lnTo>
                  <a:lnTo>
                    <a:pt x="418845" y="194310"/>
                  </a:lnTo>
                  <a:lnTo>
                    <a:pt x="414543" y="177442"/>
                  </a:lnTo>
                  <a:lnTo>
                    <a:pt x="408908" y="161004"/>
                  </a:lnTo>
                  <a:lnTo>
                    <a:pt x="401986" y="145089"/>
                  </a:lnTo>
                  <a:lnTo>
                    <a:pt x="393826" y="129793"/>
                  </a:lnTo>
                  <a:lnTo>
                    <a:pt x="402278" y="114935"/>
                  </a:lnTo>
                  <a:close/>
                </a:path>
                <a:path w="452755" h="482600">
                  <a:moveTo>
                    <a:pt x="257809" y="0"/>
                  </a:moveTo>
                  <a:lnTo>
                    <a:pt x="192658" y="0"/>
                  </a:lnTo>
                  <a:lnTo>
                    <a:pt x="187421" y="4444"/>
                  </a:lnTo>
                  <a:lnTo>
                    <a:pt x="185927" y="10667"/>
                  </a:lnTo>
                  <a:lnTo>
                    <a:pt x="180467" y="35687"/>
                  </a:lnTo>
                  <a:lnTo>
                    <a:pt x="164540" y="40300"/>
                  </a:lnTo>
                  <a:lnTo>
                    <a:pt x="149064" y="46307"/>
                  </a:lnTo>
                  <a:lnTo>
                    <a:pt x="134141" y="53671"/>
                  </a:lnTo>
                  <a:lnTo>
                    <a:pt x="119805" y="62356"/>
                  </a:lnTo>
                  <a:lnTo>
                    <a:pt x="330581" y="62356"/>
                  </a:lnTo>
                  <a:lnTo>
                    <a:pt x="316259" y="53671"/>
                  </a:lnTo>
                  <a:lnTo>
                    <a:pt x="301355" y="46307"/>
                  </a:lnTo>
                  <a:lnTo>
                    <a:pt x="285950" y="40300"/>
                  </a:lnTo>
                  <a:lnTo>
                    <a:pt x="270128" y="35687"/>
                  </a:lnTo>
                  <a:lnTo>
                    <a:pt x="264668" y="10667"/>
                  </a:lnTo>
                  <a:lnTo>
                    <a:pt x="263270" y="4444"/>
                  </a:lnTo>
                  <a:lnTo>
                    <a:pt x="257809" y="0"/>
                  </a:lnTo>
                  <a:close/>
                </a:path>
                <a:path w="452755" h="482600">
                  <a:moveTo>
                    <a:pt x="359918" y="48132"/>
                  </a:moveTo>
                  <a:lnTo>
                    <a:pt x="354075" y="48132"/>
                  </a:lnTo>
                  <a:lnTo>
                    <a:pt x="351789" y="48767"/>
                  </a:lnTo>
                  <a:lnTo>
                    <a:pt x="349631" y="50037"/>
                  </a:lnTo>
                  <a:lnTo>
                    <a:pt x="330581" y="62356"/>
                  </a:lnTo>
                  <a:lnTo>
                    <a:pt x="375312" y="62356"/>
                  </a:lnTo>
                  <a:lnTo>
                    <a:pt x="365887" y="52324"/>
                  </a:lnTo>
                  <a:lnTo>
                    <a:pt x="363346" y="49529"/>
                  </a:lnTo>
                  <a:lnTo>
                    <a:pt x="359918" y="481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094" y="3818000"/>
              <a:ext cx="185195" cy="1979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723" y="4142231"/>
              <a:ext cx="949451" cy="8519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7840" y="4278248"/>
            <a:ext cx="3164840" cy="263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5590">
              <a:lnSpc>
                <a:spcPts val="4645"/>
              </a:lnSpc>
              <a:spcBef>
                <a:spcPts val="95"/>
              </a:spcBef>
            </a:pPr>
            <a:r>
              <a:rPr sz="4000" b="1" spc="-50" dirty="0">
                <a:solidFill>
                  <a:srgbClr val="0580C3"/>
                </a:solidFill>
                <a:latin typeface="Arial"/>
                <a:cs typeface="Arial"/>
              </a:rPr>
              <a:t>1</a:t>
            </a:r>
            <a:endParaRPr sz="4000">
              <a:latin typeface="Arial"/>
              <a:cs typeface="Arial"/>
            </a:endParaRPr>
          </a:p>
          <a:p>
            <a:pPr marL="48895">
              <a:lnSpc>
                <a:spcPts val="2485"/>
              </a:lnSpc>
            </a:pP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Plan</a:t>
            </a:r>
            <a:r>
              <a:rPr sz="2200" b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200" b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endParaRPr sz="2200">
              <a:latin typeface="Corbel"/>
              <a:cs typeface="Corbel"/>
            </a:endParaRPr>
          </a:p>
          <a:p>
            <a:pPr marL="12700" marR="5080">
              <a:lnSpc>
                <a:spcPct val="100000"/>
              </a:lnSpc>
              <a:spcBef>
                <a:spcPts val="420"/>
              </a:spcBef>
              <a:tabLst>
                <a:tab pos="2720340" algn="l"/>
              </a:tabLst>
            </a:pPr>
            <a:r>
              <a:rPr sz="1800" dirty="0">
                <a:latin typeface="Corbel"/>
                <a:cs typeface="Corbel"/>
              </a:rPr>
              <a:t>Deciding</a:t>
            </a:r>
            <a:r>
              <a:rPr sz="1800" spc="-7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how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to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approach,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plan, </a:t>
            </a:r>
            <a:r>
              <a:rPr sz="1800" dirty="0">
                <a:latin typeface="Corbel"/>
                <a:cs typeface="Corbel"/>
              </a:rPr>
              <a:t>and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execute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the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risk </a:t>
            </a:r>
            <a:r>
              <a:rPr sz="1800" spc="-10" dirty="0">
                <a:latin typeface="Corbel"/>
                <a:cs typeface="Corbel"/>
              </a:rPr>
              <a:t>management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activities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for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spc="-50" dirty="0">
                <a:latin typeface="Corbel"/>
                <a:cs typeface="Corbel"/>
              </a:rPr>
              <a:t>a </a:t>
            </a:r>
            <a:r>
              <a:rPr sz="1800" spc="-10" dirty="0">
                <a:latin typeface="Corbel"/>
                <a:cs typeface="Corbel"/>
              </a:rPr>
              <a:t>project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(Risk</a:t>
            </a:r>
            <a:r>
              <a:rPr sz="1800" b="1" i="1" spc="-50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management</a:t>
            </a:r>
            <a:r>
              <a:rPr sz="1800" b="1" i="1" spc="-4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Plan). </a:t>
            </a:r>
            <a:r>
              <a:rPr sz="1800" i="1" dirty="0">
                <a:latin typeface="Corbel"/>
                <a:cs typeface="Corbel"/>
              </a:rPr>
              <a:t>Who?</a:t>
            </a:r>
            <a:r>
              <a:rPr sz="1800" i="1" spc="185" dirty="0">
                <a:latin typeface="Corbel"/>
                <a:cs typeface="Corbel"/>
              </a:rPr>
              <a:t> </a:t>
            </a:r>
            <a:r>
              <a:rPr sz="1800" i="1" dirty="0">
                <a:latin typeface="Corbel"/>
                <a:cs typeface="Corbel"/>
              </a:rPr>
              <a:t>When?</a:t>
            </a:r>
            <a:r>
              <a:rPr sz="1800" i="1" spc="204" dirty="0">
                <a:latin typeface="Corbel"/>
                <a:cs typeface="Corbel"/>
              </a:rPr>
              <a:t> </a:t>
            </a:r>
            <a:r>
              <a:rPr sz="1800" i="1" dirty="0">
                <a:latin typeface="Corbel"/>
                <a:cs typeface="Corbel"/>
              </a:rPr>
              <a:t>What?</a:t>
            </a:r>
            <a:r>
              <a:rPr sz="1800" i="1" spc="290" dirty="0">
                <a:latin typeface="Corbel"/>
                <a:cs typeface="Corbel"/>
              </a:rPr>
              <a:t> </a:t>
            </a:r>
            <a:r>
              <a:rPr sz="1800" i="1" spc="-20" dirty="0">
                <a:latin typeface="Corbel"/>
                <a:cs typeface="Corbel"/>
              </a:rPr>
              <a:t>How?</a:t>
            </a:r>
            <a:r>
              <a:rPr sz="1800" i="1" dirty="0">
                <a:latin typeface="Corbel"/>
                <a:cs typeface="Corbel"/>
              </a:rPr>
              <a:t>	</a:t>
            </a:r>
            <a:r>
              <a:rPr sz="1800" i="1" spc="-25" dirty="0">
                <a:latin typeface="Corbel"/>
                <a:cs typeface="Corbel"/>
              </a:rPr>
              <a:t>How </a:t>
            </a:r>
            <a:r>
              <a:rPr sz="1800" i="1" spc="-10" dirty="0">
                <a:latin typeface="Corbel"/>
                <a:cs typeface="Corbel"/>
              </a:rPr>
              <a:t>much?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8872" y="1607311"/>
            <a:ext cx="1800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orbel"/>
                <a:cs typeface="Corbel"/>
              </a:rPr>
              <a:t>Identify</a:t>
            </a:r>
            <a:r>
              <a:rPr sz="2400" b="1" spc="-9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926" y="3047492"/>
            <a:ext cx="8657971" cy="172669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41017" y="1986153"/>
            <a:ext cx="29044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Determining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which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risks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might </a:t>
            </a:r>
            <a:r>
              <a:rPr sz="1800" dirty="0">
                <a:latin typeface="Corbel"/>
                <a:cs typeface="Corbel"/>
              </a:rPr>
              <a:t>affect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the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project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and </a:t>
            </a:r>
            <a:r>
              <a:rPr sz="1800" dirty="0">
                <a:latin typeface="Corbel"/>
                <a:cs typeface="Corbel"/>
              </a:rPr>
              <a:t>documenting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their characteristics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(Risk</a:t>
            </a:r>
            <a:r>
              <a:rPr sz="1800" b="1" i="1" spc="1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Register)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6017" y="1486661"/>
            <a:ext cx="307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EFAC00"/>
                </a:solidFill>
                <a:latin typeface="Arial"/>
                <a:cs typeface="Arial"/>
              </a:rPr>
              <a:t>2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1114" y="4855845"/>
            <a:ext cx="24028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0" dirty="0">
                <a:solidFill>
                  <a:srgbClr val="001F5F"/>
                </a:solidFill>
                <a:latin typeface="Corbel"/>
                <a:cs typeface="Corbel"/>
              </a:rPr>
              <a:t>Perform</a:t>
            </a:r>
            <a:r>
              <a:rPr sz="2200" b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Qualitative</a:t>
            </a:r>
            <a:endParaRPr sz="2200">
              <a:latin typeface="Corbel"/>
              <a:cs typeface="Corbel"/>
            </a:endParaRPr>
          </a:p>
          <a:p>
            <a:pPr marL="311150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200" b="1" spc="-10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Analysis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4694" y="5554726"/>
            <a:ext cx="298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Prioritizing</a:t>
            </a:r>
            <a:r>
              <a:rPr sz="1800" spc="-8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risks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for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subsequent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4694" y="5829096"/>
            <a:ext cx="35680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further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analysis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or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action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by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assessing </a:t>
            </a:r>
            <a:r>
              <a:rPr sz="1800" dirty="0">
                <a:latin typeface="Corbel"/>
                <a:cs typeface="Corbel"/>
              </a:rPr>
              <a:t>and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combining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their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probability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of </a:t>
            </a:r>
            <a:r>
              <a:rPr sz="1800" spc="-10" dirty="0">
                <a:latin typeface="Corbel"/>
                <a:cs typeface="Corbel"/>
              </a:rPr>
              <a:t>occurrence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and impact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(Risk</a:t>
            </a:r>
            <a:r>
              <a:rPr sz="1800" b="1" i="1" spc="-2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Register Update),</a:t>
            </a:r>
            <a:r>
              <a:rPr sz="1800" b="1" i="1" spc="-5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Ranking,</a:t>
            </a:r>
            <a:r>
              <a:rPr sz="1800" spc="-10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Watch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list.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4065" y="4245305"/>
            <a:ext cx="298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solidFill>
                  <a:srgbClr val="3A0CE6"/>
                </a:solidFill>
                <a:latin typeface="Corbel"/>
                <a:cs typeface="Corbel"/>
              </a:rPr>
              <a:t>3</a:t>
            </a:r>
            <a:endParaRPr sz="44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8575" y="1902713"/>
            <a:ext cx="2545080" cy="62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3125">
              <a:lnSpc>
                <a:spcPts val="260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200" b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Analysis</a:t>
            </a:r>
            <a:endParaRPr sz="2200">
              <a:latin typeface="Corbel"/>
              <a:cs typeface="Corbel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rbel"/>
                <a:cs typeface="Corbel"/>
              </a:rPr>
              <a:t>A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numerical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analysis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of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the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08575" y="2502534"/>
            <a:ext cx="34182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probability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and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impact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of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the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risk</a:t>
            </a:r>
            <a:r>
              <a:rPr sz="1800" spc="-25" dirty="0">
                <a:latin typeface="Corbel"/>
                <a:cs typeface="Corbel"/>
              </a:rPr>
              <a:t> on </a:t>
            </a:r>
            <a:r>
              <a:rPr sz="1800" dirty="0">
                <a:latin typeface="Corbel"/>
                <a:cs typeface="Corbel"/>
              </a:rPr>
              <a:t>your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project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(Risk</a:t>
            </a:r>
            <a:r>
              <a:rPr sz="1800" b="1" i="1" spc="-2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Register</a:t>
            </a:r>
            <a:r>
              <a:rPr sz="1800" b="1" i="1" spc="-95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Update)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5072760" y="1279397"/>
            <a:ext cx="30149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600" spc="-44" baseline="-6944" dirty="0">
                <a:solidFill>
                  <a:srgbClr val="E62500"/>
                </a:solidFill>
              </a:rPr>
              <a:t>4</a:t>
            </a:r>
            <a:r>
              <a:rPr sz="6600" spc="-480" baseline="-6944" dirty="0">
                <a:solidFill>
                  <a:srgbClr val="E62500"/>
                </a:solidFill>
              </a:rPr>
              <a:t> </a:t>
            </a:r>
            <a:r>
              <a:rPr sz="2200" spc="-30" dirty="0"/>
              <a:t>Perform</a:t>
            </a:r>
            <a:r>
              <a:rPr sz="2200" spc="-60" dirty="0"/>
              <a:t> </a:t>
            </a:r>
            <a:r>
              <a:rPr sz="2200" spc="-10" dirty="0"/>
              <a:t>Quantitative</a:t>
            </a:r>
            <a:endParaRPr sz="2200"/>
          </a:p>
        </p:txBody>
      </p:sp>
      <p:sp>
        <p:nvSpPr>
          <p:cNvPr id="24" name="object 24"/>
          <p:cNvSpPr txBox="1"/>
          <p:nvPr/>
        </p:nvSpPr>
        <p:spPr>
          <a:xfrm>
            <a:off x="8767953" y="1641474"/>
            <a:ext cx="3134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Monitor</a:t>
            </a:r>
            <a:r>
              <a:rPr sz="2200" b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and</a:t>
            </a:r>
            <a:r>
              <a:rPr sz="2200" b="1" spc="-10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Control</a:t>
            </a:r>
            <a:r>
              <a:rPr sz="2200" b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90229" y="1918461"/>
            <a:ext cx="33077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rbel"/>
                <a:cs typeface="Corbel"/>
              </a:rPr>
              <a:t>Monitoring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your</a:t>
            </a:r>
            <a:r>
              <a:rPr sz="1600" spc="-3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lists</a:t>
            </a:r>
            <a:r>
              <a:rPr sz="1600" spc="28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of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risks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to</a:t>
            </a:r>
            <a:r>
              <a:rPr sz="1600" spc="-3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enact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spc="-50" dirty="0">
                <a:latin typeface="Corbel"/>
                <a:cs typeface="Corbel"/>
              </a:rPr>
              <a:t>a </a:t>
            </a:r>
            <a:r>
              <a:rPr sz="1600" dirty="0">
                <a:latin typeface="Corbel"/>
                <a:cs typeface="Corbel"/>
              </a:rPr>
              <a:t>risk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response plan,</a:t>
            </a:r>
            <a:r>
              <a:rPr sz="1600" spc="-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to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move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a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risk</a:t>
            </a:r>
            <a:r>
              <a:rPr sz="1600" spc="-20" dirty="0">
                <a:latin typeface="Corbel"/>
                <a:cs typeface="Corbel"/>
              </a:rPr>
              <a:t> from </a:t>
            </a:r>
            <a:r>
              <a:rPr sz="1600" dirty="0">
                <a:latin typeface="Corbel"/>
                <a:cs typeface="Corbel"/>
              </a:rPr>
              <a:t>one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list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to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the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spc="-10" dirty="0">
                <a:latin typeface="Corbel"/>
                <a:cs typeface="Corbel"/>
              </a:rPr>
              <a:t>other,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or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to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remove</a:t>
            </a:r>
            <a:r>
              <a:rPr sz="1600" spc="-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a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spc="-20" dirty="0">
                <a:latin typeface="Corbel"/>
                <a:cs typeface="Corbel"/>
              </a:rPr>
              <a:t>risk </a:t>
            </a:r>
            <a:r>
              <a:rPr sz="1600" dirty="0">
                <a:latin typeface="Corbel"/>
                <a:cs typeface="Corbel"/>
              </a:rPr>
              <a:t>because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it</a:t>
            </a:r>
            <a:r>
              <a:rPr sz="1600" spc="-3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is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no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longer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a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risk.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b="1" i="1" spc="-10" dirty="0">
                <a:solidFill>
                  <a:srgbClr val="E712BE"/>
                </a:solidFill>
                <a:latin typeface="Corbel"/>
                <a:cs typeface="Corbel"/>
              </a:rPr>
              <a:t>(Risk </a:t>
            </a:r>
            <a:r>
              <a:rPr sz="1600" b="1" i="1" spc="-20" dirty="0">
                <a:solidFill>
                  <a:srgbClr val="E712BE"/>
                </a:solidFill>
                <a:latin typeface="Corbel"/>
                <a:cs typeface="Corbel"/>
              </a:rPr>
              <a:t>Register</a:t>
            </a:r>
            <a:r>
              <a:rPr sz="1600" b="1" i="1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600" b="1" i="1" spc="-10" dirty="0">
                <a:solidFill>
                  <a:srgbClr val="E712BE"/>
                </a:solidFill>
                <a:latin typeface="Corbel"/>
                <a:cs typeface="Corbel"/>
              </a:rPr>
              <a:t>Update)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72347" y="1461007"/>
            <a:ext cx="333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solidFill>
                  <a:srgbClr val="56687B"/>
                </a:solidFill>
                <a:latin typeface="Corbel"/>
                <a:cs typeface="Corbel"/>
              </a:rPr>
              <a:t>6</a:t>
            </a:r>
            <a:endParaRPr sz="44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80554" y="5752846"/>
            <a:ext cx="40513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project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objectives.</a:t>
            </a:r>
            <a:r>
              <a:rPr sz="1800" spc="-8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course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of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action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you </a:t>
            </a:r>
            <a:r>
              <a:rPr sz="1800" dirty="0">
                <a:latin typeface="Corbel"/>
                <a:cs typeface="Corbel"/>
              </a:rPr>
              <a:t>will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take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to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deal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with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your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risks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should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they </a:t>
            </a:r>
            <a:r>
              <a:rPr sz="1800" dirty="0">
                <a:latin typeface="Corbel"/>
                <a:cs typeface="Corbel"/>
              </a:rPr>
              <a:t>go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from</a:t>
            </a:r>
            <a:r>
              <a:rPr sz="1800" spc="-1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risk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to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issue.</a:t>
            </a:r>
            <a:endParaRPr sz="1800">
              <a:latin typeface="Corbel"/>
              <a:cs typeface="Corbel"/>
            </a:endParaRPr>
          </a:p>
          <a:p>
            <a:pPr marL="12700" marR="370840">
              <a:lnSpc>
                <a:spcPct val="100000"/>
              </a:lnSpc>
            </a:pPr>
            <a:r>
              <a:rPr sz="1800" dirty="0">
                <a:latin typeface="Corbel"/>
                <a:cs typeface="Corbel"/>
              </a:rPr>
              <a:t>Key</a:t>
            </a:r>
            <a:r>
              <a:rPr sz="1800" spc="-7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Deliverable: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b="1" i="1" dirty="0">
                <a:solidFill>
                  <a:srgbClr val="E712BE"/>
                </a:solidFill>
                <a:latin typeface="Corbel"/>
                <a:cs typeface="Corbel"/>
              </a:rPr>
              <a:t>Risk</a:t>
            </a:r>
            <a:r>
              <a:rPr sz="1800" b="1" i="1" spc="-40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Related</a:t>
            </a:r>
            <a:r>
              <a:rPr sz="1800" b="1" i="1" spc="-100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1800" b="1" i="1" spc="-10" dirty="0">
                <a:solidFill>
                  <a:srgbClr val="E712BE"/>
                </a:solidFill>
                <a:latin typeface="Corbel"/>
                <a:cs typeface="Corbel"/>
              </a:rPr>
              <a:t>Contract Decisions.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83577" y="4264609"/>
            <a:ext cx="4288790" cy="1513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00"/>
              </a:lnSpc>
              <a:spcBef>
                <a:spcPts val="105"/>
              </a:spcBef>
            </a:pPr>
            <a:r>
              <a:rPr sz="4400" b="1" spc="-50" dirty="0">
                <a:solidFill>
                  <a:srgbClr val="90C220"/>
                </a:solidFill>
                <a:latin typeface="Corbel"/>
                <a:cs typeface="Corbel"/>
              </a:rPr>
              <a:t>5</a:t>
            </a:r>
            <a:endParaRPr sz="4400">
              <a:latin typeface="Corbel"/>
              <a:cs typeface="Corbel"/>
            </a:endParaRPr>
          </a:p>
          <a:p>
            <a:pPr marL="236220">
              <a:lnSpc>
                <a:spcPts val="2375"/>
              </a:lnSpc>
            </a:pP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Plan</a:t>
            </a:r>
            <a:r>
              <a:rPr sz="2200" b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200" b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Corbel"/>
                <a:cs typeface="Corbel"/>
              </a:rPr>
              <a:t>Responses</a:t>
            </a:r>
            <a:endParaRPr sz="2200">
              <a:latin typeface="Corbel"/>
              <a:cs typeface="Corbel"/>
            </a:endParaRPr>
          </a:p>
          <a:p>
            <a:pPr marL="209550">
              <a:lnSpc>
                <a:spcPts val="2080"/>
              </a:lnSpc>
            </a:pPr>
            <a:r>
              <a:rPr sz="1800" dirty="0">
                <a:latin typeface="Corbel"/>
                <a:cs typeface="Corbel"/>
              </a:rPr>
              <a:t>Developing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options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and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actions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to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Enhance</a:t>
            </a:r>
            <a:endParaRPr sz="1800">
              <a:latin typeface="Corbel"/>
              <a:cs typeface="Corbel"/>
            </a:endParaRPr>
          </a:p>
          <a:p>
            <a:pPr marL="209550">
              <a:lnSpc>
                <a:spcPct val="100000"/>
              </a:lnSpc>
            </a:pPr>
            <a:r>
              <a:rPr sz="1800" spc="-10" dirty="0">
                <a:latin typeface="Corbel"/>
                <a:cs typeface="Corbel"/>
              </a:rPr>
              <a:t>opportunities,</a:t>
            </a:r>
            <a:r>
              <a:rPr sz="1800" spc="-6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and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to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reduce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threats</a:t>
            </a:r>
            <a:r>
              <a:rPr sz="1800" spc="-1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to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2270251"/>
            <a:ext cx="4114800" cy="39604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24914" y="2047113"/>
            <a:ext cx="26028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4510" marR="5080" indent="-51244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Integrate</a:t>
            </a:r>
            <a:r>
              <a:rPr sz="2000" b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with</a:t>
            </a:r>
            <a:r>
              <a:rPr sz="2000" b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Project Management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8492" y="3936872"/>
            <a:ext cx="204216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Scale</a:t>
            </a:r>
            <a:r>
              <a:rPr sz="20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Risk</a:t>
            </a:r>
            <a:r>
              <a:rPr sz="2000" b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Effort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20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Project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7445" y="5602985"/>
            <a:ext cx="17926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Organizational Commitment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6652" y="5621782"/>
            <a:ext cx="212915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Open</a:t>
            </a:r>
            <a:r>
              <a:rPr sz="20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Honest Communication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7432" y="3822572"/>
            <a:ext cx="29032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Individual</a:t>
            </a:r>
            <a:r>
              <a:rPr sz="20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Commitment/ Responsibility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5966" y="2161489"/>
            <a:ext cx="24955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Recognize</a:t>
            </a:r>
            <a:r>
              <a:rPr sz="20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2000" b="1" spc="-20" dirty="0">
                <a:solidFill>
                  <a:srgbClr val="001F5F"/>
                </a:solidFill>
                <a:latin typeface="Arial"/>
                <a:cs typeface="Arial"/>
              </a:rPr>
              <a:t> value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Risk</a:t>
            </a:r>
            <a:r>
              <a:rPr sz="2000" b="1" spc="-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Management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92000" cy="1537970"/>
          </a:xfrm>
          <a:custGeom>
            <a:avLst/>
            <a:gdLst/>
            <a:ahLst/>
            <a:cxnLst/>
            <a:rect l="l" t="t" r="r" b="b"/>
            <a:pathLst>
              <a:path w="12192000" h="1537970">
                <a:moveTo>
                  <a:pt x="12192000" y="0"/>
                </a:moveTo>
                <a:lnTo>
                  <a:pt x="0" y="0"/>
                </a:lnTo>
                <a:lnTo>
                  <a:pt x="0" y="1537462"/>
                </a:lnTo>
                <a:lnTo>
                  <a:pt x="12192000" y="15374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12521" y="648665"/>
            <a:ext cx="11562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Critical</a:t>
            </a:r>
            <a:r>
              <a:rPr sz="4000" spc="-95" dirty="0"/>
              <a:t> </a:t>
            </a:r>
            <a:r>
              <a:rPr sz="4000" dirty="0"/>
              <a:t>Success</a:t>
            </a:r>
            <a:r>
              <a:rPr sz="4000" spc="-80" dirty="0"/>
              <a:t> </a:t>
            </a:r>
            <a:r>
              <a:rPr sz="4000" dirty="0"/>
              <a:t>Factors</a:t>
            </a:r>
            <a:r>
              <a:rPr sz="4000" spc="-65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Project</a:t>
            </a:r>
            <a:r>
              <a:rPr sz="4000" spc="-95" dirty="0"/>
              <a:t> </a:t>
            </a:r>
            <a:r>
              <a:rPr sz="4000" dirty="0"/>
              <a:t>Risk</a:t>
            </a:r>
            <a:r>
              <a:rPr sz="4000" spc="-80" dirty="0"/>
              <a:t> </a:t>
            </a:r>
            <a:r>
              <a:rPr sz="4000" spc="-10" dirty="0"/>
              <a:t>Management</a:t>
            </a:r>
            <a:endParaRPr sz="4000"/>
          </a:p>
        </p:txBody>
      </p:sp>
      <p:sp>
        <p:nvSpPr>
          <p:cNvPr id="11" name="object 11"/>
          <p:cNvSpPr txBox="1"/>
          <p:nvPr/>
        </p:nvSpPr>
        <p:spPr>
          <a:xfrm>
            <a:off x="5174741" y="3664711"/>
            <a:ext cx="18878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81915" algn="ct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Risk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Management Success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10366" y="672764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27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3663" y="1599437"/>
            <a:ext cx="11345545" cy="539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10" dirty="0">
                <a:latin typeface="Corbel"/>
                <a:cs typeface="Corbel"/>
              </a:rPr>
              <a:t>Recognize</a:t>
            </a:r>
            <a:r>
              <a:rPr sz="2800" b="1" spc="-7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the</a:t>
            </a:r>
            <a:r>
              <a:rPr sz="2800" b="1" spc="-17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Value</a:t>
            </a:r>
            <a:r>
              <a:rPr sz="2800" b="1" spc="-5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of</a:t>
            </a:r>
            <a:r>
              <a:rPr sz="2800" b="1" spc="-6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40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Management</a:t>
            </a:r>
            <a:endParaRPr sz="2800">
              <a:latin typeface="Corbel"/>
              <a:cs typeface="Corbel"/>
            </a:endParaRPr>
          </a:p>
          <a:p>
            <a:pPr marL="451484" marR="523875" indent="-439420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6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should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recognized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because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provides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i="1" spc="-10" dirty="0">
                <a:solidFill>
                  <a:srgbClr val="001F5F"/>
                </a:solidFill>
                <a:latin typeface="Corbel"/>
                <a:cs typeface="Corbel"/>
              </a:rPr>
              <a:t>positive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effects</a:t>
            </a:r>
            <a:r>
              <a:rPr sz="26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spc="-20" dirty="0">
                <a:latin typeface="Corbel"/>
                <a:cs typeface="Corbel"/>
              </a:rPr>
              <a:t>for:</a:t>
            </a:r>
            <a:endParaRPr sz="2600">
              <a:latin typeface="Corbel"/>
              <a:cs typeface="Corbel"/>
            </a:endParaRPr>
          </a:p>
          <a:p>
            <a:pPr marL="1384300" lvl="1" indent="-342900">
              <a:lnSpc>
                <a:spcPct val="100000"/>
              </a:lnSpc>
              <a:spcBef>
                <a:spcPts val="5"/>
              </a:spcBef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Organizational</a:t>
            </a:r>
            <a:r>
              <a:rPr sz="2400" spc="-9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endParaRPr sz="2400">
              <a:latin typeface="Corbel"/>
              <a:cs typeface="Corbel"/>
            </a:endParaRPr>
          </a:p>
          <a:p>
            <a:pPr marL="1384300" lvl="1" indent="-342900">
              <a:lnSpc>
                <a:spcPct val="100000"/>
              </a:lnSpc>
              <a:spcBef>
                <a:spcPts val="5"/>
              </a:spcBef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(both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internal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external)</a:t>
            </a:r>
            <a:endParaRPr sz="2400">
              <a:latin typeface="Corbel"/>
              <a:cs typeface="Corbel"/>
            </a:endParaRPr>
          </a:p>
          <a:p>
            <a:pPr marL="1384300" lvl="1" indent="-342900">
              <a:lnSpc>
                <a:spcPct val="100000"/>
              </a:lnSpc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endParaRPr sz="2400">
              <a:latin typeface="Corbel"/>
              <a:cs typeface="Corbel"/>
            </a:endParaRPr>
          </a:p>
          <a:p>
            <a:pPr marL="1384300" lvl="1" indent="-342900">
              <a:lnSpc>
                <a:spcPts val="2865"/>
              </a:lnSpc>
              <a:buSzPct val="85416"/>
              <a:buChar char="-"/>
              <a:tabLst>
                <a:tab pos="1384300" algn="l"/>
              </a:tabLst>
            </a:pPr>
            <a:r>
              <a:rPr sz="2400" spc="-35" dirty="0">
                <a:latin typeface="Corbel"/>
                <a:cs typeface="Corbel"/>
              </a:rPr>
              <a:t>Team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members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ts val="3345"/>
              </a:lnSpc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20" dirty="0">
                <a:latin typeface="Corbel"/>
                <a:cs typeface="Corbel"/>
              </a:rPr>
              <a:t>Individual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Commitment/Responsibility</a:t>
            </a:r>
            <a:endParaRPr sz="2800">
              <a:latin typeface="Corbel"/>
              <a:cs typeface="Corbel"/>
            </a:endParaRPr>
          </a:p>
          <a:p>
            <a:pPr marL="1384300" marR="137160" lvl="1" indent="-342900">
              <a:lnSpc>
                <a:spcPct val="100000"/>
              </a:lnSpc>
              <a:spcBef>
                <a:spcPts val="30"/>
              </a:spcBef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participants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should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all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accept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responsibility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for </a:t>
            </a:r>
            <a:r>
              <a:rPr sz="2400" dirty="0">
                <a:latin typeface="Corbel"/>
                <a:cs typeface="Corbel"/>
              </a:rPr>
              <a:t>undertaking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risk-</a:t>
            </a:r>
            <a:r>
              <a:rPr sz="2400" dirty="0">
                <a:latin typeface="Corbel"/>
                <a:cs typeface="Corbel"/>
              </a:rPr>
              <a:t>related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activities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required.</a:t>
            </a:r>
            <a:r>
              <a:rPr sz="2400" spc="38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RM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everybody’s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responsibility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ts val="3329"/>
              </a:lnSpc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Open</a:t>
            </a:r>
            <a:r>
              <a:rPr sz="2800" b="1" spc="-6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and</a:t>
            </a:r>
            <a:r>
              <a:rPr sz="2800" b="1" spc="-4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Honest</a:t>
            </a:r>
            <a:r>
              <a:rPr sz="2800" b="1" spc="-13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Communication</a:t>
            </a:r>
            <a:endParaRPr sz="2800">
              <a:latin typeface="Corbel"/>
              <a:cs typeface="Corbel"/>
            </a:endParaRPr>
          </a:p>
          <a:p>
            <a:pPr marL="1384300" lvl="1" indent="-342900">
              <a:lnSpc>
                <a:spcPct val="100000"/>
              </a:lnSpc>
              <a:spcBef>
                <a:spcPts val="25"/>
              </a:spcBef>
              <a:buSzPct val="85416"/>
              <a:buFont typeface="Corbel"/>
              <a:buChar char="-"/>
              <a:tabLst>
                <a:tab pos="1384300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Everyone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should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involved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Management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process.</a:t>
            </a:r>
            <a:endParaRPr sz="2400">
              <a:latin typeface="Corbel"/>
              <a:cs typeface="Corbel"/>
            </a:endParaRPr>
          </a:p>
          <a:p>
            <a:pPr marL="1384300" marR="5080" lvl="1" indent="-342900">
              <a:lnSpc>
                <a:spcPct val="100000"/>
              </a:lnSpc>
              <a:spcBef>
                <a:spcPts val="5"/>
              </a:spcBef>
              <a:buSzPct val="85416"/>
              <a:buChar char="-"/>
              <a:tabLst>
                <a:tab pos="1384300" algn="l"/>
              </a:tabLst>
            </a:pPr>
            <a:r>
              <a:rPr sz="2400" dirty="0">
                <a:latin typeface="Corbel"/>
                <a:cs typeface="Corbel"/>
              </a:rPr>
              <a:t>Any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actions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or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attitudes</a:t>
            </a:r>
            <a:r>
              <a:rPr sz="24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that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hinder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communication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about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reduce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the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effectiveness</a:t>
            </a:r>
            <a:r>
              <a:rPr sz="24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Critical</a:t>
            </a:r>
            <a:r>
              <a:rPr sz="4000" spc="-200" dirty="0"/>
              <a:t> </a:t>
            </a:r>
            <a:r>
              <a:rPr sz="4000" dirty="0"/>
              <a:t>Success</a:t>
            </a:r>
            <a:r>
              <a:rPr sz="4000" spc="-100" dirty="0"/>
              <a:t> </a:t>
            </a:r>
            <a:r>
              <a:rPr sz="4000" dirty="0"/>
              <a:t>Factors</a:t>
            </a:r>
            <a:r>
              <a:rPr sz="4000" spc="-90" dirty="0"/>
              <a:t> </a:t>
            </a:r>
            <a:r>
              <a:rPr sz="4000" dirty="0"/>
              <a:t>for</a:t>
            </a:r>
            <a:r>
              <a:rPr sz="4000" spc="-125" dirty="0"/>
              <a:t> </a:t>
            </a:r>
            <a:r>
              <a:rPr sz="4000" dirty="0"/>
              <a:t>PRM</a:t>
            </a:r>
            <a:r>
              <a:rPr sz="4000" spc="-120" dirty="0"/>
              <a:t> </a:t>
            </a:r>
            <a:r>
              <a:rPr sz="4000" spc="-10" dirty="0"/>
              <a:t>(Cont’d)</a:t>
            </a:r>
            <a:endParaRPr sz="4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3663" y="1599437"/>
            <a:ext cx="11503025" cy="536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20" dirty="0">
                <a:latin typeface="Corbel"/>
                <a:cs typeface="Corbel"/>
              </a:rPr>
              <a:t>Organizational</a:t>
            </a:r>
            <a:r>
              <a:rPr sz="2800" b="1" spc="-2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Commitment</a:t>
            </a:r>
            <a:endParaRPr sz="2800">
              <a:latin typeface="Corbel"/>
              <a:cs typeface="Corbel"/>
            </a:endParaRPr>
          </a:p>
          <a:p>
            <a:pPr marL="1270000" lvl="1" indent="-342900">
              <a:lnSpc>
                <a:spcPct val="100000"/>
              </a:lnSpc>
              <a:spcBef>
                <a:spcPts val="30"/>
              </a:spcBef>
              <a:buSzPct val="85416"/>
              <a:buChar char="-"/>
              <a:tabLst>
                <a:tab pos="1270000" algn="l"/>
              </a:tabLst>
            </a:pPr>
            <a:r>
              <a:rPr sz="2400" spc="-10" dirty="0">
                <a:latin typeface="Corbel"/>
                <a:cs typeface="Corbel"/>
              </a:rPr>
              <a:t>Established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if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4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42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aligned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10" dirty="0">
                <a:latin typeface="Corbel"/>
                <a:cs typeface="Corbel"/>
              </a:rPr>
              <a:t> organization’s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goals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and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values.</a:t>
            </a:r>
            <a:endParaRPr sz="2400">
              <a:latin typeface="Corbel"/>
              <a:cs typeface="Corbel"/>
            </a:endParaRPr>
          </a:p>
          <a:p>
            <a:pPr marL="1270000" marR="668655" lvl="1" indent="-342900">
              <a:lnSpc>
                <a:spcPct val="100000"/>
              </a:lnSpc>
              <a:buSzPct val="85416"/>
              <a:buChar char="-"/>
              <a:tabLst>
                <a:tab pos="12700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require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higher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level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managerial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support </a:t>
            </a:r>
            <a:r>
              <a:rPr sz="2400" dirty="0">
                <a:latin typeface="Corbel"/>
                <a:cs typeface="Corbel"/>
              </a:rPr>
              <a:t>because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handling</a:t>
            </a:r>
            <a:r>
              <a:rPr sz="2400" i="1" spc="-9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some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will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require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approval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responses</a:t>
            </a:r>
            <a:r>
              <a:rPr sz="2400" spc="409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from </a:t>
            </a:r>
            <a:r>
              <a:rPr sz="2400" dirty="0">
                <a:latin typeface="Corbel"/>
                <a:cs typeface="Corbel"/>
              </a:rPr>
              <a:t>levels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above</a:t>
            </a:r>
            <a:r>
              <a:rPr sz="24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manager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ts val="3335"/>
              </a:lnSpc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dirty="0">
                <a:latin typeface="Corbel"/>
                <a:cs typeface="Corbel"/>
              </a:rPr>
              <a:t>Risk</a:t>
            </a:r>
            <a:r>
              <a:rPr sz="2800" b="1" spc="-70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Effort</a:t>
            </a:r>
            <a:r>
              <a:rPr sz="2800" b="1" spc="-9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Scaled</a:t>
            </a:r>
            <a:r>
              <a:rPr sz="2800" b="1" spc="-6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to</a:t>
            </a:r>
            <a:r>
              <a:rPr sz="2800" b="1" spc="-5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Project</a:t>
            </a:r>
            <a:endParaRPr sz="28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7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activities</a:t>
            </a:r>
            <a:r>
              <a:rPr sz="2600" i="1" spc="4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should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be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consistent</a:t>
            </a:r>
            <a:r>
              <a:rPr sz="26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with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dirty="0">
                <a:solidFill>
                  <a:srgbClr val="001F5F"/>
                </a:solidFill>
                <a:latin typeface="Corbel"/>
                <a:cs typeface="Corbel"/>
              </a:rPr>
              <a:t>value</a:t>
            </a:r>
            <a:r>
              <a:rPr sz="26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600" i="1" spc="-25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600" spc="-25" dirty="0">
                <a:latin typeface="Corbel"/>
                <a:cs typeface="Corbel"/>
              </a:rPr>
              <a:t>:</a:t>
            </a:r>
            <a:endParaRPr sz="2600">
              <a:latin typeface="Corbel"/>
              <a:cs typeface="Corbel"/>
            </a:endParaRPr>
          </a:p>
          <a:p>
            <a:pPr marL="1270000" lvl="1" indent="-342900">
              <a:lnSpc>
                <a:spcPct val="100000"/>
              </a:lnSpc>
              <a:spcBef>
                <a:spcPts val="10"/>
              </a:spcBef>
              <a:buSzPct val="85416"/>
              <a:buChar char="-"/>
              <a:tabLst>
                <a:tab pos="12700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organization</a:t>
            </a:r>
            <a:endParaRPr sz="2400">
              <a:latin typeface="Corbel"/>
              <a:cs typeface="Corbel"/>
            </a:endParaRPr>
          </a:p>
          <a:p>
            <a:pPr marL="1270000" lvl="1" indent="-342900">
              <a:lnSpc>
                <a:spcPts val="2865"/>
              </a:lnSpc>
              <a:buSzPct val="85416"/>
              <a:buChar char="-"/>
              <a:tabLst>
                <a:tab pos="1270000" algn="l"/>
              </a:tabLst>
            </a:pPr>
            <a:r>
              <a:rPr sz="2400" dirty="0">
                <a:latin typeface="Corbel"/>
                <a:cs typeface="Corbel"/>
              </a:rPr>
              <a:t>level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scale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1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Organizational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constraints.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ts val="3345"/>
              </a:lnSpc>
              <a:buClr>
                <a:srgbClr val="C00000"/>
              </a:buClr>
              <a:buSzPct val="83928"/>
              <a:buFont typeface="Cambria"/>
              <a:buChar char="◾"/>
              <a:tabLst>
                <a:tab pos="451484" algn="l"/>
              </a:tabLst>
            </a:pPr>
            <a:r>
              <a:rPr sz="2800" b="1" spc="-10" dirty="0">
                <a:latin typeface="Corbel"/>
                <a:cs typeface="Corbel"/>
              </a:rPr>
              <a:t>Integration</a:t>
            </a:r>
            <a:r>
              <a:rPr sz="2800" b="1" spc="-6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with</a:t>
            </a:r>
            <a:r>
              <a:rPr sz="2800" b="1" spc="-75" dirty="0">
                <a:latin typeface="Corbel"/>
                <a:cs typeface="Corbel"/>
              </a:rPr>
              <a:t> </a:t>
            </a:r>
            <a:r>
              <a:rPr sz="2800" b="1" dirty="0">
                <a:latin typeface="Corbel"/>
                <a:cs typeface="Corbel"/>
              </a:rPr>
              <a:t>Project</a:t>
            </a:r>
            <a:r>
              <a:rPr sz="2800" b="1" spc="-45" dirty="0">
                <a:latin typeface="Corbel"/>
                <a:cs typeface="Corbel"/>
              </a:rPr>
              <a:t> </a:t>
            </a:r>
            <a:r>
              <a:rPr sz="2800" b="1" spc="-10" dirty="0">
                <a:latin typeface="Corbel"/>
                <a:cs typeface="Corbel"/>
              </a:rPr>
              <a:t>Management</a:t>
            </a:r>
            <a:endParaRPr sz="2800">
              <a:latin typeface="Corbel"/>
              <a:cs typeface="Corbel"/>
            </a:endParaRPr>
          </a:p>
          <a:p>
            <a:pPr marL="1270000" marR="220345" lvl="1" indent="-342900">
              <a:lnSpc>
                <a:spcPct val="100000"/>
              </a:lnSpc>
              <a:spcBef>
                <a:spcPts val="30"/>
              </a:spcBef>
              <a:buSzPct val="85416"/>
              <a:buChar char="-"/>
              <a:tabLst>
                <a:tab pos="1270000" algn="l"/>
              </a:tabLst>
            </a:pP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Management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does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exist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vacuum</a:t>
            </a:r>
            <a:r>
              <a:rPr sz="2400" dirty="0">
                <a:latin typeface="Corbel"/>
                <a:cs typeface="Corbel"/>
              </a:rPr>
              <a:t>,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isolated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from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other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project management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processes.</a:t>
            </a:r>
            <a:endParaRPr sz="2400">
              <a:latin typeface="Corbel"/>
              <a:cs typeface="Corbel"/>
            </a:endParaRPr>
          </a:p>
          <a:p>
            <a:pPr marL="1270000" marR="424815" lvl="1" indent="-342900">
              <a:lnSpc>
                <a:spcPct val="100000"/>
              </a:lnSpc>
              <a:spcBef>
                <a:spcPts val="5"/>
              </a:spcBef>
              <a:buSzPct val="85416"/>
              <a:buFont typeface="Corbel"/>
              <a:buChar char="-"/>
              <a:tabLst>
                <a:tab pos="1270000" algn="l"/>
              </a:tabLst>
            </a:pP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Successful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requires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correct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execution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other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10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processes.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Critical</a:t>
            </a:r>
            <a:r>
              <a:rPr sz="4000" spc="-200" dirty="0"/>
              <a:t> </a:t>
            </a:r>
            <a:r>
              <a:rPr sz="4000" dirty="0"/>
              <a:t>Success</a:t>
            </a:r>
            <a:r>
              <a:rPr sz="4000" spc="-100" dirty="0"/>
              <a:t> </a:t>
            </a:r>
            <a:r>
              <a:rPr sz="4000" dirty="0"/>
              <a:t>Factors</a:t>
            </a:r>
            <a:r>
              <a:rPr sz="4000" spc="-90" dirty="0"/>
              <a:t> </a:t>
            </a:r>
            <a:r>
              <a:rPr sz="4000" dirty="0"/>
              <a:t>for</a:t>
            </a:r>
            <a:r>
              <a:rPr sz="4000" spc="-125" dirty="0"/>
              <a:t> </a:t>
            </a:r>
            <a:r>
              <a:rPr sz="4000" dirty="0"/>
              <a:t>PRM</a:t>
            </a:r>
            <a:r>
              <a:rPr sz="4000" spc="-120" dirty="0"/>
              <a:t> </a:t>
            </a:r>
            <a:r>
              <a:rPr sz="4000" spc="-10" dirty="0"/>
              <a:t>(Cont’d)</a:t>
            </a:r>
            <a:endParaRPr sz="4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3663" y="1926183"/>
            <a:ext cx="11431905" cy="37445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Help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gain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better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understanding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project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204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Ensures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risks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are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considered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early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process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195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Provides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increased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confidence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investment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management</a:t>
            </a:r>
            <a:r>
              <a:rPr sz="2600" spc="-5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decisions</a:t>
            </a:r>
            <a:endParaRPr sz="2600">
              <a:latin typeface="Corbel"/>
              <a:cs typeface="Corbel"/>
            </a:endParaRPr>
          </a:p>
          <a:p>
            <a:pPr marL="451484" marR="5080" indent="-439420">
              <a:lnSpc>
                <a:spcPct val="100000"/>
              </a:lnSpc>
              <a:spcBef>
                <a:spcPts val="204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Allows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appropriate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contingency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plans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exit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strategies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put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in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place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without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delay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figuring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out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what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to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spc="-25" dirty="0">
                <a:latin typeface="Corbel"/>
                <a:cs typeface="Corbel"/>
              </a:rPr>
              <a:t>do</a:t>
            </a:r>
            <a:endParaRPr sz="2600">
              <a:latin typeface="Corbel"/>
              <a:cs typeface="Corbel"/>
            </a:endParaRPr>
          </a:p>
          <a:p>
            <a:pPr marL="451484" marR="1363980" indent="-439420">
              <a:lnSpc>
                <a:spcPct val="100000"/>
              </a:lnSpc>
              <a:spcBef>
                <a:spcPts val="204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Risks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responses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can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documented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historic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record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future </a:t>
            </a:r>
            <a:r>
              <a:rPr sz="2600" dirty="0">
                <a:latin typeface="Corbel"/>
                <a:cs typeface="Corbel"/>
              </a:rPr>
              <a:t>reference;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helps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learn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lessons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for</a:t>
            </a:r>
            <a:r>
              <a:rPr sz="2600" spc="-1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35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future</a:t>
            </a:r>
            <a:endParaRPr sz="2600">
              <a:latin typeface="Corbel"/>
              <a:cs typeface="Corbel"/>
            </a:endParaRPr>
          </a:p>
          <a:p>
            <a:pPr marL="451484" marR="799465" indent="-439420">
              <a:lnSpc>
                <a:spcPct val="100000"/>
              </a:lnSpc>
              <a:spcBef>
                <a:spcPts val="19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Enables</a:t>
            </a:r>
            <a:r>
              <a:rPr sz="2600" spc="-5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more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effective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communication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between</a:t>
            </a:r>
            <a:r>
              <a:rPr sz="2600" spc="-4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partners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stakeholders </a:t>
            </a:r>
            <a:r>
              <a:rPr sz="2600" dirty="0">
                <a:latin typeface="Corbel"/>
                <a:cs typeface="Corbel"/>
              </a:rPr>
              <a:t>about</a:t>
            </a:r>
            <a:r>
              <a:rPr sz="2600" spc="-20" dirty="0">
                <a:latin typeface="Corbel"/>
                <a:cs typeface="Corbel"/>
              </a:rPr>
              <a:t> risk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663" y="5645224"/>
            <a:ext cx="5985510" cy="8705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Determine</a:t>
            </a:r>
            <a:r>
              <a:rPr sz="2600" spc="-8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accountability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and</a:t>
            </a:r>
            <a:r>
              <a:rPr sz="2600" spc="-3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ownership</a:t>
            </a:r>
            <a:endParaRPr sz="26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210"/>
              </a:spcBef>
              <a:buClr>
                <a:srgbClr val="C00000"/>
              </a:buClr>
              <a:buSzPct val="84615"/>
              <a:buFont typeface="Cambria"/>
              <a:buChar char="◾"/>
              <a:tabLst>
                <a:tab pos="451484" algn="l"/>
              </a:tabLst>
            </a:pPr>
            <a:r>
              <a:rPr sz="2600" dirty="0">
                <a:latin typeface="Corbel"/>
                <a:cs typeface="Corbel"/>
              </a:rPr>
              <a:t>Increase</a:t>
            </a:r>
            <a:r>
              <a:rPr sz="2600" spc="-6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the</a:t>
            </a:r>
            <a:r>
              <a:rPr sz="2600" spc="-1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chance</a:t>
            </a:r>
            <a:r>
              <a:rPr sz="2600" spc="-25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of</a:t>
            </a:r>
            <a:r>
              <a:rPr sz="2600" spc="-20" dirty="0">
                <a:latin typeface="Corbel"/>
                <a:cs typeface="Corbel"/>
              </a:rPr>
              <a:t> </a:t>
            </a:r>
            <a:r>
              <a:rPr sz="2600" dirty="0">
                <a:latin typeface="Corbel"/>
                <a:cs typeface="Corbel"/>
              </a:rPr>
              <a:t>project</a:t>
            </a:r>
            <a:r>
              <a:rPr sz="2600" spc="-40" dirty="0">
                <a:latin typeface="Corbel"/>
                <a:cs typeface="Corbel"/>
              </a:rPr>
              <a:t> </a:t>
            </a:r>
            <a:r>
              <a:rPr sz="2600" spc="-10" dirty="0">
                <a:latin typeface="Corbel"/>
                <a:cs typeface="Corbel"/>
              </a:rPr>
              <a:t>success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837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Benefits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95" dirty="0"/>
              <a:t> </a:t>
            </a:r>
            <a:r>
              <a:rPr sz="4000" dirty="0"/>
              <a:t>Project</a:t>
            </a:r>
            <a:r>
              <a:rPr sz="4000" spc="-80" dirty="0"/>
              <a:t> </a:t>
            </a:r>
            <a:r>
              <a:rPr sz="4000" dirty="0"/>
              <a:t>Risk</a:t>
            </a:r>
            <a:r>
              <a:rPr sz="4000" spc="-85" dirty="0"/>
              <a:t> </a:t>
            </a:r>
            <a:r>
              <a:rPr sz="4000" spc="-10" dirty="0"/>
              <a:t>Management</a:t>
            </a:r>
            <a:endParaRPr sz="4000"/>
          </a:p>
        </p:txBody>
      </p:sp>
      <p:grpSp>
        <p:nvGrpSpPr>
          <p:cNvPr id="8" name="object 8"/>
          <p:cNvGrpSpPr/>
          <p:nvPr/>
        </p:nvGrpSpPr>
        <p:grpSpPr>
          <a:xfrm>
            <a:off x="9351264" y="5585459"/>
            <a:ext cx="2463165" cy="561340"/>
            <a:chOff x="9351264" y="5585459"/>
            <a:chExt cx="2463165" cy="5613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3642" y="5710458"/>
              <a:ext cx="440375" cy="4358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397615" y="5733922"/>
              <a:ext cx="338455" cy="334645"/>
            </a:xfrm>
            <a:custGeom>
              <a:avLst/>
              <a:gdLst/>
              <a:ahLst/>
              <a:cxnLst/>
              <a:rect l="l" t="t" r="r" b="b"/>
              <a:pathLst>
                <a:path w="338454" h="334645">
                  <a:moveTo>
                    <a:pt x="274192" y="0"/>
                  </a:moveTo>
                  <a:lnTo>
                    <a:pt x="64134" y="0"/>
                  </a:lnTo>
                  <a:lnTo>
                    <a:pt x="39379" y="4133"/>
                  </a:lnTo>
                  <a:lnTo>
                    <a:pt x="18970" y="15827"/>
                  </a:lnTo>
                  <a:lnTo>
                    <a:pt x="5109" y="34022"/>
                  </a:lnTo>
                  <a:lnTo>
                    <a:pt x="0" y="57657"/>
                  </a:lnTo>
                  <a:lnTo>
                    <a:pt x="0" y="270890"/>
                  </a:lnTo>
                  <a:lnTo>
                    <a:pt x="5109" y="295433"/>
                  </a:lnTo>
                  <a:lnTo>
                    <a:pt x="18970" y="315623"/>
                  </a:lnTo>
                  <a:lnTo>
                    <a:pt x="39379" y="329312"/>
                  </a:lnTo>
                  <a:lnTo>
                    <a:pt x="64134" y="334352"/>
                  </a:lnTo>
                  <a:lnTo>
                    <a:pt x="274192" y="334352"/>
                  </a:lnTo>
                  <a:lnTo>
                    <a:pt x="299001" y="329312"/>
                  </a:lnTo>
                  <a:lnTo>
                    <a:pt x="319404" y="315623"/>
                  </a:lnTo>
                  <a:lnTo>
                    <a:pt x="333236" y="295433"/>
                  </a:lnTo>
                  <a:lnTo>
                    <a:pt x="338327" y="270890"/>
                  </a:lnTo>
                  <a:lnTo>
                    <a:pt x="338327" y="258000"/>
                  </a:lnTo>
                  <a:lnTo>
                    <a:pt x="140065" y="258000"/>
                  </a:lnTo>
                  <a:lnTo>
                    <a:pt x="133689" y="256905"/>
                  </a:lnTo>
                  <a:lnTo>
                    <a:pt x="128396" y="253618"/>
                  </a:lnTo>
                  <a:lnTo>
                    <a:pt x="52577" y="172973"/>
                  </a:lnTo>
                  <a:lnTo>
                    <a:pt x="46735" y="167131"/>
                  </a:lnTo>
                  <a:lnTo>
                    <a:pt x="46735" y="161416"/>
                  </a:lnTo>
                  <a:lnTo>
                    <a:pt x="52577" y="155701"/>
                  </a:lnTo>
                  <a:lnTo>
                    <a:pt x="75818" y="132587"/>
                  </a:lnTo>
                  <a:lnTo>
                    <a:pt x="81660" y="126872"/>
                  </a:lnTo>
                  <a:lnTo>
                    <a:pt x="192467" y="126872"/>
                  </a:lnTo>
                  <a:lnTo>
                    <a:pt x="244982" y="74929"/>
                  </a:lnTo>
                  <a:lnTo>
                    <a:pt x="250825" y="69214"/>
                  </a:lnTo>
                  <a:lnTo>
                    <a:pt x="338327" y="69214"/>
                  </a:lnTo>
                  <a:lnTo>
                    <a:pt x="338327" y="57657"/>
                  </a:lnTo>
                  <a:lnTo>
                    <a:pt x="333236" y="34022"/>
                  </a:lnTo>
                  <a:lnTo>
                    <a:pt x="319404" y="15827"/>
                  </a:lnTo>
                  <a:lnTo>
                    <a:pt x="299001" y="4133"/>
                  </a:lnTo>
                  <a:lnTo>
                    <a:pt x="274192" y="0"/>
                  </a:lnTo>
                  <a:close/>
                </a:path>
                <a:path w="338454" h="334645">
                  <a:moveTo>
                    <a:pt x="338327" y="69214"/>
                  </a:moveTo>
                  <a:lnTo>
                    <a:pt x="256666" y="69214"/>
                  </a:lnTo>
                  <a:lnTo>
                    <a:pt x="262508" y="74929"/>
                  </a:lnTo>
                  <a:lnTo>
                    <a:pt x="285876" y="98043"/>
                  </a:lnTo>
                  <a:lnTo>
                    <a:pt x="289163" y="103243"/>
                  </a:lnTo>
                  <a:lnTo>
                    <a:pt x="290258" y="109537"/>
                  </a:lnTo>
                  <a:lnTo>
                    <a:pt x="289163" y="115831"/>
                  </a:lnTo>
                  <a:lnTo>
                    <a:pt x="285876" y="121030"/>
                  </a:lnTo>
                  <a:lnTo>
                    <a:pt x="151637" y="253618"/>
                  </a:lnTo>
                  <a:lnTo>
                    <a:pt x="146417" y="256905"/>
                  </a:lnTo>
                  <a:lnTo>
                    <a:pt x="140065" y="258000"/>
                  </a:lnTo>
                  <a:lnTo>
                    <a:pt x="338327" y="258000"/>
                  </a:lnTo>
                  <a:lnTo>
                    <a:pt x="338327" y="69214"/>
                  </a:lnTo>
                  <a:close/>
                </a:path>
                <a:path w="338454" h="334645">
                  <a:moveTo>
                    <a:pt x="192467" y="126872"/>
                  </a:moveTo>
                  <a:lnTo>
                    <a:pt x="87502" y="126872"/>
                  </a:lnTo>
                  <a:lnTo>
                    <a:pt x="140080" y="178688"/>
                  </a:lnTo>
                  <a:lnTo>
                    <a:pt x="192467" y="126872"/>
                  </a:lnTo>
                  <a:close/>
                </a:path>
              </a:pathLst>
            </a:custGeom>
            <a:solidFill>
              <a:srgbClr val="FF2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97615" y="5733922"/>
              <a:ext cx="338455" cy="334645"/>
            </a:xfrm>
            <a:custGeom>
              <a:avLst/>
              <a:gdLst/>
              <a:ahLst/>
              <a:cxnLst/>
              <a:rect l="l" t="t" r="r" b="b"/>
              <a:pathLst>
                <a:path w="338454" h="334645">
                  <a:moveTo>
                    <a:pt x="338327" y="270890"/>
                  </a:moveTo>
                  <a:lnTo>
                    <a:pt x="333236" y="295433"/>
                  </a:lnTo>
                  <a:lnTo>
                    <a:pt x="319404" y="315623"/>
                  </a:lnTo>
                  <a:lnTo>
                    <a:pt x="299001" y="329312"/>
                  </a:lnTo>
                  <a:lnTo>
                    <a:pt x="274192" y="334352"/>
                  </a:lnTo>
                  <a:lnTo>
                    <a:pt x="152753" y="334352"/>
                  </a:lnTo>
                  <a:lnTo>
                    <a:pt x="90392" y="334352"/>
                  </a:lnTo>
                  <a:lnTo>
                    <a:pt x="67417" y="334352"/>
                  </a:lnTo>
                  <a:lnTo>
                    <a:pt x="64134" y="334352"/>
                  </a:lnTo>
                  <a:lnTo>
                    <a:pt x="39379" y="329312"/>
                  </a:lnTo>
                  <a:lnTo>
                    <a:pt x="18970" y="315623"/>
                  </a:lnTo>
                  <a:lnTo>
                    <a:pt x="5109" y="295433"/>
                  </a:lnTo>
                  <a:lnTo>
                    <a:pt x="0" y="270890"/>
                  </a:lnTo>
                  <a:lnTo>
                    <a:pt x="0" y="147615"/>
                  </a:lnTo>
                  <a:lnTo>
                    <a:pt x="0" y="84312"/>
                  </a:lnTo>
                  <a:lnTo>
                    <a:pt x="0" y="60989"/>
                  </a:lnTo>
                  <a:lnTo>
                    <a:pt x="0" y="57657"/>
                  </a:lnTo>
                  <a:lnTo>
                    <a:pt x="5109" y="34022"/>
                  </a:lnTo>
                  <a:lnTo>
                    <a:pt x="18970" y="15827"/>
                  </a:lnTo>
                  <a:lnTo>
                    <a:pt x="39379" y="4133"/>
                  </a:lnTo>
                  <a:lnTo>
                    <a:pt x="64134" y="0"/>
                  </a:lnTo>
                  <a:lnTo>
                    <a:pt x="185574" y="0"/>
                  </a:lnTo>
                  <a:lnTo>
                    <a:pt x="247935" y="0"/>
                  </a:lnTo>
                  <a:lnTo>
                    <a:pt x="270910" y="0"/>
                  </a:lnTo>
                  <a:lnTo>
                    <a:pt x="274192" y="0"/>
                  </a:lnTo>
                  <a:lnTo>
                    <a:pt x="299001" y="4133"/>
                  </a:lnTo>
                  <a:lnTo>
                    <a:pt x="319404" y="15827"/>
                  </a:lnTo>
                  <a:lnTo>
                    <a:pt x="333236" y="34022"/>
                  </a:lnTo>
                  <a:lnTo>
                    <a:pt x="338327" y="57657"/>
                  </a:lnTo>
                  <a:lnTo>
                    <a:pt x="338327" y="270890"/>
                  </a:lnTo>
                  <a:close/>
                </a:path>
                <a:path w="338454" h="334645">
                  <a:moveTo>
                    <a:pt x="285876" y="121030"/>
                  </a:moveTo>
                  <a:lnTo>
                    <a:pt x="289163" y="115831"/>
                  </a:lnTo>
                  <a:lnTo>
                    <a:pt x="290258" y="109537"/>
                  </a:lnTo>
                  <a:lnTo>
                    <a:pt x="289163" y="103243"/>
                  </a:lnTo>
                  <a:lnTo>
                    <a:pt x="285876" y="98043"/>
                  </a:lnTo>
                  <a:lnTo>
                    <a:pt x="272367" y="84681"/>
                  </a:lnTo>
                  <a:lnTo>
                    <a:pt x="265429" y="77819"/>
                  </a:lnTo>
                  <a:lnTo>
                    <a:pt x="262874" y="75291"/>
                  </a:lnTo>
                  <a:lnTo>
                    <a:pt x="262508" y="74929"/>
                  </a:lnTo>
                  <a:lnTo>
                    <a:pt x="256666" y="69214"/>
                  </a:lnTo>
                  <a:lnTo>
                    <a:pt x="250825" y="69214"/>
                  </a:lnTo>
                  <a:lnTo>
                    <a:pt x="244982" y="74929"/>
                  </a:lnTo>
                  <a:lnTo>
                    <a:pt x="184336" y="134915"/>
                  </a:lnTo>
                  <a:lnTo>
                    <a:pt x="153193" y="165719"/>
                  </a:lnTo>
                  <a:lnTo>
                    <a:pt x="141720" y="177067"/>
                  </a:lnTo>
                  <a:lnTo>
                    <a:pt x="140080" y="178688"/>
                  </a:lnTo>
                  <a:lnTo>
                    <a:pt x="113061" y="152036"/>
                  </a:lnTo>
                  <a:lnTo>
                    <a:pt x="99186" y="138350"/>
                  </a:lnTo>
                  <a:lnTo>
                    <a:pt x="94075" y="133308"/>
                  </a:lnTo>
                  <a:lnTo>
                    <a:pt x="93344" y="132587"/>
                  </a:lnTo>
                  <a:lnTo>
                    <a:pt x="87502" y="126872"/>
                  </a:lnTo>
                  <a:lnTo>
                    <a:pt x="81660" y="126872"/>
                  </a:lnTo>
                  <a:lnTo>
                    <a:pt x="75818" y="132587"/>
                  </a:lnTo>
                  <a:lnTo>
                    <a:pt x="62382" y="145950"/>
                  </a:lnTo>
                  <a:lnTo>
                    <a:pt x="55483" y="152812"/>
                  </a:lnTo>
                  <a:lnTo>
                    <a:pt x="52941" y="155340"/>
                  </a:lnTo>
                  <a:lnTo>
                    <a:pt x="52577" y="155701"/>
                  </a:lnTo>
                  <a:lnTo>
                    <a:pt x="46735" y="161416"/>
                  </a:lnTo>
                  <a:lnTo>
                    <a:pt x="46735" y="167131"/>
                  </a:lnTo>
                  <a:lnTo>
                    <a:pt x="52577" y="172973"/>
                  </a:lnTo>
                  <a:lnTo>
                    <a:pt x="96410" y="219596"/>
                  </a:lnTo>
                  <a:lnTo>
                    <a:pt x="118919" y="243538"/>
                  </a:lnTo>
                  <a:lnTo>
                    <a:pt x="127212" y="252358"/>
                  </a:lnTo>
                  <a:lnTo>
                    <a:pt x="128396" y="253618"/>
                  </a:lnTo>
                  <a:lnTo>
                    <a:pt x="133689" y="256905"/>
                  </a:lnTo>
                  <a:lnTo>
                    <a:pt x="140065" y="258000"/>
                  </a:lnTo>
                  <a:lnTo>
                    <a:pt x="146417" y="256905"/>
                  </a:lnTo>
                  <a:lnTo>
                    <a:pt x="151637" y="253618"/>
                  </a:lnTo>
                  <a:lnTo>
                    <a:pt x="285876" y="12103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1264" y="5585459"/>
              <a:ext cx="2182368" cy="49987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17689" y="5653278"/>
            <a:ext cx="3910965" cy="10045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112645">
              <a:lnSpc>
                <a:spcPct val="100499"/>
              </a:lnSpc>
              <a:spcBef>
                <a:spcPts val="85"/>
              </a:spcBef>
            </a:pPr>
            <a:r>
              <a:rPr sz="2400" b="1" i="1" dirty="0">
                <a:solidFill>
                  <a:srgbClr val="E712BE"/>
                </a:solidFill>
                <a:latin typeface="Corbel"/>
                <a:cs typeface="Corbel"/>
              </a:rPr>
              <a:t>Peter</a:t>
            </a:r>
            <a:r>
              <a:rPr sz="2400" b="1" i="1" spc="-80" dirty="0">
                <a:solidFill>
                  <a:srgbClr val="E712BE"/>
                </a:solidFill>
                <a:latin typeface="Corbel"/>
                <a:cs typeface="Corbel"/>
              </a:rPr>
              <a:t> </a:t>
            </a:r>
            <a:r>
              <a:rPr sz="2400" b="1" i="1" spc="-10" dirty="0">
                <a:solidFill>
                  <a:srgbClr val="E712BE"/>
                </a:solidFill>
                <a:latin typeface="Corbel"/>
                <a:cs typeface="Corbel"/>
              </a:rPr>
              <a:t>Drucker </a:t>
            </a:r>
            <a:r>
              <a:rPr sz="2000" dirty="0">
                <a:solidFill>
                  <a:srgbClr val="0D0D0D"/>
                </a:solidFill>
                <a:latin typeface="Corbel"/>
                <a:cs typeface="Corbel"/>
              </a:rPr>
              <a:t>“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000" b="1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decision</a:t>
            </a:r>
            <a:r>
              <a:rPr sz="2000" b="1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that</a:t>
            </a:r>
            <a:r>
              <a:rPr sz="2000" b="1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does</a:t>
            </a:r>
            <a:r>
              <a:rPr sz="2000" b="1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0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involve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risk,</a:t>
            </a:r>
            <a:r>
              <a:rPr sz="2000" b="1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probably</a:t>
            </a:r>
            <a:r>
              <a:rPr sz="20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is</a:t>
            </a:r>
            <a:r>
              <a:rPr sz="2000" b="1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not</a:t>
            </a:r>
            <a:r>
              <a:rPr sz="2000" b="1" i="1" spc="-1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dirty="0">
                <a:solidFill>
                  <a:srgbClr val="001F5F"/>
                </a:solidFill>
                <a:latin typeface="Corbel"/>
                <a:cs typeface="Corbel"/>
              </a:rPr>
              <a:t>a</a:t>
            </a:r>
            <a:r>
              <a:rPr sz="2000" b="1" i="1" spc="-2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000" b="1" i="1" spc="-10" dirty="0">
                <a:solidFill>
                  <a:srgbClr val="001F5F"/>
                </a:solidFill>
                <a:latin typeface="Corbel"/>
                <a:cs typeface="Corbel"/>
              </a:rPr>
              <a:t>decision”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0214" y="4702251"/>
            <a:ext cx="647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E62500"/>
                </a:solidFill>
                <a:latin typeface="Arial"/>
                <a:cs typeface="Arial"/>
              </a:rPr>
              <a:t>05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71516" y="5396610"/>
            <a:ext cx="654685" cy="563880"/>
          </a:xfrm>
          <a:custGeom>
            <a:avLst/>
            <a:gdLst/>
            <a:ahLst/>
            <a:cxnLst/>
            <a:rect l="l" t="t" r="r" b="b"/>
            <a:pathLst>
              <a:path w="654685" h="563879">
                <a:moveTo>
                  <a:pt x="555498" y="263397"/>
                </a:moveTo>
                <a:lnTo>
                  <a:pt x="98933" y="263525"/>
                </a:lnTo>
                <a:lnTo>
                  <a:pt x="101833" y="316700"/>
                </a:lnTo>
                <a:lnTo>
                  <a:pt x="115113" y="366873"/>
                </a:lnTo>
                <a:lnTo>
                  <a:pt x="115156" y="367037"/>
                </a:lnTo>
                <a:lnTo>
                  <a:pt x="138096" y="412956"/>
                </a:lnTo>
                <a:lnTo>
                  <a:pt x="169833" y="452822"/>
                </a:lnTo>
                <a:lnTo>
                  <a:pt x="209550" y="485013"/>
                </a:lnTo>
                <a:lnTo>
                  <a:pt x="253712" y="506348"/>
                </a:lnTo>
                <a:lnTo>
                  <a:pt x="0" y="506348"/>
                </a:lnTo>
                <a:lnTo>
                  <a:pt x="38402" y="531649"/>
                </a:lnTo>
                <a:lnTo>
                  <a:pt x="77787" y="542228"/>
                </a:lnTo>
                <a:lnTo>
                  <a:pt x="128193" y="551005"/>
                </a:lnTo>
                <a:lnTo>
                  <a:pt x="187795" y="557665"/>
                </a:lnTo>
                <a:lnTo>
                  <a:pt x="254765" y="561892"/>
                </a:lnTo>
                <a:lnTo>
                  <a:pt x="327279" y="563372"/>
                </a:lnTo>
                <a:lnTo>
                  <a:pt x="399282" y="561892"/>
                </a:lnTo>
                <a:lnTo>
                  <a:pt x="399758" y="561892"/>
                </a:lnTo>
                <a:lnTo>
                  <a:pt x="466254" y="557665"/>
                </a:lnTo>
                <a:lnTo>
                  <a:pt x="466619" y="557665"/>
                </a:lnTo>
                <a:lnTo>
                  <a:pt x="525790" y="551005"/>
                </a:lnTo>
                <a:lnTo>
                  <a:pt x="526140" y="551005"/>
                </a:lnTo>
                <a:lnTo>
                  <a:pt x="577173" y="542050"/>
                </a:lnTo>
                <a:lnTo>
                  <a:pt x="616476" y="531399"/>
                </a:lnTo>
                <a:lnTo>
                  <a:pt x="642840" y="519264"/>
                </a:lnTo>
                <a:lnTo>
                  <a:pt x="654320" y="506094"/>
                </a:lnTo>
                <a:lnTo>
                  <a:pt x="401193" y="506094"/>
                </a:lnTo>
                <a:lnTo>
                  <a:pt x="412159" y="502086"/>
                </a:lnTo>
                <a:lnTo>
                  <a:pt x="458497" y="475589"/>
                </a:lnTo>
                <a:lnTo>
                  <a:pt x="494538" y="441959"/>
                </a:lnTo>
                <a:lnTo>
                  <a:pt x="588757" y="441959"/>
                </a:lnTo>
                <a:lnTo>
                  <a:pt x="605756" y="429506"/>
                </a:lnTo>
                <a:lnTo>
                  <a:pt x="618699" y="410591"/>
                </a:lnTo>
                <a:lnTo>
                  <a:pt x="541115" y="410591"/>
                </a:lnTo>
                <a:lnTo>
                  <a:pt x="530689" y="408789"/>
                </a:lnTo>
                <a:lnTo>
                  <a:pt x="520954" y="404367"/>
                </a:lnTo>
                <a:lnTo>
                  <a:pt x="532415" y="382922"/>
                </a:lnTo>
                <a:lnTo>
                  <a:pt x="541591" y="360251"/>
                </a:lnTo>
                <a:lnTo>
                  <a:pt x="548386" y="336555"/>
                </a:lnTo>
                <a:lnTo>
                  <a:pt x="552682" y="312162"/>
                </a:lnTo>
                <a:lnTo>
                  <a:pt x="621024" y="312162"/>
                </a:lnTo>
                <a:lnTo>
                  <a:pt x="604091" y="289591"/>
                </a:lnTo>
                <a:lnTo>
                  <a:pt x="581753" y="273450"/>
                </a:lnTo>
                <a:lnTo>
                  <a:pt x="555498" y="265049"/>
                </a:lnTo>
                <a:lnTo>
                  <a:pt x="555498" y="263397"/>
                </a:lnTo>
                <a:close/>
              </a:path>
              <a:path w="654685" h="563879">
                <a:moveTo>
                  <a:pt x="654431" y="505967"/>
                </a:moveTo>
                <a:lnTo>
                  <a:pt x="401193" y="506094"/>
                </a:lnTo>
                <a:lnTo>
                  <a:pt x="654320" y="506094"/>
                </a:lnTo>
                <a:lnTo>
                  <a:pt x="654431" y="505967"/>
                </a:lnTo>
                <a:close/>
              </a:path>
              <a:path w="654685" h="563879">
                <a:moveTo>
                  <a:pt x="588757" y="441959"/>
                </a:moveTo>
                <a:lnTo>
                  <a:pt x="494538" y="441959"/>
                </a:lnTo>
                <a:lnTo>
                  <a:pt x="514540" y="452058"/>
                </a:lnTo>
                <a:lnTo>
                  <a:pt x="536162" y="456644"/>
                </a:lnTo>
                <a:lnTo>
                  <a:pt x="558403" y="455443"/>
                </a:lnTo>
                <a:lnTo>
                  <a:pt x="580263" y="448182"/>
                </a:lnTo>
                <a:lnTo>
                  <a:pt x="588757" y="441959"/>
                </a:lnTo>
                <a:close/>
              </a:path>
              <a:path w="654685" h="563879">
                <a:moveTo>
                  <a:pt x="621024" y="312162"/>
                </a:moveTo>
                <a:lnTo>
                  <a:pt x="553035" y="312162"/>
                </a:lnTo>
                <a:lnTo>
                  <a:pt x="565267" y="316700"/>
                </a:lnTo>
                <a:lnTo>
                  <a:pt x="575865" y="324945"/>
                </a:lnTo>
                <a:lnTo>
                  <a:pt x="583868" y="336167"/>
                </a:lnTo>
                <a:lnTo>
                  <a:pt x="588645" y="349757"/>
                </a:lnTo>
                <a:lnTo>
                  <a:pt x="589339" y="366873"/>
                </a:lnTo>
                <a:lnTo>
                  <a:pt x="584726" y="382922"/>
                </a:lnTo>
                <a:lnTo>
                  <a:pt x="575536" y="396388"/>
                </a:lnTo>
                <a:lnTo>
                  <a:pt x="562229" y="406145"/>
                </a:lnTo>
                <a:lnTo>
                  <a:pt x="551779" y="409725"/>
                </a:lnTo>
                <a:lnTo>
                  <a:pt x="541115" y="410591"/>
                </a:lnTo>
                <a:lnTo>
                  <a:pt x="618699" y="410591"/>
                </a:lnTo>
                <a:lnTo>
                  <a:pt x="623522" y="403542"/>
                </a:lnTo>
                <a:lnTo>
                  <a:pt x="632358" y="372816"/>
                </a:lnTo>
                <a:lnTo>
                  <a:pt x="631063" y="339851"/>
                </a:lnTo>
                <a:lnTo>
                  <a:pt x="621024" y="312162"/>
                </a:lnTo>
                <a:close/>
              </a:path>
              <a:path w="654685" h="563879">
                <a:moveTo>
                  <a:pt x="347091" y="0"/>
                </a:moveTo>
                <a:lnTo>
                  <a:pt x="300222" y="17946"/>
                </a:lnTo>
                <a:lnTo>
                  <a:pt x="269795" y="37750"/>
                </a:lnTo>
                <a:lnTo>
                  <a:pt x="257061" y="59793"/>
                </a:lnTo>
                <a:lnTo>
                  <a:pt x="263271" y="84455"/>
                </a:lnTo>
                <a:lnTo>
                  <a:pt x="287885" y="107904"/>
                </a:lnTo>
                <a:lnTo>
                  <a:pt x="318262" y="126222"/>
                </a:lnTo>
                <a:lnTo>
                  <a:pt x="344066" y="146230"/>
                </a:lnTo>
                <a:lnTo>
                  <a:pt x="354965" y="174751"/>
                </a:lnTo>
                <a:lnTo>
                  <a:pt x="353615" y="195659"/>
                </a:lnTo>
                <a:lnTo>
                  <a:pt x="353595" y="195970"/>
                </a:lnTo>
                <a:lnTo>
                  <a:pt x="347394" y="212923"/>
                </a:lnTo>
                <a:lnTo>
                  <a:pt x="347345" y="213058"/>
                </a:lnTo>
                <a:lnTo>
                  <a:pt x="334998" y="228455"/>
                </a:lnTo>
                <a:lnTo>
                  <a:pt x="315341" y="244601"/>
                </a:lnTo>
                <a:lnTo>
                  <a:pt x="346366" y="232023"/>
                </a:lnTo>
                <a:lnTo>
                  <a:pt x="367712" y="220075"/>
                </a:lnTo>
                <a:lnTo>
                  <a:pt x="382081" y="205150"/>
                </a:lnTo>
                <a:lnTo>
                  <a:pt x="392175" y="183641"/>
                </a:lnTo>
                <a:lnTo>
                  <a:pt x="381148" y="146732"/>
                </a:lnTo>
                <a:lnTo>
                  <a:pt x="348630" y="123539"/>
                </a:lnTo>
                <a:lnTo>
                  <a:pt x="313183" y="101345"/>
                </a:lnTo>
                <a:lnTo>
                  <a:pt x="293370" y="67437"/>
                </a:lnTo>
                <a:lnTo>
                  <a:pt x="296156" y="45023"/>
                </a:lnTo>
                <a:lnTo>
                  <a:pt x="306800" y="29575"/>
                </a:lnTo>
                <a:lnTo>
                  <a:pt x="324159" y="16198"/>
                </a:lnTo>
                <a:lnTo>
                  <a:pt x="347091" y="0"/>
                </a:lnTo>
                <a:close/>
              </a:path>
              <a:path w="654685" h="563879">
                <a:moveTo>
                  <a:pt x="263525" y="42671"/>
                </a:moveTo>
                <a:lnTo>
                  <a:pt x="229076" y="55766"/>
                </a:lnTo>
                <a:lnTo>
                  <a:pt x="206724" y="70278"/>
                </a:lnTo>
                <a:lnTo>
                  <a:pt x="197373" y="86481"/>
                </a:lnTo>
                <a:lnTo>
                  <a:pt x="201930" y="104647"/>
                </a:lnTo>
                <a:lnTo>
                  <a:pt x="220001" y="121791"/>
                </a:lnTo>
                <a:lnTo>
                  <a:pt x="242300" y="135207"/>
                </a:lnTo>
                <a:lnTo>
                  <a:pt x="261240" y="149885"/>
                </a:lnTo>
                <a:lnTo>
                  <a:pt x="266473" y="163575"/>
                </a:lnTo>
                <a:lnTo>
                  <a:pt x="269231" y="170941"/>
                </a:lnTo>
                <a:lnTo>
                  <a:pt x="268231" y="186422"/>
                </a:lnTo>
                <a:lnTo>
                  <a:pt x="263651" y="198993"/>
                </a:lnTo>
                <a:lnTo>
                  <a:pt x="254595" y="210302"/>
                </a:lnTo>
                <a:lnTo>
                  <a:pt x="240157" y="222122"/>
                </a:lnTo>
                <a:lnTo>
                  <a:pt x="262915" y="212923"/>
                </a:lnTo>
                <a:lnTo>
                  <a:pt x="278590" y="204152"/>
                </a:lnTo>
                <a:lnTo>
                  <a:pt x="289145" y="193190"/>
                </a:lnTo>
                <a:lnTo>
                  <a:pt x="296545" y="177419"/>
                </a:lnTo>
                <a:lnTo>
                  <a:pt x="288428" y="150332"/>
                </a:lnTo>
                <a:lnTo>
                  <a:pt x="264572" y="133318"/>
                </a:lnTo>
                <a:lnTo>
                  <a:pt x="238573" y="117018"/>
                </a:lnTo>
                <a:lnTo>
                  <a:pt x="224028" y="92075"/>
                </a:lnTo>
                <a:lnTo>
                  <a:pt x="226056" y="75640"/>
                </a:lnTo>
                <a:lnTo>
                  <a:pt x="233870" y="64325"/>
                </a:lnTo>
                <a:lnTo>
                  <a:pt x="246490" y="54647"/>
                </a:lnTo>
                <a:lnTo>
                  <a:pt x="263525" y="42671"/>
                </a:lnTo>
                <a:close/>
              </a:path>
              <a:path w="654685" h="563879">
                <a:moveTo>
                  <a:pt x="428244" y="17018"/>
                </a:moveTo>
                <a:lnTo>
                  <a:pt x="388961" y="32000"/>
                </a:lnTo>
                <a:lnTo>
                  <a:pt x="363442" y="48577"/>
                </a:lnTo>
                <a:lnTo>
                  <a:pt x="352734" y="67059"/>
                </a:lnTo>
                <a:lnTo>
                  <a:pt x="357886" y="87756"/>
                </a:lnTo>
                <a:lnTo>
                  <a:pt x="378590" y="107426"/>
                </a:lnTo>
                <a:lnTo>
                  <a:pt x="404082" y="122809"/>
                </a:lnTo>
                <a:lnTo>
                  <a:pt x="425715" y="139620"/>
                </a:lnTo>
                <a:lnTo>
                  <a:pt x="434848" y="163575"/>
                </a:lnTo>
                <a:lnTo>
                  <a:pt x="433703" y="181350"/>
                </a:lnTo>
                <a:lnTo>
                  <a:pt x="428450" y="195659"/>
                </a:lnTo>
                <a:lnTo>
                  <a:pt x="418078" y="208563"/>
                </a:lnTo>
                <a:lnTo>
                  <a:pt x="401574" y="222122"/>
                </a:lnTo>
                <a:lnTo>
                  <a:pt x="427620" y="211572"/>
                </a:lnTo>
                <a:lnTo>
                  <a:pt x="445547" y="201533"/>
                </a:lnTo>
                <a:lnTo>
                  <a:pt x="457616" y="188993"/>
                </a:lnTo>
                <a:lnTo>
                  <a:pt x="466090" y="170941"/>
                </a:lnTo>
                <a:lnTo>
                  <a:pt x="456775" y="140039"/>
                </a:lnTo>
                <a:lnTo>
                  <a:pt x="429482" y="120602"/>
                </a:lnTo>
                <a:lnTo>
                  <a:pt x="399760" y="101951"/>
                </a:lnTo>
                <a:lnTo>
                  <a:pt x="383159" y="73406"/>
                </a:lnTo>
                <a:lnTo>
                  <a:pt x="385524" y="54647"/>
                </a:lnTo>
                <a:lnTo>
                  <a:pt x="394462" y="41735"/>
                </a:lnTo>
                <a:lnTo>
                  <a:pt x="409019" y="30561"/>
                </a:lnTo>
                <a:lnTo>
                  <a:pt x="428244" y="17018"/>
                </a:lnTo>
                <a:close/>
              </a:path>
            </a:pathLst>
          </a:custGeom>
          <a:solidFill>
            <a:srgbClr val="E62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9833" y="2380614"/>
            <a:ext cx="6477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07A297"/>
                </a:solidFill>
                <a:latin typeface="Arial"/>
                <a:cs typeface="Arial"/>
              </a:rPr>
              <a:t>02</a:t>
            </a:r>
            <a:endParaRPr sz="4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22952" y="3122167"/>
            <a:ext cx="554990" cy="510540"/>
          </a:xfrm>
          <a:custGeom>
            <a:avLst/>
            <a:gdLst/>
            <a:ahLst/>
            <a:cxnLst/>
            <a:rect l="l" t="t" r="r" b="b"/>
            <a:pathLst>
              <a:path w="554989" h="510539">
                <a:moveTo>
                  <a:pt x="379349" y="195072"/>
                </a:moveTo>
                <a:lnTo>
                  <a:pt x="49402" y="195072"/>
                </a:lnTo>
                <a:lnTo>
                  <a:pt x="30164" y="199197"/>
                </a:lnTo>
                <a:lnTo>
                  <a:pt x="14462" y="210454"/>
                </a:lnTo>
                <a:lnTo>
                  <a:pt x="3879" y="227165"/>
                </a:lnTo>
                <a:lnTo>
                  <a:pt x="0" y="247650"/>
                </a:lnTo>
                <a:lnTo>
                  <a:pt x="0" y="457962"/>
                </a:lnTo>
                <a:lnTo>
                  <a:pt x="3879" y="478446"/>
                </a:lnTo>
                <a:lnTo>
                  <a:pt x="14462" y="495157"/>
                </a:lnTo>
                <a:lnTo>
                  <a:pt x="30164" y="506414"/>
                </a:lnTo>
                <a:lnTo>
                  <a:pt x="49402" y="510540"/>
                </a:lnTo>
                <a:lnTo>
                  <a:pt x="379349" y="510540"/>
                </a:lnTo>
                <a:lnTo>
                  <a:pt x="398567" y="506414"/>
                </a:lnTo>
                <a:lnTo>
                  <a:pt x="414226" y="495157"/>
                </a:lnTo>
                <a:lnTo>
                  <a:pt x="424765" y="478446"/>
                </a:lnTo>
                <a:lnTo>
                  <a:pt x="428625" y="457962"/>
                </a:lnTo>
                <a:lnTo>
                  <a:pt x="428625" y="436245"/>
                </a:lnTo>
                <a:lnTo>
                  <a:pt x="461010" y="436245"/>
                </a:lnTo>
                <a:lnTo>
                  <a:pt x="466217" y="431673"/>
                </a:lnTo>
                <a:lnTo>
                  <a:pt x="467233" y="425450"/>
                </a:lnTo>
                <a:lnTo>
                  <a:pt x="554736" y="425450"/>
                </a:lnTo>
                <a:lnTo>
                  <a:pt x="554736" y="280289"/>
                </a:lnTo>
                <a:lnTo>
                  <a:pt x="467233" y="280289"/>
                </a:lnTo>
                <a:lnTo>
                  <a:pt x="466217" y="273939"/>
                </a:lnTo>
                <a:lnTo>
                  <a:pt x="461010" y="269367"/>
                </a:lnTo>
                <a:lnTo>
                  <a:pt x="428625" y="269367"/>
                </a:lnTo>
                <a:lnTo>
                  <a:pt x="428625" y="247650"/>
                </a:lnTo>
                <a:lnTo>
                  <a:pt x="424765" y="227165"/>
                </a:lnTo>
                <a:lnTo>
                  <a:pt x="414226" y="210454"/>
                </a:lnTo>
                <a:lnTo>
                  <a:pt x="398567" y="199197"/>
                </a:lnTo>
                <a:lnTo>
                  <a:pt x="379349" y="195072"/>
                </a:lnTo>
                <a:close/>
              </a:path>
              <a:path w="554989" h="510539">
                <a:moveTo>
                  <a:pt x="554736" y="425450"/>
                </a:moveTo>
                <a:lnTo>
                  <a:pt x="467233" y="425450"/>
                </a:lnTo>
                <a:lnTo>
                  <a:pt x="554736" y="503047"/>
                </a:lnTo>
                <a:lnTo>
                  <a:pt x="554736" y="425450"/>
                </a:lnTo>
                <a:close/>
              </a:path>
              <a:path w="554989" h="510539">
                <a:moveTo>
                  <a:pt x="554736" y="202692"/>
                </a:moveTo>
                <a:lnTo>
                  <a:pt x="467233" y="280289"/>
                </a:lnTo>
                <a:lnTo>
                  <a:pt x="554736" y="280289"/>
                </a:lnTo>
                <a:lnTo>
                  <a:pt x="554736" y="202692"/>
                </a:lnTo>
                <a:close/>
              </a:path>
              <a:path w="554989" h="510539">
                <a:moveTo>
                  <a:pt x="117601" y="72898"/>
                </a:moveTo>
                <a:lnTo>
                  <a:pt x="94325" y="77914"/>
                </a:lnTo>
                <a:lnTo>
                  <a:pt x="75311" y="91598"/>
                </a:lnTo>
                <a:lnTo>
                  <a:pt x="62578" y="111760"/>
                </a:lnTo>
                <a:lnTo>
                  <a:pt x="62487" y="111902"/>
                </a:lnTo>
                <a:lnTo>
                  <a:pt x="57785" y="136779"/>
                </a:lnTo>
                <a:lnTo>
                  <a:pt x="60374" y="155477"/>
                </a:lnTo>
                <a:lnTo>
                  <a:pt x="67643" y="171973"/>
                </a:lnTo>
                <a:lnTo>
                  <a:pt x="78841" y="185445"/>
                </a:lnTo>
                <a:lnTo>
                  <a:pt x="93218" y="195072"/>
                </a:lnTo>
                <a:lnTo>
                  <a:pt x="141986" y="195072"/>
                </a:lnTo>
                <a:lnTo>
                  <a:pt x="156382" y="185445"/>
                </a:lnTo>
                <a:lnTo>
                  <a:pt x="167624" y="171973"/>
                </a:lnTo>
                <a:lnTo>
                  <a:pt x="172134" y="161798"/>
                </a:lnTo>
                <a:lnTo>
                  <a:pt x="117601" y="161798"/>
                </a:lnTo>
                <a:lnTo>
                  <a:pt x="108485" y="159835"/>
                </a:lnTo>
                <a:lnTo>
                  <a:pt x="101060" y="154479"/>
                </a:lnTo>
                <a:lnTo>
                  <a:pt x="96063" y="146528"/>
                </a:lnTo>
                <a:lnTo>
                  <a:pt x="94234" y="136779"/>
                </a:lnTo>
                <a:lnTo>
                  <a:pt x="96063" y="127029"/>
                </a:lnTo>
                <a:lnTo>
                  <a:pt x="101060" y="119078"/>
                </a:lnTo>
                <a:lnTo>
                  <a:pt x="108485" y="113722"/>
                </a:lnTo>
                <a:lnTo>
                  <a:pt x="117601" y="111760"/>
                </a:lnTo>
                <a:lnTo>
                  <a:pt x="172750" y="111760"/>
                </a:lnTo>
                <a:lnTo>
                  <a:pt x="160004" y="91598"/>
                </a:lnTo>
                <a:lnTo>
                  <a:pt x="140952" y="77914"/>
                </a:lnTo>
                <a:lnTo>
                  <a:pt x="117601" y="72898"/>
                </a:lnTo>
                <a:close/>
              </a:path>
              <a:path w="554989" h="510539">
                <a:moveTo>
                  <a:pt x="271780" y="0"/>
                </a:moveTo>
                <a:lnTo>
                  <a:pt x="234289" y="8070"/>
                </a:lnTo>
                <a:lnTo>
                  <a:pt x="203692" y="30083"/>
                </a:lnTo>
                <a:lnTo>
                  <a:pt x="183072" y="62739"/>
                </a:lnTo>
                <a:lnTo>
                  <a:pt x="175513" y="102743"/>
                </a:lnTo>
                <a:lnTo>
                  <a:pt x="179492" y="132081"/>
                </a:lnTo>
                <a:lnTo>
                  <a:pt x="190674" y="158099"/>
                </a:lnTo>
                <a:lnTo>
                  <a:pt x="207928" y="179520"/>
                </a:lnTo>
                <a:lnTo>
                  <a:pt x="230124" y="195072"/>
                </a:lnTo>
                <a:lnTo>
                  <a:pt x="313563" y="195072"/>
                </a:lnTo>
                <a:lnTo>
                  <a:pt x="335758" y="179520"/>
                </a:lnTo>
                <a:lnTo>
                  <a:pt x="353012" y="158099"/>
                </a:lnTo>
                <a:lnTo>
                  <a:pt x="354697" y="154178"/>
                </a:lnTo>
                <a:lnTo>
                  <a:pt x="271780" y="154178"/>
                </a:lnTo>
                <a:lnTo>
                  <a:pt x="253061" y="150141"/>
                </a:lnTo>
                <a:lnTo>
                  <a:pt x="237759" y="139128"/>
                </a:lnTo>
                <a:lnTo>
                  <a:pt x="227435" y="122781"/>
                </a:lnTo>
                <a:lnTo>
                  <a:pt x="223647" y="102743"/>
                </a:lnTo>
                <a:lnTo>
                  <a:pt x="227435" y="82778"/>
                </a:lnTo>
                <a:lnTo>
                  <a:pt x="237759" y="66468"/>
                </a:lnTo>
                <a:lnTo>
                  <a:pt x="253061" y="55469"/>
                </a:lnTo>
                <a:lnTo>
                  <a:pt x="271780" y="51435"/>
                </a:lnTo>
                <a:lnTo>
                  <a:pt x="353469" y="51435"/>
                </a:lnTo>
                <a:lnTo>
                  <a:pt x="339979" y="30083"/>
                </a:lnTo>
                <a:lnTo>
                  <a:pt x="309344" y="8070"/>
                </a:lnTo>
                <a:lnTo>
                  <a:pt x="271780" y="0"/>
                </a:lnTo>
                <a:close/>
              </a:path>
              <a:path w="554989" h="510539">
                <a:moveTo>
                  <a:pt x="172750" y="111760"/>
                </a:moveTo>
                <a:lnTo>
                  <a:pt x="117601" y="111760"/>
                </a:lnTo>
                <a:lnTo>
                  <a:pt x="126738" y="113722"/>
                </a:lnTo>
                <a:lnTo>
                  <a:pt x="134207" y="119078"/>
                </a:lnTo>
                <a:lnTo>
                  <a:pt x="139247" y="127029"/>
                </a:lnTo>
                <a:lnTo>
                  <a:pt x="141097" y="136779"/>
                </a:lnTo>
                <a:lnTo>
                  <a:pt x="139247" y="146528"/>
                </a:lnTo>
                <a:lnTo>
                  <a:pt x="134207" y="154479"/>
                </a:lnTo>
                <a:lnTo>
                  <a:pt x="126738" y="159835"/>
                </a:lnTo>
                <a:lnTo>
                  <a:pt x="117601" y="161798"/>
                </a:lnTo>
                <a:lnTo>
                  <a:pt x="172134" y="161798"/>
                </a:lnTo>
                <a:lnTo>
                  <a:pt x="174936" y="155477"/>
                </a:lnTo>
                <a:lnTo>
                  <a:pt x="177546" y="136779"/>
                </a:lnTo>
                <a:lnTo>
                  <a:pt x="172841" y="111902"/>
                </a:lnTo>
                <a:lnTo>
                  <a:pt x="172750" y="111760"/>
                </a:lnTo>
                <a:close/>
              </a:path>
              <a:path w="554989" h="510539">
                <a:moveTo>
                  <a:pt x="353469" y="51435"/>
                </a:moveTo>
                <a:lnTo>
                  <a:pt x="271780" y="51435"/>
                </a:lnTo>
                <a:lnTo>
                  <a:pt x="290572" y="55469"/>
                </a:lnTo>
                <a:lnTo>
                  <a:pt x="305911" y="66468"/>
                </a:lnTo>
                <a:lnTo>
                  <a:pt x="316249" y="82778"/>
                </a:lnTo>
                <a:lnTo>
                  <a:pt x="320039" y="102743"/>
                </a:lnTo>
                <a:lnTo>
                  <a:pt x="316249" y="122781"/>
                </a:lnTo>
                <a:lnTo>
                  <a:pt x="305911" y="139128"/>
                </a:lnTo>
                <a:lnTo>
                  <a:pt x="290572" y="150141"/>
                </a:lnTo>
                <a:lnTo>
                  <a:pt x="271780" y="154178"/>
                </a:lnTo>
                <a:lnTo>
                  <a:pt x="354697" y="154178"/>
                </a:lnTo>
                <a:lnTo>
                  <a:pt x="364194" y="132081"/>
                </a:lnTo>
                <a:lnTo>
                  <a:pt x="368173" y="102743"/>
                </a:lnTo>
                <a:lnTo>
                  <a:pt x="360612" y="62739"/>
                </a:lnTo>
                <a:lnTo>
                  <a:pt x="353469" y="51435"/>
                </a:lnTo>
                <a:close/>
              </a:path>
            </a:pathLst>
          </a:custGeom>
          <a:solidFill>
            <a:srgbClr val="07A2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24009" y="2871342"/>
            <a:ext cx="2669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rbel"/>
                <a:cs typeface="Corbel"/>
              </a:rPr>
              <a:t>No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clear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definition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objectives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59343" y="3114675"/>
            <a:ext cx="539115" cy="546100"/>
          </a:xfrm>
          <a:custGeom>
            <a:avLst/>
            <a:gdLst/>
            <a:ahLst/>
            <a:cxnLst/>
            <a:rect l="l" t="t" r="r" b="b"/>
            <a:pathLst>
              <a:path w="539115" h="546100">
                <a:moveTo>
                  <a:pt x="40766" y="275336"/>
                </a:moveTo>
                <a:lnTo>
                  <a:pt x="53848" y="324103"/>
                </a:lnTo>
                <a:lnTo>
                  <a:pt x="74295" y="343662"/>
                </a:lnTo>
                <a:lnTo>
                  <a:pt x="122935" y="525526"/>
                </a:lnTo>
                <a:lnTo>
                  <a:pt x="127607" y="535136"/>
                </a:lnTo>
                <a:lnTo>
                  <a:pt x="135064" y="542020"/>
                </a:lnTo>
                <a:lnTo>
                  <a:pt x="144331" y="545546"/>
                </a:lnTo>
                <a:lnTo>
                  <a:pt x="154431" y="545084"/>
                </a:lnTo>
                <a:lnTo>
                  <a:pt x="177418" y="538861"/>
                </a:lnTo>
                <a:lnTo>
                  <a:pt x="186370" y="534296"/>
                </a:lnTo>
                <a:lnTo>
                  <a:pt x="192643" y="526637"/>
                </a:lnTo>
                <a:lnTo>
                  <a:pt x="195653" y="516929"/>
                </a:lnTo>
                <a:lnTo>
                  <a:pt x="194817" y="506222"/>
                </a:lnTo>
                <a:lnTo>
                  <a:pt x="145414" y="321690"/>
                </a:lnTo>
                <a:lnTo>
                  <a:pt x="150622" y="315722"/>
                </a:lnTo>
                <a:lnTo>
                  <a:pt x="152526" y="306959"/>
                </a:lnTo>
                <a:lnTo>
                  <a:pt x="150113" y="298323"/>
                </a:lnTo>
                <a:lnTo>
                  <a:pt x="144399" y="276987"/>
                </a:lnTo>
                <a:lnTo>
                  <a:pt x="40766" y="275336"/>
                </a:lnTo>
                <a:close/>
              </a:path>
              <a:path w="539115" h="546100">
                <a:moveTo>
                  <a:pt x="381634" y="20574"/>
                </a:moveTo>
                <a:lnTo>
                  <a:pt x="158368" y="82803"/>
                </a:lnTo>
                <a:lnTo>
                  <a:pt x="161017" y="250523"/>
                </a:lnTo>
                <a:lnTo>
                  <a:pt x="161104" y="256041"/>
                </a:lnTo>
                <a:lnTo>
                  <a:pt x="161162" y="259714"/>
                </a:lnTo>
                <a:lnTo>
                  <a:pt x="386460" y="329438"/>
                </a:lnTo>
                <a:lnTo>
                  <a:pt x="381634" y="20574"/>
                </a:lnTo>
                <a:close/>
              </a:path>
              <a:path w="539115" h="546100">
                <a:moveTo>
                  <a:pt x="23367" y="79883"/>
                </a:moveTo>
                <a:lnTo>
                  <a:pt x="13603" y="81787"/>
                </a:lnTo>
                <a:lnTo>
                  <a:pt x="14006" y="81787"/>
                </a:lnTo>
                <a:lnTo>
                  <a:pt x="6683" y="86915"/>
                </a:lnTo>
                <a:lnTo>
                  <a:pt x="1704" y="94795"/>
                </a:lnTo>
                <a:lnTo>
                  <a:pt x="0" y="104521"/>
                </a:lnTo>
                <a:lnTo>
                  <a:pt x="2031" y="232663"/>
                </a:lnTo>
                <a:lnTo>
                  <a:pt x="144779" y="260096"/>
                </a:lnTo>
                <a:lnTo>
                  <a:pt x="142189" y="94795"/>
                </a:lnTo>
                <a:lnTo>
                  <a:pt x="142066" y="86915"/>
                </a:lnTo>
                <a:lnTo>
                  <a:pt x="141985" y="81787"/>
                </a:lnTo>
                <a:lnTo>
                  <a:pt x="23367" y="79883"/>
                </a:lnTo>
                <a:close/>
              </a:path>
              <a:path w="539115" h="546100">
                <a:moveTo>
                  <a:pt x="477900" y="118490"/>
                </a:moveTo>
                <a:lnTo>
                  <a:pt x="478664" y="150113"/>
                </a:lnTo>
                <a:lnTo>
                  <a:pt x="480240" y="213360"/>
                </a:lnTo>
                <a:lnTo>
                  <a:pt x="481075" y="244983"/>
                </a:lnTo>
                <a:lnTo>
                  <a:pt x="504053" y="240053"/>
                </a:lnTo>
                <a:lnTo>
                  <a:pt x="522589" y="226599"/>
                </a:lnTo>
                <a:lnTo>
                  <a:pt x="534814" y="206621"/>
                </a:lnTo>
                <a:lnTo>
                  <a:pt x="538860" y="182117"/>
                </a:lnTo>
                <a:lnTo>
                  <a:pt x="533568" y="157549"/>
                </a:lnTo>
                <a:lnTo>
                  <a:pt x="520334" y="137398"/>
                </a:lnTo>
                <a:lnTo>
                  <a:pt x="501124" y="123699"/>
                </a:lnTo>
                <a:lnTo>
                  <a:pt x="477900" y="118490"/>
                </a:lnTo>
                <a:close/>
              </a:path>
              <a:path w="539115" h="546100">
                <a:moveTo>
                  <a:pt x="411099" y="0"/>
                </a:moveTo>
                <a:lnTo>
                  <a:pt x="403486" y="0"/>
                </a:lnTo>
                <a:lnTo>
                  <a:pt x="397763" y="6096"/>
                </a:lnTo>
                <a:lnTo>
                  <a:pt x="402989" y="337565"/>
                </a:lnTo>
                <a:lnTo>
                  <a:pt x="403098" y="344424"/>
                </a:lnTo>
                <a:lnTo>
                  <a:pt x="409313" y="351027"/>
                </a:lnTo>
                <a:lnTo>
                  <a:pt x="416559" y="351027"/>
                </a:lnTo>
                <a:lnTo>
                  <a:pt x="460057" y="351663"/>
                </a:lnTo>
                <a:lnTo>
                  <a:pt x="458724" y="351663"/>
                </a:lnTo>
                <a:lnTo>
                  <a:pt x="464692" y="345439"/>
                </a:lnTo>
                <a:lnTo>
                  <a:pt x="459467" y="13970"/>
                </a:lnTo>
                <a:lnTo>
                  <a:pt x="459358" y="7112"/>
                </a:lnTo>
                <a:lnTo>
                  <a:pt x="453262" y="635"/>
                </a:lnTo>
                <a:lnTo>
                  <a:pt x="454437" y="635"/>
                </a:lnTo>
                <a:lnTo>
                  <a:pt x="411099" y="0"/>
                </a:lnTo>
                <a:close/>
              </a:path>
            </a:pathLst>
          </a:custGeom>
          <a:solidFill>
            <a:srgbClr val="90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41975" y="2380614"/>
            <a:ext cx="3392804" cy="3955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6535">
              <a:lnSpc>
                <a:spcPts val="457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90C220"/>
                </a:solidFill>
                <a:latin typeface="Arial"/>
                <a:cs typeface="Arial"/>
              </a:rPr>
              <a:t>03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ts val="2170"/>
              </a:lnSpc>
            </a:pPr>
            <a:r>
              <a:rPr sz="2400" dirty="0">
                <a:latin typeface="Corbel"/>
                <a:cs typeface="Corbel"/>
              </a:rPr>
              <a:t>Organization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the</a:t>
            </a:r>
            <a:endParaRPr sz="2400">
              <a:latin typeface="Corbel"/>
              <a:cs typeface="Corbel"/>
            </a:endParaRPr>
          </a:p>
          <a:p>
            <a:pPr marL="12700" marR="932180">
              <a:lnSpc>
                <a:spcPct val="100000"/>
              </a:lnSpc>
            </a:pPr>
            <a:r>
              <a:rPr sz="2400" spc="-10" dirty="0">
                <a:latin typeface="Corbel"/>
                <a:cs typeface="Corbel"/>
              </a:rPr>
              <a:t>stakeholders</a:t>
            </a:r>
            <a:r>
              <a:rPr sz="2400" spc="-10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don't </a:t>
            </a:r>
            <a:r>
              <a:rPr sz="2400" dirty="0">
                <a:latin typeface="Corbel"/>
                <a:cs typeface="Corbel"/>
              </a:rPr>
              <a:t>recognize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value</a:t>
            </a:r>
            <a:endParaRPr sz="2400">
              <a:latin typeface="Corbel"/>
              <a:cs typeface="Corbel"/>
            </a:endParaRPr>
          </a:p>
          <a:p>
            <a:pPr marL="12700" marR="1438910">
              <a:lnSpc>
                <a:spcPct val="100000"/>
              </a:lnSpc>
            </a:pPr>
            <a:r>
              <a:rPr sz="2400" dirty="0">
                <a:latin typeface="Corbel"/>
                <a:cs typeface="Corbel"/>
              </a:rPr>
              <a:t>/benefits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risk </a:t>
            </a:r>
            <a:r>
              <a:rPr sz="2400" spc="-10" dirty="0">
                <a:latin typeface="Corbel"/>
                <a:cs typeface="Corbel"/>
              </a:rPr>
              <a:t>management</a:t>
            </a:r>
            <a:endParaRPr sz="2400">
              <a:latin typeface="Corbel"/>
              <a:cs typeface="Corbel"/>
            </a:endParaRPr>
          </a:p>
          <a:p>
            <a:pPr marL="2757170">
              <a:lnSpc>
                <a:spcPts val="4645"/>
              </a:lnSpc>
              <a:spcBef>
                <a:spcPts val="20"/>
              </a:spcBef>
            </a:pPr>
            <a:r>
              <a:rPr sz="4400" b="1" spc="-25" dirty="0">
                <a:solidFill>
                  <a:srgbClr val="56687B"/>
                </a:solidFill>
                <a:latin typeface="Arial"/>
                <a:cs typeface="Arial"/>
              </a:rPr>
              <a:t>06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ts val="2245"/>
              </a:lnSpc>
            </a:pPr>
            <a:r>
              <a:rPr sz="2400" dirty="0">
                <a:latin typeface="Corbel"/>
                <a:cs typeface="Corbel"/>
              </a:rPr>
              <a:t>Risk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endParaRPr sz="2400">
              <a:latin typeface="Corbel"/>
              <a:cs typeface="Corbel"/>
            </a:endParaRPr>
          </a:p>
          <a:p>
            <a:pPr marL="12700" marR="598170">
              <a:lnSpc>
                <a:spcPct val="100000"/>
              </a:lnSpc>
            </a:pPr>
            <a:r>
              <a:rPr sz="2400" dirty="0">
                <a:latin typeface="Corbel"/>
                <a:cs typeface="Corbel"/>
              </a:rPr>
              <a:t>Plan</a:t>
            </a:r>
            <a:r>
              <a:rPr sz="2400" spc="37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isn’t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integrated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overall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plan.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0209" y="5212842"/>
            <a:ext cx="21412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Corbel"/>
                <a:cs typeface="Corbel"/>
              </a:rPr>
              <a:t>Too </a:t>
            </a:r>
            <a:r>
              <a:rPr sz="2400" dirty="0">
                <a:latin typeface="Corbel"/>
                <a:cs typeface="Corbel"/>
              </a:rPr>
              <a:t>many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team </a:t>
            </a:r>
            <a:r>
              <a:rPr sz="2400" spc="-10" dirty="0">
                <a:latin typeface="Corbel"/>
                <a:cs typeface="Corbel"/>
              </a:rPr>
              <a:t>members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and/or </a:t>
            </a:r>
            <a:r>
              <a:rPr sz="2400" dirty="0">
                <a:latin typeface="Corbel"/>
                <a:cs typeface="Corbel"/>
              </a:rPr>
              <a:t>approval</a:t>
            </a:r>
            <a:r>
              <a:rPr sz="2400" spc="-114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27466" y="5481192"/>
            <a:ext cx="546100" cy="480059"/>
          </a:xfrm>
          <a:custGeom>
            <a:avLst/>
            <a:gdLst/>
            <a:ahLst/>
            <a:cxnLst/>
            <a:rect l="l" t="t" r="r" b="b"/>
            <a:pathLst>
              <a:path w="546100" h="480060">
                <a:moveTo>
                  <a:pt x="424941" y="413003"/>
                </a:moveTo>
                <a:lnTo>
                  <a:pt x="326135" y="413003"/>
                </a:lnTo>
                <a:lnTo>
                  <a:pt x="359376" y="442269"/>
                </a:lnTo>
                <a:lnTo>
                  <a:pt x="391556" y="460057"/>
                </a:lnTo>
                <a:lnTo>
                  <a:pt x="434238" y="471082"/>
                </a:lnTo>
                <a:lnTo>
                  <a:pt x="498982" y="480059"/>
                </a:lnTo>
                <a:lnTo>
                  <a:pt x="462500" y="458795"/>
                </a:lnTo>
                <a:lnTo>
                  <a:pt x="442864" y="441959"/>
                </a:lnTo>
                <a:lnTo>
                  <a:pt x="432778" y="427410"/>
                </a:lnTo>
                <a:lnTo>
                  <a:pt x="424941" y="413003"/>
                </a:lnTo>
                <a:close/>
              </a:path>
              <a:path w="546100" h="480060">
                <a:moveTo>
                  <a:pt x="489457" y="102996"/>
                </a:moveTo>
                <a:lnTo>
                  <a:pt x="430783" y="102996"/>
                </a:lnTo>
                <a:lnTo>
                  <a:pt x="430783" y="265683"/>
                </a:lnTo>
                <a:lnTo>
                  <a:pt x="426370" y="288960"/>
                </a:lnTo>
                <a:lnTo>
                  <a:pt x="414337" y="307974"/>
                </a:lnTo>
                <a:lnTo>
                  <a:pt x="396493" y="320798"/>
                </a:lnTo>
                <a:lnTo>
                  <a:pt x="374650" y="325500"/>
                </a:lnTo>
                <a:lnTo>
                  <a:pt x="235203" y="325500"/>
                </a:lnTo>
                <a:lnTo>
                  <a:pt x="210232" y="342175"/>
                </a:lnTo>
                <a:lnTo>
                  <a:pt x="186023" y="356219"/>
                </a:lnTo>
                <a:lnTo>
                  <a:pt x="161480" y="367952"/>
                </a:lnTo>
                <a:lnTo>
                  <a:pt x="135508" y="377697"/>
                </a:lnTo>
                <a:lnTo>
                  <a:pt x="143986" y="392001"/>
                </a:lnTo>
                <a:lnTo>
                  <a:pt x="155797" y="403161"/>
                </a:lnTo>
                <a:lnTo>
                  <a:pt x="170227" y="410416"/>
                </a:lnTo>
                <a:lnTo>
                  <a:pt x="186562" y="413003"/>
                </a:lnTo>
                <a:lnTo>
                  <a:pt x="489457" y="413003"/>
                </a:lnTo>
                <a:lnTo>
                  <a:pt x="511301" y="408299"/>
                </a:lnTo>
                <a:lnTo>
                  <a:pt x="529145" y="395462"/>
                </a:lnTo>
                <a:lnTo>
                  <a:pt x="541178" y="376410"/>
                </a:lnTo>
                <a:lnTo>
                  <a:pt x="545591" y="353059"/>
                </a:lnTo>
                <a:lnTo>
                  <a:pt x="545591" y="162940"/>
                </a:lnTo>
                <a:lnTo>
                  <a:pt x="541178" y="139590"/>
                </a:lnTo>
                <a:lnTo>
                  <a:pt x="529145" y="120538"/>
                </a:lnTo>
                <a:lnTo>
                  <a:pt x="511301" y="107701"/>
                </a:lnTo>
                <a:lnTo>
                  <a:pt x="489457" y="102996"/>
                </a:lnTo>
                <a:close/>
              </a:path>
              <a:path w="546100" h="480060">
                <a:moveTo>
                  <a:pt x="219582" y="309879"/>
                </a:moveTo>
                <a:lnTo>
                  <a:pt x="120650" y="309879"/>
                </a:lnTo>
                <a:lnTo>
                  <a:pt x="102236" y="329378"/>
                </a:lnTo>
                <a:lnTo>
                  <a:pt x="84693" y="342042"/>
                </a:lnTo>
                <a:lnTo>
                  <a:pt x="23494" y="375919"/>
                </a:lnTo>
                <a:lnTo>
                  <a:pt x="89906" y="366529"/>
                </a:lnTo>
                <a:lnTo>
                  <a:pt x="137302" y="354996"/>
                </a:lnTo>
                <a:lnTo>
                  <a:pt x="176817" y="337415"/>
                </a:lnTo>
                <a:lnTo>
                  <a:pt x="219582" y="309879"/>
                </a:lnTo>
                <a:close/>
              </a:path>
              <a:path w="546100" h="480060">
                <a:moveTo>
                  <a:pt x="359028" y="0"/>
                </a:moveTo>
                <a:lnTo>
                  <a:pt x="56133" y="0"/>
                </a:lnTo>
                <a:lnTo>
                  <a:pt x="34289" y="4704"/>
                </a:lnTo>
                <a:lnTo>
                  <a:pt x="16446" y="17541"/>
                </a:lnTo>
                <a:lnTo>
                  <a:pt x="4413" y="36593"/>
                </a:lnTo>
                <a:lnTo>
                  <a:pt x="0" y="59943"/>
                </a:lnTo>
                <a:lnTo>
                  <a:pt x="0" y="250062"/>
                </a:lnTo>
                <a:lnTo>
                  <a:pt x="4413" y="273339"/>
                </a:lnTo>
                <a:lnTo>
                  <a:pt x="16446" y="292353"/>
                </a:lnTo>
                <a:lnTo>
                  <a:pt x="34289" y="305177"/>
                </a:lnTo>
                <a:lnTo>
                  <a:pt x="56133" y="309879"/>
                </a:lnTo>
                <a:lnTo>
                  <a:pt x="359028" y="309879"/>
                </a:lnTo>
                <a:lnTo>
                  <a:pt x="380873" y="305177"/>
                </a:lnTo>
                <a:lnTo>
                  <a:pt x="398716" y="292353"/>
                </a:lnTo>
                <a:lnTo>
                  <a:pt x="410749" y="273339"/>
                </a:lnTo>
                <a:lnTo>
                  <a:pt x="415162" y="250062"/>
                </a:lnTo>
                <a:lnTo>
                  <a:pt x="415162" y="188340"/>
                </a:lnTo>
                <a:lnTo>
                  <a:pt x="104266" y="188340"/>
                </a:lnTo>
                <a:lnTo>
                  <a:pt x="91745" y="185644"/>
                </a:lnTo>
                <a:lnTo>
                  <a:pt x="81533" y="178292"/>
                </a:lnTo>
                <a:lnTo>
                  <a:pt x="74656" y="167391"/>
                </a:lnTo>
                <a:lnTo>
                  <a:pt x="72135" y="154050"/>
                </a:lnTo>
                <a:lnTo>
                  <a:pt x="74656" y="140636"/>
                </a:lnTo>
                <a:lnTo>
                  <a:pt x="81533" y="129698"/>
                </a:lnTo>
                <a:lnTo>
                  <a:pt x="91745" y="122332"/>
                </a:lnTo>
                <a:lnTo>
                  <a:pt x="104266" y="119633"/>
                </a:lnTo>
                <a:lnTo>
                  <a:pt x="415162" y="119633"/>
                </a:lnTo>
                <a:lnTo>
                  <a:pt x="415162" y="59943"/>
                </a:lnTo>
                <a:lnTo>
                  <a:pt x="410749" y="36593"/>
                </a:lnTo>
                <a:lnTo>
                  <a:pt x="398716" y="17541"/>
                </a:lnTo>
                <a:lnTo>
                  <a:pt x="380872" y="4704"/>
                </a:lnTo>
                <a:lnTo>
                  <a:pt x="359028" y="0"/>
                </a:lnTo>
                <a:close/>
              </a:path>
              <a:path w="546100" h="480060">
                <a:moveTo>
                  <a:pt x="207644" y="119633"/>
                </a:moveTo>
                <a:lnTo>
                  <a:pt x="104266" y="119633"/>
                </a:lnTo>
                <a:lnTo>
                  <a:pt x="116808" y="122332"/>
                </a:lnTo>
                <a:lnTo>
                  <a:pt x="127063" y="129698"/>
                </a:lnTo>
                <a:lnTo>
                  <a:pt x="133984" y="140636"/>
                </a:lnTo>
                <a:lnTo>
                  <a:pt x="136525" y="154050"/>
                </a:lnTo>
                <a:lnTo>
                  <a:pt x="133984" y="167391"/>
                </a:lnTo>
                <a:lnTo>
                  <a:pt x="127063" y="178292"/>
                </a:lnTo>
                <a:lnTo>
                  <a:pt x="116808" y="185644"/>
                </a:lnTo>
                <a:lnTo>
                  <a:pt x="104266" y="188340"/>
                </a:lnTo>
                <a:lnTo>
                  <a:pt x="207644" y="188340"/>
                </a:lnTo>
                <a:lnTo>
                  <a:pt x="195103" y="185644"/>
                </a:lnTo>
                <a:lnTo>
                  <a:pt x="184848" y="178292"/>
                </a:lnTo>
                <a:lnTo>
                  <a:pt x="177926" y="167391"/>
                </a:lnTo>
                <a:lnTo>
                  <a:pt x="175386" y="154050"/>
                </a:lnTo>
                <a:lnTo>
                  <a:pt x="177926" y="140636"/>
                </a:lnTo>
                <a:lnTo>
                  <a:pt x="184848" y="129698"/>
                </a:lnTo>
                <a:lnTo>
                  <a:pt x="195103" y="122332"/>
                </a:lnTo>
                <a:lnTo>
                  <a:pt x="207644" y="119633"/>
                </a:lnTo>
                <a:close/>
              </a:path>
              <a:path w="546100" h="480060">
                <a:moveTo>
                  <a:pt x="310895" y="119633"/>
                </a:moveTo>
                <a:lnTo>
                  <a:pt x="207644" y="119633"/>
                </a:lnTo>
                <a:lnTo>
                  <a:pt x="220166" y="122332"/>
                </a:lnTo>
                <a:lnTo>
                  <a:pt x="230377" y="129698"/>
                </a:lnTo>
                <a:lnTo>
                  <a:pt x="237255" y="140636"/>
                </a:lnTo>
                <a:lnTo>
                  <a:pt x="239775" y="154050"/>
                </a:lnTo>
                <a:lnTo>
                  <a:pt x="237255" y="167391"/>
                </a:lnTo>
                <a:lnTo>
                  <a:pt x="230377" y="178292"/>
                </a:lnTo>
                <a:lnTo>
                  <a:pt x="220166" y="185644"/>
                </a:lnTo>
                <a:lnTo>
                  <a:pt x="207644" y="188340"/>
                </a:lnTo>
                <a:lnTo>
                  <a:pt x="310895" y="188340"/>
                </a:lnTo>
                <a:lnTo>
                  <a:pt x="298374" y="185644"/>
                </a:lnTo>
                <a:lnTo>
                  <a:pt x="288162" y="178292"/>
                </a:lnTo>
                <a:lnTo>
                  <a:pt x="281285" y="167391"/>
                </a:lnTo>
                <a:lnTo>
                  <a:pt x="278764" y="154050"/>
                </a:lnTo>
                <a:lnTo>
                  <a:pt x="281285" y="140636"/>
                </a:lnTo>
                <a:lnTo>
                  <a:pt x="288162" y="129698"/>
                </a:lnTo>
                <a:lnTo>
                  <a:pt x="298374" y="122332"/>
                </a:lnTo>
                <a:lnTo>
                  <a:pt x="310895" y="119633"/>
                </a:lnTo>
                <a:close/>
              </a:path>
              <a:path w="546100" h="480060">
                <a:moveTo>
                  <a:pt x="415162" y="119633"/>
                </a:moveTo>
                <a:lnTo>
                  <a:pt x="310895" y="119633"/>
                </a:lnTo>
                <a:lnTo>
                  <a:pt x="323417" y="122332"/>
                </a:lnTo>
                <a:lnTo>
                  <a:pt x="333628" y="129698"/>
                </a:lnTo>
                <a:lnTo>
                  <a:pt x="340506" y="140636"/>
                </a:lnTo>
                <a:lnTo>
                  <a:pt x="343026" y="154050"/>
                </a:lnTo>
                <a:lnTo>
                  <a:pt x="340506" y="167391"/>
                </a:lnTo>
                <a:lnTo>
                  <a:pt x="333628" y="178292"/>
                </a:lnTo>
                <a:lnTo>
                  <a:pt x="323417" y="185644"/>
                </a:lnTo>
                <a:lnTo>
                  <a:pt x="310895" y="188340"/>
                </a:lnTo>
                <a:lnTo>
                  <a:pt x="415162" y="188340"/>
                </a:lnTo>
                <a:lnTo>
                  <a:pt x="415162" y="119633"/>
                </a:lnTo>
                <a:close/>
              </a:path>
            </a:pathLst>
          </a:custGeom>
          <a:solidFill>
            <a:srgbClr val="5668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3347" y="4702251"/>
            <a:ext cx="647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FAA100"/>
                </a:solidFill>
                <a:latin typeface="Arial"/>
                <a:cs typeface="Arial"/>
              </a:rPr>
              <a:t>04</a:t>
            </a:r>
            <a:endParaRPr sz="4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8454" y="5138673"/>
            <a:ext cx="25361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rbel"/>
                <a:cs typeface="Corbel"/>
              </a:rPr>
              <a:t>Unavailability </a:t>
            </a:r>
            <a:r>
              <a:rPr sz="2400" spc="-25" dirty="0">
                <a:latin typeface="Corbel"/>
                <a:cs typeface="Corbel"/>
              </a:rPr>
              <a:t>of </a:t>
            </a:r>
            <a:r>
              <a:rPr sz="2400" spc="-65" dirty="0">
                <a:latin typeface="Corbel"/>
                <a:cs typeface="Corbel"/>
              </a:rPr>
              <a:t>OPA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which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will </a:t>
            </a:r>
            <a:r>
              <a:rPr sz="2400" dirty="0">
                <a:latin typeface="Corbel"/>
                <a:cs typeface="Corbel"/>
              </a:rPr>
              <a:t>consume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more</a:t>
            </a:r>
            <a:r>
              <a:rPr sz="2400" spc="-20" dirty="0">
                <a:latin typeface="Corbel"/>
                <a:cs typeface="Corbel"/>
              </a:rPr>
              <a:t> time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developed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24419" y="5513070"/>
            <a:ext cx="546100" cy="447040"/>
          </a:xfrm>
          <a:custGeom>
            <a:avLst/>
            <a:gdLst/>
            <a:ahLst/>
            <a:cxnLst/>
            <a:rect l="l" t="t" r="r" b="b"/>
            <a:pathLst>
              <a:path w="546100" h="447039">
                <a:moveTo>
                  <a:pt x="502145" y="78993"/>
                </a:moveTo>
                <a:lnTo>
                  <a:pt x="43459" y="78993"/>
                </a:lnTo>
                <a:lnTo>
                  <a:pt x="26542" y="82629"/>
                </a:lnTo>
                <a:lnTo>
                  <a:pt x="12728" y="92551"/>
                </a:lnTo>
                <a:lnTo>
                  <a:pt x="3415" y="107283"/>
                </a:lnTo>
                <a:lnTo>
                  <a:pt x="0" y="125348"/>
                </a:lnTo>
                <a:lnTo>
                  <a:pt x="72" y="400938"/>
                </a:lnTo>
                <a:lnTo>
                  <a:pt x="3415" y="418623"/>
                </a:lnTo>
                <a:lnTo>
                  <a:pt x="12728" y="433355"/>
                </a:lnTo>
                <a:lnTo>
                  <a:pt x="26542" y="443277"/>
                </a:lnTo>
                <a:lnTo>
                  <a:pt x="43459" y="446912"/>
                </a:lnTo>
                <a:lnTo>
                  <a:pt x="502145" y="446912"/>
                </a:lnTo>
                <a:lnTo>
                  <a:pt x="519058" y="443277"/>
                </a:lnTo>
                <a:lnTo>
                  <a:pt x="532863" y="433355"/>
                </a:lnTo>
                <a:lnTo>
                  <a:pt x="542168" y="418623"/>
                </a:lnTo>
                <a:lnTo>
                  <a:pt x="545507" y="400938"/>
                </a:lnTo>
                <a:lnTo>
                  <a:pt x="328282" y="400938"/>
                </a:lnTo>
                <a:lnTo>
                  <a:pt x="282715" y="391130"/>
                </a:lnTo>
                <a:lnTo>
                  <a:pt x="245494" y="364378"/>
                </a:lnTo>
                <a:lnTo>
                  <a:pt x="220393" y="324697"/>
                </a:lnTo>
                <a:lnTo>
                  <a:pt x="211188" y="276097"/>
                </a:lnTo>
                <a:lnTo>
                  <a:pt x="220393" y="227425"/>
                </a:lnTo>
                <a:lnTo>
                  <a:pt x="245494" y="187705"/>
                </a:lnTo>
                <a:lnTo>
                  <a:pt x="282715" y="160940"/>
                </a:lnTo>
                <a:lnTo>
                  <a:pt x="326512" y="151510"/>
                </a:lnTo>
                <a:lnTo>
                  <a:pt x="190487" y="151510"/>
                </a:lnTo>
                <a:lnTo>
                  <a:pt x="190487" y="123316"/>
                </a:lnTo>
                <a:lnTo>
                  <a:pt x="442709" y="123316"/>
                </a:lnTo>
                <a:lnTo>
                  <a:pt x="442709" y="114299"/>
                </a:lnTo>
                <a:lnTo>
                  <a:pt x="543493" y="114299"/>
                </a:lnTo>
                <a:lnTo>
                  <a:pt x="542168" y="107283"/>
                </a:lnTo>
                <a:lnTo>
                  <a:pt x="532863" y="92551"/>
                </a:lnTo>
                <a:lnTo>
                  <a:pt x="519058" y="82629"/>
                </a:lnTo>
                <a:lnTo>
                  <a:pt x="502145" y="78993"/>
                </a:lnTo>
                <a:close/>
              </a:path>
              <a:path w="546100" h="447039">
                <a:moveTo>
                  <a:pt x="442709" y="151129"/>
                </a:moveTo>
                <a:lnTo>
                  <a:pt x="328282" y="151129"/>
                </a:lnTo>
                <a:lnTo>
                  <a:pt x="373903" y="160940"/>
                </a:lnTo>
                <a:lnTo>
                  <a:pt x="411118" y="187705"/>
                </a:lnTo>
                <a:lnTo>
                  <a:pt x="436188" y="227425"/>
                </a:lnTo>
                <a:lnTo>
                  <a:pt x="445376" y="276097"/>
                </a:lnTo>
                <a:lnTo>
                  <a:pt x="436188" y="324697"/>
                </a:lnTo>
                <a:lnTo>
                  <a:pt x="411118" y="364378"/>
                </a:lnTo>
                <a:lnTo>
                  <a:pt x="373903" y="391130"/>
                </a:lnTo>
                <a:lnTo>
                  <a:pt x="328282" y="400938"/>
                </a:lnTo>
                <a:lnTo>
                  <a:pt x="545507" y="400938"/>
                </a:lnTo>
                <a:lnTo>
                  <a:pt x="545579" y="151510"/>
                </a:lnTo>
                <a:lnTo>
                  <a:pt x="442709" y="151510"/>
                </a:lnTo>
                <a:lnTo>
                  <a:pt x="442709" y="151129"/>
                </a:lnTo>
                <a:close/>
              </a:path>
              <a:path w="546100" h="447039">
                <a:moveTo>
                  <a:pt x="328282" y="186562"/>
                </a:moveTo>
                <a:lnTo>
                  <a:pt x="295609" y="193587"/>
                </a:lnTo>
                <a:lnTo>
                  <a:pt x="268925" y="212756"/>
                </a:lnTo>
                <a:lnTo>
                  <a:pt x="250933" y="241212"/>
                </a:lnTo>
                <a:lnTo>
                  <a:pt x="244335" y="276097"/>
                </a:lnTo>
                <a:lnTo>
                  <a:pt x="250933" y="310929"/>
                </a:lnTo>
                <a:lnTo>
                  <a:pt x="268925" y="339391"/>
                </a:lnTo>
                <a:lnTo>
                  <a:pt x="295609" y="358590"/>
                </a:lnTo>
                <a:lnTo>
                  <a:pt x="328282" y="365632"/>
                </a:lnTo>
                <a:lnTo>
                  <a:pt x="360955" y="358590"/>
                </a:lnTo>
                <a:lnTo>
                  <a:pt x="387638" y="339391"/>
                </a:lnTo>
                <a:lnTo>
                  <a:pt x="405631" y="310929"/>
                </a:lnTo>
                <a:lnTo>
                  <a:pt x="412229" y="276097"/>
                </a:lnTo>
                <a:lnTo>
                  <a:pt x="405631" y="241212"/>
                </a:lnTo>
                <a:lnTo>
                  <a:pt x="387638" y="212756"/>
                </a:lnTo>
                <a:lnTo>
                  <a:pt x="360955" y="193587"/>
                </a:lnTo>
                <a:lnTo>
                  <a:pt x="328282" y="186562"/>
                </a:lnTo>
                <a:close/>
              </a:path>
              <a:path w="546100" h="447039">
                <a:moveTo>
                  <a:pt x="442709" y="123316"/>
                </a:moveTo>
                <a:lnTo>
                  <a:pt x="227444" y="123316"/>
                </a:lnTo>
                <a:lnTo>
                  <a:pt x="227444" y="151510"/>
                </a:lnTo>
                <a:lnTo>
                  <a:pt x="326512" y="151510"/>
                </a:lnTo>
                <a:lnTo>
                  <a:pt x="328282" y="151129"/>
                </a:lnTo>
                <a:lnTo>
                  <a:pt x="442709" y="151129"/>
                </a:lnTo>
                <a:lnTo>
                  <a:pt x="442709" y="123316"/>
                </a:lnTo>
                <a:close/>
              </a:path>
              <a:path w="546100" h="447039">
                <a:moveTo>
                  <a:pt x="543493" y="114299"/>
                </a:moveTo>
                <a:lnTo>
                  <a:pt x="513829" y="114299"/>
                </a:lnTo>
                <a:lnTo>
                  <a:pt x="513829" y="151510"/>
                </a:lnTo>
                <a:lnTo>
                  <a:pt x="545579" y="151510"/>
                </a:lnTo>
                <a:lnTo>
                  <a:pt x="545579" y="125348"/>
                </a:lnTo>
                <a:lnTo>
                  <a:pt x="543493" y="114299"/>
                </a:lnTo>
                <a:close/>
              </a:path>
              <a:path w="546100" h="447039">
                <a:moveTo>
                  <a:pt x="144386" y="48767"/>
                </a:moveTo>
                <a:lnTo>
                  <a:pt x="56121" y="48767"/>
                </a:lnTo>
                <a:lnTo>
                  <a:pt x="52565" y="52577"/>
                </a:lnTo>
                <a:lnTo>
                  <a:pt x="52565" y="78993"/>
                </a:lnTo>
                <a:lnTo>
                  <a:pt x="147815" y="78993"/>
                </a:lnTo>
                <a:lnTo>
                  <a:pt x="147815" y="52577"/>
                </a:lnTo>
                <a:lnTo>
                  <a:pt x="144386" y="48767"/>
                </a:lnTo>
                <a:close/>
              </a:path>
              <a:path w="546100" h="447039">
                <a:moveTo>
                  <a:pt x="416547" y="0"/>
                </a:moveTo>
                <a:lnTo>
                  <a:pt x="240017" y="0"/>
                </a:lnTo>
                <a:lnTo>
                  <a:pt x="233032" y="7365"/>
                </a:lnTo>
                <a:lnTo>
                  <a:pt x="233032" y="78993"/>
                </a:lnTo>
                <a:lnTo>
                  <a:pt x="272783" y="78993"/>
                </a:lnTo>
                <a:lnTo>
                  <a:pt x="272783" y="19684"/>
                </a:lnTo>
                <a:lnTo>
                  <a:pt x="423532" y="19684"/>
                </a:lnTo>
                <a:lnTo>
                  <a:pt x="423532" y="7365"/>
                </a:lnTo>
                <a:lnTo>
                  <a:pt x="416547" y="0"/>
                </a:lnTo>
                <a:close/>
              </a:path>
              <a:path w="546100" h="447039">
                <a:moveTo>
                  <a:pt x="423532" y="19684"/>
                </a:moveTo>
                <a:lnTo>
                  <a:pt x="383781" y="19684"/>
                </a:lnTo>
                <a:lnTo>
                  <a:pt x="383781" y="78993"/>
                </a:lnTo>
                <a:lnTo>
                  <a:pt x="423532" y="78993"/>
                </a:lnTo>
                <a:lnTo>
                  <a:pt x="423532" y="19684"/>
                </a:lnTo>
                <a:close/>
              </a:path>
            </a:pathLst>
          </a:custGeom>
          <a:solidFill>
            <a:srgbClr val="FA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3347" y="2380614"/>
            <a:ext cx="6477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0580C3"/>
                </a:solidFill>
                <a:latin typeface="Arial"/>
                <a:cs typeface="Arial"/>
              </a:rPr>
              <a:t>01</a:t>
            </a:r>
            <a:endParaRPr sz="4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8454" y="2833242"/>
            <a:ext cx="20586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rbel"/>
                <a:cs typeface="Corbel"/>
              </a:rPr>
              <a:t>Risk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process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too </a:t>
            </a:r>
            <a:r>
              <a:rPr sz="2400" dirty="0">
                <a:latin typeface="Corbel"/>
                <a:cs typeface="Corbel"/>
              </a:rPr>
              <a:t>complex</a:t>
            </a:r>
            <a:r>
              <a:rPr sz="2400" spc="-110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or </a:t>
            </a:r>
            <a:r>
              <a:rPr sz="2400" spc="-10" dirty="0">
                <a:latin typeface="Corbel"/>
                <a:cs typeface="Corbel"/>
              </a:rPr>
              <a:t>overwhelming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1722" y="3098038"/>
            <a:ext cx="572135" cy="615315"/>
          </a:xfrm>
          <a:custGeom>
            <a:avLst/>
            <a:gdLst/>
            <a:ahLst/>
            <a:cxnLst/>
            <a:rect l="l" t="t" r="r" b="b"/>
            <a:pathLst>
              <a:path w="572135" h="615314">
                <a:moveTo>
                  <a:pt x="160909" y="479425"/>
                </a:moveTo>
                <a:lnTo>
                  <a:pt x="122059" y="479425"/>
                </a:lnTo>
                <a:lnTo>
                  <a:pt x="132713" y="490690"/>
                </a:lnTo>
                <a:lnTo>
                  <a:pt x="144237" y="501062"/>
                </a:lnTo>
                <a:lnTo>
                  <a:pt x="156546" y="510553"/>
                </a:lnTo>
                <a:lnTo>
                  <a:pt x="169557" y="519175"/>
                </a:lnTo>
                <a:lnTo>
                  <a:pt x="168414" y="591058"/>
                </a:lnTo>
                <a:lnTo>
                  <a:pt x="252361" y="615061"/>
                </a:lnTo>
                <a:lnTo>
                  <a:pt x="285127" y="552196"/>
                </a:lnTo>
                <a:lnTo>
                  <a:pt x="301786" y="551622"/>
                </a:lnTo>
                <a:lnTo>
                  <a:pt x="318195" y="549703"/>
                </a:lnTo>
                <a:lnTo>
                  <a:pt x="334294" y="546427"/>
                </a:lnTo>
                <a:lnTo>
                  <a:pt x="350024" y="541782"/>
                </a:lnTo>
                <a:lnTo>
                  <a:pt x="468176" y="541782"/>
                </a:lnTo>
                <a:lnTo>
                  <a:pt x="462249" y="525299"/>
                </a:lnTo>
                <a:lnTo>
                  <a:pt x="277929" y="525299"/>
                </a:lnTo>
                <a:lnTo>
                  <a:pt x="231787" y="518033"/>
                </a:lnTo>
                <a:lnTo>
                  <a:pt x="188406" y="499721"/>
                </a:lnTo>
                <a:lnTo>
                  <a:pt x="160909" y="479425"/>
                </a:lnTo>
                <a:close/>
              </a:path>
              <a:path w="572135" h="615314">
                <a:moveTo>
                  <a:pt x="468176" y="541782"/>
                </a:moveTo>
                <a:lnTo>
                  <a:pt x="350024" y="541782"/>
                </a:lnTo>
                <a:lnTo>
                  <a:pt x="343547" y="546608"/>
                </a:lnTo>
                <a:lnTo>
                  <a:pt x="397522" y="596646"/>
                </a:lnTo>
                <a:lnTo>
                  <a:pt x="468769" y="543433"/>
                </a:lnTo>
                <a:lnTo>
                  <a:pt x="468176" y="541782"/>
                </a:lnTo>
                <a:close/>
              </a:path>
              <a:path w="572135" h="615314">
                <a:moveTo>
                  <a:pt x="399782" y="94293"/>
                </a:moveTo>
                <a:lnTo>
                  <a:pt x="290287" y="94293"/>
                </a:lnTo>
                <a:lnTo>
                  <a:pt x="336435" y="101600"/>
                </a:lnTo>
                <a:lnTo>
                  <a:pt x="379813" y="119864"/>
                </a:lnTo>
                <a:lnTo>
                  <a:pt x="416956" y="147257"/>
                </a:lnTo>
                <a:lnTo>
                  <a:pt x="447013" y="182193"/>
                </a:lnTo>
                <a:lnTo>
                  <a:pt x="469130" y="223084"/>
                </a:lnTo>
                <a:lnTo>
                  <a:pt x="482454" y="268345"/>
                </a:lnTo>
                <a:lnTo>
                  <a:pt x="486132" y="316390"/>
                </a:lnTo>
                <a:lnTo>
                  <a:pt x="479339" y="365426"/>
                </a:lnTo>
                <a:lnTo>
                  <a:pt x="479310" y="365633"/>
                </a:lnTo>
                <a:lnTo>
                  <a:pt x="462140" y="411877"/>
                </a:lnTo>
                <a:lnTo>
                  <a:pt x="436437" y="451485"/>
                </a:lnTo>
                <a:lnTo>
                  <a:pt x="403682" y="483545"/>
                </a:lnTo>
                <a:lnTo>
                  <a:pt x="365358" y="507142"/>
                </a:lnTo>
                <a:lnTo>
                  <a:pt x="322947" y="521365"/>
                </a:lnTo>
                <a:lnTo>
                  <a:pt x="277929" y="525299"/>
                </a:lnTo>
                <a:lnTo>
                  <a:pt x="462249" y="525299"/>
                </a:lnTo>
                <a:lnTo>
                  <a:pt x="446163" y="480567"/>
                </a:lnTo>
                <a:lnTo>
                  <a:pt x="454775" y="470947"/>
                </a:lnTo>
                <a:lnTo>
                  <a:pt x="462864" y="460755"/>
                </a:lnTo>
                <a:lnTo>
                  <a:pt x="470381" y="449992"/>
                </a:lnTo>
                <a:lnTo>
                  <a:pt x="477278" y="438658"/>
                </a:lnTo>
                <a:lnTo>
                  <a:pt x="546272" y="438658"/>
                </a:lnTo>
                <a:lnTo>
                  <a:pt x="568464" y="350265"/>
                </a:lnTo>
                <a:lnTo>
                  <a:pt x="511822" y="316738"/>
                </a:lnTo>
                <a:lnTo>
                  <a:pt x="511904" y="299124"/>
                </a:lnTo>
                <a:lnTo>
                  <a:pt x="510663" y="281749"/>
                </a:lnTo>
                <a:lnTo>
                  <a:pt x="508161" y="264660"/>
                </a:lnTo>
                <a:lnTo>
                  <a:pt x="504456" y="247903"/>
                </a:lnTo>
                <a:lnTo>
                  <a:pt x="549795" y="204215"/>
                </a:lnTo>
                <a:lnTo>
                  <a:pt x="517434" y="139191"/>
                </a:lnTo>
                <a:lnTo>
                  <a:pt x="445274" y="139191"/>
                </a:lnTo>
                <a:lnTo>
                  <a:pt x="434545" y="127948"/>
                </a:lnTo>
                <a:lnTo>
                  <a:pt x="422970" y="117633"/>
                </a:lnTo>
                <a:lnTo>
                  <a:pt x="410609" y="108223"/>
                </a:lnTo>
                <a:lnTo>
                  <a:pt x="397522" y="99695"/>
                </a:lnTo>
                <a:lnTo>
                  <a:pt x="399692" y="99695"/>
                </a:lnTo>
                <a:lnTo>
                  <a:pt x="399782" y="94293"/>
                </a:lnTo>
                <a:close/>
              </a:path>
              <a:path w="572135" h="615314">
                <a:moveTo>
                  <a:pt x="282845" y="121974"/>
                </a:moveTo>
                <a:lnTo>
                  <a:pt x="237615" y="128660"/>
                </a:lnTo>
                <a:lnTo>
                  <a:pt x="195989" y="147257"/>
                </a:lnTo>
                <a:lnTo>
                  <a:pt x="160258" y="176308"/>
                </a:lnTo>
                <a:lnTo>
                  <a:pt x="132237" y="214745"/>
                </a:lnTo>
                <a:lnTo>
                  <a:pt x="114058" y="261238"/>
                </a:lnTo>
                <a:lnTo>
                  <a:pt x="108029" y="311154"/>
                </a:lnTo>
                <a:lnTo>
                  <a:pt x="114168" y="358394"/>
                </a:lnTo>
                <a:lnTo>
                  <a:pt x="114293" y="359358"/>
                </a:lnTo>
                <a:lnTo>
                  <a:pt x="131664" y="403653"/>
                </a:lnTo>
                <a:lnTo>
                  <a:pt x="158950" y="441842"/>
                </a:lnTo>
                <a:lnTo>
                  <a:pt x="194965" y="471726"/>
                </a:lnTo>
                <a:lnTo>
                  <a:pt x="238518" y="491109"/>
                </a:lnTo>
                <a:lnTo>
                  <a:pt x="285369" y="497585"/>
                </a:lnTo>
                <a:lnTo>
                  <a:pt x="330579" y="490934"/>
                </a:lnTo>
                <a:lnTo>
                  <a:pt x="372106" y="472424"/>
                </a:lnTo>
                <a:lnTo>
                  <a:pt x="407908" y="443319"/>
                </a:lnTo>
                <a:lnTo>
                  <a:pt x="424877" y="420056"/>
                </a:lnTo>
                <a:lnTo>
                  <a:pt x="298401" y="420056"/>
                </a:lnTo>
                <a:lnTo>
                  <a:pt x="257060" y="417322"/>
                </a:lnTo>
                <a:lnTo>
                  <a:pt x="219976" y="397619"/>
                </a:lnTo>
                <a:lnTo>
                  <a:pt x="193751" y="365426"/>
                </a:lnTo>
                <a:lnTo>
                  <a:pt x="180878" y="325465"/>
                </a:lnTo>
                <a:lnTo>
                  <a:pt x="180765" y="325114"/>
                </a:lnTo>
                <a:lnTo>
                  <a:pt x="183358" y="281749"/>
                </a:lnTo>
                <a:lnTo>
                  <a:pt x="183400" y="281050"/>
                </a:lnTo>
                <a:lnTo>
                  <a:pt x="201789" y="241440"/>
                </a:lnTo>
                <a:lnTo>
                  <a:pt x="231930" y="213439"/>
                </a:lnTo>
                <a:lnTo>
                  <a:pt x="269715" y="199558"/>
                </a:lnTo>
                <a:lnTo>
                  <a:pt x="424872" y="199558"/>
                </a:lnTo>
                <a:lnTo>
                  <a:pt x="409272" y="177724"/>
                </a:lnTo>
                <a:lnTo>
                  <a:pt x="373258" y="147823"/>
                </a:lnTo>
                <a:lnTo>
                  <a:pt x="329704" y="128397"/>
                </a:lnTo>
                <a:lnTo>
                  <a:pt x="282845" y="121974"/>
                </a:lnTo>
                <a:close/>
              </a:path>
              <a:path w="572135" h="615314">
                <a:moveTo>
                  <a:pt x="22504" y="187071"/>
                </a:moveTo>
                <a:lnTo>
                  <a:pt x="0" y="276606"/>
                </a:lnTo>
                <a:lnTo>
                  <a:pt x="55943" y="309752"/>
                </a:lnTo>
                <a:lnTo>
                  <a:pt x="56426" y="325114"/>
                </a:lnTo>
                <a:lnTo>
                  <a:pt x="56437" y="325465"/>
                </a:lnTo>
                <a:lnTo>
                  <a:pt x="57904" y="340963"/>
                </a:lnTo>
                <a:lnTo>
                  <a:pt x="60320" y="356223"/>
                </a:lnTo>
                <a:lnTo>
                  <a:pt x="63665" y="371221"/>
                </a:lnTo>
                <a:lnTo>
                  <a:pt x="16154" y="412369"/>
                </a:lnTo>
                <a:lnTo>
                  <a:pt x="52908" y="496442"/>
                </a:lnTo>
                <a:lnTo>
                  <a:pt x="123202" y="481964"/>
                </a:lnTo>
                <a:lnTo>
                  <a:pt x="122059" y="479425"/>
                </a:lnTo>
                <a:lnTo>
                  <a:pt x="160909" y="479425"/>
                </a:lnTo>
                <a:lnTo>
                  <a:pt x="121185" y="437346"/>
                </a:lnTo>
                <a:lnTo>
                  <a:pt x="99061" y="396455"/>
                </a:lnTo>
                <a:lnTo>
                  <a:pt x="85735" y="351209"/>
                </a:lnTo>
                <a:lnTo>
                  <a:pt x="82067" y="303195"/>
                </a:lnTo>
                <a:lnTo>
                  <a:pt x="88890" y="254158"/>
                </a:lnTo>
                <a:lnTo>
                  <a:pt x="88912" y="254000"/>
                </a:lnTo>
                <a:lnTo>
                  <a:pt x="106042" y="207749"/>
                </a:lnTo>
                <a:lnTo>
                  <a:pt x="118707" y="188213"/>
                </a:lnTo>
                <a:lnTo>
                  <a:pt x="86613" y="188213"/>
                </a:lnTo>
                <a:lnTo>
                  <a:pt x="22504" y="187071"/>
                </a:lnTo>
                <a:close/>
              </a:path>
              <a:path w="572135" h="615314">
                <a:moveTo>
                  <a:pt x="546272" y="438658"/>
                </a:moveTo>
                <a:lnTo>
                  <a:pt x="477278" y="438658"/>
                </a:lnTo>
                <a:lnTo>
                  <a:pt x="545985" y="439800"/>
                </a:lnTo>
                <a:lnTo>
                  <a:pt x="546272" y="438658"/>
                </a:lnTo>
                <a:close/>
              </a:path>
              <a:path w="572135" h="615314">
                <a:moveTo>
                  <a:pt x="424872" y="199558"/>
                </a:moveTo>
                <a:lnTo>
                  <a:pt x="269715" y="199558"/>
                </a:lnTo>
                <a:lnTo>
                  <a:pt x="311035" y="202311"/>
                </a:lnTo>
                <a:lnTo>
                  <a:pt x="348193" y="221960"/>
                </a:lnTo>
                <a:lnTo>
                  <a:pt x="374456" y="254158"/>
                </a:lnTo>
                <a:lnTo>
                  <a:pt x="387455" y="294501"/>
                </a:lnTo>
                <a:lnTo>
                  <a:pt x="384822" y="338582"/>
                </a:lnTo>
                <a:lnTo>
                  <a:pt x="366413" y="378138"/>
                </a:lnTo>
                <a:lnTo>
                  <a:pt x="336229" y="406145"/>
                </a:lnTo>
                <a:lnTo>
                  <a:pt x="298401" y="420056"/>
                </a:lnTo>
                <a:lnTo>
                  <a:pt x="424877" y="420056"/>
                </a:lnTo>
                <a:lnTo>
                  <a:pt x="435941" y="404887"/>
                </a:lnTo>
                <a:lnTo>
                  <a:pt x="454164" y="358394"/>
                </a:lnTo>
                <a:lnTo>
                  <a:pt x="460194" y="308434"/>
                </a:lnTo>
                <a:lnTo>
                  <a:pt x="453929" y="260213"/>
                </a:lnTo>
                <a:lnTo>
                  <a:pt x="436559" y="215915"/>
                </a:lnTo>
                <a:lnTo>
                  <a:pt x="424872" y="199558"/>
                </a:lnTo>
                <a:close/>
              </a:path>
              <a:path w="572135" h="615314">
                <a:moveTo>
                  <a:pt x="169938" y="23749"/>
                </a:moveTo>
                <a:lnTo>
                  <a:pt x="96278" y="72898"/>
                </a:lnTo>
                <a:lnTo>
                  <a:pt x="117741" y="143510"/>
                </a:lnTo>
                <a:lnTo>
                  <a:pt x="109057" y="153816"/>
                </a:lnTo>
                <a:lnTo>
                  <a:pt x="100944" y="164719"/>
                </a:lnTo>
                <a:lnTo>
                  <a:pt x="93381" y="176308"/>
                </a:lnTo>
                <a:lnTo>
                  <a:pt x="86613" y="188213"/>
                </a:lnTo>
                <a:lnTo>
                  <a:pt x="118707" y="188213"/>
                </a:lnTo>
                <a:lnTo>
                  <a:pt x="131730" y="168125"/>
                </a:lnTo>
                <a:lnTo>
                  <a:pt x="164487" y="136047"/>
                </a:lnTo>
                <a:lnTo>
                  <a:pt x="202824" y="112436"/>
                </a:lnTo>
                <a:lnTo>
                  <a:pt x="245254" y="98212"/>
                </a:lnTo>
                <a:lnTo>
                  <a:pt x="290287" y="94293"/>
                </a:lnTo>
                <a:lnTo>
                  <a:pt x="399782" y="94293"/>
                </a:lnTo>
                <a:lnTo>
                  <a:pt x="400068" y="77088"/>
                </a:lnTo>
                <a:lnTo>
                  <a:pt x="220992" y="77088"/>
                </a:lnTo>
                <a:lnTo>
                  <a:pt x="221500" y="76708"/>
                </a:lnTo>
                <a:lnTo>
                  <a:pt x="169938" y="23749"/>
                </a:lnTo>
                <a:close/>
              </a:path>
              <a:path w="572135" h="615314">
                <a:moveTo>
                  <a:pt x="509028" y="122300"/>
                </a:moveTo>
                <a:lnTo>
                  <a:pt x="445274" y="139191"/>
                </a:lnTo>
                <a:lnTo>
                  <a:pt x="517434" y="139191"/>
                </a:lnTo>
                <a:lnTo>
                  <a:pt x="509028" y="122300"/>
                </a:lnTo>
                <a:close/>
              </a:path>
              <a:path w="572135" h="615314">
                <a:moveTo>
                  <a:pt x="399692" y="99695"/>
                </a:moveTo>
                <a:lnTo>
                  <a:pt x="397522" y="99695"/>
                </a:lnTo>
                <a:lnTo>
                  <a:pt x="399681" y="100329"/>
                </a:lnTo>
                <a:lnTo>
                  <a:pt x="399692" y="99695"/>
                </a:lnTo>
                <a:close/>
              </a:path>
              <a:path w="572135" h="615314">
                <a:moveTo>
                  <a:pt x="316877" y="0"/>
                </a:moveTo>
                <a:lnTo>
                  <a:pt x="282206" y="66675"/>
                </a:lnTo>
                <a:lnTo>
                  <a:pt x="284365" y="67310"/>
                </a:lnTo>
                <a:lnTo>
                  <a:pt x="268141" y="67766"/>
                </a:lnTo>
                <a:lnTo>
                  <a:pt x="252107" y="69532"/>
                </a:lnTo>
                <a:lnTo>
                  <a:pt x="236359" y="72632"/>
                </a:lnTo>
                <a:lnTo>
                  <a:pt x="220992" y="77088"/>
                </a:lnTo>
                <a:lnTo>
                  <a:pt x="400068" y="77088"/>
                </a:lnTo>
                <a:lnTo>
                  <a:pt x="400951" y="24002"/>
                </a:lnTo>
                <a:lnTo>
                  <a:pt x="316877" y="0"/>
                </a:lnTo>
                <a:close/>
              </a:path>
              <a:path w="572135" h="615314">
                <a:moveTo>
                  <a:pt x="571893" y="145669"/>
                </a:moveTo>
                <a:lnTo>
                  <a:pt x="570115" y="147700"/>
                </a:lnTo>
                <a:lnTo>
                  <a:pt x="571004" y="149098"/>
                </a:lnTo>
                <a:lnTo>
                  <a:pt x="571893" y="145669"/>
                </a:lnTo>
                <a:close/>
              </a:path>
            </a:pathLst>
          </a:custGeom>
          <a:solidFill>
            <a:srgbClr val="058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2192000" cy="1537970"/>
          </a:xfrm>
          <a:custGeom>
            <a:avLst/>
            <a:gdLst/>
            <a:ahLst/>
            <a:cxnLst/>
            <a:rect l="l" t="t" r="r" b="b"/>
            <a:pathLst>
              <a:path w="12192000" h="1537970">
                <a:moveTo>
                  <a:pt x="12192000" y="0"/>
                </a:moveTo>
                <a:lnTo>
                  <a:pt x="0" y="0"/>
                </a:lnTo>
                <a:lnTo>
                  <a:pt x="0" y="1537462"/>
                </a:lnTo>
                <a:lnTo>
                  <a:pt x="12192000" y="15374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FE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Barriers</a:t>
            </a:r>
            <a:r>
              <a:rPr spc="-7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Risk</a:t>
            </a:r>
            <a:r>
              <a:rPr spc="-2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542903" y="664291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31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20520"/>
            <a:chOff x="0" y="0"/>
            <a:chExt cx="12192000" cy="1620520"/>
          </a:xfrm>
        </p:grpSpPr>
        <p:sp>
          <p:nvSpPr>
            <p:cNvPr id="3" name="object 3"/>
            <p:cNvSpPr/>
            <p:nvPr/>
          </p:nvSpPr>
          <p:spPr>
            <a:xfrm>
              <a:off x="0" y="1537461"/>
              <a:ext cx="12192000" cy="43180"/>
            </a:xfrm>
            <a:custGeom>
              <a:avLst/>
              <a:gdLst/>
              <a:ahLst/>
              <a:cxnLst/>
              <a:rect l="l" t="t" r="r" b="b"/>
              <a:pathLst>
                <a:path w="12192000" h="43180">
                  <a:moveTo>
                    <a:pt x="0" y="42925"/>
                  </a:moveTo>
                  <a:lnTo>
                    <a:pt x="12192000" y="429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537970"/>
            </a:xfrm>
            <a:custGeom>
              <a:avLst/>
              <a:gdLst/>
              <a:ahLst/>
              <a:cxnLst/>
              <a:rect l="l" t="t" r="r" b="b"/>
              <a:pathLst>
                <a:path w="12192000" h="1537970">
                  <a:moveTo>
                    <a:pt x="12192000" y="0"/>
                  </a:moveTo>
                  <a:lnTo>
                    <a:pt x="0" y="0"/>
                  </a:lnTo>
                  <a:lnTo>
                    <a:pt x="0" y="1537462"/>
                  </a:lnTo>
                  <a:lnTo>
                    <a:pt x="12192000" y="15374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1263" y="1602485"/>
            <a:ext cx="11373485" cy="520065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4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Encouraging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senior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support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Management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activities.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Determining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acceptable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levels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discussion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38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spc="-10" dirty="0">
                <a:latin typeface="Corbel"/>
                <a:cs typeface="Corbel"/>
              </a:rPr>
              <a:t>Developing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approving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plan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Promoting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&amp;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participating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in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all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aspects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of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process.</a:t>
            </a:r>
            <a:endParaRPr sz="2400">
              <a:latin typeface="Corbel"/>
              <a:cs typeface="Corbel"/>
            </a:endParaRPr>
          </a:p>
          <a:p>
            <a:pPr marL="451484" marR="84455" indent="-43942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dirty="0">
                <a:latin typeface="Corbel"/>
                <a:cs typeface="Corbel"/>
              </a:rPr>
              <a:t>Facilitating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open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and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honest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communication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about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within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team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with </a:t>
            </a:r>
            <a:r>
              <a:rPr sz="2400" spc="-10" dirty="0">
                <a:latin typeface="Corbel"/>
                <a:cs typeface="Corbel"/>
              </a:rPr>
              <a:t>management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other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Approving</a:t>
            </a:r>
            <a:r>
              <a:rPr sz="2400" i="1" spc="-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responses</a:t>
            </a:r>
            <a:r>
              <a:rPr sz="2400" i="1" spc="-3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associated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actions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prior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implementation.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5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Applying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project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contingency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funds</a:t>
            </a:r>
            <a:r>
              <a:rPr sz="2400" i="1" spc="-5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deal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identified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risks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during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project.</a:t>
            </a:r>
            <a:endParaRPr sz="2400">
              <a:latin typeface="Corbel"/>
              <a:cs typeface="Corbel"/>
            </a:endParaRPr>
          </a:p>
          <a:p>
            <a:pPr marL="451484" marR="753745" indent="-43942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Regularly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reporting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status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key</a:t>
            </a:r>
            <a:r>
              <a:rPr sz="2400" spc="-7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stakeholders,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with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recommendations</a:t>
            </a:r>
            <a:r>
              <a:rPr sz="2400" spc="345" dirty="0">
                <a:latin typeface="Corbel"/>
                <a:cs typeface="Corbel"/>
              </a:rPr>
              <a:t> </a:t>
            </a:r>
            <a:r>
              <a:rPr sz="2400" spc="-25" dirty="0">
                <a:latin typeface="Corbel"/>
                <a:cs typeface="Corbel"/>
              </a:rPr>
              <a:t>for </a:t>
            </a:r>
            <a:r>
              <a:rPr sz="2400" dirty="0">
                <a:latin typeface="Corbel"/>
                <a:cs typeface="Corbel"/>
              </a:rPr>
              <a:t>appropriate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strategic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decisions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actions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to</a:t>
            </a:r>
            <a:r>
              <a:rPr sz="2400" spc="-7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maintain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acceptable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3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exposure.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Escalating</a:t>
            </a:r>
            <a:r>
              <a:rPr sz="24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identified</a:t>
            </a:r>
            <a:r>
              <a:rPr sz="24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risks</a:t>
            </a:r>
            <a:r>
              <a:rPr sz="2400" i="1" spc="-8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to</a:t>
            </a:r>
            <a:r>
              <a:rPr sz="2400" i="1" spc="-6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senior</a:t>
            </a:r>
            <a:r>
              <a:rPr sz="2400" i="1" spc="-7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management</a:t>
            </a:r>
            <a:r>
              <a:rPr sz="2400" i="1" spc="-3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where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appropriate.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Monitoring</a:t>
            </a:r>
            <a:r>
              <a:rPr sz="2400" i="1" spc="-7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the</a:t>
            </a:r>
            <a:r>
              <a:rPr sz="2400" i="1" spc="-4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efficiency</a:t>
            </a:r>
            <a:r>
              <a:rPr sz="2400" i="1" spc="-4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45" dirty="0"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effectiveness</a:t>
            </a:r>
            <a:r>
              <a:rPr sz="2400" i="1" spc="-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5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Project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Risk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Management</a:t>
            </a:r>
            <a:r>
              <a:rPr sz="2400" spc="39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process.</a:t>
            </a:r>
            <a:endParaRPr sz="2400">
              <a:latin typeface="Corbel"/>
              <a:cs typeface="Corbel"/>
            </a:endParaRPr>
          </a:p>
          <a:p>
            <a:pPr marL="451484" indent="-438784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85416"/>
              <a:buFont typeface="Cambria"/>
              <a:buChar char="◾"/>
              <a:tabLst>
                <a:tab pos="451484" algn="l"/>
              </a:tabLst>
            </a:pP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Auditing</a:t>
            </a:r>
            <a:r>
              <a:rPr sz="2400" i="1" spc="-9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risk</a:t>
            </a:r>
            <a:r>
              <a:rPr sz="2400" i="1" spc="-50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responses</a:t>
            </a:r>
            <a:r>
              <a:rPr sz="2400" i="1" spc="-2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</a:t>
            </a:r>
            <a:r>
              <a:rPr sz="2400" spc="-6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their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effectiveness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documenting</a:t>
            </a:r>
            <a:r>
              <a:rPr sz="2400" i="1" spc="-6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dirty="0">
                <a:solidFill>
                  <a:srgbClr val="001F5F"/>
                </a:solidFill>
                <a:latin typeface="Corbel"/>
                <a:cs typeface="Corbel"/>
              </a:rPr>
              <a:t>lessons</a:t>
            </a:r>
            <a:r>
              <a:rPr sz="2400" i="1" spc="385" dirty="0">
                <a:solidFill>
                  <a:srgbClr val="001F5F"/>
                </a:solidFill>
                <a:latin typeface="Corbel"/>
                <a:cs typeface="Corbel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orbel"/>
                <a:cs typeface="Corbel"/>
              </a:rPr>
              <a:t>learned</a:t>
            </a:r>
            <a:r>
              <a:rPr sz="2400" spc="-10" dirty="0">
                <a:latin typeface="Corbel"/>
                <a:cs typeface="Corbel"/>
              </a:rPr>
              <a:t>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68044" y="644093"/>
            <a:ext cx="94348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830" dirty="0"/>
              <a:t> </a:t>
            </a:r>
            <a:r>
              <a:rPr dirty="0"/>
              <a:t>Manager’s</a:t>
            </a:r>
            <a:r>
              <a:rPr spc="-50" dirty="0"/>
              <a:t> </a:t>
            </a:r>
            <a:r>
              <a:rPr dirty="0"/>
              <a:t>Role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PRM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8025" y="719112"/>
            <a:ext cx="548640" cy="6122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635" cy="7141845"/>
            <a:chOff x="0" y="0"/>
            <a:chExt cx="12192635" cy="71418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13392"/>
              <a:ext cx="12191999" cy="1065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31619"/>
              <a:ext cx="12192000" cy="48895"/>
            </a:xfrm>
            <a:custGeom>
              <a:avLst/>
              <a:gdLst/>
              <a:ahLst/>
              <a:cxnLst/>
              <a:rect l="l" t="t" r="r" b="b"/>
              <a:pathLst>
                <a:path w="12192000" h="48894">
                  <a:moveTo>
                    <a:pt x="12192000" y="0"/>
                  </a:moveTo>
                  <a:lnTo>
                    <a:pt x="0" y="0"/>
                  </a:lnTo>
                  <a:lnTo>
                    <a:pt x="0" y="48767"/>
                  </a:lnTo>
                  <a:lnTo>
                    <a:pt x="12192000" y="4876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" y="1502028"/>
              <a:ext cx="12192000" cy="27305"/>
            </a:xfrm>
            <a:custGeom>
              <a:avLst/>
              <a:gdLst/>
              <a:ahLst/>
              <a:cxnLst/>
              <a:rect l="l" t="t" r="r" b="b"/>
              <a:pathLst>
                <a:path w="12192000" h="27305">
                  <a:moveTo>
                    <a:pt x="0" y="27305"/>
                  </a:moveTo>
                  <a:lnTo>
                    <a:pt x="12192000" y="2730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7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502410"/>
            </a:xfrm>
            <a:custGeom>
              <a:avLst/>
              <a:gdLst/>
              <a:ahLst/>
              <a:cxnLst/>
              <a:rect l="l" t="t" r="r" b="b"/>
              <a:pathLst>
                <a:path w="12192000" h="1502410">
                  <a:moveTo>
                    <a:pt x="12192000" y="0"/>
                  </a:moveTo>
                  <a:lnTo>
                    <a:pt x="0" y="0"/>
                  </a:lnTo>
                  <a:lnTo>
                    <a:pt x="0" y="1502028"/>
                  </a:lnTo>
                  <a:lnTo>
                    <a:pt x="12192000" y="150202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5296" y="617219"/>
              <a:ext cx="10154412" cy="873251"/>
            </a:xfrm>
            <a:prstGeom prst="rect">
              <a:avLst/>
            </a:prstGeom>
          </p:spPr>
        </p:pic>
        <p:pic>
          <p:nvPicPr>
            <p:cNvPr id="8" name="object 8" descr="http://www.themarketingsage.com/wp-content/uploads/2015/04/thank-you.jp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844" y="1664207"/>
              <a:ext cx="10332719" cy="54772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29975" y="814362"/>
              <a:ext cx="548640" cy="61222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3466</Words>
  <Application>Microsoft Macintosh PowerPoint</Application>
  <PresentationFormat>Custom</PresentationFormat>
  <Paragraphs>364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Cambria</vt:lpstr>
      <vt:lpstr>Corbel</vt:lpstr>
      <vt:lpstr>Lucida Sans Unicode</vt:lpstr>
      <vt:lpstr>Times New Roman</vt:lpstr>
      <vt:lpstr>Office Theme</vt:lpstr>
      <vt:lpstr> Project Risk  Management.  CSE 406  Dr Samad Baseer DCSE. UET Peshawar   </vt:lpstr>
      <vt:lpstr>PowerPoint Presentation</vt:lpstr>
      <vt:lpstr>PowerPoint Presentation</vt:lpstr>
      <vt:lpstr>PowerPoint Presentation</vt:lpstr>
      <vt:lpstr>Project Risks</vt:lpstr>
      <vt:lpstr>PowerPoint Presentation</vt:lpstr>
      <vt:lpstr>PowerPoint Presentation</vt:lpstr>
      <vt:lpstr>PowerPoint Presentation</vt:lpstr>
      <vt:lpstr>What is Project Risk (Cont’d)</vt:lpstr>
      <vt:lpstr>PowerPoint Presentation</vt:lpstr>
      <vt:lpstr>PowerPoint Presentation</vt:lpstr>
      <vt:lpstr>PowerPoint Presentation</vt:lpstr>
      <vt:lpstr>Project Life Cycle and Risk</vt:lpstr>
      <vt:lpstr>Project Life Cycle and Risk (Cont’d)</vt:lpstr>
      <vt:lpstr>Risk Attitude</vt:lpstr>
      <vt:lpstr>Risk Attitude (Cont’d)</vt:lpstr>
      <vt:lpstr>Risk Attitude (Cont’d)</vt:lpstr>
      <vt:lpstr>Risk Attitude (Cont’d)</vt:lpstr>
      <vt:lpstr>What is Project Risk Management</vt:lpstr>
      <vt:lpstr>PowerPoint Presentation</vt:lpstr>
      <vt:lpstr>B. Project Resilience</vt:lpstr>
      <vt:lpstr>C. Integrated Risk Management</vt:lpstr>
      <vt:lpstr>D. Considerations for Agile/adaptive Environments</vt:lpstr>
      <vt:lpstr>PowerPoint Presentation</vt:lpstr>
      <vt:lpstr>Project Risk Management Processes (Cont’d)</vt:lpstr>
      <vt:lpstr>4 Perform Quantitative</vt:lpstr>
      <vt:lpstr>Critical Success Factors for Project Risk Management</vt:lpstr>
      <vt:lpstr>Critical Success Factors for PRM (Cont’d)</vt:lpstr>
      <vt:lpstr>Critical Success Factors for PRM (Cont’d)</vt:lpstr>
      <vt:lpstr>Benefits of Project Risk Management</vt:lpstr>
      <vt:lpstr>Barriers to Project Risk Management</vt:lpstr>
      <vt:lpstr>What is Project Manager’s Role in PRM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Risk Management</dc:title>
  <dc:creator>Geda J.</dc:creator>
  <cp:lastModifiedBy>Dr Samad Baseer</cp:lastModifiedBy>
  <cp:revision>1</cp:revision>
  <dcterms:created xsi:type="dcterms:W3CDTF">2026-06-14T08:16:23Z</dcterms:created>
  <dcterms:modified xsi:type="dcterms:W3CDTF">2026-06-16T17:50:42Z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2021-04-25T00:00:00Z</vt:filetime>
  </property>
  <property fmtid="{D5CDD505-2E9C-101B-9397-08002B2CF9AE}" pid="4" name="Creator">
    <vt:lpwstr>Microsoft® Office PowerPoint® 2007</vt:lpwstr>
  </property>
  <property fmtid="{D5CDD505-2E9C-101B-9397-08002B2CF9AE}" pid="5" name="LastSaved">
    <vt:filetime>2026-06-14T00:00:00Z</vt:filetime>
  </property>
  <property fmtid="{D5CDD505-2E9C-101B-9397-08002B2CF9AE}" pid="6" name="Producer">
    <vt:lpwstr>Microsoft® Office PowerPoint® 2007</vt:lpwstr>
  </property>
</Properties>
</file>