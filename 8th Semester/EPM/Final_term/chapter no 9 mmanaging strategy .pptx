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83" r:id="rId5"/>
    <p:sldId id="284" r:id="rId6"/>
    <p:sldId id="259" r:id="rId7"/>
    <p:sldId id="260" r:id="rId8"/>
    <p:sldId id="261" r:id="rId9"/>
    <p:sldId id="262" r:id="rId10"/>
    <p:sldId id="263" r:id="rId11"/>
    <p:sldId id="264" r:id="rId12"/>
    <p:sldId id="289" r:id="rId13"/>
    <p:sldId id="265" r:id="rId14"/>
    <p:sldId id="285" r:id="rId15"/>
    <p:sldId id="266" r:id="rId16"/>
    <p:sldId id="267" r:id="rId17"/>
    <p:sldId id="268" r:id="rId18"/>
    <p:sldId id="269" r:id="rId19"/>
    <p:sldId id="286" r:id="rId20"/>
    <p:sldId id="270" r:id="rId21"/>
    <p:sldId id="271" r:id="rId22"/>
    <p:sldId id="272" r:id="rId23"/>
    <p:sldId id="288" r:id="rId24"/>
    <p:sldId id="273" r:id="rId25"/>
    <p:sldId id="274" r:id="rId26"/>
    <p:sldId id="275" r:id="rId27"/>
    <p:sldId id="276" r:id="rId28"/>
    <p:sldId id="277" r:id="rId29"/>
    <p:sldId id="290" r:id="rId30"/>
    <p:sldId id="278" r:id="rId31"/>
    <p:sldId id="279" r:id="rId32"/>
    <p:sldId id="280" r:id="rId33"/>
    <p:sldId id="281" r:id="rId34"/>
    <p:sldId id="282" r:id="rId35"/>
    <p:sldId id="287" r:id="rId36"/>
    <p:sldId id="291" r:id="rId3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0"/>
    <p:restoredTop sz="94679"/>
  </p:normalViewPr>
  <p:slideViewPr>
    <p:cSldViewPr>
      <p:cViewPr varScale="1">
        <p:scale>
          <a:sx n="104" d="100"/>
          <a:sy n="104" d="100"/>
        </p:scale>
        <p:origin x="188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70" dirty="0"/>
              <a:t>Copyright</a:t>
            </a:r>
            <a:r>
              <a:rPr spc="45" dirty="0"/>
              <a:t> </a:t>
            </a:r>
            <a:r>
              <a:rPr spc="345" dirty="0"/>
              <a:t>©</a:t>
            </a:r>
            <a:r>
              <a:rPr spc="55" dirty="0"/>
              <a:t> </a:t>
            </a:r>
            <a:r>
              <a:rPr spc="95" dirty="0"/>
              <a:t>2025,</a:t>
            </a:r>
            <a:r>
              <a:rPr spc="50" dirty="0"/>
              <a:t> </a:t>
            </a:r>
            <a:r>
              <a:rPr spc="95" dirty="0"/>
              <a:t>2021,</a:t>
            </a:r>
            <a:r>
              <a:rPr spc="55" dirty="0"/>
              <a:t> </a:t>
            </a:r>
            <a:r>
              <a:rPr spc="135" dirty="0"/>
              <a:t>2018</a:t>
            </a:r>
            <a:r>
              <a:rPr spc="50" dirty="0"/>
              <a:t> </a:t>
            </a:r>
            <a:r>
              <a:rPr spc="75" dirty="0"/>
              <a:t>Pearson</a:t>
            </a:r>
            <a:r>
              <a:rPr spc="50" dirty="0"/>
              <a:t> Education, </a:t>
            </a:r>
            <a:r>
              <a:rPr dirty="0"/>
              <a:t>Inc.</a:t>
            </a:r>
            <a:r>
              <a:rPr spc="50" dirty="0"/>
              <a:t> </a:t>
            </a:r>
            <a:r>
              <a:rPr dirty="0"/>
              <a:t>All</a:t>
            </a:r>
            <a:r>
              <a:rPr spc="50" dirty="0"/>
              <a:t> </a:t>
            </a:r>
            <a:r>
              <a:rPr spc="80" dirty="0"/>
              <a:t>Rights</a:t>
            </a:r>
            <a:r>
              <a:rPr spc="55" dirty="0"/>
              <a:t> </a:t>
            </a:r>
            <a:r>
              <a:rPr spc="75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70" dirty="0"/>
              <a:t>Copyright</a:t>
            </a:r>
            <a:r>
              <a:rPr spc="45" dirty="0"/>
              <a:t> </a:t>
            </a:r>
            <a:r>
              <a:rPr spc="345" dirty="0"/>
              <a:t>©</a:t>
            </a:r>
            <a:r>
              <a:rPr spc="55" dirty="0"/>
              <a:t> </a:t>
            </a:r>
            <a:r>
              <a:rPr spc="95" dirty="0"/>
              <a:t>2025,</a:t>
            </a:r>
            <a:r>
              <a:rPr spc="50" dirty="0"/>
              <a:t> </a:t>
            </a:r>
            <a:r>
              <a:rPr spc="95" dirty="0"/>
              <a:t>2021,</a:t>
            </a:r>
            <a:r>
              <a:rPr spc="55" dirty="0"/>
              <a:t> </a:t>
            </a:r>
            <a:r>
              <a:rPr spc="135" dirty="0"/>
              <a:t>2018</a:t>
            </a:r>
            <a:r>
              <a:rPr spc="50" dirty="0"/>
              <a:t> </a:t>
            </a:r>
            <a:r>
              <a:rPr spc="75" dirty="0"/>
              <a:t>Pearson</a:t>
            </a:r>
            <a:r>
              <a:rPr spc="50" dirty="0"/>
              <a:t> Education, </a:t>
            </a:r>
            <a:r>
              <a:rPr dirty="0"/>
              <a:t>Inc.</a:t>
            </a:r>
            <a:r>
              <a:rPr spc="50" dirty="0"/>
              <a:t> </a:t>
            </a:r>
            <a:r>
              <a:rPr dirty="0"/>
              <a:t>All</a:t>
            </a:r>
            <a:r>
              <a:rPr spc="50" dirty="0"/>
              <a:t> </a:t>
            </a:r>
            <a:r>
              <a:rPr spc="80" dirty="0"/>
              <a:t>Rights</a:t>
            </a:r>
            <a:r>
              <a:rPr spc="55" dirty="0"/>
              <a:t> </a:t>
            </a:r>
            <a:r>
              <a:rPr spc="75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70" dirty="0"/>
              <a:t>Copyright</a:t>
            </a:r>
            <a:r>
              <a:rPr spc="45" dirty="0"/>
              <a:t> </a:t>
            </a:r>
            <a:r>
              <a:rPr spc="345" dirty="0"/>
              <a:t>©</a:t>
            </a:r>
            <a:r>
              <a:rPr spc="55" dirty="0"/>
              <a:t> </a:t>
            </a:r>
            <a:r>
              <a:rPr spc="95" dirty="0"/>
              <a:t>2025,</a:t>
            </a:r>
            <a:r>
              <a:rPr spc="50" dirty="0"/>
              <a:t> </a:t>
            </a:r>
            <a:r>
              <a:rPr spc="95" dirty="0"/>
              <a:t>2021,</a:t>
            </a:r>
            <a:r>
              <a:rPr spc="55" dirty="0"/>
              <a:t> </a:t>
            </a:r>
            <a:r>
              <a:rPr spc="135" dirty="0"/>
              <a:t>2018</a:t>
            </a:r>
            <a:r>
              <a:rPr spc="50" dirty="0"/>
              <a:t> </a:t>
            </a:r>
            <a:r>
              <a:rPr spc="75" dirty="0"/>
              <a:t>Pearson</a:t>
            </a:r>
            <a:r>
              <a:rPr spc="50" dirty="0"/>
              <a:t> Education, </a:t>
            </a:r>
            <a:r>
              <a:rPr dirty="0"/>
              <a:t>Inc.</a:t>
            </a:r>
            <a:r>
              <a:rPr spc="50" dirty="0"/>
              <a:t> </a:t>
            </a:r>
            <a:r>
              <a:rPr dirty="0"/>
              <a:t>All</a:t>
            </a:r>
            <a:r>
              <a:rPr spc="50" dirty="0"/>
              <a:t> </a:t>
            </a:r>
            <a:r>
              <a:rPr spc="80" dirty="0"/>
              <a:t>Rights</a:t>
            </a:r>
            <a:r>
              <a:rPr spc="55" dirty="0"/>
              <a:t> </a:t>
            </a:r>
            <a:r>
              <a:rPr spc="75" dirty="0"/>
              <a:t>Reserved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50963" y="6453720"/>
            <a:ext cx="622935" cy="130175"/>
          </a:xfrm>
          <a:custGeom>
            <a:avLst/>
            <a:gdLst/>
            <a:ahLst/>
            <a:cxnLst/>
            <a:rect l="l" t="t" r="r" b="b"/>
            <a:pathLst>
              <a:path w="622935" h="130175">
                <a:moveTo>
                  <a:pt x="106553" y="37439"/>
                </a:moveTo>
                <a:lnTo>
                  <a:pt x="101600" y="18834"/>
                </a:lnTo>
                <a:lnTo>
                  <a:pt x="88811" y="7391"/>
                </a:lnTo>
                <a:lnTo>
                  <a:pt x="85001" y="6121"/>
                </a:lnTo>
                <a:lnTo>
                  <a:pt x="84594" y="5994"/>
                </a:lnTo>
                <a:lnTo>
                  <a:pt x="84594" y="37439"/>
                </a:lnTo>
                <a:lnTo>
                  <a:pt x="83439" y="50850"/>
                </a:lnTo>
                <a:lnTo>
                  <a:pt x="83375" y="51638"/>
                </a:lnTo>
                <a:lnTo>
                  <a:pt x="78651" y="62153"/>
                </a:lnTo>
                <a:lnTo>
                  <a:pt x="68795" y="68681"/>
                </a:lnTo>
                <a:lnTo>
                  <a:pt x="52197" y="70916"/>
                </a:lnTo>
                <a:lnTo>
                  <a:pt x="38150" y="70916"/>
                </a:lnTo>
                <a:lnTo>
                  <a:pt x="38150" y="6121"/>
                </a:lnTo>
                <a:lnTo>
                  <a:pt x="53276" y="6121"/>
                </a:lnTo>
                <a:lnTo>
                  <a:pt x="69710" y="8890"/>
                </a:lnTo>
                <a:lnTo>
                  <a:pt x="79184" y="16116"/>
                </a:lnTo>
                <a:lnTo>
                  <a:pt x="83540" y="26174"/>
                </a:lnTo>
                <a:lnTo>
                  <a:pt x="84594" y="37439"/>
                </a:lnTo>
                <a:lnTo>
                  <a:pt x="84594" y="5994"/>
                </a:lnTo>
                <a:lnTo>
                  <a:pt x="78473" y="3962"/>
                </a:lnTo>
                <a:lnTo>
                  <a:pt x="71310" y="1600"/>
                </a:lnTo>
                <a:lnTo>
                  <a:pt x="52197" y="0"/>
                </a:lnTo>
                <a:lnTo>
                  <a:pt x="1079" y="0"/>
                </a:lnTo>
                <a:lnTo>
                  <a:pt x="0" y="1079"/>
                </a:lnTo>
                <a:lnTo>
                  <a:pt x="0" y="3962"/>
                </a:lnTo>
                <a:lnTo>
                  <a:pt x="1079" y="5041"/>
                </a:lnTo>
                <a:lnTo>
                  <a:pt x="6121" y="6121"/>
                </a:lnTo>
                <a:lnTo>
                  <a:pt x="17995" y="3962"/>
                </a:lnTo>
                <a:lnTo>
                  <a:pt x="17995" y="117716"/>
                </a:lnTo>
                <a:lnTo>
                  <a:pt x="15113" y="122758"/>
                </a:lnTo>
                <a:lnTo>
                  <a:pt x="1079" y="123482"/>
                </a:lnTo>
                <a:lnTo>
                  <a:pt x="0" y="123482"/>
                </a:lnTo>
                <a:lnTo>
                  <a:pt x="0" y="127800"/>
                </a:lnTo>
                <a:lnTo>
                  <a:pt x="1079" y="128524"/>
                </a:lnTo>
                <a:lnTo>
                  <a:pt x="57238" y="128524"/>
                </a:lnTo>
                <a:lnTo>
                  <a:pt x="57238" y="123482"/>
                </a:lnTo>
                <a:lnTo>
                  <a:pt x="56515" y="123482"/>
                </a:lnTo>
                <a:lnTo>
                  <a:pt x="41402" y="122758"/>
                </a:lnTo>
                <a:lnTo>
                  <a:pt x="38150" y="118440"/>
                </a:lnTo>
                <a:lnTo>
                  <a:pt x="38150" y="77038"/>
                </a:lnTo>
                <a:lnTo>
                  <a:pt x="51473" y="77038"/>
                </a:lnTo>
                <a:lnTo>
                  <a:pt x="64998" y="76250"/>
                </a:lnTo>
                <a:lnTo>
                  <a:pt x="76847" y="73888"/>
                </a:lnTo>
                <a:lnTo>
                  <a:pt x="84556" y="70916"/>
                </a:lnTo>
                <a:lnTo>
                  <a:pt x="86804" y="70053"/>
                </a:lnTo>
                <a:lnTo>
                  <a:pt x="94678" y="64795"/>
                </a:lnTo>
                <a:lnTo>
                  <a:pt x="100787" y="57899"/>
                </a:lnTo>
                <a:lnTo>
                  <a:pt x="104394" y="50850"/>
                </a:lnTo>
                <a:lnTo>
                  <a:pt x="106108" y="43954"/>
                </a:lnTo>
                <a:lnTo>
                  <a:pt x="106553" y="37439"/>
                </a:lnTo>
                <a:close/>
              </a:path>
              <a:path w="622935" h="130175">
                <a:moveTo>
                  <a:pt x="185089" y="67652"/>
                </a:moveTo>
                <a:lnTo>
                  <a:pt x="165950" y="39357"/>
                </a:lnTo>
                <a:lnTo>
                  <a:pt x="165950" y="70916"/>
                </a:lnTo>
                <a:lnTo>
                  <a:pt x="125996" y="70916"/>
                </a:lnTo>
                <a:lnTo>
                  <a:pt x="128346" y="57937"/>
                </a:lnTo>
                <a:lnTo>
                  <a:pt x="132651" y="48336"/>
                </a:lnTo>
                <a:lnTo>
                  <a:pt x="138734" y="42481"/>
                </a:lnTo>
                <a:lnTo>
                  <a:pt x="138404" y="42481"/>
                </a:lnTo>
                <a:lnTo>
                  <a:pt x="146875" y="40322"/>
                </a:lnTo>
                <a:lnTo>
                  <a:pt x="152996" y="40322"/>
                </a:lnTo>
                <a:lnTo>
                  <a:pt x="165950" y="70916"/>
                </a:lnTo>
                <a:lnTo>
                  <a:pt x="165950" y="39357"/>
                </a:lnTo>
                <a:lnTo>
                  <a:pt x="164020" y="38303"/>
                </a:lnTo>
                <a:lnTo>
                  <a:pt x="156540" y="36068"/>
                </a:lnTo>
                <a:lnTo>
                  <a:pt x="147955" y="35280"/>
                </a:lnTo>
                <a:lnTo>
                  <a:pt x="131597" y="39090"/>
                </a:lnTo>
                <a:lnTo>
                  <a:pt x="118071" y="49504"/>
                </a:lnTo>
                <a:lnTo>
                  <a:pt x="108864" y="65049"/>
                </a:lnTo>
                <a:lnTo>
                  <a:pt x="105473" y="84239"/>
                </a:lnTo>
                <a:lnTo>
                  <a:pt x="108712" y="102412"/>
                </a:lnTo>
                <a:lnTo>
                  <a:pt x="117665" y="116776"/>
                </a:lnTo>
                <a:lnTo>
                  <a:pt x="131140" y="126212"/>
                </a:lnTo>
                <a:lnTo>
                  <a:pt x="147955" y="129603"/>
                </a:lnTo>
                <a:lnTo>
                  <a:pt x="161899" y="127584"/>
                </a:lnTo>
                <a:lnTo>
                  <a:pt x="172300" y="122364"/>
                </a:lnTo>
                <a:lnTo>
                  <a:pt x="174129" y="120599"/>
                </a:lnTo>
                <a:lnTo>
                  <a:pt x="179793" y="115176"/>
                </a:lnTo>
                <a:lnTo>
                  <a:pt x="185039" y="107276"/>
                </a:lnTo>
                <a:lnTo>
                  <a:pt x="185039" y="105473"/>
                </a:lnTo>
                <a:lnTo>
                  <a:pt x="184315" y="105473"/>
                </a:lnTo>
                <a:lnTo>
                  <a:pt x="184315" y="104394"/>
                </a:lnTo>
                <a:lnTo>
                  <a:pt x="182156" y="104394"/>
                </a:lnTo>
                <a:lnTo>
                  <a:pt x="181076" y="105473"/>
                </a:lnTo>
                <a:lnTo>
                  <a:pt x="175348" y="111645"/>
                </a:lnTo>
                <a:lnTo>
                  <a:pt x="169595" y="116420"/>
                </a:lnTo>
                <a:lnTo>
                  <a:pt x="163093" y="119507"/>
                </a:lnTo>
                <a:lnTo>
                  <a:pt x="155155" y="120599"/>
                </a:lnTo>
                <a:lnTo>
                  <a:pt x="144348" y="118579"/>
                </a:lnTo>
                <a:lnTo>
                  <a:pt x="134632" y="112014"/>
                </a:lnTo>
                <a:lnTo>
                  <a:pt x="127609" y="100101"/>
                </a:lnTo>
                <a:lnTo>
                  <a:pt x="124917" y="82080"/>
                </a:lnTo>
                <a:lnTo>
                  <a:pt x="124917" y="77038"/>
                </a:lnTo>
                <a:lnTo>
                  <a:pt x="185039" y="77038"/>
                </a:lnTo>
                <a:lnTo>
                  <a:pt x="185077" y="70916"/>
                </a:lnTo>
                <a:lnTo>
                  <a:pt x="185089" y="67652"/>
                </a:lnTo>
                <a:close/>
              </a:path>
              <a:path w="622935" h="130175">
                <a:moveTo>
                  <a:pt x="278638" y="123482"/>
                </a:moveTo>
                <a:lnTo>
                  <a:pt x="277558" y="122770"/>
                </a:lnTo>
                <a:lnTo>
                  <a:pt x="277558" y="121678"/>
                </a:lnTo>
                <a:lnTo>
                  <a:pt x="270713" y="121678"/>
                </a:lnTo>
                <a:lnTo>
                  <a:pt x="268554" y="120599"/>
                </a:lnTo>
                <a:lnTo>
                  <a:pt x="266750" y="119519"/>
                </a:lnTo>
                <a:lnTo>
                  <a:pt x="265671" y="116636"/>
                </a:lnTo>
                <a:lnTo>
                  <a:pt x="265671" y="114477"/>
                </a:lnTo>
                <a:lnTo>
                  <a:pt x="265671" y="82080"/>
                </a:lnTo>
                <a:lnTo>
                  <a:pt x="265671" y="63715"/>
                </a:lnTo>
                <a:lnTo>
                  <a:pt x="263588" y="51854"/>
                </a:lnTo>
                <a:lnTo>
                  <a:pt x="257429" y="43294"/>
                </a:lnTo>
                <a:lnTo>
                  <a:pt x="253746" y="41402"/>
                </a:lnTo>
                <a:lnTo>
                  <a:pt x="247294" y="38112"/>
                </a:lnTo>
                <a:lnTo>
                  <a:pt x="233273" y="36360"/>
                </a:lnTo>
                <a:lnTo>
                  <a:pt x="218998" y="38112"/>
                </a:lnTo>
                <a:lnTo>
                  <a:pt x="219608" y="38112"/>
                </a:lnTo>
                <a:lnTo>
                  <a:pt x="209016" y="42443"/>
                </a:lnTo>
                <a:lnTo>
                  <a:pt x="201726" y="48971"/>
                </a:lnTo>
                <a:lnTo>
                  <a:pt x="199072" y="56883"/>
                </a:lnTo>
                <a:lnTo>
                  <a:pt x="199072" y="62636"/>
                </a:lnTo>
                <a:lnTo>
                  <a:pt x="203390" y="67678"/>
                </a:lnTo>
                <a:lnTo>
                  <a:pt x="208432" y="67678"/>
                </a:lnTo>
                <a:lnTo>
                  <a:pt x="211315" y="68757"/>
                </a:lnTo>
                <a:lnTo>
                  <a:pt x="215277" y="66954"/>
                </a:lnTo>
                <a:lnTo>
                  <a:pt x="222478" y="59753"/>
                </a:lnTo>
                <a:lnTo>
                  <a:pt x="221399" y="53644"/>
                </a:lnTo>
                <a:lnTo>
                  <a:pt x="216382" y="46494"/>
                </a:lnTo>
                <a:lnTo>
                  <a:pt x="219240" y="43561"/>
                </a:lnTo>
                <a:lnTo>
                  <a:pt x="225361" y="41402"/>
                </a:lnTo>
                <a:lnTo>
                  <a:pt x="232562" y="41402"/>
                </a:lnTo>
                <a:lnTo>
                  <a:pt x="248399" y="75958"/>
                </a:lnTo>
                <a:lnTo>
                  <a:pt x="248399" y="82080"/>
                </a:lnTo>
                <a:lnTo>
                  <a:pt x="248399" y="108356"/>
                </a:lnTo>
                <a:lnTo>
                  <a:pt x="245516" y="111239"/>
                </a:lnTo>
                <a:lnTo>
                  <a:pt x="238315" y="120599"/>
                </a:lnTo>
                <a:lnTo>
                  <a:pt x="217436" y="120599"/>
                </a:lnTo>
                <a:lnTo>
                  <a:pt x="215277" y="111239"/>
                </a:lnTo>
                <a:lnTo>
                  <a:pt x="215277" y="104394"/>
                </a:lnTo>
                <a:lnTo>
                  <a:pt x="217055" y="96913"/>
                </a:lnTo>
                <a:lnTo>
                  <a:pt x="222783" y="90957"/>
                </a:lnTo>
                <a:lnTo>
                  <a:pt x="233045" y="86131"/>
                </a:lnTo>
                <a:lnTo>
                  <a:pt x="248399" y="82080"/>
                </a:lnTo>
                <a:lnTo>
                  <a:pt x="248399" y="75958"/>
                </a:lnTo>
                <a:lnTo>
                  <a:pt x="245516" y="75958"/>
                </a:lnTo>
                <a:lnTo>
                  <a:pt x="243357" y="77038"/>
                </a:lnTo>
                <a:lnTo>
                  <a:pt x="238315" y="78117"/>
                </a:lnTo>
                <a:lnTo>
                  <a:pt x="200152" y="92163"/>
                </a:lnTo>
                <a:lnTo>
                  <a:pt x="196202" y="99364"/>
                </a:lnTo>
                <a:lnTo>
                  <a:pt x="196202" y="108356"/>
                </a:lnTo>
                <a:lnTo>
                  <a:pt x="197434" y="115938"/>
                </a:lnTo>
                <a:lnTo>
                  <a:pt x="201498" y="122770"/>
                </a:lnTo>
                <a:lnTo>
                  <a:pt x="209092" y="127800"/>
                </a:lnTo>
                <a:lnTo>
                  <a:pt x="209537" y="127800"/>
                </a:lnTo>
                <a:lnTo>
                  <a:pt x="220319" y="129603"/>
                </a:lnTo>
                <a:lnTo>
                  <a:pt x="227685" y="128663"/>
                </a:lnTo>
                <a:lnTo>
                  <a:pt x="234759" y="125831"/>
                </a:lnTo>
                <a:lnTo>
                  <a:pt x="241617" y="121107"/>
                </a:lnTo>
                <a:lnTo>
                  <a:pt x="242125" y="120599"/>
                </a:lnTo>
                <a:lnTo>
                  <a:pt x="248399" y="114477"/>
                </a:lnTo>
                <a:lnTo>
                  <a:pt x="248932" y="119519"/>
                </a:lnTo>
                <a:lnTo>
                  <a:pt x="249047" y="120599"/>
                </a:lnTo>
                <a:lnTo>
                  <a:pt x="249161" y="121678"/>
                </a:lnTo>
                <a:lnTo>
                  <a:pt x="249275" y="122770"/>
                </a:lnTo>
                <a:lnTo>
                  <a:pt x="249351" y="123482"/>
                </a:lnTo>
                <a:lnTo>
                  <a:pt x="249478" y="124561"/>
                </a:lnTo>
                <a:lnTo>
                  <a:pt x="253441" y="128524"/>
                </a:lnTo>
                <a:lnTo>
                  <a:pt x="268554" y="128524"/>
                </a:lnTo>
                <a:lnTo>
                  <a:pt x="271792" y="127800"/>
                </a:lnTo>
                <a:lnTo>
                  <a:pt x="276834" y="125641"/>
                </a:lnTo>
                <a:lnTo>
                  <a:pt x="277558" y="125641"/>
                </a:lnTo>
                <a:lnTo>
                  <a:pt x="278638" y="123482"/>
                </a:lnTo>
                <a:close/>
              </a:path>
              <a:path w="622935" h="130175">
                <a:moveTo>
                  <a:pt x="354241" y="43561"/>
                </a:moveTo>
                <a:lnTo>
                  <a:pt x="350278" y="36360"/>
                </a:lnTo>
                <a:lnTo>
                  <a:pt x="339115" y="36360"/>
                </a:lnTo>
                <a:lnTo>
                  <a:pt x="331863" y="37439"/>
                </a:lnTo>
                <a:lnTo>
                  <a:pt x="332333" y="37439"/>
                </a:lnTo>
                <a:lnTo>
                  <a:pt x="326237" y="40411"/>
                </a:lnTo>
                <a:lnTo>
                  <a:pt x="320078" y="45783"/>
                </a:lnTo>
                <a:lnTo>
                  <a:pt x="313918" y="53644"/>
                </a:lnTo>
                <a:lnTo>
                  <a:pt x="313918" y="38519"/>
                </a:lnTo>
                <a:lnTo>
                  <a:pt x="312839" y="37439"/>
                </a:lnTo>
                <a:lnTo>
                  <a:pt x="287997" y="37439"/>
                </a:lnTo>
                <a:lnTo>
                  <a:pt x="286918" y="38519"/>
                </a:lnTo>
                <a:lnTo>
                  <a:pt x="286918" y="41402"/>
                </a:lnTo>
                <a:lnTo>
                  <a:pt x="287997" y="42481"/>
                </a:lnTo>
                <a:lnTo>
                  <a:pt x="295910" y="43561"/>
                </a:lnTo>
                <a:lnTo>
                  <a:pt x="296633" y="46443"/>
                </a:lnTo>
                <a:lnTo>
                  <a:pt x="296633" y="121678"/>
                </a:lnTo>
                <a:lnTo>
                  <a:pt x="295910" y="123482"/>
                </a:lnTo>
                <a:lnTo>
                  <a:pt x="288721" y="123482"/>
                </a:lnTo>
                <a:lnTo>
                  <a:pt x="286918" y="124561"/>
                </a:lnTo>
                <a:lnTo>
                  <a:pt x="286918" y="127800"/>
                </a:lnTo>
                <a:lnTo>
                  <a:pt x="287997" y="128524"/>
                </a:lnTo>
                <a:lnTo>
                  <a:pt x="326872" y="128524"/>
                </a:lnTo>
                <a:lnTo>
                  <a:pt x="326872" y="124561"/>
                </a:lnTo>
                <a:lnTo>
                  <a:pt x="326161" y="124561"/>
                </a:lnTo>
                <a:lnTo>
                  <a:pt x="317157" y="123482"/>
                </a:lnTo>
                <a:lnTo>
                  <a:pt x="314998" y="122758"/>
                </a:lnTo>
                <a:lnTo>
                  <a:pt x="314998" y="62636"/>
                </a:lnTo>
                <a:lnTo>
                  <a:pt x="320459" y="53644"/>
                </a:lnTo>
                <a:lnTo>
                  <a:pt x="321119" y="52565"/>
                </a:lnTo>
                <a:lnTo>
                  <a:pt x="325081" y="47523"/>
                </a:lnTo>
                <a:lnTo>
                  <a:pt x="332727" y="45783"/>
                </a:lnTo>
                <a:lnTo>
                  <a:pt x="332905" y="45783"/>
                </a:lnTo>
                <a:lnTo>
                  <a:pt x="331914" y="46443"/>
                </a:lnTo>
                <a:lnTo>
                  <a:pt x="331914" y="56883"/>
                </a:lnTo>
                <a:lnTo>
                  <a:pt x="336956" y="60833"/>
                </a:lnTo>
                <a:lnTo>
                  <a:pt x="350278" y="60833"/>
                </a:lnTo>
                <a:lnTo>
                  <a:pt x="354241" y="56883"/>
                </a:lnTo>
                <a:lnTo>
                  <a:pt x="354241" y="45783"/>
                </a:lnTo>
                <a:lnTo>
                  <a:pt x="354241" y="43561"/>
                </a:lnTo>
                <a:close/>
              </a:path>
              <a:path w="622935" h="130175">
                <a:moveTo>
                  <a:pt x="423710" y="99364"/>
                </a:moveTo>
                <a:lnTo>
                  <a:pt x="396354" y="71996"/>
                </a:lnTo>
                <a:lnTo>
                  <a:pt x="395274" y="71996"/>
                </a:lnTo>
                <a:lnTo>
                  <a:pt x="385152" y="68605"/>
                </a:lnTo>
                <a:lnTo>
                  <a:pt x="378345" y="64846"/>
                </a:lnTo>
                <a:lnTo>
                  <a:pt x="374510" y="60617"/>
                </a:lnTo>
                <a:lnTo>
                  <a:pt x="373316" y="55803"/>
                </a:lnTo>
                <a:lnTo>
                  <a:pt x="373316" y="46443"/>
                </a:lnTo>
                <a:lnTo>
                  <a:pt x="379437" y="40322"/>
                </a:lnTo>
                <a:lnTo>
                  <a:pt x="389521" y="40322"/>
                </a:lnTo>
                <a:lnTo>
                  <a:pt x="415442" y="64846"/>
                </a:lnTo>
                <a:lnTo>
                  <a:pt x="415442" y="65874"/>
                </a:lnTo>
                <a:lnTo>
                  <a:pt x="418680" y="65874"/>
                </a:lnTo>
                <a:lnTo>
                  <a:pt x="419709" y="64846"/>
                </a:lnTo>
                <a:lnTo>
                  <a:pt x="419760" y="35280"/>
                </a:lnTo>
                <a:lnTo>
                  <a:pt x="416521" y="35280"/>
                </a:lnTo>
                <a:lnTo>
                  <a:pt x="416521" y="36360"/>
                </a:lnTo>
                <a:lnTo>
                  <a:pt x="415442" y="36360"/>
                </a:lnTo>
                <a:lnTo>
                  <a:pt x="412559" y="40322"/>
                </a:lnTo>
                <a:lnTo>
                  <a:pt x="407517" y="38519"/>
                </a:lnTo>
                <a:lnTo>
                  <a:pt x="400316" y="35280"/>
                </a:lnTo>
                <a:lnTo>
                  <a:pt x="392391" y="35280"/>
                </a:lnTo>
                <a:lnTo>
                  <a:pt x="379895" y="37452"/>
                </a:lnTo>
                <a:lnTo>
                  <a:pt x="369976" y="43434"/>
                </a:lnTo>
                <a:lnTo>
                  <a:pt x="363435" y="52451"/>
                </a:lnTo>
                <a:lnTo>
                  <a:pt x="361073" y="63715"/>
                </a:lnTo>
                <a:lnTo>
                  <a:pt x="362927" y="74104"/>
                </a:lnTo>
                <a:lnTo>
                  <a:pt x="368401" y="81457"/>
                </a:lnTo>
                <a:lnTo>
                  <a:pt x="377317" y="86512"/>
                </a:lnTo>
                <a:lnTo>
                  <a:pt x="389521" y="90004"/>
                </a:lnTo>
                <a:lnTo>
                  <a:pt x="400253" y="93853"/>
                </a:lnTo>
                <a:lnTo>
                  <a:pt x="407377" y="98107"/>
                </a:lnTo>
                <a:lnTo>
                  <a:pt x="411327" y="103162"/>
                </a:lnTo>
                <a:lnTo>
                  <a:pt x="412559" y="109435"/>
                </a:lnTo>
                <a:lnTo>
                  <a:pt x="412559" y="119519"/>
                </a:lnTo>
                <a:lnTo>
                  <a:pt x="402475" y="124561"/>
                </a:lnTo>
                <a:lnTo>
                  <a:pt x="395274" y="124561"/>
                </a:lnTo>
                <a:lnTo>
                  <a:pt x="387210" y="123482"/>
                </a:lnTo>
                <a:lnTo>
                  <a:pt x="386880" y="123482"/>
                </a:lnTo>
                <a:lnTo>
                  <a:pt x="379793" y="119253"/>
                </a:lnTo>
                <a:lnTo>
                  <a:pt x="372795" y="110896"/>
                </a:lnTo>
                <a:lnTo>
                  <a:pt x="364312" y="97193"/>
                </a:lnTo>
                <a:lnTo>
                  <a:pt x="364312" y="96113"/>
                </a:lnTo>
                <a:lnTo>
                  <a:pt x="361073" y="96113"/>
                </a:lnTo>
                <a:lnTo>
                  <a:pt x="360362" y="97193"/>
                </a:lnTo>
                <a:lnTo>
                  <a:pt x="360362" y="129603"/>
                </a:lnTo>
                <a:lnTo>
                  <a:pt x="364312" y="129603"/>
                </a:lnTo>
                <a:lnTo>
                  <a:pt x="364312" y="128524"/>
                </a:lnTo>
                <a:lnTo>
                  <a:pt x="370433" y="123482"/>
                </a:lnTo>
                <a:lnTo>
                  <a:pt x="376199" y="127800"/>
                </a:lnTo>
                <a:lnTo>
                  <a:pt x="386270" y="129603"/>
                </a:lnTo>
                <a:lnTo>
                  <a:pt x="402475" y="129603"/>
                </a:lnTo>
                <a:lnTo>
                  <a:pt x="410400" y="126720"/>
                </a:lnTo>
                <a:lnTo>
                  <a:pt x="412546" y="124561"/>
                </a:lnTo>
                <a:lnTo>
                  <a:pt x="421551" y="115557"/>
                </a:lnTo>
                <a:lnTo>
                  <a:pt x="423710" y="108356"/>
                </a:lnTo>
                <a:lnTo>
                  <a:pt x="423710" y="99364"/>
                </a:lnTo>
                <a:close/>
              </a:path>
              <a:path w="622935" h="130175">
                <a:moveTo>
                  <a:pt x="523074" y="82080"/>
                </a:moveTo>
                <a:lnTo>
                  <a:pt x="519671" y="64604"/>
                </a:lnTo>
                <a:lnTo>
                  <a:pt x="519582" y="64147"/>
                </a:lnTo>
                <a:lnTo>
                  <a:pt x="510108" y="49377"/>
                </a:lnTo>
                <a:lnTo>
                  <a:pt x="510019" y="49237"/>
                </a:lnTo>
                <a:lnTo>
                  <a:pt x="503275" y="44437"/>
                </a:lnTo>
                <a:lnTo>
                  <a:pt x="503275" y="83159"/>
                </a:lnTo>
                <a:lnTo>
                  <a:pt x="501713" y="101511"/>
                </a:lnTo>
                <a:lnTo>
                  <a:pt x="497154" y="114401"/>
                </a:lnTo>
                <a:lnTo>
                  <a:pt x="489597" y="122047"/>
                </a:lnTo>
                <a:lnTo>
                  <a:pt x="479158" y="124561"/>
                </a:lnTo>
                <a:lnTo>
                  <a:pt x="467868" y="122047"/>
                </a:lnTo>
                <a:lnTo>
                  <a:pt x="459892" y="114401"/>
                </a:lnTo>
                <a:lnTo>
                  <a:pt x="455269" y="101815"/>
                </a:lnTo>
                <a:lnTo>
                  <a:pt x="455155" y="101511"/>
                </a:lnTo>
                <a:lnTo>
                  <a:pt x="455828" y="60680"/>
                </a:lnTo>
                <a:lnTo>
                  <a:pt x="476999" y="40322"/>
                </a:lnTo>
                <a:lnTo>
                  <a:pt x="488238" y="43027"/>
                </a:lnTo>
                <a:lnTo>
                  <a:pt x="496481" y="51079"/>
                </a:lnTo>
                <a:lnTo>
                  <a:pt x="501421" y="64147"/>
                </a:lnTo>
                <a:lnTo>
                  <a:pt x="501548" y="64604"/>
                </a:lnTo>
                <a:lnTo>
                  <a:pt x="503174" y="82080"/>
                </a:lnTo>
                <a:lnTo>
                  <a:pt x="503275" y="83159"/>
                </a:lnTo>
                <a:lnTo>
                  <a:pt x="503275" y="44437"/>
                </a:lnTo>
                <a:lnTo>
                  <a:pt x="497522" y="40322"/>
                </a:lnTo>
                <a:lnTo>
                  <a:pt x="495757" y="39077"/>
                </a:lnTo>
                <a:lnTo>
                  <a:pt x="478078" y="35280"/>
                </a:lnTo>
                <a:lnTo>
                  <a:pt x="460819" y="39077"/>
                </a:lnTo>
                <a:lnTo>
                  <a:pt x="446747" y="49377"/>
                </a:lnTo>
                <a:lnTo>
                  <a:pt x="437261" y="64604"/>
                </a:lnTo>
                <a:lnTo>
                  <a:pt x="433793" y="83159"/>
                </a:lnTo>
                <a:lnTo>
                  <a:pt x="437159" y="101511"/>
                </a:lnTo>
                <a:lnTo>
                  <a:pt x="446481" y="116243"/>
                </a:lnTo>
                <a:lnTo>
                  <a:pt x="460527" y="126047"/>
                </a:lnTo>
                <a:lnTo>
                  <a:pt x="478078" y="129603"/>
                </a:lnTo>
                <a:lnTo>
                  <a:pt x="494372" y="126288"/>
                </a:lnTo>
                <a:lnTo>
                  <a:pt x="496976" y="124561"/>
                </a:lnTo>
                <a:lnTo>
                  <a:pt x="508800" y="116776"/>
                </a:lnTo>
                <a:lnTo>
                  <a:pt x="519125" y="101815"/>
                </a:lnTo>
                <a:lnTo>
                  <a:pt x="523074" y="82080"/>
                </a:lnTo>
                <a:close/>
              </a:path>
              <a:path w="622935" h="130175">
                <a:moveTo>
                  <a:pt x="622795" y="124561"/>
                </a:moveTo>
                <a:lnTo>
                  <a:pt x="621715" y="123482"/>
                </a:lnTo>
                <a:lnTo>
                  <a:pt x="612711" y="123482"/>
                </a:lnTo>
                <a:lnTo>
                  <a:pt x="611632" y="121678"/>
                </a:lnTo>
                <a:lnTo>
                  <a:pt x="611632" y="63715"/>
                </a:lnTo>
                <a:lnTo>
                  <a:pt x="609981" y="52158"/>
                </a:lnTo>
                <a:lnTo>
                  <a:pt x="606831" y="46443"/>
                </a:lnTo>
                <a:lnTo>
                  <a:pt x="605243" y="43561"/>
                </a:lnTo>
                <a:lnTo>
                  <a:pt x="597662" y="38214"/>
                </a:lnTo>
                <a:lnTo>
                  <a:pt x="587514" y="36360"/>
                </a:lnTo>
                <a:lnTo>
                  <a:pt x="571868" y="39230"/>
                </a:lnTo>
                <a:lnTo>
                  <a:pt x="562038" y="45542"/>
                </a:lnTo>
                <a:lnTo>
                  <a:pt x="556933" y="51866"/>
                </a:lnTo>
                <a:lnTo>
                  <a:pt x="555472" y="54724"/>
                </a:lnTo>
                <a:lnTo>
                  <a:pt x="555472" y="38519"/>
                </a:lnTo>
                <a:lnTo>
                  <a:pt x="553313" y="36360"/>
                </a:lnTo>
                <a:lnTo>
                  <a:pt x="529196" y="37439"/>
                </a:lnTo>
                <a:lnTo>
                  <a:pt x="528116" y="37439"/>
                </a:lnTo>
                <a:lnTo>
                  <a:pt x="527392" y="38519"/>
                </a:lnTo>
                <a:lnTo>
                  <a:pt x="527392" y="41402"/>
                </a:lnTo>
                <a:lnTo>
                  <a:pt x="528116" y="42481"/>
                </a:lnTo>
                <a:lnTo>
                  <a:pt x="536397" y="43561"/>
                </a:lnTo>
                <a:lnTo>
                  <a:pt x="537476" y="46443"/>
                </a:lnTo>
                <a:lnTo>
                  <a:pt x="537476" y="121678"/>
                </a:lnTo>
                <a:lnTo>
                  <a:pt x="536397" y="123482"/>
                </a:lnTo>
                <a:lnTo>
                  <a:pt x="527392" y="123482"/>
                </a:lnTo>
                <a:lnTo>
                  <a:pt x="527392" y="127800"/>
                </a:lnTo>
                <a:lnTo>
                  <a:pt x="528116" y="128524"/>
                </a:lnTo>
                <a:lnTo>
                  <a:pt x="563397" y="128524"/>
                </a:lnTo>
                <a:lnTo>
                  <a:pt x="564476" y="127800"/>
                </a:lnTo>
                <a:lnTo>
                  <a:pt x="564476" y="124561"/>
                </a:lnTo>
                <a:lnTo>
                  <a:pt x="563397" y="123482"/>
                </a:lnTo>
                <a:lnTo>
                  <a:pt x="556552" y="123482"/>
                </a:lnTo>
                <a:lnTo>
                  <a:pt x="555472" y="121678"/>
                </a:lnTo>
                <a:lnTo>
                  <a:pt x="555472" y="66954"/>
                </a:lnTo>
                <a:lnTo>
                  <a:pt x="557276" y="61925"/>
                </a:lnTo>
                <a:lnTo>
                  <a:pt x="559435" y="58674"/>
                </a:lnTo>
                <a:lnTo>
                  <a:pt x="562546" y="54724"/>
                </a:lnTo>
                <a:lnTo>
                  <a:pt x="563397" y="53644"/>
                </a:lnTo>
                <a:lnTo>
                  <a:pt x="569518" y="46443"/>
                </a:lnTo>
                <a:lnTo>
                  <a:pt x="577430" y="46443"/>
                </a:lnTo>
                <a:lnTo>
                  <a:pt x="585127" y="47663"/>
                </a:lnTo>
                <a:lnTo>
                  <a:pt x="590118" y="51536"/>
                </a:lnTo>
                <a:lnTo>
                  <a:pt x="592823" y="58445"/>
                </a:lnTo>
                <a:lnTo>
                  <a:pt x="593636" y="68757"/>
                </a:lnTo>
                <a:lnTo>
                  <a:pt x="593636" y="121678"/>
                </a:lnTo>
                <a:lnTo>
                  <a:pt x="592556" y="123482"/>
                </a:lnTo>
                <a:lnTo>
                  <a:pt x="585711" y="123482"/>
                </a:lnTo>
                <a:lnTo>
                  <a:pt x="584631" y="124561"/>
                </a:lnTo>
                <a:lnTo>
                  <a:pt x="584631" y="127800"/>
                </a:lnTo>
                <a:lnTo>
                  <a:pt x="585711" y="128524"/>
                </a:lnTo>
                <a:lnTo>
                  <a:pt x="621715" y="128524"/>
                </a:lnTo>
                <a:lnTo>
                  <a:pt x="622795" y="127800"/>
                </a:lnTo>
                <a:lnTo>
                  <a:pt x="622795" y="124561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473" y="6378642"/>
            <a:ext cx="252095" cy="278765"/>
          </a:xfrm>
          <a:custGeom>
            <a:avLst/>
            <a:gdLst/>
            <a:ahLst/>
            <a:cxnLst/>
            <a:rect l="l" t="t" r="r" b="b"/>
            <a:pathLst>
              <a:path w="252095" h="278765">
                <a:moveTo>
                  <a:pt x="114401" y="0"/>
                </a:moveTo>
                <a:lnTo>
                  <a:pt x="74092" y="12480"/>
                </a:lnTo>
                <a:lnTo>
                  <a:pt x="38847" y="39147"/>
                </a:lnTo>
                <a:lnTo>
                  <a:pt x="11968" y="80120"/>
                </a:lnTo>
                <a:lnTo>
                  <a:pt x="0" y="127191"/>
                </a:lnTo>
                <a:lnTo>
                  <a:pt x="2609" y="179969"/>
                </a:lnTo>
                <a:lnTo>
                  <a:pt x="20877" y="228901"/>
                </a:lnTo>
                <a:lnTo>
                  <a:pt x="55885" y="264435"/>
                </a:lnTo>
                <a:lnTo>
                  <a:pt x="102465" y="278306"/>
                </a:lnTo>
                <a:lnTo>
                  <a:pt x="150700" y="271185"/>
                </a:lnTo>
                <a:lnTo>
                  <a:pt x="194549" y="245301"/>
                </a:lnTo>
                <a:lnTo>
                  <a:pt x="227970" y="202878"/>
                </a:lnTo>
                <a:lnTo>
                  <a:pt x="246242" y="157463"/>
                </a:lnTo>
                <a:lnTo>
                  <a:pt x="251747" y="114158"/>
                </a:lnTo>
                <a:lnTo>
                  <a:pt x="245020" y="74984"/>
                </a:lnTo>
                <a:lnTo>
                  <a:pt x="226595" y="41963"/>
                </a:lnTo>
                <a:lnTo>
                  <a:pt x="197007" y="17115"/>
                </a:lnTo>
                <a:lnTo>
                  <a:pt x="156474" y="1585"/>
                </a:lnTo>
                <a:lnTo>
                  <a:pt x="114401" y="0"/>
                </a:lnTo>
                <a:close/>
              </a:path>
            </a:pathLst>
          </a:custGeom>
          <a:solidFill>
            <a:srgbClr val="097F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325" y="6427444"/>
            <a:ext cx="167487" cy="1893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70" dirty="0"/>
              <a:t>Copyright</a:t>
            </a:r>
            <a:r>
              <a:rPr spc="45" dirty="0"/>
              <a:t> </a:t>
            </a:r>
            <a:r>
              <a:rPr spc="345" dirty="0"/>
              <a:t>©</a:t>
            </a:r>
            <a:r>
              <a:rPr spc="55" dirty="0"/>
              <a:t> </a:t>
            </a:r>
            <a:r>
              <a:rPr spc="95" dirty="0"/>
              <a:t>2025,</a:t>
            </a:r>
            <a:r>
              <a:rPr spc="50" dirty="0"/>
              <a:t> </a:t>
            </a:r>
            <a:r>
              <a:rPr spc="95" dirty="0"/>
              <a:t>2021,</a:t>
            </a:r>
            <a:r>
              <a:rPr spc="55" dirty="0"/>
              <a:t> </a:t>
            </a:r>
            <a:r>
              <a:rPr spc="135" dirty="0"/>
              <a:t>2018</a:t>
            </a:r>
            <a:r>
              <a:rPr spc="50" dirty="0"/>
              <a:t> </a:t>
            </a:r>
            <a:r>
              <a:rPr spc="75" dirty="0"/>
              <a:t>Pearson</a:t>
            </a:r>
            <a:r>
              <a:rPr spc="50" dirty="0"/>
              <a:t> Education, </a:t>
            </a:r>
            <a:r>
              <a:rPr dirty="0"/>
              <a:t>Inc.</a:t>
            </a:r>
            <a:r>
              <a:rPr spc="50" dirty="0"/>
              <a:t> </a:t>
            </a:r>
            <a:r>
              <a:rPr dirty="0"/>
              <a:t>All</a:t>
            </a:r>
            <a:r>
              <a:rPr spc="50" dirty="0"/>
              <a:t> </a:t>
            </a:r>
            <a:r>
              <a:rPr spc="80" dirty="0"/>
              <a:t>Rights</a:t>
            </a:r>
            <a:r>
              <a:rPr spc="55" dirty="0"/>
              <a:t> </a:t>
            </a:r>
            <a:r>
              <a:rPr spc="75" dirty="0"/>
              <a:t>Reserved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70" dirty="0"/>
              <a:t>Copyright</a:t>
            </a:r>
            <a:r>
              <a:rPr spc="45" dirty="0"/>
              <a:t> </a:t>
            </a:r>
            <a:r>
              <a:rPr spc="345" dirty="0"/>
              <a:t>©</a:t>
            </a:r>
            <a:r>
              <a:rPr spc="55" dirty="0"/>
              <a:t> </a:t>
            </a:r>
            <a:r>
              <a:rPr spc="95" dirty="0"/>
              <a:t>2025,</a:t>
            </a:r>
            <a:r>
              <a:rPr spc="50" dirty="0"/>
              <a:t> </a:t>
            </a:r>
            <a:r>
              <a:rPr spc="95" dirty="0"/>
              <a:t>2021,</a:t>
            </a:r>
            <a:r>
              <a:rPr spc="55" dirty="0"/>
              <a:t> </a:t>
            </a:r>
            <a:r>
              <a:rPr spc="135" dirty="0"/>
              <a:t>2018</a:t>
            </a:r>
            <a:r>
              <a:rPr spc="50" dirty="0"/>
              <a:t> </a:t>
            </a:r>
            <a:r>
              <a:rPr spc="75" dirty="0"/>
              <a:t>Pearson</a:t>
            </a:r>
            <a:r>
              <a:rPr spc="50" dirty="0"/>
              <a:t> Education, </a:t>
            </a:r>
            <a:r>
              <a:rPr dirty="0"/>
              <a:t>Inc.</a:t>
            </a:r>
            <a:r>
              <a:rPr spc="50" dirty="0"/>
              <a:t> </a:t>
            </a:r>
            <a:r>
              <a:rPr dirty="0"/>
              <a:t>All</a:t>
            </a:r>
            <a:r>
              <a:rPr spc="50" dirty="0"/>
              <a:t> </a:t>
            </a:r>
            <a:r>
              <a:rPr spc="80" dirty="0"/>
              <a:t>Rights</a:t>
            </a:r>
            <a:r>
              <a:rPr spc="55" dirty="0"/>
              <a:t> </a:t>
            </a:r>
            <a:r>
              <a:rPr spc="75" dirty="0"/>
              <a:t>Reserved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47166" y="6490080"/>
            <a:ext cx="82550" cy="93345"/>
          </a:xfrm>
          <a:custGeom>
            <a:avLst/>
            <a:gdLst/>
            <a:ahLst/>
            <a:cxnLst/>
            <a:rect l="l" t="t" r="r" b="b"/>
            <a:pathLst>
              <a:path w="82550" h="93345">
                <a:moveTo>
                  <a:pt x="57546" y="5041"/>
                </a:moveTo>
                <a:lnTo>
                  <a:pt x="36360" y="5041"/>
                </a:lnTo>
                <a:lnTo>
                  <a:pt x="43388" y="6251"/>
                </a:lnTo>
                <a:lnTo>
                  <a:pt x="48326" y="10126"/>
                </a:lnTo>
                <a:lnTo>
                  <a:pt x="51240" y="17038"/>
                </a:lnTo>
                <a:lnTo>
                  <a:pt x="52096" y="26276"/>
                </a:lnTo>
                <a:lnTo>
                  <a:pt x="52196" y="39598"/>
                </a:lnTo>
                <a:lnTo>
                  <a:pt x="49314" y="39598"/>
                </a:lnTo>
                <a:lnTo>
                  <a:pt x="47155" y="40678"/>
                </a:lnTo>
                <a:lnTo>
                  <a:pt x="3949" y="55803"/>
                </a:lnTo>
                <a:lnTo>
                  <a:pt x="0" y="63004"/>
                </a:lnTo>
                <a:lnTo>
                  <a:pt x="0" y="71996"/>
                </a:lnTo>
                <a:lnTo>
                  <a:pt x="1235" y="79570"/>
                </a:lnTo>
                <a:lnTo>
                  <a:pt x="5305" y="86401"/>
                </a:lnTo>
                <a:lnTo>
                  <a:pt x="12899" y="91440"/>
                </a:lnTo>
                <a:lnTo>
                  <a:pt x="13339" y="91440"/>
                </a:lnTo>
                <a:lnTo>
                  <a:pt x="24117" y="93243"/>
                </a:lnTo>
                <a:lnTo>
                  <a:pt x="31487" y="92298"/>
                </a:lnTo>
                <a:lnTo>
                  <a:pt x="38557" y="89461"/>
                </a:lnTo>
                <a:lnTo>
                  <a:pt x="45427" y="84735"/>
                </a:lnTo>
                <a:lnTo>
                  <a:pt x="45934" y="84239"/>
                </a:lnTo>
                <a:lnTo>
                  <a:pt x="21234" y="84239"/>
                </a:lnTo>
                <a:lnTo>
                  <a:pt x="19075" y="74879"/>
                </a:lnTo>
                <a:lnTo>
                  <a:pt x="19075" y="68033"/>
                </a:lnTo>
                <a:lnTo>
                  <a:pt x="20859" y="60552"/>
                </a:lnTo>
                <a:lnTo>
                  <a:pt x="26592" y="54586"/>
                </a:lnTo>
                <a:lnTo>
                  <a:pt x="36847" y="49765"/>
                </a:lnTo>
                <a:lnTo>
                  <a:pt x="52196" y="45720"/>
                </a:lnTo>
                <a:lnTo>
                  <a:pt x="69468" y="45720"/>
                </a:lnTo>
                <a:lnTo>
                  <a:pt x="69468" y="27355"/>
                </a:lnTo>
                <a:lnTo>
                  <a:pt x="67394" y="15489"/>
                </a:lnTo>
                <a:lnTo>
                  <a:pt x="61237" y="6929"/>
                </a:lnTo>
                <a:lnTo>
                  <a:pt x="57546" y="5041"/>
                </a:lnTo>
                <a:close/>
              </a:path>
              <a:path w="82550" h="93345">
                <a:moveTo>
                  <a:pt x="69468" y="78117"/>
                </a:moveTo>
                <a:lnTo>
                  <a:pt x="52196" y="78117"/>
                </a:lnTo>
                <a:lnTo>
                  <a:pt x="52736" y="83159"/>
                </a:lnTo>
                <a:lnTo>
                  <a:pt x="52852" y="84239"/>
                </a:lnTo>
                <a:lnTo>
                  <a:pt x="52967" y="85318"/>
                </a:lnTo>
                <a:lnTo>
                  <a:pt x="53083" y="86401"/>
                </a:lnTo>
                <a:lnTo>
                  <a:pt x="53160" y="87122"/>
                </a:lnTo>
                <a:lnTo>
                  <a:pt x="53276" y="88201"/>
                </a:lnTo>
                <a:lnTo>
                  <a:pt x="57238" y="92163"/>
                </a:lnTo>
                <a:lnTo>
                  <a:pt x="72351" y="92163"/>
                </a:lnTo>
                <a:lnTo>
                  <a:pt x="75590" y="91440"/>
                </a:lnTo>
                <a:lnTo>
                  <a:pt x="80632" y="89281"/>
                </a:lnTo>
                <a:lnTo>
                  <a:pt x="81356" y="89281"/>
                </a:lnTo>
                <a:lnTo>
                  <a:pt x="82435" y="87122"/>
                </a:lnTo>
                <a:lnTo>
                  <a:pt x="81360" y="86401"/>
                </a:lnTo>
                <a:lnTo>
                  <a:pt x="81356" y="85318"/>
                </a:lnTo>
                <a:lnTo>
                  <a:pt x="74510" y="85318"/>
                </a:lnTo>
                <a:lnTo>
                  <a:pt x="72351" y="84239"/>
                </a:lnTo>
                <a:lnTo>
                  <a:pt x="70548" y="83159"/>
                </a:lnTo>
                <a:lnTo>
                  <a:pt x="69468" y="80276"/>
                </a:lnTo>
                <a:lnTo>
                  <a:pt x="69468" y="78117"/>
                </a:lnTo>
                <a:close/>
              </a:path>
              <a:path w="82550" h="93345">
                <a:moveTo>
                  <a:pt x="69468" y="45720"/>
                </a:moveTo>
                <a:lnTo>
                  <a:pt x="52196" y="45720"/>
                </a:lnTo>
                <a:lnTo>
                  <a:pt x="52196" y="71996"/>
                </a:lnTo>
                <a:lnTo>
                  <a:pt x="49314" y="74879"/>
                </a:lnTo>
                <a:lnTo>
                  <a:pt x="42113" y="84239"/>
                </a:lnTo>
                <a:lnTo>
                  <a:pt x="45934" y="84239"/>
                </a:lnTo>
                <a:lnTo>
                  <a:pt x="52196" y="78117"/>
                </a:lnTo>
                <a:lnTo>
                  <a:pt x="69468" y="78117"/>
                </a:lnTo>
                <a:lnTo>
                  <a:pt x="69468" y="45720"/>
                </a:lnTo>
                <a:close/>
              </a:path>
              <a:path w="82550" h="93345">
                <a:moveTo>
                  <a:pt x="37071" y="0"/>
                </a:moveTo>
                <a:lnTo>
                  <a:pt x="22806" y="1743"/>
                </a:lnTo>
                <a:lnTo>
                  <a:pt x="23418" y="1743"/>
                </a:lnTo>
                <a:lnTo>
                  <a:pt x="12817" y="6075"/>
                </a:lnTo>
                <a:lnTo>
                  <a:pt x="5531" y="12606"/>
                </a:lnTo>
                <a:lnTo>
                  <a:pt x="2870" y="20523"/>
                </a:lnTo>
                <a:lnTo>
                  <a:pt x="2870" y="26276"/>
                </a:lnTo>
                <a:lnTo>
                  <a:pt x="7188" y="31318"/>
                </a:lnTo>
                <a:lnTo>
                  <a:pt x="12230" y="31318"/>
                </a:lnTo>
                <a:lnTo>
                  <a:pt x="15112" y="32397"/>
                </a:lnTo>
                <a:lnTo>
                  <a:pt x="19075" y="30594"/>
                </a:lnTo>
                <a:lnTo>
                  <a:pt x="26276" y="23393"/>
                </a:lnTo>
                <a:lnTo>
                  <a:pt x="25196" y="17284"/>
                </a:lnTo>
                <a:lnTo>
                  <a:pt x="20184" y="10126"/>
                </a:lnTo>
                <a:lnTo>
                  <a:pt x="23037" y="7200"/>
                </a:lnTo>
                <a:lnTo>
                  <a:pt x="29159" y="5041"/>
                </a:lnTo>
                <a:lnTo>
                  <a:pt x="57546" y="5041"/>
                </a:lnTo>
                <a:lnTo>
                  <a:pt x="51097" y="1743"/>
                </a:lnTo>
                <a:lnTo>
                  <a:pt x="37071" y="0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84757" y="6489001"/>
            <a:ext cx="89535" cy="94615"/>
          </a:xfrm>
          <a:custGeom>
            <a:avLst/>
            <a:gdLst/>
            <a:ahLst/>
            <a:cxnLst/>
            <a:rect l="l" t="t" r="r" b="b"/>
            <a:pathLst>
              <a:path w="89534" h="94615">
                <a:moveTo>
                  <a:pt x="44284" y="0"/>
                </a:moveTo>
                <a:lnTo>
                  <a:pt x="27035" y="3785"/>
                </a:lnTo>
                <a:lnTo>
                  <a:pt x="12960" y="14085"/>
                </a:lnTo>
                <a:lnTo>
                  <a:pt x="3476" y="29312"/>
                </a:lnTo>
                <a:lnTo>
                  <a:pt x="0" y="47879"/>
                </a:lnTo>
                <a:lnTo>
                  <a:pt x="3376" y="66221"/>
                </a:lnTo>
                <a:lnTo>
                  <a:pt x="12693" y="80954"/>
                </a:lnTo>
                <a:lnTo>
                  <a:pt x="26735" y="90761"/>
                </a:lnTo>
                <a:lnTo>
                  <a:pt x="44284" y="94322"/>
                </a:lnTo>
                <a:lnTo>
                  <a:pt x="60579" y="90997"/>
                </a:lnTo>
                <a:lnTo>
                  <a:pt x="63187" y="89281"/>
                </a:lnTo>
                <a:lnTo>
                  <a:pt x="45364" y="89281"/>
                </a:lnTo>
                <a:lnTo>
                  <a:pt x="34077" y="86760"/>
                </a:lnTo>
                <a:lnTo>
                  <a:pt x="26100" y="79109"/>
                </a:lnTo>
                <a:lnTo>
                  <a:pt x="21485" y="66526"/>
                </a:lnTo>
                <a:lnTo>
                  <a:pt x="21373" y="66221"/>
                </a:lnTo>
                <a:lnTo>
                  <a:pt x="19799" y="47879"/>
                </a:lnTo>
                <a:lnTo>
                  <a:pt x="22038" y="25390"/>
                </a:lnTo>
                <a:lnTo>
                  <a:pt x="27720" y="12420"/>
                </a:lnTo>
                <a:lnTo>
                  <a:pt x="35294" y="6470"/>
                </a:lnTo>
                <a:lnTo>
                  <a:pt x="43205" y="5041"/>
                </a:lnTo>
                <a:lnTo>
                  <a:pt x="63731" y="5041"/>
                </a:lnTo>
                <a:lnTo>
                  <a:pt x="61969" y="3785"/>
                </a:lnTo>
                <a:lnTo>
                  <a:pt x="44284" y="0"/>
                </a:lnTo>
                <a:close/>
              </a:path>
              <a:path w="89534" h="94615">
                <a:moveTo>
                  <a:pt x="63731" y="5041"/>
                </a:moveTo>
                <a:lnTo>
                  <a:pt x="43205" y="5041"/>
                </a:lnTo>
                <a:lnTo>
                  <a:pt x="54447" y="7736"/>
                </a:lnTo>
                <a:lnTo>
                  <a:pt x="62687" y="15797"/>
                </a:lnTo>
                <a:lnTo>
                  <a:pt x="67629" y="28857"/>
                </a:lnTo>
                <a:lnTo>
                  <a:pt x="67766" y="29312"/>
                </a:lnTo>
                <a:lnTo>
                  <a:pt x="69381" y="46799"/>
                </a:lnTo>
                <a:lnTo>
                  <a:pt x="69481" y="47879"/>
                </a:lnTo>
                <a:lnTo>
                  <a:pt x="67930" y="66221"/>
                </a:lnTo>
                <a:lnTo>
                  <a:pt x="63361" y="79109"/>
                </a:lnTo>
                <a:lnTo>
                  <a:pt x="55813" y="86760"/>
                </a:lnTo>
                <a:lnTo>
                  <a:pt x="45364" y="89281"/>
                </a:lnTo>
                <a:lnTo>
                  <a:pt x="63187" y="89281"/>
                </a:lnTo>
                <a:lnTo>
                  <a:pt x="75017" y="81495"/>
                </a:lnTo>
                <a:lnTo>
                  <a:pt x="85338" y="66526"/>
                </a:lnTo>
                <a:lnTo>
                  <a:pt x="89281" y="46799"/>
                </a:lnTo>
                <a:lnTo>
                  <a:pt x="85882" y="29312"/>
                </a:lnTo>
                <a:lnTo>
                  <a:pt x="85793" y="28857"/>
                </a:lnTo>
                <a:lnTo>
                  <a:pt x="76318" y="14085"/>
                </a:lnTo>
                <a:lnTo>
                  <a:pt x="76231" y="13950"/>
                </a:lnTo>
                <a:lnTo>
                  <a:pt x="63731" y="5041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50963" y="6453720"/>
            <a:ext cx="185420" cy="130175"/>
          </a:xfrm>
          <a:custGeom>
            <a:avLst/>
            <a:gdLst/>
            <a:ahLst/>
            <a:cxnLst/>
            <a:rect l="l" t="t" r="r" b="b"/>
            <a:pathLst>
              <a:path w="185419" h="130175">
                <a:moveTo>
                  <a:pt x="106553" y="37439"/>
                </a:moveTo>
                <a:lnTo>
                  <a:pt x="101600" y="18834"/>
                </a:lnTo>
                <a:lnTo>
                  <a:pt x="88811" y="7391"/>
                </a:lnTo>
                <a:lnTo>
                  <a:pt x="85001" y="6121"/>
                </a:lnTo>
                <a:lnTo>
                  <a:pt x="84594" y="5994"/>
                </a:lnTo>
                <a:lnTo>
                  <a:pt x="84594" y="37439"/>
                </a:lnTo>
                <a:lnTo>
                  <a:pt x="83439" y="50850"/>
                </a:lnTo>
                <a:lnTo>
                  <a:pt x="83375" y="51638"/>
                </a:lnTo>
                <a:lnTo>
                  <a:pt x="78651" y="62153"/>
                </a:lnTo>
                <a:lnTo>
                  <a:pt x="68795" y="68681"/>
                </a:lnTo>
                <a:lnTo>
                  <a:pt x="52197" y="70916"/>
                </a:lnTo>
                <a:lnTo>
                  <a:pt x="38150" y="70916"/>
                </a:lnTo>
                <a:lnTo>
                  <a:pt x="38150" y="6121"/>
                </a:lnTo>
                <a:lnTo>
                  <a:pt x="53276" y="6121"/>
                </a:lnTo>
                <a:lnTo>
                  <a:pt x="69710" y="8890"/>
                </a:lnTo>
                <a:lnTo>
                  <a:pt x="79184" y="16116"/>
                </a:lnTo>
                <a:lnTo>
                  <a:pt x="83540" y="26174"/>
                </a:lnTo>
                <a:lnTo>
                  <a:pt x="84594" y="37439"/>
                </a:lnTo>
                <a:lnTo>
                  <a:pt x="84594" y="5994"/>
                </a:lnTo>
                <a:lnTo>
                  <a:pt x="78473" y="3962"/>
                </a:lnTo>
                <a:lnTo>
                  <a:pt x="71310" y="1600"/>
                </a:lnTo>
                <a:lnTo>
                  <a:pt x="52197" y="0"/>
                </a:lnTo>
                <a:lnTo>
                  <a:pt x="1079" y="0"/>
                </a:lnTo>
                <a:lnTo>
                  <a:pt x="0" y="1079"/>
                </a:lnTo>
                <a:lnTo>
                  <a:pt x="0" y="3962"/>
                </a:lnTo>
                <a:lnTo>
                  <a:pt x="1079" y="5041"/>
                </a:lnTo>
                <a:lnTo>
                  <a:pt x="6121" y="6121"/>
                </a:lnTo>
                <a:lnTo>
                  <a:pt x="17995" y="3962"/>
                </a:lnTo>
                <a:lnTo>
                  <a:pt x="17995" y="117716"/>
                </a:lnTo>
                <a:lnTo>
                  <a:pt x="15113" y="122758"/>
                </a:lnTo>
                <a:lnTo>
                  <a:pt x="1079" y="123482"/>
                </a:lnTo>
                <a:lnTo>
                  <a:pt x="0" y="123482"/>
                </a:lnTo>
                <a:lnTo>
                  <a:pt x="0" y="127800"/>
                </a:lnTo>
                <a:lnTo>
                  <a:pt x="1079" y="128524"/>
                </a:lnTo>
                <a:lnTo>
                  <a:pt x="57238" y="128524"/>
                </a:lnTo>
                <a:lnTo>
                  <a:pt x="57238" y="123482"/>
                </a:lnTo>
                <a:lnTo>
                  <a:pt x="56515" y="123482"/>
                </a:lnTo>
                <a:lnTo>
                  <a:pt x="41402" y="122758"/>
                </a:lnTo>
                <a:lnTo>
                  <a:pt x="38150" y="118440"/>
                </a:lnTo>
                <a:lnTo>
                  <a:pt x="38150" y="77038"/>
                </a:lnTo>
                <a:lnTo>
                  <a:pt x="51473" y="77038"/>
                </a:lnTo>
                <a:lnTo>
                  <a:pt x="64998" y="76250"/>
                </a:lnTo>
                <a:lnTo>
                  <a:pt x="76847" y="73888"/>
                </a:lnTo>
                <a:lnTo>
                  <a:pt x="84556" y="70916"/>
                </a:lnTo>
                <a:lnTo>
                  <a:pt x="86804" y="70053"/>
                </a:lnTo>
                <a:lnTo>
                  <a:pt x="94678" y="64795"/>
                </a:lnTo>
                <a:lnTo>
                  <a:pt x="100787" y="57899"/>
                </a:lnTo>
                <a:lnTo>
                  <a:pt x="104394" y="50850"/>
                </a:lnTo>
                <a:lnTo>
                  <a:pt x="106108" y="43954"/>
                </a:lnTo>
                <a:lnTo>
                  <a:pt x="106553" y="37439"/>
                </a:lnTo>
                <a:close/>
              </a:path>
              <a:path w="185419" h="130175">
                <a:moveTo>
                  <a:pt x="185089" y="67652"/>
                </a:moveTo>
                <a:lnTo>
                  <a:pt x="165950" y="39357"/>
                </a:lnTo>
                <a:lnTo>
                  <a:pt x="165950" y="70916"/>
                </a:lnTo>
                <a:lnTo>
                  <a:pt x="125996" y="70916"/>
                </a:lnTo>
                <a:lnTo>
                  <a:pt x="128346" y="57937"/>
                </a:lnTo>
                <a:lnTo>
                  <a:pt x="132651" y="48336"/>
                </a:lnTo>
                <a:lnTo>
                  <a:pt x="138734" y="42481"/>
                </a:lnTo>
                <a:lnTo>
                  <a:pt x="138404" y="42481"/>
                </a:lnTo>
                <a:lnTo>
                  <a:pt x="146875" y="40322"/>
                </a:lnTo>
                <a:lnTo>
                  <a:pt x="152996" y="40322"/>
                </a:lnTo>
                <a:lnTo>
                  <a:pt x="165950" y="70916"/>
                </a:lnTo>
                <a:lnTo>
                  <a:pt x="165950" y="39357"/>
                </a:lnTo>
                <a:lnTo>
                  <a:pt x="164020" y="38303"/>
                </a:lnTo>
                <a:lnTo>
                  <a:pt x="156540" y="36068"/>
                </a:lnTo>
                <a:lnTo>
                  <a:pt x="147955" y="35280"/>
                </a:lnTo>
                <a:lnTo>
                  <a:pt x="131597" y="39090"/>
                </a:lnTo>
                <a:lnTo>
                  <a:pt x="118071" y="49504"/>
                </a:lnTo>
                <a:lnTo>
                  <a:pt x="108864" y="65049"/>
                </a:lnTo>
                <a:lnTo>
                  <a:pt x="105473" y="84239"/>
                </a:lnTo>
                <a:lnTo>
                  <a:pt x="108712" y="102412"/>
                </a:lnTo>
                <a:lnTo>
                  <a:pt x="117665" y="116776"/>
                </a:lnTo>
                <a:lnTo>
                  <a:pt x="131140" y="126212"/>
                </a:lnTo>
                <a:lnTo>
                  <a:pt x="147955" y="129603"/>
                </a:lnTo>
                <a:lnTo>
                  <a:pt x="161899" y="127584"/>
                </a:lnTo>
                <a:lnTo>
                  <a:pt x="172300" y="122364"/>
                </a:lnTo>
                <a:lnTo>
                  <a:pt x="174129" y="120599"/>
                </a:lnTo>
                <a:lnTo>
                  <a:pt x="179793" y="115176"/>
                </a:lnTo>
                <a:lnTo>
                  <a:pt x="185039" y="107276"/>
                </a:lnTo>
                <a:lnTo>
                  <a:pt x="185039" y="105473"/>
                </a:lnTo>
                <a:lnTo>
                  <a:pt x="184315" y="105473"/>
                </a:lnTo>
                <a:lnTo>
                  <a:pt x="184315" y="104394"/>
                </a:lnTo>
                <a:lnTo>
                  <a:pt x="182156" y="104394"/>
                </a:lnTo>
                <a:lnTo>
                  <a:pt x="181076" y="105473"/>
                </a:lnTo>
                <a:lnTo>
                  <a:pt x="175348" y="111645"/>
                </a:lnTo>
                <a:lnTo>
                  <a:pt x="169595" y="116420"/>
                </a:lnTo>
                <a:lnTo>
                  <a:pt x="163093" y="119507"/>
                </a:lnTo>
                <a:lnTo>
                  <a:pt x="155155" y="120599"/>
                </a:lnTo>
                <a:lnTo>
                  <a:pt x="144348" y="118579"/>
                </a:lnTo>
                <a:lnTo>
                  <a:pt x="134632" y="112014"/>
                </a:lnTo>
                <a:lnTo>
                  <a:pt x="127609" y="100101"/>
                </a:lnTo>
                <a:lnTo>
                  <a:pt x="124917" y="82080"/>
                </a:lnTo>
                <a:lnTo>
                  <a:pt x="124917" y="77038"/>
                </a:lnTo>
                <a:lnTo>
                  <a:pt x="185039" y="77038"/>
                </a:lnTo>
                <a:lnTo>
                  <a:pt x="185077" y="70916"/>
                </a:lnTo>
                <a:lnTo>
                  <a:pt x="185089" y="67652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37882" y="6489001"/>
            <a:ext cx="137160" cy="94615"/>
          </a:xfrm>
          <a:custGeom>
            <a:avLst/>
            <a:gdLst/>
            <a:ahLst/>
            <a:cxnLst/>
            <a:rect l="l" t="t" r="r" b="b"/>
            <a:pathLst>
              <a:path w="137159" h="94615">
                <a:moveTo>
                  <a:pt x="67322" y="8280"/>
                </a:moveTo>
                <a:lnTo>
                  <a:pt x="63360" y="1079"/>
                </a:lnTo>
                <a:lnTo>
                  <a:pt x="52197" y="1079"/>
                </a:lnTo>
                <a:lnTo>
                  <a:pt x="44945" y="2159"/>
                </a:lnTo>
                <a:lnTo>
                  <a:pt x="45415" y="2159"/>
                </a:lnTo>
                <a:lnTo>
                  <a:pt x="39319" y="5130"/>
                </a:lnTo>
                <a:lnTo>
                  <a:pt x="33159" y="10502"/>
                </a:lnTo>
                <a:lnTo>
                  <a:pt x="27000" y="18364"/>
                </a:lnTo>
                <a:lnTo>
                  <a:pt x="27000" y="3238"/>
                </a:lnTo>
                <a:lnTo>
                  <a:pt x="25920" y="2159"/>
                </a:lnTo>
                <a:lnTo>
                  <a:pt x="1079" y="2159"/>
                </a:lnTo>
                <a:lnTo>
                  <a:pt x="0" y="3238"/>
                </a:lnTo>
                <a:lnTo>
                  <a:pt x="0" y="6121"/>
                </a:lnTo>
                <a:lnTo>
                  <a:pt x="1079" y="7200"/>
                </a:lnTo>
                <a:lnTo>
                  <a:pt x="8991" y="8280"/>
                </a:lnTo>
                <a:lnTo>
                  <a:pt x="9715" y="11163"/>
                </a:lnTo>
                <a:lnTo>
                  <a:pt x="9715" y="86398"/>
                </a:lnTo>
                <a:lnTo>
                  <a:pt x="8991" y="88201"/>
                </a:lnTo>
                <a:lnTo>
                  <a:pt x="1803" y="88201"/>
                </a:lnTo>
                <a:lnTo>
                  <a:pt x="0" y="89281"/>
                </a:lnTo>
                <a:lnTo>
                  <a:pt x="0" y="92519"/>
                </a:lnTo>
                <a:lnTo>
                  <a:pt x="1079" y="93243"/>
                </a:lnTo>
                <a:lnTo>
                  <a:pt x="39954" y="93243"/>
                </a:lnTo>
                <a:lnTo>
                  <a:pt x="39954" y="89281"/>
                </a:lnTo>
                <a:lnTo>
                  <a:pt x="39243" y="89281"/>
                </a:lnTo>
                <a:lnTo>
                  <a:pt x="30238" y="88201"/>
                </a:lnTo>
                <a:lnTo>
                  <a:pt x="28079" y="87477"/>
                </a:lnTo>
                <a:lnTo>
                  <a:pt x="28079" y="27355"/>
                </a:lnTo>
                <a:lnTo>
                  <a:pt x="33540" y="18364"/>
                </a:lnTo>
                <a:lnTo>
                  <a:pt x="34201" y="17284"/>
                </a:lnTo>
                <a:lnTo>
                  <a:pt x="38163" y="12242"/>
                </a:lnTo>
                <a:lnTo>
                  <a:pt x="45808" y="10502"/>
                </a:lnTo>
                <a:lnTo>
                  <a:pt x="45986" y="10502"/>
                </a:lnTo>
                <a:lnTo>
                  <a:pt x="44996" y="11163"/>
                </a:lnTo>
                <a:lnTo>
                  <a:pt x="44996" y="21602"/>
                </a:lnTo>
                <a:lnTo>
                  <a:pt x="50038" y="25552"/>
                </a:lnTo>
                <a:lnTo>
                  <a:pt x="63360" y="25552"/>
                </a:lnTo>
                <a:lnTo>
                  <a:pt x="67322" y="21602"/>
                </a:lnTo>
                <a:lnTo>
                  <a:pt x="67322" y="10502"/>
                </a:lnTo>
                <a:lnTo>
                  <a:pt x="67322" y="8280"/>
                </a:lnTo>
                <a:close/>
              </a:path>
              <a:path w="137159" h="94615">
                <a:moveTo>
                  <a:pt x="136791" y="64084"/>
                </a:moveTo>
                <a:lnTo>
                  <a:pt x="109435" y="36715"/>
                </a:lnTo>
                <a:lnTo>
                  <a:pt x="108356" y="36715"/>
                </a:lnTo>
                <a:lnTo>
                  <a:pt x="98234" y="33324"/>
                </a:lnTo>
                <a:lnTo>
                  <a:pt x="91427" y="29565"/>
                </a:lnTo>
                <a:lnTo>
                  <a:pt x="87591" y="25336"/>
                </a:lnTo>
                <a:lnTo>
                  <a:pt x="86398" y="20523"/>
                </a:lnTo>
                <a:lnTo>
                  <a:pt x="86398" y="11163"/>
                </a:lnTo>
                <a:lnTo>
                  <a:pt x="92519" y="5041"/>
                </a:lnTo>
                <a:lnTo>
                  <a:pt x="102603" y="5041"/>
                </a:lnTo>
                <a:lnTo>
                  <a:pt x="128524" y="29565"/>
                </a:lnTo>
                <a:lnTo>
                  <a:pt x="128524" y="30594"/>
                </a:lnTo>
                <a:lnTo>
                  <a:pt x="131762" y="30594"/>
                </a:lnTo>
                <a:lnTo>
                  <a:pt x="132791" y="29565"/>
                </a:lnTo>
                <a:lnTo>
                  <a:pt x="132842" y="0"/>
                </a:lnTo>
                <a:lnTo>
                  <a:pt x="129603" y="0"/>
                </a:lnTo>
                <a:lnTo>
                  <a:pt x="129603" y="1079"/>
                </a:lnTo>
                <a:lnTo>
                  <a:pt x="128524" y="1079"/>
                </a:lnTo>
                <a:lnTo>
                  <a:pt x="125641" y="5041"/>
                </a:lnTo>
                <a:lnTo>
                  <a:pt x="120599" y="3238"/>
                </a:lnTo>
                <a:lnTo>
                  <a:pt x="113398" y="0"/>
                </a:lnTo>
                <a:lnTo>
                  <a:pt x="105473" y="0"/>
                </a:lnTo>
                <a:lnTo>
                  <a:pt x="92976" y="2171"/>
                </a:lnTo>
                <a:lnTo>
                  <a:pt x="83058" y="8153"/>
                </a:lnTo>
                <a:lnTo>
                  <a:pt x="76517" y="17170"/>
                </a:lnTo>
                <a:lnTo>
                  <a:pt x="74155" y="28435"/>
                </a:lnTo>
                <a:lnTo>
                  <a:pt x="76009" y="38823"/>
                </a:lnTo>
                <a:lnTo>
                  <a:pt x="81483" y="46177"/>
                </a:lnTo>
                <a:lnTo>
                  <a:pt x="90398" y="51231"/>
                </a:lnTo>
                <a:lnTo>
                  <a:pt x="102603" y="54724"/>
                </a:lnTo>
                <a:lnTo>
                  <a:pt x="113334" y="58572"/>
                </a:lnTo>
                <a:lnTo>
                  <a:pt x="120459" y="62826"/>
                </a:lnTo>
                <a:lnTo>
                  <a:pt x="124409" y="67881"/>
                </a:lnTo>
                <a:lnTo>
                  <a:pt x="125641" y="74155"/>
                </a:lnTo>
                <a:lnTo>
                  <a:pt x="125641" y="84239"/>
                </a:lnTo>
                <a:lnTo>
                  <a:pt x="115557" y="89281"/>
                </a:lnTo>
                <a:lnTo>
                  <a:pt x="108356" y="89281"/>
                </a:lnTo>
                <a:lnTo>
                  <a:pt x="100291" y="88201"/>
                </a:lnTo>
                <a:lnTo>
                  <a:pt x="99961" y="88201"/>
                </a:lnTo>
                <a:lnTo>
                  <a:pt x="92875" y="83972"/>
                </a:lnTo>
                <a:lnTo>
                  <a:pt x="85877" y="75615"/>
                </a:lnTo>
                <a:lnTo>
                  <a:pt x="77393" y="61912"/>
                </a:lnTo>
                <a:lnTo>
                  <a:pt x="77393" y="60833"/>
                </a:lnTo>
                <a:lnTo>
                  <a:pt x="74155" y="60833"/>
                </a:lnTo>
                <a:lnTo>
                  <a:pt x="73444" y="61912"/>
                </a:lnTo>
                <a:lnTo>
                  <a:pt x="73444" y="94322"/>
                </a:lnTo>
                <a:lnTo>
                  <a:pt x="77393" y="94322"/>
                </a:lnTo>
                <a:lnTo>
                  <a:pt x="77393" y="93243"/>
                </a:lnTo>
                <a:lnTo>
                  <a:pt x="83515" y="88201"/>
                </a:lnTo>
                <a:lnTo>
                  <a:pt x="89281" y="92519"/>
                </a:lnTo>
                <a:lnTo>
                  <a:pt x="99352" y="94322"/>
                </a:lnTo>
                <a:lnTo>
                  <a:pt x="115557" y="94322"/>
                </a:lnTo>
                <a:lnTo>
                  <a:pt x="123482" y="91440"/>
                </a:lnTo>
                <a:lnTo>
                  <a:pt x="125628" y="89281"/>
                </a:lnTo>
                <a:lnTo>
                  <a:pt x="134632" y="80276"/>
                </a:lnTo>
                <a:lnTo>
                  <a:pt x="136791" y="73075"/>
                </a:lnTo>
                <a:lnTo>
                  <a:pt x="136791" y="64084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78356" y="6490080"/>
            <a:ext cx="95885" cy="92710"/>
          </a:xfrm>
          <a:custGeom>
            <a:avLst/>
            <a:gdLst/>
            <a:ahLst/>
            <a:cxnLst/>
            <a:rect l="l" t="t" r="r" b="b"/>
            <a:pathLst>
              <a:path w="95884" h="92709">
                <a:moveTo>
                  <a:pt x="36004" y="87122"/>
                </a:moveTo>
                <a:lnTo>
                  <a:pt x="0" y="87122"/>
                </a:lnTo>
                <a:lnTo>
                  <a:pt x="0" y="91440"/>
                </a:lnTo>
                <a:lnTo>
                  <a:pt x="723" y="92163"/>
                </a:lnTo>
                <a:lnTo>
                  <a:pt x="36004" y="92163"/>
                </a:lnTo>
                <a:lnTo>
                  <a:pt x="37084" y="91440"/>
                </a:lnTo>
                <a:lnTo>
                  <a:pt x="37084" y="88201"/>
                </a:lnTo>
                <a:lnTo>
                  <a:pt x="36004" y="87122"/>
                </a:lnTo>
                <a:close/>
              </a:path>
              <a:path w="95884" h="92709">
                <a:moveTo>
                  <a:pt x="94322" y="87122"/>
                </a:moveTo>
                <a:lnTo>
                  <a:pt x="58318" y="87122"/>
                </a:lnTo>
                <a:lnTo>
                  <a:pt x="57238" y="88201"/>
                </a:lnTo>
                <a:lnTo>
                  <a:pt x="57238" y="91440"/>
                </a:lnTo>
                <a:lnTo>
                  <a:pt x="58318" y="92163"/>
                </a:lnTo>
                <a:lnTo>
                  <a:pt x="94322" y="92163"/>
                </a:lnTo>
                <a:lnTo>
                  <a:pt x="95402" y="91440"/>
                </a:lnTo>
                <a:lnTo>
                  <a:pt x="95402" y="88201"/>
                </a:lnTo>
                <a:lnTo>
                  <a:pt x="94322" y="87122"/>
                </a:lnTo>
                <a:close/>
              </a:path>
              <a:path w="95884" h="92709">
                <a:moveTo>
                  <a:pt x="25920" y="0"/>
                </a:moveTo>
                <a:lnTo>
                  <a:pt x="1803" y="1079"/>
                </a:lnTo>
                <a:lnTo>
                  <a:pt x="723" y="1079"/>
                </a:lnTo>
                <a:lnTo>
                  <a:pt x="0" y="2159"/>
                </a:lnTo>
                <a:lnTo>
                  <a:pt x="0" y="5041"/>
                </a:lnTo>
                <a:lnTo>
                  <a:pt x="723" y="6121"/>
                </a:lnTo>
                <a:lnTo>
                  <a:pt x="9004" y="7200"/>
                </a:lnTo>
                <a:lnTo>
                  <a:pt x="10083" y="10083"/>
                </a:lnTo>
                <a:lnTo>
                  <a:pt x="10083" y="85318"/>
                </a:lnTo>
                <a:lnTo>
                  <a:pt x="9004" y="87122"/>
                </a:lnTo>
                <a:lnTo>
                  <a:pt x="29159" y="87122"/>
                </a:lnTo>
                <a:lnTo>
                  <a:pt x="28079" y="85318"/>
                </a:lnTo>
                <a:lnTo>
                  <a:pt x="28079" y="30594"/>
                </a:lnTo>
                <a:lnTo>
                  <a:pt x="29883" y="25565"/>
                </a:lnTo>
                <a:lnTo>
                  <a:pt x="32042" y="22313"/>
                </a:lnTo>
                <a:lnTo>
                  <a:pt x="35153" y="18364"/>
                </a:lnTo>
                <a:lnTo>
                  <a:pt x="28079" y="18364"/>
                </a:lnTo>
                <a:lnTo>
                  <a:pt x="28079" y="2159"/>
                </a:lnTo>
                <a:lnTo>
                  <a:pt x="25920" y="0"/>
                </a:lnTo>
                <a:close/>
              </a:path>
              <a:path w="95884" h="92709">
                <a:moveTo>
                  <a:pt x="79444" y="10083"/>
                </a:moveTo>
                <a:lnTo>
                  <a:pt x="50037" y="10083"/>
                </a:lnTo>
                <a:lnTo>
                  <a:pt x="57734" y="11293"/>
                </a:lnTo>
                <a:lnTo>
                  <a:pt x="62731" y="15168"/>
                </a:lnTo>
                <a:lnTo>
                  <a:pt x="65432" y="22079"/>
                </a:lnTo>
                <a:lnTo>
                  <a:pt x="66243" y="32397"/>
                </a:lnTo>
                <a:lnTo>
                  <a:pt x="66243" y="85318"/>
                </a:lnTo>
                <a:lnTo>
                  <a:pt x="65163" y="87122"/>
                </a:lnTo>
                <a:lnTo>
                  <a:pt x="85318" y="87122"/>
                </a:lnTo>
                <a:lnTo>
                  <a:pt x="84239" y="85318"/>
                </a:lnTo>
                <a:lnTo>
                  <a:pt x="84239" y="27355"/>
                </a:lnTo>
                <a:lnTo>
                  <a:pt x="82597" y="15794"/>
                </a:lnTo>
                <a:lnTo>
                  <a:pt x="79444" y="10083"/>
                </a:lnTo>
                <a:close/>
              </a:path>
              <a:path w="95884" h="92709">
                <a:moveTo>
                  <a:pt x="60121" y="0"/>
                </a:moveTo>
                <a:lnTo>
                  <a:pt x="44485" y="2869"/>
                </a:lnTo>
                <a:lnTo>
                  <a:pt x="34651" y="9182"/>
                </a:lnTo>
                <a:lnTo>
                  <a:pt x="29542" y="15494"/>
                </a:lnTo>
                <a:lnTo>
                  <a:pt x="28079" y="18364"/>
                </a:lnTo>
                <a:lnTo>
                  <a:pt x="35153" y="18364"/>
                </a:lnTo>
                <a:lnTo>
                  <a:pt x="36004" y="17284"/>
                </a:lnTo>
                <a:lnTo>
                  <a:pt x="42125" y="10083"/>
                </a:lnTo>
                <a:lnTo>
                  <a:pt x="79444" y="10083"/>
                </a:lnTo>
                <a:lnTo>
                  <a:pt x="77852" y="7200"/>
                </a:lnTo>
                <a:lnTo>
                  <a:pt x="70271" y="1845"/>
                </a:lnTo>
                <a:lnTo>
                  <a:pt x="60121" y="0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57473" y="6378642"/>
            <a:ext cx="252095" cy="278765"/>
          </a:xfrm>
          <a:custGeom>
            <a:avLst/>
            <a:gdLst/>
            <a:ahLst/>
            <a:cxnLst/>
            <a:rect l="l" t="t" r="r" b="b"/>
            <a:pathLst>
              <a:path w="252095" h="278765">
                <a:moveTo>
                  <a:pt x="114401" y="0"/>
                </a:moveTo>
                <a:lnTo>
                  <a:pt x="74092" y="12480"/>
                </a:lnTo>
                <a:lnTo>
                  <a:pt x="38847" y="39147"/>
                </a:lnTo>
                <a:lnTo>
                  <a:pt x="11968" y="80120"/>
                </a:lnTo>
                <a:lnTo>
                  <a:pt x="0" y="127191"/>
                </a:lnTo>
                <a:lnTo>
                  <a:pt x="2609" y="179969"/>
                </a:lnTo>
                <a:lnTo>
                  <a:pt x="20877" y="228901"/>
                </a:lnTo>
                <a:lnTo>
                  <a:pt x="55885" y="264435"/>
                </a:lnTo>
                <a:lnTo>
                  <a:pt x="102465" y="278306"/>
                </a:lnTo>
                <a:lnTo>
                  <a:pt x="150700" y="271185"/>
                </a:lnTo>
                <a:lnTo>
                  <a:pt x="194549" y="245301"/>
                </a:lnTo>
                <a:lnTo>
                  <a:pt x="227970" y="202878"/>
                </a:lnTo>
                <a:lnTo>
                  <a:pt x="246242" y="157463"/>
                </a:lnTo>
                <a:lnTo>
                  <a:pt x="251747" y="114158"/>
                </a:lnTo>
                <a:lnTo>
                  <a:pt x="245020" y="74984"/>
                </a:lnTo>
                <a:lnTo>
                  <a:pt x="226595" y="41963"/>
                </a:lnTo>
                <a:lnTo>
                  <a:pt x="197007" y="17115"/>
                </a:lnTo>
                <a:lnTo>
                  <a:pt x="156474" y="1585"/>
                </a:lnTo>
                <a:lnTo>
                  <a:pt x="114401" y="0"/>
                </a:lnTo>
                <a:close/>
              </a:path>
            </a:pathLst>
          </a:custGeom>
          <a:solidFill>
            <a:srgbClr val="097F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9325" y="6427444"/>
            <a:ext cx="167487" cy="1893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176301"/>
            <a:ext cx="8046084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053985"/>
            <a:ext cx="7443470" cy="2891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40456" y="6427465"/>
            <a:ext cx="5727065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70" dirty="0"/>
              <a:t>Copyright</a:t>
            </a:r>
            <a:r>
              <a:rPr spc="45" dirty="0"/>
              <a:t> </a:t>
            </a:r>
            <a:r>
              <a:rPr spc="345" dirty="0"/>
              <a:t>©</a:t>
            </a:r>
            <a:r>
              <a:rPr spc="55" dirty="0"/>
              <a:t> </a:t>
            </a:r>
            <a:r>
              <a:rPr spc="95" dirty="0"/>
              <a:t>2025,</a:t>
            </a:r>
            <a:r>
              <a:rPr spc="50" dirty="0"/>
              <a:t> </a:t>
            </a:r>
            <a:r>
              <a:rPr spc="95" dirty="0"/>
              <a:t>2021,</a:t>
            </a:r>
            <a:r>
              <a:rPr spc="55" dirty="0"/>
              <a:t> </a:t>
            </a:r>
            <a:r>
              <a:rPr spc="135" dirty="0"/>
              <a:t>2018</a:t>
            </a:r>
            <a:r>
              <a:rPr spc="50" dirty="0"/>
              <a:t> </a:t>
            </a:r>
            <a:r>
              <a:rPr spc="75" dirty="0"/>
              <a:t>Pearson</a:t>
            </a:r>
            <a:r>
              <a:rPr spc="50" dirty="0"/>
              <a:t> Education, </a:t>
            </a:r>
            <a:r>
              <a:rPr dirty="0"/>
              <a:t>Inc.</a:t>
            </a:r>
            <a:r>
              <a:rPr spc="50" dirty="0"/>
              <a:t> </a:t>
            </a:r>
            <a:r>
              <a:rPr dirty="0"/>
              <a:t>All</a:t>
            </a:r>
            <a:r>
              <a:rPr spc="50" dirty="0"/>
              <a:t> </a:t>
            </a:r>
            <a:r>
              <a:rPr spc="80" dirty="0"/>
              <a:t>Rights</a:t>
            </a:r>
            <a:r>
              <a:rPr spc="55" dirty="0"/>
              <a:t> </a:t>
            </a:r>
            <a:r>
              <a:rPr spc="75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27774"/>
            <a:ext cx="2820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Arial"/>
                <a:cs typeface="Arial"/>
              </a:rPr>
              <a:t>Management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2281" y="349376"/>
            <a:ext cx="1931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7EA2"/>
                </a:solidFill>
                <a:latin typeface="Arial MT"/>
                <a:cs typeface="Arial MT"/>
              </a:rPr>
              <a:t>Sixteenth</a:t>
            </a:r>
            <a:r>
              <a:rPr sz="2000" spc="-40" dirty="0">
                <a:solidFill>
                  <a:srgbClr val="007EA2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7EA2"/>
                </a:solidFill>
                <a:latin typeface="Arial MT"/>
                <a:cs typeface="Arial MT"/>
              </a:rPr>
              <a:t>Edition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559" y="1359357"/>
            <a:ext cx="3870718" cy="49312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67935" y="2747416"/>
            <a:ext cx="2367915" cy="1151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 MT"/>
                <a:cs typeface="Arial MT"/>
              </a:rPr>
              <a:t>Chapter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50" dirty="0">
                <a:latin typeface="Arial MT"/>
                <a:cs typeface="Arial MT"/>
              </a:rPr>
              <a:t>9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20"/>
              </a:spcBef>
            </a:pPr>
            <a:r>
              <a:rPr sz="2200" dirty="0">
                <a:latin typeface="Arial MT"/>
                <a:cs typeface="Arial MT"/>
              </a:rPr>
              <a:t>Managing</a:t>
            </a:r>
            <a:r>
              <a:rPr sz="2200" spc="-1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Strategy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473" y="6378642"/>
            <a:ext cx="916305" cy="278765"/>
            <a:chOff x="457473" y="6378642"/>
            <a:chExt cx="916305" cy="278765"/>
          </a:xfrm>
        </p:grpSpPr>
        <p:sp>
          <p:nvSpPr>
            <p:cNvPr id="7" name="object 7"/>
            <p:cNvSpPr/>
            <p:nvPr/>
          </p:nvSpPr>
          <p:spPr>
            <a:xfrm>
              <a:off x="750963" y="6453720"/>
              <a:ext cx="622935" cy="130175"/>
            </a:xfrm>
            <a:custGeom>
              <a:avLst/>
              <a:gdLst/>
              <a:ahLst/>
              <a:cxnLst/>
              <a:rect l="l" t="t" r="r" b="b"/>
              <a:pathLst>
                <a:path w="622935" h="130175">
                  <a:moveTo>
                    <a:pt x="106553" y="37439"/>
                  </a:moveTo>
                  <a:lnTo>
                    <a:pt x="101600" y="18834"/>
                  </a:lnTo>
                  <a:lnTo>
                    <a:pt x="88811" y="7391"/>
                  </a:lnTo>
                  <a:lnTo>
                    <a:pt x="85001" y="6121"/>
                  </a:lnTo>
                  <a:lnTo>
                    <a:pt x="84594" y="5994"/>
                  </a:lnTo>
                  <a:lnTo>
                    <a:pt x="84594" y="37439"/>
                  </a:lnTo>
                  <a:lnTo>
                    <a:pt x="83439" y="50850"/>
                  </a:lnTo>
                  <a:lnTo>
                    <a:pt x="83375" y="51638"/>
                  </a:lnTo>
                  <a:lnTo>
                    <a:pt x="78651" y="62153"/>
                  </a:lnTo>
                  <a:lnTo>
                    <a:pt x="68795" y="68681"/>
                  </a:lnTo>
                  <a:lnTo>
                    <a:pt x="52197" y="70916"/>
                  </a:lnTo>
                  <a:lnTo>
                    <a:pt x="38150" y="70916"/>
                  </a:lnTo>
                  <a:lnTo>
                    <a:pt x="38150" y="6121"/>
                  </a:lnTo>
                  <a:lnTo>
                    <a:pt x="53276" y="6121"/>
                  </a:lnTo>
                  <a:lnTo>
                    <a:pt x="69710" y="8890"/>
                  </a:lnTo>
                  <a:lnTo>
                    <a:pt x="79184" y="16116"/>
                  </a:lnTo>
                  <a:lnTo>
                    <a:pt x="83540" y="26174"/>
                  </a:lnTo>
                  <a:lnTo>
                    <a:pt x="84594" y="37439"/>
                  </a:lnTo>
                  <a:lnTo>
                    <a:pt x="84594" y="5994"/>
                  </a:lnTo>
                  <a:lnTo>
                    <a:pt x="78473" y="3962"/>
                  </a:lnTo>
                  <a:lnTo>
                    <a:pt x="71310" y="1600"/>
                  </a:lnTo>
                  <a:lnTo>
                    <a:pt x="52197" y="0"/>
                  </a:lnTo>
                  <a:lnTo>
                    <a:pt x="1079" y="0"/>
                  </a:lnTo>
                  <a:lnTo>
                    <a:pt x="0" y="1079"/>
                  </a:lnTo>
                  <a:lnTo>
                    <a:pt x="0" y="3962"/>
                  </a:lnTo>
                  <a:lnTo>
                    <a:pt x="1079" y="5041"/>
                  </a:lnTo>
                  <a:lnTo>
                    <a:pt x="6121" y="6121"/>
                  </a:lnTo>
                  <a:lnTo>
                    <a:pt x="17995" y="3962"/>
                  </a:lnTo>
                  <a:lnTo>
                    <a:pt x="17995" y="117716"/>
                  </a:lnTo>
                  <a:lnTo>
                    <a:pt x="15113" y="122758"/>
                  </a:lnTo>
                  <a:lnTo>
                    <a:pt x="1079" y="123482"/>
                  </a:lnTo>
                  <a:lnTo>
                    <a:pt x="0" y="123482"/>
                  </a:lnTo>
                  <a:lnTo>
                    <a:pt x="0" y="127800"/>
                  </a:lnTo>
                  <a:lnTo>
                    <a:pt x="1079" y="128524"/>
                  </a:lnTo>
                  <a:lnTo>
                    <a:pt x="57238" y="128524"/>
                  </a:lnTo>
                  <a:lnTo>
                    <a:pt x="57238" y="123482"/>
                  </a:lnTo>
                  <a:lnTo>
                    <a:pt x="56515" y="123482"/>
                  </a:lnTo>
                  <a:lnTo>
                    <a:pt x="41402" y="122758"/>
                  </a:lnTo>
                  <a:lnTo>
                    <a:pt x="38150" y="118440"/>
                  </a:lnTo>
                  <a:lnTo>
                    <a:pt x="38150" y="77038"/>
                  </a:lnTo>
                  <a:lnTo>
                    <a:pt x="51473" y="77038"/>
                  </a:lnTo>
                  <a:lnTo>
                    <a:pt x="64998" y="76250"/>
                  </a:lnTo>
                  <a:lnTo>
                    <a:pt x="76847" y="73888"/>
                  </a:lnTo>
                  <a:lnTo>
                    <a:pt x="84556" y="70916"/>
                  </a:lnTo>
                  <a:lnTo>
                    <a:pt x="86804" y="70053"/>
                  </a:lnTo>
                  <a:lnTo>
                    <a:pt x="94678" y="64795"/>
                  </a:lnTo>
                  <a:lnTo>
                    <a:pt x="100787" y="57899"/>
                  </a:lnTo>
                  <a:lnTo>
                    <a:pt x="104394" y="50850"/>
                  </a:lnTo>
                  <a:lnTo>
                    <a:pt x="106108" y="43954"/>
                  </a:lnTo>
                  <a:lnTo>
                    <a:pt x="106553" y="37439"/>
                  </a:lnTo>
                  <a:close/>
                </a:path>
                <a:path w="622935" h="130175">
                  <a:moveTo>
                    <a:pt x="185089" y="67652"/>
                  </a:moveTo>
                  <a:lnTo>
                    <a:pt x="165950" y="39357"/>
                  </a:lnTo>
                  <a:lnTo>
                    <a:pt x="165950" y="70916"/>
                  </a:lnTo>
                  <a:lnTo>
                    <a:pt x="125996" y="70916"/>
                  </a:lnTo>
                  <a:lnTo>
                    <a:pt x="128346" y="57937"/>
                  </a:lnTo>
                  <a:lnTo>
                    <a:pt x="132651" y="48336"/>
                  </a:lnTo>
                  <a:lnTo>
                    <a:pt x="138734" y="42481"/>
                  </a:lnTo>
                  <a:lnTo>
                    <a:pt x="138404" y="42481"/>
                  </a:lnTo>
                  <a:lnTo>
                    <a:pt x="146875" y="40322"/>
                  </a:lnTo>
                  <a:lnTo>
                    <a:pt x="152996" y="40322"/>
                  </a:lnTo>
                  <a:lnTo>
                    <a:pt x="165950" y="70916"/>
                  </a:lnTo>
                  <a:lnTo>
                    <a:pt x="165950" y="39357"/>
                  </a:lnTo>
                  <a:lnTo>
                    <a:pt x="164020" y="38303"/>
                  </a:lnTo>
                  <a:lnTo>
                    <a:pt x="156540" y="36068"/>
                  </a:lnTo>
                  <a:lnTo>
                    <a:pt x="147955" y="35280"/>
                  </a:lnTo>
                  <a:lnTo>
                    <a:pt x="131597" y="39090"/>
                  </a:lnTo>
                  <a:lnTo>
                    <a:pt x="118071" y="49504"/>
                  </a:lnTo>
                  <a:lnTo>
                    <a:pt x="108864" y="65049"/>
                  </a:lnTo>
                  <a:lnTo>
                    <a:pt x="105473" y="84239"/>
                  </a:lnTo>
                  <a:lnTo>
                    <a:pt x="108712" y="102412"/>
                  </a:lnTo>
                  <a:lnTo>
                    <a:pt x="117665" y="116776"/>
                  </a:lnTo>
                  <a:lnTo>
                    <a:pt x="131140" y="126212"/>
                  </a:lnTo>
                  <a:lnTo>
                    <a:pt x="147955" y="129603"/>
                  </a:lnTo>
                  <a:lnTo>
                    <a:pt x="161899" y="127584"/>
                  </a:lnTo>
                  <a:lnTo>
                    <a:pt x="172300" y="122364"/>
                  </a:lnTo>
                  <a:lnTo>
                    <a:pt x="174129" y="120599"/>
                  </a:lnTo>
                  <a:lnTo>
                    <a:pt x="179793" y="115176"/>
                  </a:lnTo>
                  <a:lnTo>
                    <a:pt x="185039" y="107276"/>
                  </a:lnTo>
                  <a:lnTo>
                    <a:pt x="185039" y="105473"/>
                  </a:lnTo>
                  <a:lnTo>
                    <a:pt x="184315" y="105473"/>
                  </a:lnTo>
                  <a:lnTo>
                    <a:pt x="184315" y="104394"/>
                  </a:lnTo>
                  <a:lnTo>
                    <a:pt x="182156" y="104394"/>
                  </a:lnTo>
                  <a:lnTo>
                    <a:pt x="181076" y="105473"/>
                  </a:lnTo>
                  <a:lnTo>
                    <a:pt x="175348" y="111645"/>
                  </a:lnTo>
                  <a:lnTo>
                    <a:pt x="169595" y="116420"/>
                  </a:lnTo>
                  <a:lnTo>
                    <a:pt x="163093" y="119507"/>
                  </a:lnTo>
                  <a:lnTo>
                    <a:pt x="155155" y="120599"/>
                  </a:lnTo>
                  <a:lnTo>
                    <a:pt x="144348" y="118579"/>
                  </a:lnTo>
                  <a:lnTo>
                    <a:pt x="134632" y="112014"/>
                  </a:lnTo>
                  <a:lnTo>
                    <a:pt x="127609" y="100101"/>
                  </a:lnTo>
                  <a:lnTo>
                    <a:pt x="124917" y="82080"/>
                  </a:lnTo>
                  <a:lnTo>
                    <a:pt x="124917" y="77038"/>
                  </a:lnTo>
                  <a:lnTo>
                    <a:pt x="185039" y="77038"/>
                  </a:lnTo>
                  <a:lnTo>
                    <a:pt x="185077" y="70916"/>
                  </a:lnTo>
                  <a:lnTo>
                    <a:pt x="185089" y="67652"/>
                  </a:lnTo>
                  <a:close/>
                </a:path>
                <a:path w="622935" h="130175">
                  <a:moveTo>
                    <a:pt x="278638" y="123482"/>
                  </a:moveTo>
                  <a:lnTo>
                    <a:pt x="277558" y="122770"/>
                  </a:lnTo>
                  <a:lnTo>
                    <a:pt x="277558" y="121678"/>
                  </a:lnTo>
                  <a:lnTo>
                    <a:pt x="270713" y="121678"/>
                  </a:lnTo>
                  <a:lnTo>
                    <a:pt x="268554" y="120599"/>
                  </a:lnTo>
                  <a:lnTo>
                    <a:pt x="266750" y="119519"/>
                  </a:lnTo>
                  <a:lnTo>
                    <a:pt x="265671" y="116636"/>
                  </a:lnTo>
                  <a:lnTo>
                    <a:pt x="265671" y="114477"/>
                  </a:lnTo>
                  <a:lnTo>
                    <a:pt x="265671" y="82080"/>
                  </a:lnTo>
                  <a:lnTo>
                    <a:pt x="265671" y="63715"/>
                  </a:lnTo>
                  <a:lnTo>
                    <a:pt x="263588" y="51854"/>
                  </a:lnTo>
                  <a:lnTo>
                    <a:pt x="257429" y="43294"/>
                  </a:lnTo>
                  <a:lnTo>
                    <a:pt x="253746" y="41402"/>
                  </a:lnTo>
                  <a:lnTo>
                    <a:pt x="247294" y="38112"/>
                  </a:lnTo>
                  <a:lnTo>
                    <a:pt x="233273" y="36360"/>
                  </a:lnTo>
                  <a:lnTo>
                    <a:pt x="218998" y="38112"/>
                  </a:lnTo>
                  <a:lnTo>
                    <a:pt x="219608" y="38112"/>
                  </a:lnTo>
                  <a:lnTo>
                    <a:pt x="209016" y="42443"/>
                  </a:lnTo>
                  <a:lnTo>
                    <a:pt x="201726" y="48971"/>
                  </a:lnTo>
                  <a:lnTo>
                    <a:pt x="199072" y="56883"/>
                  </a:lnTo>
                  <a:lnTo>
                    <a:pt x="199072" y="62636"/>
                  </a:lnTo>
                  <a:lnTo>
                    <a:pt x="203390" y="67678"/>
                  </a:lnTo>
                  <a:lnTo>
                    <a:pt x="208432" y="67678"/>
                  </a:lnTo>
                  <a:lnTo>
                    <a:pt x="211315" y="68757"/>
                  </a:lnTo>
                  <a:lnTo>
                    <a:pt x="215277" y="66954"/>
                  </a:lnTo>
                  <a:lnTo>
                    <a:pt x="222478" y="59753"/>
                  </a:lnTo>
                  <a:lnTo>
                    <a:pt x="221399" y="53644"/>
                  </a:lnTo>
                  <a:lnTo>
                    <a:pt x="216382" y="46494"/>
                  </a:lnTo>
                  <a:lnTo>
                    <a:pt x="219240" y="43561"/>
                  </a:lnTo>
                  <a:lnTo>
                    <a:pt x="225361" y="41402"/>
                  </a:lnTo>
                  <a:lnTo>
                    <a:pt x="232562" y="41402"/>
                  </a:lnTo>
                  <a:lnTo>
                    <a:pt x="248399" y="75958"/>
                  </a:lnTo>
                  <a:lnTo>
                    <a:pt x="248399" y="82080"/>
                  </a:lnTo>
                  <a:lnTo>
                    <a:pt x="248399" y="108356"/>
                  </a:lnTo>
                  <a:lnTo>
                    <a:pt x="245516" y="111239"/>
                  </a:lnTo>
                  <a:lnTo>
                    <a:pt x="238315" y="120599"/>
                  </a:lnTo>
                  <a:lnTo>
                    <a:pt x="217436" y="120599"/>
                  </a:lnTo>
                  <a:lnTo>
                    <a:pt x="215277" y="111239"/>
                  </a:lnTo>
                  <a:lnTo>
                    <a:pt x="215277" y="104394"/>
                  </a:lnTo>
                  <a:lnTo>
                    <a:pt x="217055" y="96913"/>
                  </a:lnTo>
                  <a:lnTo>
                    <a:pt x="222783" y="90957"/>
                  </a:lnTo>
                  <a:lnTo>
                    <a:pt x="233045" y="86131"/>
                  </a:lnTo>
                  <a:lnTo>
                    <a:pt x="248399" y="82080"/>
                  </a:lnTo>
                  <a:lnTo>
                    <a:pt x="248399" y="75958"/>
                  </a:lnTo>
                  <a:lnTo>
                    <a:pt x="245516" y="75958"/>
                  </a:lnTo>
                  <a:lnTo>
                    <a:pt x="243357" y="77038"/>
                  </a:lnTo>
                  <a:lnTo>
                    <a:pt x="238315" y="78117"/>
                  </a:lnTo>
                  <a:lnTo>
                    <a:pt x="200152" y="92163"/>
                  </a:lnTo>
                  <a:lnTo>
                    <a:pt x="196202" y="99364"/>
                  </a:lnTo>
                  <a:lnTo>
                    <a:pt x="196202" y="108356"/>
                  </a:lnTo>
                  <a:lnTo>
                    <a:pt x="197434" y="115938"/>
                  </a:lnTo>
                  <a:lnTo>
                    <a:pt x="201498" y="122770"/>
                  </a:lnTo>
                  <a:lnTo>
                    <a:pt x="209092" y="127800"/>
                  </a:lnTo>
                  <a:lnTo>
                    <a:pt x="209537" y="127800"/>
                  </a:lnTo>
                  <a:lnTo>
                    <a:pt x="220319" y="129603"/>
                  </a:lnTo>
                  <a:lnTo>
                    <a:pt x="227685" y="128663"/>
                  </a:lnTo>
                  <a:lnTo>
                    <a:pt x="234759" y="125831"/>
                  </a:lnTo>
                  <a:lnTo>
                    <a:pt x="241617" y="121107"/>
                  </a:lnTo>
                  <a:lnTo>
                    <a:pt x="242125" y="120599"/>
                  </a:lnTo>
                  <a:lnTo>
                    <a:pt x="248399" y="114477"/>
                  </a:lnTo>
                  <a:lnTo>
                    <a:pt x="248932" y="119519"/>
                  </a:lnTo>
                  <a:lnTo>
                    <a:pt x="249047" y="120599"/>
                  </a:lnTo>
                  <a:lnTo>
                    <a:pt x="249161" y="121678"/>
                  </a:lnTo>
                  <a:lnTo>
                    <a:pt x="249275" y="122770"/>
                  </a:lnTo>
                  <a:lnTo>
                    <a:pt x="249351" y="123482"/>
                  </a:lnTo>
                  <a:lnTo>
                    <a:pt x="249478" y="124561"/>
                  </a:lnTo>
                  <a:lnTo>
                    <a:pt x="253441" y="128524"/>
                  </a:lnTo>
                  <a:lnTo>
                    <a:pt x="268554" y="128524"/>
                  </a:lnTo>
                  <a:lnTo>
                    <a:pt x="271792" y="127800"/>
                  </a:lnTo>
                  <a:lnTo>
                    <a:pt x="276834" y="125641"/>
                  </a:lnTo>
                  <a:lnTo>
                    <a:pt x="277558" y="125641"/>
                  </a:lnTo>
                  <a:lnTo>
                    <a:pt x="278638" y="123482"/>
                  </a:lnTo>
                  <a:close/>
                </a:path>
                <a:path w="622935" h="130175">
                  <a:moveTo>
                    <a:pt x="354241" y="43561"/>
                  </a:moveTo>
                  <a:lnTo>
                    <a:pt x="350278" y="36360"/>
                  </a:lnTo>
                  <a:lnTo>
                    <a:pt x="339115" y="36360"/>
                  </a:lnTo>
                  <a:lnTo>
                    <a:pt x="331863" y="37439"/>
                  </a:lnTo>
                  <a:lnTo>
                    <a:pt x="332333" y="37439"/>
                  </a:lnTo>
                  <a:lnTo>
                    <a:pt x="326237" y="40411"/>
                  </a:lnTo>
                  <a:lnTo>
                    <a:pt x="320078" y="45783"/>
                  </a:lnTo>
                  <a:lnTo>
                    <a:pt x="313918" y="53644"/>
                  </a:lnTo>
                  <a:lnTo>
                    <a:pt x="313918" y="38519"/>
                  </a:lnTo>
                  <a:lnTo>
                    <a:pt x="312839" y="37439"/>
                  </a:lnTo>
                  <a:lnTo>
                    <a:pt x="287997" y="37439"/>
                  </a:lnTo>
                  <a:lnTo>
                    <a:pt x="286918" y="38519"/>
                  </a:lnTo>
                  <a:lnTo>
                    <a:pt x="286918" y="41402"/>
                  </a:lnTo>
                  <a:lnTo>
                    <a:pt x="287997" y="42481"/>
                  </a:lnTo>
                  <a:lnTo>
                    <a:pt x="295910" y="43561"/>
                  </a:lnTo>
                  <a:lnTo>
                    <a:pt x="296633" y="46443"/>
                  </a:lnTo>
                  <a:lnTo>
                    <a:pt x="296633" y="121678"/>
                  </a:lnTo>
                  <a:lnTo>
                    <a:pt x="295910" y="123482"/>
                  </a:lnTo>
                  <a:lnTo>
                    <a:pt x="288721" y="123482"/>
                  </a:lnTo>
                  <a:lnTo>
                    <a:pt x="286918" y="124561"/>
                  </a:lnTo>
                  <a:lnTo>
                    <a:pt x="286918" y="127800"/>
                  </a:lnTo>
                  <a:lnTo>
                    <a:pt x="287997" y="128524"/>
                  </a:lnTo>
                  <a:lnTo>
                    <a:pt x="326872" y="128524"/>
                  </a:lnTo>
                  <a:lnTo>
                    <a:pt x="326872" y="124561"/>
                  </a:lnTo>
                  <a:lnTo>
                    <a:pt x="326161" y="124561"/>
                  </a:lnTo>
                  <a:lnTo>
                    <a:pt x="317157" y="123482"/>
                  </a:lnTo>
                  <a:lnTo>
                    <a:pt x="314998" y="122758"/>
                  </a:lnTo>
                  <a:lnTo>
                    <a:pt x="314998" y="62636"/>
                  </a:lnTo>
                  <a:lnTo>
                    <a:pt x="320459" y="53644"/>
                  </a:lnTo>
                  <a:lnTo>
                    <a:pt x="321119" y="52565"/>
                  </a:lnTo>
                  <a:lnTo>
                    <a:pt x="325081" y="47523"/>
                  </a:lnTo>
                  <a:lnTo>
                    <a:pt x="332727" y="45783"/>
                  </a:lnTo>
                  <a:lnTo>
                    <a:pt x="332905" y="45783"/>
                  </a:lnTo>
                  <a:lnTo>
                    <a:pt x="331914" y="46443"/>
                  </a:lnTo>
                  <a:lnTo>
                    <a:pt x="331914" y="56883"/>
                  </a:lnTo>
                  <a:lnTo>
                    <a:pt x="336956" y="60833"/>
                  </a:lnTo>
                  <a:lnTo>
                    <a:pt x="350278" y="60833"/>
                  </a:lnTo>
                  <a:lnTo>
                    <a:pt x="354241" y="56883"/>
                  </a:lnTo>
                  <a:lnTo>
                    <a:pt x="354241" y="45783"/>
                  </a:lnTo>
                  <a:lnTo>
                    <a:pt x="354241" y="43561"/>
                  </a:lnTo>
                  <a:close/>
                </a:path>
                <a:path w="622935" h="130175">
                  <a:moveTo>
                    <a:pt x="423710" y="99364"/>
                  </a:moveTo>
                  <a:lnTo>
                    <a:pt x="396354" y="71996"/>
                  </a:lnTo>
                  <a:lnTo>
                    <a:pt x="395274" y="71996"/>
                  </a:lnTo>
                  <a:lnTo>
                    <a:pt x="385152" y="68605"/>
                  </a:lnTo>
                  <a:lnTo>
                    <a:pt x="378345" y="64846"/>
                  </a:lnTo>
                  <a:lnTo>
                    <a:pt x="374510" y="60617"/>
                  </a:lnTo>
                  <a:lnTo>
                    <a:pt x="373316" y="55803"/>
                  </a:lnTo>
                  <a:lnTo>
                    <a:pt x="373316" y="46443"/>
                  </a:lnTo>
                  <a:lnTo>
                    <a:pt x="379437" y="40322"/>
                  </a:lnTo>
                  <a:lnTo>
                    <a:pt x="389521" y="40322"/>
                  </a:lnTo>
                  <a:lnTo>
                    <a:pt x="415442" y="64846"/>
                  </a:lnTo>
                  <a:lnTo>
                    <a:pt x="415442" y="65874"/>
                  </a:lnTo>
                  <a:lnTo>
                    <a:pt x="418680" y="65874"/>
                  </a:lnTo>
                  <a:lnTo>
                    <a:pt x="419709" y="64846"/>
                  </a:lnTo>
                  <a:lnTo>
                    <a:pt x="419760" y="35280"/>
                  </a:lnTo>
                  <a:lnTo>
                    <a:pt x="416521" y="35280"/>
                  </a:lnTo>
                  <a:lnTo>
                    <a:pt x="416521" y="36360"/>
                  </a:lnTo>
                  <a:lnTo>
                    <a:pt x="415442" y="36360"/>
                  </a:lnTo>
                  <a:lnTo>
                    <a:pt x="412559" y="40322"/>
                  </a:lnTo>
                  <a:lnTo>
                    <a:pt x="407517" y="38519"/>
                  </a:lnTo>
                  <a:lnTo>
                    <a:pt x="400316" y="35280"/>
                  </a:lnTo>
                  <a:lnTo>
                    <a:pt x="392391" y="35280"/>
                  </a:lnTo>
                  <a:lnTo>
                    <a:pt x="379895" y="37452"/>
                  </a:lnTo>
                  <a:lnTo>
                    <a:pt x="369976" y="43434"/>
                  </a:lnTo>
                  <a:lnTo>
                    <a:pt x="363435" y="52451"/>
                  </a:lnTo>
                  <a:lnTo>
                    <a:pt x="361073" y="63715"/>
                  </a:lnTo>
                  <a:lnTo>
                    <a:pt x="362927" y="74104"/>
                  </a:lnTo>
                  <a:lnTo>
                    <a:pt x="368401" y="81457"/>
                  </a:lnTo>
                  <a:lnTo>
                    <a:pt x="377317" y="86512"/>
                  </a:lnTo>
                  <a:lnTo>
                    <a:pt x="389521" y="90004"/>
                  </a:lnTo>
                  <a:lnTo>
                    <a:pt x="400253" y="93853"/>
                  </a:lnTo>
                  <a:lnTo>
                    <a:pt x="407377" y="98107"/>
                  </a:lnTo>
                  <a:lnTo>
                    <a:pt x="411327" y="103162"/>
                  </a:lnTo>
                  <a:lnTo>
                    <a:pt x="412559" y="109435"/>
                  </a:lnTo>
                  <a:lnTo>
                    <a:pt x="412559" y="119519"/>
                  </a:lnTo>
                  <a:lnTo>
                    <a:pt x="402475" y="124561"/>
                  </a:lnTo>
                  <a:lnTo>
                    <a:pt x="395274" y="124561"/>
                  </a:lnTo>
                  <a:lnTo>
                    <a:pt x="387210" y="123482"/>
                  </a:lnTo>
                  <a:lnTo>
                    <a:pt x="386880" y="123482"/>
                  </a:lnTo>
                  <a:lnTo>
                    <a:pt x="379793" y="119253"/>
                  </a:lnTo>
                  <a:lnTo>
                    <a:pt x="372795" y="110896"/>
                  </a:lnTo>
                  <a:lnTo>
                    <a:pt x="364312" y="97193"/>
                  </a:lnTo>
                  <a:lnTo>
                    <a:pt x="364312" y="96113"/>
                  </a:lnTo>
                  <a:lnTo>
                    <a:pt x="361073" y="96113"/>
                  </a:lnTo>
                  <a:lnTo>
                    <a:pt x="360362" y="97193"/>
                  </a:lnTo>
                  <a:lnTo>
                    <a:pt x="360362" y="129603"/>
                  </a:lnTo>
                  <a:lnTo>
                    <a:pt x="364312" y="129603"/>
                  </a:lnTo>
                  <a:lnTo>
                    <a:pt x="364312" y="128524"/>
                  </a:lnTo>
                  <a:lnTo>
                    <a:pt x="370433" y="123482"/>
                  </a:lnTo>
                  <a:lnTo>
                    <a:pt x="376199" y="127800"/>
                  </a:lnTo>
                  <a:lnTo>
                    <a:pt x="386270" y="129603"/>
                  </a:lnTo>
                  <a:lnTo>
                    <a:pt x="402475" y="129603"/>
                  </a:lnTo>
                  <a:lnTo>
                    <a:pt x="410400" y="126720"/>
                  </a:lnTo>
                  <a:lnTo>
                    <a:pt x="412546" y="124561"/>
                  </a:lnTo>
                  <a:lnTo>
                    <a:pt x="421551" y="115557"/>
                  </a:lnTo>
                  <a:lnTo>
                    <a:pt x="423710" y="108356"/>
                  </a:lnTo>
                  <a:lnTo>
                    <a:pt x="423710" y="99364"/>
                  </a:lnTo>
                  <a:close/>
                </a:path>
                <a:path w="622935" h="130175">
                  <a:moveTo>
                    <a:pt x="523074" y="82080"/>
                  </a:moveTo>
                  <a:lnTo>
                    <a:pt x="519671" y="64604"/>
                  </a:lnTo>
                  <a:lnTo>
                    <a:pt x="519582" y="64147"/>
                  </a:lnTo>
                  <a:lnTo>
                    <a:pt x="510108" y="49377"/>
                  </a:lnTo>
                  <a:lnTo>
                    <a:pt x="510019" y="49237"/>
                  </a:lnTo>
                  <a:lnTo>
                    <a:pt x="503275" y="44437"/>
                  </a:lnTo>
                  <a:lnTo>
                    <a:pt x="503275" y="83159"/>
                  </a:lnTo>
                  <a:lnTo>
                    <a:pt x="501713" y="101511"/>
                  </a:lnTo>
                  <a:lnTo>
                    <a:pt x="497154" y="114401"/>
                  </a:lnTo>
                  <a:lnTo>
                    <a:pt x="489597" y="122047"/>
                  </a:lnTo>
                  <a:lnTo>
                    <a:pt x="479158" y="124561"/>
                  </a:lnTo>
                  <a:lnTo>
                    <a:pt x="467868" y="122047"/>
                  </a:lnTo>
                  <a:lnTo>
                    <a:pt x="459892" y="114401"/>
                  </a:lnTo>
                  <a:lnTo>
                    <a:pt x="455269" y="101815"/>
                  </a:lnTo>
                  <a:lnTo>
                    <a:pt x="455155" y="101511"/>
                  </a:lnTo>
                  <a:lnTo>
                    <a:pt x="455828" y="60680"/>
                  </a:lnTo>
                  <a:lnTo>
                    <a:pt x="476999" y="40322"/>
                  </a:lnTo>
                  <a:lnTo>
                    <a:pt x="488238" y="43027"/>
                  </a:lnTo>
                  <a:lnTo>
                    <a:pt x="496481" y="51079"/>
                  </a:lnTo>
                  <a:lnTo>
                    <a:pt x="501421" y="64147"/>
                  </a:lnTo>
                  <a:lnTo>
                    <a:pt x="501548" y="64604"/>
                  </a:lnTo>
                  <a:lnTo>
                    <a:pt x="503174" y="82080"/>
                  </a:lnTo>
                  <a:lnTo>
                    <a:pt x="503275" y="83159"/>
                  </a:lnTo>
                  <a:lnTo>
                    <a:pt x="503275" y="44437"/>
                  </a:lnTo>
                  <a:lnTo>
                    <a:pt x="497522" y="40322"/>
                  </a:lnTo>
                  <a:lnTo>
                    <a:pt x="495757" y="39077"/>
                  </a:lnTo>
                  <a:lnTo>
                    <a:pt x="478078" y="35280"/>
                  </a:lnTo>
                  <a:lnTo>
                    <a:pt x="460819" y="39077"/>
                  </a:lnTo>
                  <a:lnTo>
                    <a:pt x="446747" y="49377"/>
                  </a:lnTo>
                  <a:lnTo>
                    <a:pt x="437261" y="64604"/>
                  </a:lnTo>
                  <a:lnTo>
                    <a:pt x="433793" y="83159"/>
                  </a:lnTo>
                  <a:lnTo>
                    <a:pt x="437159" y="101511"/>
                  </a:lnTo>
                  <a:lnTo>
                    <a:pt x="446481" y="116243"/>
                  </a:lnTo>
                  <a:lnTo>
                    <a:pt x="460527" y="126047"/>
                  </a:lnTo>
                  <a:lnTo>
                    <a:pt x="478078" y="129603"/>
                  </a:lnTo>
                  <a:lnTo>
                    <a:pt x="494372" y="126288"/>
                  </a:lnTo>
                  <a:lnTo>
                    <a:pt x="496976" y="124561"/>
                  </a:lnTo>
                  <a:lnTo>
                    <a:pt x="508800" y="116776"/>
                  </a:lnTo>
                  <a:lnTo>
                    <a:pt x="519125" y="101815"/>
                  </a:lnTo>
                  <a:lnTo>
                    <a:pt x="523074" y="82080"/>
                  </a:lnTo>
                  <a:close/>
                </a:path>
                <a:path w="622935" h="130175">
                  <a:moveTo>
                    <a:pt x="622795" y="124561"/>
                  </a:moveTo>
                  <a:lnTo>
                    <a:pt x="621715" y="123482"/>
                  </a:lnTo>
                  <a:lnTo>
                    <a:pt x="612711" y="123482"/>
                  </a:lnTo>
                  <a:lnTo>
                    <a:pt x="611632" y="121678"/>
                  </a:lnTo>
                  <a:lnTo>
                    <a:pt x="611632" y="63715"/>
                  </a:lnTo>
                  <a:lnTo>
                    <a:pt x="609981" y="52158"/>
                  </a:lnTo>
                  <a:lnTo>
                    <a:pt x="606831" y="46443"/>
                  </a:lnTo>
                  <a:lnTo>
                    <a:pt x="605243" y="43561"/>
                  </a:lnTo>
                  <a:lnTo>
                    <a:pt x="597662" y="38214"/>
                  </a:lnTo>
                  <a:lnTo>
                    <a:pt x="587514" y="36360"/>
                  </a:lnTo>
                  <a:lnTo>
                    <a:pt x="571868" y="39230"/>
                  </a:lnTo>
                  <a:lnTo>
                    <a:pt x="562038" y="45542"/>
                  </a:lnTo>
                  <a:lnTo>
                    <a:pt x="556933" y="51866"/>
                  </a:lnTo>
                  <a:lnTo>
                    <a:pt x="555472" y="54724"/>
                  </a:lnTo>
                  <a:lnTo>
                    <a:pt x="555472" y="38519"/>
                  </a:lnTo>
                  <a:lnTo>
                    <a:pt x="553313" y="36360"/>
                  </a:lnTo>
                  <a:lnTo>
                    <a:pt x="529196" y="37439"/>
                  </a:lnTo>
                  <a:lnTo>
                    <a:pt x="528116" y="37439"/>
                  </a:lnTo>
                  <a:lnTo>
                    <a:pt x="527392" y="38519"/>
                  </a:lnTo>
                  <a:lnTo>
                    <a:pt x="527392" y="41402"/>
                  </a:lnTo>
                  <a:lnTo>
                    <a:pt x="528116" y="42481"/>
                  </a:lnTo>
                  <a:lnTo>
                    <a:pt x="536397" y="43561"/>
                  </a:lnTo>
                  <a:lnTo>
                    <a:pt x="537476" y="46443"/>
                  </a:lnTo>
                  <a:lnTo>
                    <a:pt x="537476" y="121678"/>
                  </a:lnTo>
                  <a:lnTo>
                    <a:pt x="536397" y="123482"/>
                  </a:lnTo>
                  <a:lnTo>
                    <a:pt x="527392" y="123482"/>
                  </a:lnTo>
                  <a:lnTo>
                    <a:pt x="527392" y="127800"/>
                  </a:lnTo>
                  <a:lnTo>
                    <a:pt x="528116" y="128524"/>
                  </a:lnTo>
                  <a:lnTo>
                    <a:pt x="563397" y="128524"/>
                  </a:lnTo>
                  <a:lnTo>
                    <a:pt x="564476" y="127800"/>
                  </a:lnTo>
                  <a:lnTo>
                    <a:pt x="564476" y="124561"/>
                  </a:lnTo>
                  <a:lnTo>
                    <a:pt x="563397" y="123482"/>
                  </a:lnTo>
                  <a:lnTo>
                    <a:pt x="556552" y="123482"/>
                  </a:lnTo>
                  <a:lnTo>
                    <a:pt x="555472" y="121678"/>
                  </a:lnTo>
                  <a:lnTo>
                    <a:pt x="555472" y="66954"/>
                  </a:lnTo>
                  <a:lnTo>
                    <a:pt x="557276" y="61925"/>
                  </a:lnTo>
                  <a:lnTo>
                    <a:pt x="559435" y="58674"/>
                  </a:lnTo>
                  <a:lnTo>
                    <a:pt x="562546" y="54724"/>
                  </a:lnTo>
                  <a:lnTo>
                    <a:pt x="563397" y="53644"/>
                  </a:lnTo>
                  <a:lnTo>
                    <a:pt x="569518" y="46443"/>
                  </a:lnTo>
                  <a:lnTo>
                    <a:pt x="577430" y="46443"/>
                  </a:lnTo>
                  <a:lnTo>
                    <a:pt x="585127" y="47663"/>
                  </a:lnTo>
                  <a:lnTo>
                    <a:pt x="590118" y="51536"/>
                  </a:lnTo>
                  <a:lnTo>
                    <a:pt x="592823" y="58445"/>
                  </a:lnTo>
                  <a:lnTo>
                    <a:pt x="593636" y="68757"/>
                  </a:lnTo>
                  <a:lnTo>
                    <a:pt x="593636" y="121678"/>
                  </a:lnTo>
                  <a:lnTo>
                    <a:pt x="592556" y="123482"/>
                  </a:lnTo>
                  <a:lnTo>
                    <a:pt x="585711" y="123482"/>
                  </a:lnTo>
                  <a:lnTo>
                    <a:pt x="584631" y="124561"/>
                  </a:lnTo>
                  <a:lnTo>
                    <a:pt x="584631" y="127800"/>
                  </a:lnTo>
                  <a:lnTo>
                    <a:pt x="585711" y="128524"/>
                  </a:lnTo>
                  <a:lnTo>
                    <a:pt x="621715" y="128524"/>
                  </a:lnTo>
                  <a:lnTo>
                    <a:pt x="622795" y="127800"/>
                  </a:lnTo>
                  <a:lnTo>
                    <a:pt x="622795" y="124561"/>
                  </a:lnTo>
                  <a:close/>
                </a:path>
              </a:pathLst>
            </a:custGeom>
            <a:solidFill>
              <a:srgbClr val="3D39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473" y="6378642"/>
              <a:ext cx="252095" cy="278765"/>
            </a:xfrm>
            <a:custGeom>
              <a:avLst/>
              <a:gdLst/>
              <a:ahLst/>
              <a:cxnLst/>
              <a:rect l="l" t="t" r="r" b="b"/>
              <a:pathLst>
                <a:path w="252095" h="278765">
                  <a:moveTo>
                    <a:pt x="114401" y="0"/>
                  </a:moveTo>
                  <a:lnTo>
                    <a:pt x="74092" y="12480"/>
                  </a:lnTo>
                  <a:lnTo>
                    <a:pt x="38847" y="39147"/>
                  </a:lnTo>
                  <a:lnTo>
                    <a:pt x="11968" y="80120"/>
                  </a:lnTo>
                  <a:lnTo>
                    <a:pt x="0" y="127191"/>
                  </a:lnTo>
                  <a:lnTo>
                    <a:pt x="2609" y="179969"/>
                  </a:lnTo>
                  <a:lnTo>
                    <a:pt x="20877" y="228901"/>
                  </a:lnTo>
                  <a:lnTo>
                    <a:pt x="55885" y="264435"/>
                  </a:lnTo>
                  <a:lnTo>
                    <a:pt x="102465" y="278306"/>
                  </a:lnTo>
                  <a:lnTo>
                    <a:pt x="150700" y="271185"/>
                  </a:lnTo>
                  <a:lnTo>
                    <a:pt x="194549" y="245301"/>
                  </a:lnTo>
                  <a:lnTo>
                    <a:pt x="227970" y="202878"/>
                  </a:lnTo>
                  <a:lnTo>
                    <a:pt x="246242" y="157463"/>
                  </a:lnTo>
                  <a:lnTo>
                    <a:pt x="251747" y="114158"/>
                  </a:lnTo>
                  <a:lnTo>
                    <a:pt x="245020" y="74984"/>
                  </a:lnTo>
                  <a:lnTo>
                    <a:pt x="226595" y="41963"/>
                  </a:lnTo>
                  <a:lnTo>
                    <a:pt x="197007" y="17115"/>
                  </a:lnTo>
                  <a:lnTo>
                    <a:pt x="156474" y="1585"/>
                  </a:lnTo>
                  <a:lnTo>
                    <a:pt x="114401" y="0"/>
                  </a:lnTo>
                  <a:close/>
                </a:path>
              </a:pathLst>
            </a:custGeom>
            <a:solidFill>
              <a:srgbClr val="097F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25" y="6427444"/>
              <a:ext cx="167487" cy="18935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040456" y="6427465"/>
            <a:ext cx="5727065" cy="370614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70" dirty="0"/>
              <a:t>Copyright</a:t>
            </a:r>
            <a:r>
              <a:rPr spc="45" dirty="0"/>
              <a:t> </a:t>
            </a:r>
            <a:r>
              <a:rPr spc="345" dirty="0"/>
              <a:t>©</a:t>
            </a:r>
            <a:r>
              <a:rPr spc="55" dirty="0"/>
              <a:t> </a:t>
            </a:r>
            <a:r>
              <a:rPr lang="en-GB" spc="55" dirty="0"/>
              <a:t>Slides </a:t>
            </a:r>
            <a:r>
              <a:rPr lang="en-GB" spc="55" dirty="0" err="1"/>
              <a:t>modifed</a:t>
            </a:r>
            <a:r>
              <a:rPr lang="en-GB" spc="55" dirty="0"/>
              <a:t> according to our student needs and understanding ….</a:t>
            </a:r>
            <a:endParaRPr spc="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Learning</a:t>
            </a:r>
            <a:r>
              <a:rPr spc="-14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7937500" cy="5168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984" marR="588010" lvl="1" indent="-502920">
              <a:lnSpc>
                <a:spcPct val="100000"/>
              </a:lnSpc>
              <a:spcBef>
                <a:spcPts val="100"/>
              </a:spcBef>
              <a:buFont typeface="Wingdings" pitchFamily="2" charset="2"/>
              <a:buChar char="q"/>
              <a:tabLst>
                <a:tab pos="514984" algn="l"/>
                <a:tab pos="518795" algn="l"/>
              </a:tabLst>
            </a:pPr>
            <a:r>
              <a:rPr sz="3200" b="1" dirty="0">
                <a:solidFill>
                  <a:srgbClr val="007EA2"/>
                </a:solidFill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Define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strategic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management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explain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why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it’s </a:t>
            </a:r>
            <a:r>
              <a:rPr sz="3200" spc="-10" dirty="0">
                <a:latin typeface="Arial MT"/>
                <a:cs typeface="Arial MT"/>
              </a:rPr>
              <a:t>important.</a:t>
            </a:r>
            <a:endParaRPr sz="3200" dirty="0">
              <a:latin typeface="Arial MT"/>
              <a:cs typeface="Arial MT"/>
            </a:endParaRPr>
          </a:p>
          <a:p>
            <a:pPr marL="514984" marR="5080" lvl="1" indent="-50292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q"/>
              <a:tabLst>
                <a:tab pos="514984" algn="l"/>
                <a:tab pos="518795" algn="l"/>
              </a:tabLst>
            </a:pPr>
            <a:r>
              <a:rPr sz="3200" b="1" dirty="0">
                <a:solidFill>
                  <a:srgbClr val="007EA2"/>
                </a:solidFill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Explain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what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managers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do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during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five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steps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the </a:t>
            </a:r>
            <a:r>
              <a:rPr sz="3200" dirty="0">
                <a:latin typeface="Arial MT"/>
                <a:cs typeface="Arial MT"/>
              </a:rPr>
              <a:t>strategic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management</a:t>
            </a:r>
            <a:r>
              <a:rPr sz="3200" spc="-1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process.</a:t>
            </a:r>
            <a:endParaRPr sz="3200" dirty="0">
              <a:latin typeface="Arial MT"/>
              <a:cs typeface="Arial MT"/>
            </a:endParaRPr>
          </a:p>
          <a:p>
            <a:pPr marL="519430" lvl="1" indent="-50673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 pitchFamily="2" charset="2"/>
              <a:buChar char="q"/>
              <a:tabLst>
                <a:tab pos="519430" algn="l"/>
              </a:tabLst>
            </a:pPr>
            <a:r>
              <a:rPr sz="3200" b="1" dirty="0">
                <a:latin typeface="Arial"/>
                <a:cs typeface="Arial"/>
              </a:rPr>
              <a:t>Describe</a:t>
            </a:r>
            <a:r>
              <a:rPr sz="3200" b="1" spc="-6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three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types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corporate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strategies.</a:t>
            </a:r>
            <a:endParaRPr sz="3200" dirty="0">
              <a:latin typeface="Arial MT"/>
              <a:cs typeface="Arial MT"/>
            </a:endParaRPr>
          </a:p>
          <a:p>
            <a:pPr marL="514984" marR="193675" lvl="1" indent="-50292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q"/>
              <a:tabLst>
                <a:tab pos="514984" algn="l"/>
                <a:tab pos="518795" algn="l"/>
              </a:tabLst>
            </a:pPr>
            <a:r>
              <a:rPr sz="3200" b="1" dirty="0">
                <a:solidFill>
                  <a:srgbClr val="007EA2"/>
                </a:solidFill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Describe</a:t>
            </a:r>
            <a:r>
              <a:rPr sz="3200" b="1" spc="-9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competitive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advantage</a:t>
            </a:r>
            <a:r>
              <a:rPr sz="3200" spc="-9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competitive </a:t>
            </a:r>
            <a:r>
              <a:rPr sz="3200" dirty="0">
                <a:latin typeface="Arial MT"/>
                <a:cs typeface="Arial MT"/>
              </a:rPr>
              <a:t>strategies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organizations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get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it.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90" dirty="0"/>
              <a:t> </a:t>
            </a:r>
            <a:r>
              <a:rPr dirty="0"/>
              <a:t>Is</a:t>
            </a:r>
            <a:r>
              <a:rPr spc="-90" dirty="0"/>
              <a:t> </a:t>
            </a:r>
            <a:r>
              <a:rPr dirty="0"/>
              <a:t>Strategic</a:t>
            </a:r>
            <a:r>
              <a:rPr spc="-85" dirty="0"/>
              <a:t> </a:t>
            </a:r>
            <a:r>
              <a:rPr spc="-10" dirty="0"/>
              <a:t>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225790" cy="48295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3200" b="1" dirty="0">
                <a:latin typeface="Arial"/>
                <a:cs typeface="Arial"/>
              </a:rPr>
              <a:t>Strategic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management</a:t>
            </a:r>
            <a:r>
              <a:rPr sz="3200" dirty="0">
                <a:latin typeface="Arial MT"/>
                <a:cs typeface="Arial MT"/>
              </a:rPr>
              <a:t>: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what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managers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do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develop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the </a:t>
            </a:r>
            <a:r>
              <a:rPr sz="3200" spc="-10" dirty="0">
                <a:latin typeface="Arial MT"/>
                <a:cs typeface="Arial MT"/>
              </a:rPr>
              <a:t>organization’s</a:t>
            </a:r>
            <a:r>
              <a:rPr sz="3200" spc="-9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strategies</a:t>
            </a:r>
            <a:endParaRPr sz="3200" dirty="0">
              <a:latin typeface="Arial MT"/>
              <a:cs typeface="Arial MT"/>
            </a:endParaRPr>
          </a:p>
          <a:p>
            <a:pPr marL="268605" marR="76200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3200" b="1" dirty="0">
                <a:latin typeface="Arial"/>
                <a:cs typeface="Arial"/>
              </a:rPr>
              <a:t>Strategies</a:t>
            </a:r>
            <a:r>
              <a:rPr sz="3200" dirty="0">
                <a:latin typeface="Arial MT"/>
                <a:cs typeface="Arial MT"/>
              </a:rPr>
              <a:t>: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plans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organization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will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do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what </a:t>
            </a:r>
            <a:r>
              <a:rPr sz="3200" dirty="0">
                <a:latin typeface="Arial MT"/>
                <a:cs typeface="Arial MT"/>
              </a:rPr>
              <a:t>it’s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business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do,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will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compete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successfully,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and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will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attract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satisfy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customers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order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to </a:t>
            </a:r>
            <a:r>
              <a:rPr sz="3200" dirty="0">
                <a:latin typeface="Arial MT"/>
                <a:cs typeface="Arial MT"/>
              </a:rPr>
              <a:t>achieve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its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goals</a:t>
            </a:r>
            <a:endParaRPr sz="3200" dirty="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7970" algn="l"/>
              </a:tabLst>
            </a:pPr>
            <a:r>
              <a:rPr sz="3200" b="1" dirty="0">
                <a:latin typeface="Arial"/>
                <a:cs typeface="Arial"/>
              </a:rPr>
              <a:t>Business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model</a:t>
            </a:r>
            <a:r>
              <a:rPr sz="3200" dirty="0">
                <a:latin typeface="Arial MT"/>
                <a:cs typeface="Arial MT"/>
              </a:rPr>
              <a:t>: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company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going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make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money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8D80-2730-40BD-AA44-93FFB00A1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Management Example.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B95CD-8289-008E-D7B0-23D044017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958" y="1066800"/>
            <a:ext cx="8046084" cy="4308872"/>
          </a:xfrm>
        </p:spPr>
        <p:txBody>
          <a:bodyPr/>
          <a:lstStyle/>
          <a:p>
            <a:r>
              <a:rPr lang="en-GB" sz="2800" b="1" dirty="0"/>
              <a:t>Example:</a:t>
            </a:r>
            <a:r>
              <a:rPr lang="en-GB" sz="2800" dirty="0"/>
              <a:t> National Foods used strategic management by </a:t>
            </a:r>
            <a:r>
              <a:rPr lang="en-GB" sz="2800" dirty="0" err="1"/>
              <a:t>analyzing</a:t>
            </a:r>
            <a:r>
              <a:rPr lang="en-GB" sz="2800" dirty="0"/>
              <a:t> market trends, expanding its product portfolio, entering international markets, and investing in quality improvement. </a:t>
            </a:r>
          </a:p>
          <a:p>
            <a:endParaRPr lang="en-GB" sz="2800" dirty="0"/>
          </a:p>
          <a:p>
            <a:r>
              <a:rPr lang="en-GB" sz="2800" dirty="0"/>
              <a:t>As a result, it strengthened its competitive position and became one of Pakistan's most successful food companies.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049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9B71-A7B3-33EF-10A1-6244B6787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Question????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F57AA-4902-FD3F-F4EE-24290E5C8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053985"/>
            <a:ext cx="7443470" cy="1846659"/>
          </a:xfrm>
        </p:spPr>
        <p:txBody>
          <a:bodyPr/>
          <a:lstStyle/>
          <a:p>
            <a:r>
              <a:rPr lang="en-GB" dirty="0"/>
              <a:t>"Should Pakistani universities prioritize improving their rankings or improving graduate employability? Can they achieve both simultaneously?”</a:t>
            </a:r>
          </a:p>
          <a:p>
            <a:endParaRPr lang="en-GB" dirty="0"/>
          </a:p>
          <a:p>
            <a:r>
              <a:rPr lang="en-GB" dirty="0"/>
              <a:t>Yes or No?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32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-110" dirty="0"/>
              <a:t> </a:t>
            </a:r>
            <a:r>
              <a:rPr dirty="0"/>
              <a:t>Is</a:t>
            </a:r>
            <a:r>
              <a:rPr spc="-100" dirty="0"/>
              <a:t> </a:t>
            </a:r>
            <a:r>
              <a:rPr dirty="0"/>
              <a:t>Strategic</a:t>
            </a:r>
            <a:r>
              <a:rPr spc="-95" dirty="0"/>
              <a:t> </a:t>
            </a:r>
            <a:r>
              <a:rPr spc="-10" dirty="0"/>
              <a:t>Management</a:t>
            </a:r>
            <a:r>
              <a:rPr spc="-95" dirty="0"/>
              <a:t> </a:t>
            </a:r>
            <a:r>
              <a:rPr spc="-10" dirty="0"/>
              <a:t>Important?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63686"/>
            <a:ext cx="7951470" cy="4434547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Arial MT"/>
                <a:cs typeface="Arial MT"/>
              </a:rPr>
              <a:t>Has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positive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impact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performance</a:t>
            </a:r>
            <a:r>
              <a:rPr lang="en-GB" sz="2800" spc="-10" dirty="0">
                <a:latin typeface="Arial MT"/>
                <a:cs typeface="Arial MT"/>
              </a:rPr>
              <a:t>?</a:t>
            </a:r>
          </a:p>
          <a:p>
            <a:pPr marL="267970" indent="-25527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lang="en-GB" sz="2800" spc="-10" dirty="0">
                <a:latin typeface="Arial MT"/>
                <a:cs typeface="Arial MT"/>
              </a:rPr>
              <a:t>Can it be negative ?</a:t>
            </a:r>
            <a:endParaRPr sz="2800" dirty="0">
              <a:latin typeface="Arial MT"/>
              <a:cs typeface="Arial MT"/>
            </a:endParaRPr>
          </a:p>
          <a:p>
            <a:pPr marL="268605" marR="5080" indent="-25654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Arial MT"/>
                <a:cs typeface="Arial MT"/>
              </a:rPr>
              <a:t>Helps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managers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decide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how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face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change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</a:t>
            </a:r>
            <a:r>
              <a:rPr sz="2800" spc="-10" dirty="0">
                <a:latin typeface="Arial MT"/>
                <a:cs typeface="Arial MT"/>
              </a:rPr>
              <a:t>uncertainty</a:t>
            </a:r>
            <a:r>
              <a:rPr lang="en-GB" sz="2800" spc="-10" dirty="0">
                <a:latin typeface="Arial MT"/>
                <a:cs typeface="Arial MT"/>
              </a:rPr>
              <a:t>.</a:t>
            </a:r>
          </a:p>
          <a:p>
            <a:pPr marL="268605" marR="5080" indent="-25654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Char char="•"/>
              <a:tabLst>
                <a:tab pos="268605" algn="l"/>
              </a:tabLst>
            </a:pPr>
            <a:r>
              <a:rPr lang="en-GB" sz="2800" spc="-10" dirty="0">
                <a:latin typeface="Arial MT"/>
                <a:cs typeface="Arial MT"/>
              </a:rPr>
              <a:t>How can you judge uncertainty in a product or process?</a:t>
            </a:r>
            <a:endParaRPr sz="2800" dirty="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Arial MT"/>
                <a:cs typeface="Arial MT"/>
              </a:rPr>
              <a:t>Helps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complex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diverse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organizations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work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together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29146"/>
            <a:ext cx="7076440" cy="1061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Supporting</a:t>
            </a:r>
            <a:r>
              <a:rPr spc="-120" dirty="0"/>
              <a:t> </a:t>
            </a:r>
            <a:r>
              <a:rPr dirty="0"/>
              <a:t>the</a:t>
            </a:r>
            <a:r>
              <a:rPr spc="-110" dirty="0"/>
              <a:t> </a:t>
            </a:r>
            <a:r>
              <a:rPr dirty="0"/>
              <a:t>Strategic</a:t>
            </a:r>
            <a:r>
              <a:rPr spc="-110" dirty="0"/>
              <a:t> </a:t>
            </a:r>
            <a:r>
              <a:rPr spc="-10" dirty="0"/>
              <a:t>Management 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453222"/>
            <a:ext cx="8136890" cy="3522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647065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companies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believe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other </a:t>
            </a:r>
            <a:r>
              <a:rPr sz="2400" spc="-25" dirty="0">
                <a:latin typeface="Arial MT"/>
                <a:cs typeface="Arial MT"/>
              </a:rPr>
              <a:t>high-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leaders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responsible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strategy.</a:t>
            </a:r>
            <a:endParaRPr sz="2400">
              <a:latin typeface="Arial MT"/>
              <a:cs typeface="Arial MT"/>
            </a:endParaRPr>
          </a:p>
          <a:p>
            <a:pPr marL="268605" marR="207645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8605" algn="l"/>
              </a:tabLst>
            </a:pPr>
            <a:r>
              <a:rPr sz="2400" spc="-20" dirty="0">
                <a:latin typeface="Arial MT"/>
                <a:cs typeface="Arial MT"/>
              </a:rPr>
              <a:t>However,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research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broader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involvement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improves </a:t>
            </a:r>
            <a:r>
              <a:rPr sz="2400" dirty="0">
                <a:latin typeface="Arial MT"/>
                <a:cs typeface="Arial MT"/>
              </a:rPr>
              <a:t>company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performance.</a:t>
            </a:r>
            <a:endParaRPr sz="2400">
              <a:latin typeface="Arial MT"/>
              <a:cs typeface="Arial MT"/>
            </a:endParaRPr>
          </a:p>
          <a:p>
            <a:pPr marL="268605" marR="105410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Arial MT"/>
                <a:cs typeface="Arial MT"/>
              </a:rPr>
              <a:t>Artificial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intelligence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(AI)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might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useful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formulating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strategy.</a:t>
            </a:r>
            <a:endParaRPr sz="2400">
              <a:latin typeface="Arial MT"/>
              <a:cs typeface="Arial MT"/>
            </a:endParaRPr>
          </a:p>
          <a:p>
            <a:pPr marL="268605" marR="5080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8605" algn="l"/>
              </a:tabLst>
            </a:pPr>
            <a:r>
              <a:rPr sz="2400" spc="-20" dirty="0">
                <a:latin typeface="Arial MT"/>
                <a:cs typeface="Arial MT"/>
              </a:rPr>
              <a:t>However,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generally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resistant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allowing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strategy.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31025"/>
            <a:ext cx="651637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30" dirty="0"/>
              <a:t> </a:t>
            </a:r>
            <a:r>
              <a:rPr dirty="0"/>
              <a:t>Strategic</a:t>
            </a:r>
            <a:r>
              <a:rPr spc="-125" dirty="0"/>
              <a:t> </a:t>
            </a:r>
            <a:r>
              <a:rPr dirty="0"/>
              <a:t>Management</a:t>
            </a:r>
            <a:r>
              <a:rPr spc="-13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01700"/>
            <a:ext cx="8140700" cy="1679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Strategic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management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process: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five-</a:t>
            </a:r>
            <a:r>
              <a:rPr sz="2400" dirty="0">
                <a:latin typeface="Arial MT"/>
                <a:cs typeface="Arial MT"/>
              </a:rPr>
              <a:t>step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spc="-10" dirty="0">
                <a:latin typeface="Arial MT"/>
                <a:cs typeface="Arial MT"/>
              </a:rPr>
              <a:t>encompasses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strategic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planning,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implementation,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spc="-10" dirty="0">
                <a:latin typeface="Arial MT"/>
                <a:cs typeface="Arial MT"/>
              </a:rPr>
              <a:t>evaluation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7970" algn="l"/>
              </a:tabLst>
            </a:pPr>
            <a:r>
              <a:rPr sz="2400" b="1" dirty="0">
                <a:latin typeface="Arial"/>
                <a:cs typeface="Arial"/>
              </a:rPr>
              <a:t>Exhibit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9-</a:t>
            </a:r>
            <a:r>
              <a:rPr sz="2400" b="1" dirty="0">
                <a:latin typeface="Arial"/>
                <a:cs typeface="Arial"/>
              </a:rPr>
              <a:t>1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slide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473" y="6378642"/>
            <a:ext cx="916305" cy="278765"/>
            <a:chOff x="457473" y="6378642"/>
            <a:chExt cx="916305" cy="278765"/>
          </a:xfrm>
        </p:grpSpPr>
        <p:sp>
          <p:nvSpPr>
            <p:cNvPr id="3" name="object 3"/>
            <p:cNvSpPr/>
            <p:nvPr/>
          </p:nvSpPr>
          <p:spPr>
            <a:xfrm>
              <a:off x="750963" y="6453720"/>
              <a:ext cx="622935" cy="130175"/>
            </a:xfrm>
            <a:custGeom>
              <a:avLst/>
              <a:gdLst/>
              <a:ahLst/>
              <a:cxnLst/>
              <a:rect l="l" t="t" r="r" b="b"/>
              <a:pathLst>
                <a:path w="622935" h="130175">
                  <a:moveTo>
                    <a:pt x="106553" y="37439"/>
                  </a:moveTo>
                  <a:lnTo>
                    <a:pt x="101600" y="18834"/>
                  </a:lnTo>
                  <a:lnTo>
                    <a:pt x="88811" y="7391"/>
                  </a:lnTo>
                  <a:lnTo>
                    <a:pt x="85001" y="6121"/>
                  </a:lnTo>
                  <a:lnTo>
                    <a:pt x="84594" y="5994"/>
                  </a:lnTo>
                  <a:lnTo>
                    <a:pt x="84594" y="37439"/>
                  </a:lnTo>
                  <a:lnTo>
                    <a:pt x="83439" y="50850"/>
                  </a:lnTo>
                  <a:lnTo>
                    <a:pt x="83375" y="51638"/>
                  </a:lnTo>
                  <a:lnTo>
                    <a:pt x="78651" y="62153"/>
                  </a:lnTo>
                  <a:lnTo>
                    <a:pt x="68795" y="68681"/>
                  </a:lnTo>
                  <a:lnTo>
                    <a:pt x="52197" y="70916"/>
                  </a:lnTo>
                  <a:lnTo>
                    <a:pt x="38150" y="70916"/>
                  </a:lnTo>
                  <a:lnTo>
                    <a:pt x="38150" y="6121"/>
                  </a:lnTo>
                  <a:lnTo>
                    <a:pt x="53276" y="6121"/>
                  </a:lnTo>
                  <a:lnTo>
                    <a:pt x="69710" y="8890"/>
                  </a:lnTo>
                  <a:lnTo>
                    <a:pt x="79184" y="16116"/>
                  </a:lnTo>
                  <a:lnTo>
                    <a:pt x="83540" y="26174"/>
                  </a:lnTo>
                  <a:lnTo>
                    <a:pt x="84594" y="37439"/>
                  </a:lnTo>
                  <a:lnTo>
                    <a:pt x="84594" y="5994"/>
                  </a:lnTo>
                  <a:lnTo>
                    <a:pt x="78473" y="3962"/>
                  </a:lnTo>
                  <a:lnTo>
                    <a:pt x="71310" y="1600"/>
                  </a:lnTo>
                  <a:lnTo>
                    <a:pt x="52197" y="0"/>
                  </a:lnTo>
                  <a:lnTo>
                    <a:pt x="1079" y="0"/>
                  </a:lnTo>
                  <a:lnTo>
                    <a:pt x="0" y="1079"/>
                  </a:lnTo>
                  <a:lnTo>
                    <a:pt x="0" y="3962"/>
                  </a:lnTo>
                  <a:lnTo>
                    <a:pt x="1079" y="5041"/>
                  </a:lnTo>
                  <a:lnTo>
                    <a:pt x="6121" y="6121"/>
                  </a:lnTo>
                  <a:lnTo>
                    <a:pt x="17995" y="3962"/>
                  </a:lnTo>
                  <a:lnTo>
                    <a:pt x="17995" y="117716"/>
                  </a:lnTo>
                  <a:lnTo>
                    <a:pt x="15113" y="122758"/>
                  </a:lnTo>
                  <a:lnTo>
                    <a:pt x="1079" y="123482"/>
                  </a:lnTo>
                  <a:lnTo>
                    <a:pt x="0" y="123482"/>
                  </a:lnTo>
                  <a:lnTo>
                    <a:pt x="0" y="127800"/>
                  </a:lnTo>
                  <a:lnTo>
                    <a:pt x="1079" y="128524"/>
                  </a:lnTo>
                  <a:lnTo>
                    <a:pt x="57238" y="128524"/>
                  </a:lnTo>
                  <a:lnTo>
                    <a:pt x="57238" y="123482"/>
                  </a:lnTo>
                  <a:lnTo>
                    <a:pt x="56515" y="123482"/>
                  </a:lnTo>
                  <a:lnTo>
                    <a:pt x="41402" y="122758"/>
                  </a:lnTo>
                  <a:lnTo>
                    <a:pt x="38150" y="118440"/>
                  </a:lnTo>
                  <a:lnTo>
                    <a:pt x="38150" y="77038"/>
                  </a:lnTo>
                  <a:lnTo>
                    <a:pt x="51473" y="77038"/>
                  </a:lnTo>
                  <a:lnTo>
                    <a:pt x="64998" y="76250"/>
                  </a:lnTo>
                  <a:lnTo>
                    <a:pt x="76847" y="73888"/>
                  </a:lnTo>
                  <a:lnTo>
                    <a:pt x="84556" y="70916"/>
                  </a:lnTo>
                  <a:lnTo>
                    <a:pt x="86804" y="70053"/>
                  </a:lnTo>
                  <a:lnTo>
                    <a:pt x="94678" y="64795"/>
                  </a:lnTo>
                  <a:lnTo>
                    <a:pt x="100787" y="57899"/>
                  </a:lnTo>
                  <a:lnTo>
                    <a:pt x="104394" y="50850"/>
                  </a:lnTo>
                  <a:lnTo>
                    <a:pt x="106108" y="43954"/>
                  </a:lnTo>
                  <a:lnTo>
                    <a:pt x="106553" y="37439"/>
                  </a:lnTo>
                  <a:close/>
                </a:path>
                <a:path w="622935" h="130175">
                  <a:moveTo>
                    <a:pt x="185089" y="67652"/>
                  </a:moveTo>
                  <a:lnTo>
                    <a:pt x="165950" y="39357"/>
                  </a:lnTo>
                  <a:lnTo>
                    <a:pt x="165950" y="70916"/>
                  </a:lnTo>
                  <a:lnTo>
                    <a:pt x="125996" y="70916"/>
                  </a:lnTo>
                  <a:lnTo>
                    <a:pt x="128346" y="57937"/>
                  </a:lnTo>
                  <a:lnTo>
                    <a:pt x="132651" y="48336"/>
                  </a:lnTo>
                  <a:lnTo>
                    <a:pt x="138734" y="42481"/>
                  </a:lnTo>
                  <a:lnTo>
                    <a:pt x="138404" y="42481"/>
                  </a:lnTo>
                  <a:lnTo>
                    <a:pt x="146875" y="40322"/>
                  </a:lnTo>
                  <a:lnTo>
                    <a:pt x="152996" y="40322"/>
                  </a:lnTo>
                  <a:lnTo>
                    <a:pt x="165950" y="70916"/>
                  </a:lnTo>
                  <a:lnTo>
                    <a:pt x="165950" y="39357"/>
                  </a:lnTo>
                  <a:lnTo>
                    <a:pt x="164020" y="38303"/>
                  </a:lnTo>
                  <a:lnTo>
                    <a:pt x="156540" y="36068"/>
                  </a:lnTo>
                  <a:lnTo>
                    <a:pt x="147955" y="35280"/>
                  </a:lnTo>
                  <a:lnTo>
                    <a:pt x="131597" y="39090"/>
                  </a:lnTo>
                  <a:lnTo>
                    <a:pt x="118071" y="49504"/>
                  </a:lnTo>
                  <a:lnTo>
                    <a:pt x="108864" y="65049"/>
                  </a:lnTo>
                  <a:lnTo>
                    <a:pt x="105473" y="84239"/>
                  </a:lnTo>
                  <a:lnTo>
                    <a:pt x="108712" y="102412"/>
                  </a:lnTo>
                  <a:lnTo>
                    <a:pt x="117665" y="116776"/>
                  </a:lnTo>
                  <a:lnTo>
                    <a:pt x="131140" y="126212"/>
                  </a:lnTo>
                  <a:lnTo>
                    <a:pt x="147955" y="129603"/>
                  </a:lnTo>
                  <a:lnTo>
                    <a:pt x="161899" y="127584"/>
                  </a:lnTo>
                  <a:lnTo>
                    <a:pt x="172300" y="122364"/>
                  </a:lnTo>
                  <a:lnTo>
                    <a:pt x="174129" y="120599"/>
                  </a:lnTo>
                  <a:lnTo>
                    <a:pt x="179793" y="115176"/>
                  </a:lnTo>
                  <a:lnTo>
                    <a:pt x="185039" y="107276"/>
                  </a:lnTo>
                  <a:lnTo>
                    <a:pt x="185039" y="105473"/>
                  </a:lnTo>
                  <a:lnTo>
                    <a:pt x="184315" y="105473"/>
                  </a:lnTo>
                  <a:lnTo>
                    <a:pt x="184315" y="104394"/>
                  </a:lnTo>
                  <a:lnTo>
                    <a:pt x="182156" y="104394"/>
                  </a:lnTo>
                  <a:lnTo>
                    <a:pt x="181076" y="105473"/>
                  </a:lnTo>
                  <a:lnTo>
                    <a:pt x="175348" y="111645"/>
                  </a:lnTo>
                  <a:lnTo>
                    <a:pt x="169595" y="116420"/>
                  </a:lnTo>
                  <a:lnTo>
                    <a:pt x="163093" y="119507"/>
                  </a:lnTo>
                  <a:lnTo>
                    <a:pt x="155155" y="120599"/>
                  </a:lnTo>
                  <a:lnTo>
                    <a:pt x="144348" y="118579"/>
                  </a:lnTo>
                  <a:lnTo>
                    <a:pt x="134632" y="112014"/>
                  </a:lnTo>
                  <a:lnTo>
                    <a:pt x="127609" y="100101"/>
                  </a:lnTo>
                  <a:lnTo>
                    <a:pt x="124917" y="82080"/>
                  </a:lnTo>
                  <a:lnTo>
                    <a:pt x="124917" y="77038"/>
                  </a:lnTo>
                  <a:lnTo>
                    <a:pt x="185039" y="77038"/>
                  </a:lnTo>
                  <a:lnTo>
                    <a:pt x="185077" y="70916"/>
                  </a:lnTo>
                  <a:lnTo>
                    <a:pt x="185089" y="67652"/>
                  </a:lnTo>
                  <a:close/>
                </a:path>
                <a:path w="622935" h="130175">
                  <a:moveTo>
                    <a:pt x="278638" y="123482"/>
                  </a:moveTo>
                  <a:lnTo>
                    <a:pt x="277558" y="122770"/>
                  </a:lnTo>
                  <a:lnTo>
                    <a:pt x="277558" y="121678"/>
                  </a:lnTo>
                  <a:lnTo>
                    <a:pt x="270713" y="121678"/>
                  </a:lnTo>
                  <a:lnTo>
                    <a:pt x="268554" y="120599"/>
                  </a:lnTo>
                  <a:lnTo>
                    <a:pt x="266750" y="119519"/>
                  </a:lnTo>
                  <a:lnTo>
                    <a:pt x="265671" y="116636"/>
                  </a:lnTo>
                  <a:lnTo>
                    <a:pt x="265671" y="114477"/>
                  </a:lnTo>
                  <a:lnTo>
                    <a:pt x="265671" y="82080"/>
                  </a:lnTo>
                  <a:lnTo>
                    <a:pt x="265671" y="63715"/>
                  </a:lnTo>
                  <a:lnTo>
                    <a:pt x="263588" y="51854"/>
                  </a:lnTo>
                  <a:lnTo>
                    <a:pt x="257429" y="43294"/>
                  </a:lnTo>
                  <a:lnTo>
                    <a:pt x="253746" y="41402"/>
                  </a:lnTo>
                  <a:lnTo>
                    <a:pt x="247294" y="38112"/>
                  </a:lnTo>
                  <a:lnTo>
                    <a:pt x="233273" y="36360"/>
                  </a:lnTo>
                  <a:lnTo>
                    <a:pt x="218998" y="38112"/>
                  </a:lnTo>
                  <a:lnTo>
                    <a:pt x="219608" y="38112"/>
                  </a:lnTo>
                  <a:lnTo>
                    <a:pt x="209016" y="42443"/>
                  </a:lnTo>
                  <a:lnTo>
                    <a:pt x="201726" y="48971"/>
                  </a:lnTo>
                  <a:lnTo>
                    <a:pt x="199072" y="56883"/>
                  </a:lnTo>
                  <a:lnTo>
                    <a:pt x="199072" y="62636"/>
                  </a:lnTo>
                  <a:lnTo>
                    <a:pt x="203390" y="67678"/>
                  </a:lnTo>
                  <a:lnTo>
                    <a:pt x="208432" y="67678"/>
                  </a:lnTo>
                  <a:lnTo>
                    <a:pt x="211315" y="68757"/>
                  </a:lnTo>
                  <a:lnTo>
                    <a:pt x="215277" y="66954"/>
                  </a:lnTo>
                  <a:lnTo>
                    <a:pt x="222478" y="59753"/>
                  </a:lnTo>
                  <a:lnTo>
                    <a:pt x="221399" y="53644"/>
                  </a:lnTo>
                  <a:lnTo>
                    <a:pt x="216382" y="46494"/>
                  </a:lnTo>
                  <a:lnTo>
                    <a:pt x="219240" y="43561"/>
                  </a:lnTo>
                  <a:lnTo>
                    <a:pt x="225361" y="41402"/>
                  </a:lnTo>
                  <a:lnTo>
                    <a:pt x="232562" y="41402"/>
                  </a:lnTo>
                  <a:lnTo>
                    <a:pt x="248399" y="75958"/>
                  </a:lnTo>
                  <a:lnTo>
                    <a:pt x="248399" y="82080"/>
                  </a:lnTo>
                  <a:lnTo>
                    <a:pt x="248399" y="108356"/>
                  </a:lnTo>
                  <a:lnTo>
                    <a:pt x="245516" y="111239"/>
                  </a:lnTo>
                  <a:lnTo>
                    <a:pt x="238315" y="120599"/>
                  </a:lnTo>
                  <a:lnTo>
                    <a:pt x="217436" y="120599"/>
                  </a:lnTo>
                  <a:lnTo>
                    <a:pt x="215277" y="111239"/>
                  </a:lnTo>
                  <a:lnTo>
                    <a:pt x="215277" y="104394"/>
                  </a:lnTo>
                  <a:lnTo>
                    <a:pt x="217055" y="96913"/>
                  </a:lnTo>
                  <a:lnTo>
                    <a:pt x="222783" y="90957"/>
                  </a:lnTo>
                  <a:lnTo>
                    <a:pt x="233045" y="86131"/>
                  </a:lnTo>
                  <a:lnTo>
                    <a:pt x="248399" y="82080"/>
                  </a:lnTo>
                  <a:lnTo>
                    <a:pt x="248399" y="75958"/>
                  </a:lnTo>
                  <a:lnTo>
                    <a:pt x="245516" y="75958"/>
                  </a:lnTo>
                  <a:lnTo>
                    <a:pt x="243357" y="77038"/>
                  </a:lnTo>
                  <a:lnTo>
                    <a:pt x="238315" y="78117"/>
                  </a:lnTo>
                  <a:lnTo>
                    <a:pt x="200152" y="92163"/>
                  </a:lnTo>
                  <a:lnTo>
                    <a:pt x="196202" y="99364"/>
                  </a:lnTo>
                  <a:lnTo>
                    <a:pt x="196202" y="108356"/>
                  </a:lnTo>
                  <a:lnTo>
                    <a:pt x="197434" y="115938"/>
                  </a:lnTo>
                  <a:lnTo>
                    <a:pt x="201498" y="122770"/>
                  </a:lnTo>
                  <a:lnTo>
                    <a:pt x="209092" y="127800"/>
                  </a:lnTo>
                  <a:lnTo>
                    <a:pt x="209537" y="127800"/>
                  </a:lnTo>
                  <a:lnTo>
                    <a:pt x="220319" y="129603"/>
                  </a:lnTo>
                  <a:lnTo>
                    <a:pt x="227685" y="128663"/>
                  </a:lnTo>
                  <a:lnTo>
                    <a:pt x="234759" y="125831"/>
                  </a:lnTo>
                  <a:lnTo>
                    <a:pt x="241617" y="121107"/>
                  </a:lnTo>
                  <a:lnTo>
                    <a:pt x="242125" y="120599"/>
                  </a:lnTo>
                  <a:lnTo>
                    <a:pt x="248399" y="114477"/>
                  </a:lnTo>
                  <a:lnTo>
                    <a:pt x="248932" y="119519"/>
                  </a:lnTo>
                  <a:lnTo>
                    <a:pt x="249047" y="120599"/>
                  </a:lnTo>
                  <a:lnTo>
                    <a:pt x="249161" y="121678"/>
                  </a:lnTo>
                  <a:lnTo>
                    <a:pt x="249275" y="122770"/>
                  </a:lnTo>
                  <a:lnTo>
                    <a:pt x="249351" y="123482"/>
                  </a:lnTo>
                  <a:lnTo>
                    <a:pt x="249478" y="124561"/>
                  </a:lnTo>
                  <a:lnTo>
                    <a:pt x="253441" y="128524"/>
                  </a:lnTo>
                  <a:lnTo>
                    <a:pt x="268554" y="128524"/>
                  </a:lnTo>
                  <a:lnTo>
                    <a:pt x="271792" y="127800"/>
                  </a:lnTo>
                  <a:lnTo>
                    <a:pt x="276834" y="125641"/>
                  </a:lnTo>
                  <a:lnTo>
                    <a:pt x="277558" y="125641"/>
                  </a:lnTo>
                  <a:lnTo>
                    <a:pt x="278638" y="123482"/>
                  </a:lnTo>
                  <a:close/>
                </a:path>
                <a:path w="622935" h="130175">
                  <a:moveTo>
                    <a:pt x="354241" y="43561"/>
                  </a:moveTo>
                  <a:lnTo>
                    <a:pt x="350278" y="36360"/>
                  </a:lnTo>
                  <a:lnTo>
                    <a:pt x="339115" y="36360"/>
                  </a:lnTo>
                  <a:lnTo>
                    <a:pt x="331863" y="37439"/>
                  </a:lnTo>
                  <a:lnTo>
                    <a:pt x="332333" y="37439"/>
                  </a:lnTo>
                  <a:lnTo>
                    <a:pt x="326237" y="40411"/>
                  </a:lnTo>
                  <a:lnTo>
                    <a:pt x="320078" y="45783"/>
                  </a:lnTo>
                  <a:lnTo>
                    <a:pt x="313918" y="53644"/>
                  </a:lnTo>
                  <a:lnTo>
                    <a:pt x="313918" y="38519"/>
                  </a:lnTo>
                  <a:lnTo>
                    <a:pt x="312839" y="37439"/>
                  </a:lnTo>
                  <a:lnTo>
                    <a:pt x="287997" y="37439"/>
                  </a:lnTo>
                  <a:lnTo>
                    <a:pt x="286918" y="38519"/>
                  </a:lnTo>
                  <a:lnTo>
                    <a:pt x="286918" y="41402"/>
                  </a:lnTo>
                  <a:lnTo>
                    <a:pt x="287997" y="42481"/>
                  </a:lnTo>
                  <a:lnTo>
                    <a:pt x="295910" y="43561"/>
                  </a:lnTo>
                  <a:lnTo>
                    <a:pt x="296633" y="46443"/>
                  </a:lnTo>
                  <a:lnTo>
                    <a:pt x="296633" y="121678"/>
                  </a:lnTo>
                  <a:lnTo>
                    <a:pt x="295910" y="123482"/>
                  </a:lnTo>
                  <a:lnTo>
                    <a:pt x="288721" y="123482"/>
                  </a:lnTo>
                  <a:lnTo>
                    <a:pt x="286918" y="124561"/>
                  </a:lnTo>
                  <a:lnTo>
                    <a:pt x="286918" y="127800"/>
                  </a:lnTo>
                  <a:lnTo>
                    <a:pt x="287997" y="128524"/>
                  </a:lnTo>
                  <a:lnTo>
                    <a:pt x="326872" y="128524"/>
                  </a:lnTo>
                  <a:lnTo>
                    <a:pt x="326872" y="124561"/>
                  </a:lnTo>
                  <a:lnTo>
                    <a:pt x="326161" y="124561"/>
                  </a:lnTo>
                  <a:lnTo>
                    <a:pt x="317157" y="123482"/>
                  </a:lnTo>
                  <a:lnTo>
                    <a:pt x="314998" y="122758"/>
                  </a:lnTo>
                  <a:lnTo>
                    <a:pt x="314998" y="62636"/>
                  </a:lnTo>
                  <a:lnTo>
                    <a:pt x="320459" y="53644"/>
                  </a:lnTo>
                  <a:lnTo>
                    <a:pt x="321119" y="52565"/>
                  </a:lnTo>
                  <a:lnTo>
                    <a:pt x="325081" y="47523"/>
                  </a:lnTo>
                  <a:lnTo>
                    <a:pt x="332727" y="45783"/>
                  </a:lnTo>
                  <a:lnTo>
                    <a:pt x="332905" y="45783"/>
                  </a:lnTo>
                  <a:lnTo>
                    <a:pt x="331914" y="46443"/>
                  </a:lnTo>
                  <a:lnTo>
                    <a:pt x="331914" y="56883"/>
                  </a:lnTo>
                  <a:lnTo>
                    <a:pt x="336956" y="60833"/>
                  </a:lnTo>
                  <a:lnTo>
                    <a:pt x="350278" y="60833"/>
                  </a:lnTo>
                  <a:lnTo>
                    <a:pt x="354241" y="56883"/>
                  </a:lnTo>
                  <a:lnTo>
                    <a:pt x="354241" y="45783"/>
                  </a:lnTo>
                  <a:lnTo>
                    <a:pt x="354241" y="43561"/>
                  </a:lnTo>
                  <a:close/>
                </a:path>
                <a:path w="622935" h="130175">
                  <a:moveTo>
                    <a:pt x="423710" y="99364"/>
                  </a:moveTo>
                  <a:lnTo>
                    <a:pt x="396354" y="71996"/>
                  </a:lnTo>
                  <a:lnTo>
                    <a:pt x="395274" y="71996"/>
                  </a:lnTo>
                  <a:lnTo>
                    <a:pt x="385152" y="68605"/>
                  </a:lnTo>
                  <a:lnTo>
                    <a:pt x="378345" y="64846"/>
                  </a:lnTo>
                  <a:lnTo>
                    <a:pt x="374510" y="60617"/>
                  </a:lnTo>
                  <a:lnTo>
                    <a:pt x="373316" y="55803"/>
                  </a:lnTo>
                  <a:lnTo>
                    <a:pt x="373316" y="46443"/>
                  </a:lnTo>
                  <a:lnTo>
                    <a:pt x="379437" y="40322"/>
                  </a:lnTo>
                  <a:lnTo>
                    <a:pt x="389521" y="40322"/>
                  </a:lnTo>
                  <a:lnTo>
                    <a:pt x="415442" y="64846"/>
                  </a:lnTo>
                  <a:lnTo>
                    <a:pt x="415442" y="65874"/>
                  </a:lnTo>
                  <a:lnTo>
                    <a:pt x="418680" y="65874"/>
                  </a:lnTo>
                  <a:lnTo>
                    <a:pt x="419709" y="64846"/>
                  </a:lnTo>
                  <a:lnTo>
                    <a:pt x="419760" y="35280"/>
                  </a:lnTo>
                  <a:lnTo>
                    <a:pt x="416521" y="35280"/>
                  </a:lnTo>
                  <a:lnTo>
                    <a:pt x="416521" y="36360"/>
                  </a:lnTo>
                  <a:lnTo>
                    <a:pt x="415442" y="36360"/>
                  </a:lnTo>
                  <a:lnTo>
                    <a:pt x="412559" y="40322"/>
                  </a:lnTo>
                  <a:lnTo>
                    <a:pt x="407517" y="38519"/>
                  </a:lnTo>
                  <a:lnTo>
                    <a:pt x="400316" y="35280"/>
                  </a:lnTo>
                  <a:lnTo>
                    <a:pt x="392391" y="35280"/>
                  </a:lnTo>
                  <a:lnTo>
                    <a:pt x="379895" y="37452"/>
                  </a:lnTo>
                  <a:lnTo>
                    <a:pt x="369976" y="43434"/>
                  </a:lnTo>
                  <a:lnTo>
                    <a:pt x="363435" y="52451"/>
                  </a:lnTo>
                  <a:lnTo>
                    <a:pt x="361073" y="63715"/>
                  </a:lnTo>
                  <a:lnTo>
                    <a:pt x="362927" y="74104"/>
                  </a:lnTo>
                  <a:lnTo>
                    <a:pt x="368401" y="81457"/>
                  </a:lnTo>
                  <a:lnTo>
                    <a:pt x="377317" y="86512"/>
                  </a:lnTo>
                  <a:lnTo>
                    <a:pt x="389521" y="90004"/>
                  </a:lnTo>
                  <a:lnTo>
                    <a:pt x="400253" y="93853"/>
                  </a:lnTo>
                  <a:lnTo>
                    <a:pt x="407377" y="98107"/>
                  </a:lnTo>
                  <a:lnTo>
                    <a:pt x="411327" y="103162"/>
                  </a:lnTo>
                  <a:lnTo>
                    <a:pt x="412559" y="109435"/>
                  </a:lnTo>
                  <a:lnTo>
                    <a:pt x="412559" y="119519"/>
                  </a:lnTo>
                  <a:lnTo>
                    <a:pt x="402475" y="124561"/>
                  </a:lnTo>
                  <a:lnTo>
                    <a:pt x="395274" y="124561"/>
                  </a:lnTo>
                  <a:lnTo>
                    <a:pt x="387210" y="123482"/>
                  </a:lnTo>
                  <a:lnTo>
                    <a:pt x="386880" y="123482"/>
                  </a:lnTo>
                  <a:lnTo>
                    <a:pt x="379793" y="119253"/>
                  </a:lnTo>
                  <a:lnTo>
                    <a:pt x="372795" y="110896"/>
                  </a:lnTo>
                  <a:lnTo>
                    <a:pt x="364312" y="97193"/>
                  </a:lnTo>
                  <a:lnTo>
                    <a:pt x="364312" y="96113"/>
                  </a:lnTo>
                  <a:lnTo>
                    <a:pt x="361073" y="96113"/>
                  </a:lnTo>
                  <a:lnTo>
                    <a:pt x="360362" y="97193"/>
                  </a:lnTo>
                  <a:lnTo>
                    <a:pt x="360362" y="129603"/>
                  </a:lnTo>
                  <a:lnTo>
                    <a:pt x="364312" y="129603"/>
                  </a:lnTo>
                  <a:lnTo>
                    <a:pt x="364312" y="128524"/>
                  </a:lnTo>
                  <a:lnTo>
                    <a:pt x="370433" y="123482"/>
                  </a:lnTo>
                  <a:lnTo>
                    <a:pt x="376199" y="127800"/>
                  </a:lnTo>
                  <a:lnTo>
                    <a:pt x="386270" y="129603"/>
                  </a:lnTo>
                  <a:lnTo>
                    <a:pt x="402475" y="129603"/>
                  </a:lnTo>
                  <a:lnTo>
                    <a:pt x="410400" y="126720"/>
                  </a:lnTo>
                  <a:lnTo>
                    <a:pt x="412546" y="124561"/>
                  </a:lnTo>
                  <a:lnTo>
                    <a:pt x="421551" y="115557"/>
                  </a:lnTo>
                  <a:lnTo>
                    <a:pt x="423710" y="108356"/>
                  </a:lnTo>
                  <a:lnTo>
                    <a:pt x="423710" y="99364"/>
                  </a:lnTo>
                  <a:close/>
                </a:path>
                <a:path w="622935" h="130175">
                  <a:moveTo>
                    <a:pt x="523074" y="82080"/>
                  </a:moveTo>
                  <a:lnTo>
                    <a:pt x="519671" y="64604"/>
                  </a:lnTo>
                  <a:lnTo>
                    <a:pt x="519582" y="64147"/>
                  </a:lnTo>
                  <a:lnTo>
                    <a:pt x="510108" y="49377"/>
                  </a:lnTo>
                  <a:lnTo>
                    <a:pt x="510019" y="49237"/>
                  </a:lnTo>
                  <a:lnTo>
                    <a:pt x="503275" y="44437"/>
                  </a:lnTo>
                  <a:lnTo>
                    <a:pt x="503275" y="83159"/>
                  </a:lnTo>
                  <a:lnTo>
                    <a:pt x="501713" y="101511"/>
                  </a:lnTo>
                  <a:lnTo>
                    <a:pt x="497154" y="114401"/>
                  </a:lnTo>
                  <a:lnTo>
                    <a:pt x="489597" y="122047"/>
                  </a:lnTo>
                  <a:lnTo>
                    <a:pt x="479158" y="124561"/>
                  </a:lnTo>
                  <a:lnTo>
                    <a:pt x="467868" y="122047"/>
                  </a:lnTo>
                  <a:lnTo>
                    <a:pt x="459892" y="114401"/>
                  </a:lnTo>
                  <a:lnTo>
                    <a:pt x="455269" y="101815"/>
                  </a:lnTo>
                  <a:lnTo>
                    <a:pt x="455155" y="101511"/>
                  </a:lnTo>
                  <a:lnTo>
                    <a:pt x="455828" y="60680"/>
                  </a:lnTo>
                  <a:lnTo>
                    <a:pt x="476999" y="40322"/>
                  </a:lnTo>
                  <a:lnTo>
                    <a:pt x="488238" y="43027"/>
                  </a:lnTo>
                  <a:lnTo>
                    <a:pt x="496481" y="51079"/>
                  </a:lnTo>
                  <a:lnTo>
                    <a:pt x="501421" y="64147"/>
                  </a:lnTo>
                  <a:lnTo>
                    <a:pt x="501548" y="64604"/>
                  </a:lnTo>
                  <a:lnTo>
                    <a:pt x="503174" y="82080"/>
                  </a:lnTo>
                  <a:lnTo>
                    <a:pt x="503275" y="83159"/>
                  </a:lnTo>
                  <a:lnTo>
                    <a:pt x="503275" y="44437"/>
                  </a:lnTo>
                  <a:lnTo>
                    <a:pt x="497522" y="40322"/>
                  </a:lnTo>
                  <a:lnTo>
                    <a:pt x="495757" y="39077"/>
                  </a:lnTo>
                  <a:lnTo>
                    <a:pt x="478078" y="35280"/>
                  </a:lnTo>
                  <a:lnTo>
                    <a:pt x="460819" y="39077"/>
                  </a:lnTo>
                  <a:lnTo>
                    <a:pt x="446747" y="49377"/>
                  </a:lnTo>
                  <a:lnTo>
                    <a:pt x="437261" y="64604"/>
                  </a:lnTo>
                  <a:lnTo>
                    <a:pt x="433793" y="83159"/>
                  </a:lnTo>
                  <a:lnTo>
                    <a:pt x="437159" y="101511"/>
                  </a:lnTo>
                  <a:lnTo>
                    <a:pt x="446481" y="116243"/>
                  </a:lnTo>
                  <a:lnTo>
                    <a:pt x="460527" y="126047"/>
                  </a:lnTo>
                  <a:lnTo>
                    <a:pt x="478078" y="129603"/>
                  </a:lnTo>
                  <a:lnTo>
                    <a:pt x="494372" y="126288"/>
                  </a:lnTo>
                  <a:lnTo>
                    <a:pt x="496976" y="124561"/>
                  </a:lnTo>
                  <a:lnTo>
                    <a:pt x="508800" y="116776"/>
                  </a:lnTo>
                  <a:lnTo>
                    <a:pt x="519125" y="101815"/>
                  </a:lnTo>
                  <a:lnTo>
                    <a:pt x="523074" y="82080"/>
                  </a:lnTo>
                  <a:close/>
                </a:path>
                <a:path w="622935" h="130175">
                  <a:moveTo>
                    <a:pt x="622795" y="124561"/>
                  </a:moveTo>
                  <a:lnTo>
                    <a:pt x="621715" y="123482"/>
                  </a:lnTo>
                  <a:lnTo>
                    <a:pt x="612711" y="123482"/>
                  </a:lnTo>
                  <a:lnTo>
                    <a:pt x="611632" y="121678"/>
                  </a:lnTo>
                  <a:lnTo>
                    <a:pt x="611632" y="63715"/>
                  </a:lnTo>
                  <a:lnTo>
                    <a:pt x="609981" y="52158"/>
                  </a:lnTo>
                  <a:lnTo>
                    <a:pt x="606831" y="46443"/>
                  </a:lnTo>
                  <a:lnTo>
                    <a:pt x="605243" y="43561"/>
                  </a:lnTo>
                  <a:lnTo>
                    <a:pt x="597662" y="38214"/>
                  </a:lnTo>
                  <a:lnTo>
                    <a:pt x="587514" y="36360"/>
                  </a:lnTo>
                  <a:lnTo>
                    <a:pt x="571868" y="39230"/>
                  </a:lnTo>
                  <a:lnTo>
                    <a:pt x="562038" y="45542"/>
                  </a:lnTo>
                  <a:lnTo>
                    <a:pt x="556933" y="51866"/>
                  </a:lnTo>
                  <a:lnTo>
                    <a:pt x="555472" y="54724"/>
                  </a:lnTo>
                  <a:lnTo>
                    <a:pt x="555472" y="38519"/>
                  </a:lnTo>
                  <a:lnTo>
                    <a:pt x="553313" y="36360"/>
                  </a:lnTo>
                  <a:lnTo>
                    <a:pt x="529196" y="37439"/>
                  </a:lnTo>
                  <a:lnTo>
                    <a:pt x="528116" y="37439"/>
                  </a:lnTo>
                  <a:lnTo>
                    <a:pt x="527392" y="38519"/>
                  </a:lnTo>
                  <a:lnTo>
                    <a:pt x="527392" y="41402"/>
                  </a:lnTo>
                  <a:lnTo>
                    <a:pt x="528116" y="42481"/>
                  </a:lnTo>
                  <a:lnTo>
                    <a:pt x="536397" y="43561"/>
                  </a:lnTo>
                  <a:lnTo>
                    <a:pt x="537476" y="46443"/>
                  </a:lnTo>
                  <a:lnTo>
                    <a:pt x="537476" y="121678"/>
                  </a:lnTo>
                  <a:lnTo>
                    <a:pt x="536397" y="123482"/>
                  </a:lnTo>
                  <a:lnTo>
                    <a:pt x="527392" y="123482"/>
                  </a:lnTo>
                  <a:lnTo>
                    <a:pt x="527392" y="127800"/>
                  </a:lnTo>
                  <a:lnTo>
                    <a:pt x="528116" y="128524"/>
                  </a:lnTo>
                  <a:lnTo>
                    <a:pt x="563397" y="128524"/>
                  </a:lnTo>
                  <a:lnTo>
                    <a:pt x="564476" y="127800"/>
                  </a:lnTo>
                  <a:lnTo>
                    <a:pt x="564476" y="124561"/>
                  </a:lnTo>
                  <a:lnTo>
                    <a:pt x="563397" y="123482"/>
                  </a:lnTo>
                  <a:lnTo>
                    <a:pt x="556552" y="123482"/>
                  </a:lnTo>
                  <a:lnTo>
                    <a:pt x="555472" y="121678"/>
                  </a:lnTo>
                  <a:lnTo>
                    <a:pt x="555472" y="66954"/>
                  </a:lnTo>
                  <a:lnTo>
                    <a:pt x="557276" y="61925"/>
                  </a:lnTo>
                  <a:lnTo>
                    <a:pt x="559435" y="58674"/>
                  </a:lnTo>
                  <a:lnTo>
                    <a:pt x="562546" y="54724"/>
                  </a:lnTo>
                  <a:lnTo>
                    <a:pt x="563397" y="53644"/>
                  </a:lnTo>
                  <a:lnTo>
                    <a:pt x="569518" y="46443"/>
                  </a:lnTo>
                  <a:lnTo>
                    <a:pt x="577430" y="46443"/>
                  </a:lnTo>
                  <a:lnTo>
                    <a:pt x="585127" y="47663"/>
                  </a:lnTo>
                  <a:lnTo>
                    <a:pt x="590118" y="51536"/>
                  </a:lnTo>
                  <a:lnTo>
                    <a:pt x="592823" y="58445"/>
                  </a:lnTo>
                  <a:lnTo>
                    <a:pt x="593636" y="68757"/>
                  </a:lnTo>
                  <a:lnTo>
                    <a:pt x="593636" y="121678"/>
                  </a:lnTo>
                  <a:lnTo>
                    <a:pt x="592556" y="123482"/>
                  </a:lnTo>
                  <a:lnTo>
                    <a:pt x="585711" y="123482"/>
                  </a:lnTo>
                  <a:lnTo>
                    <a:pt x="584631" y="124561"/>
                  </a:lnTo>
                  <a:lnTo>
                    <a:pt x="584631" y="127800"/>
                  </a:lnTo>
                  <a:lnTo>
                    <a:pt x="585711" y="128524"/>
                  </a:lnTo>
                  <a:lnTo>
                    <a:pt x="621715" y="128524"/>
                  </a:lnTo>
                  <a:lnTo>
                    <a:pt x="622795" y="127800"/>
                  </a:lnTo>
                  <a:lnTo>
                    <a:pt x="622795" y="124561"/>
                  </a:lnTo>
                  <a:close/>
                </a:path>
              </a:pathLst>
            </a:custGeom>
            <a:solidFill>
              <a:srgbClr val="3D39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473" y="6378642"/>
              <a:ext cx="252095" cy="278765"/>
            </a:xfrm>
            <a:custGeom>
              <a:avLst/>
              <a:gdLst/>
              <a:ahLst/>
              <a:cxnLst/>
              <a:rect l="l" t="t" r="r" b="b"/>
              <a:pathLst>
                <a:path w="252095" h="278765">
                  <a:moveTo>
                    <a:pt x="114401" y="0"/>
                  </a:moveTo>
                  <a:lnTo>
                    <a:pt x="74092" y="12480"/>
                  </a:lnTo>
                  <a:lnTo>
                    <a:pt x="38847" y="39147"/>
                  </a:lnTo>
                  <a:lnTo>
                    <a:pt x="11968" y="80120"/>
                  </a:lnTo>
                  <a:lnTo>
                    <a:pt x="0" y="127191"/>
                  </a:lnTo>
                  <a:lnTo>
                    <a:pt x="2609" y="179969"/>
                  </a:lnTo>
                  <a:lnTo>
                    <a:pt x="20877" y="228901"/>
                  </a:lnTo>
                  <a:lnTo>
                    <a:pt x="55885" y="264435"/>
                  </a:lnTo>
                  <a:lnTo>
                    <a:pt x="102465" y="278306"/>
                  </a:lnTo>
                  <a:lnTo>
                    <a:pt x="150700" y="271185"/>
                  </a:lnTo>
                  <a:lnTo>
                    <a:pt x="194549" y="245301"/>
                  </a:lnTo>
                  <a:lnTo>
                    <a:pt x="227970" y="202878"/>
                  </a:lnTo>
                  <a:lnTo>
                    <a:pt x="246242" y="157463"/>
                  </a:lnTo>
                  <a:lnTo>
                    <a:pt x="251747" y="114158"/>
                  </a:lnTo>
                  <a:lnTo>
                    <a:pt x="245020" y="74984"/>
                  </a:lnTo>
                  <a:lnTo>
                    <a:pt x="226595" y="41963"/>
                  </a:lnTo>
                  <a:lnTo>
                    <a:pt x="197007" y="17115"/>
                  </a:lnTo>
                  <a:lnTo>
                    <a:pt x="156474" y="1585"/>
                  </a:lnTo>
                  <a:lnTo>
                    <a:pt x="114401" y="0"/>
                  </a:lnTo>
                  <a:close/>
                </a:path>
              </a:pathLst>
            </a:custGeom>
            <a:solidFill>
              <a:srgbClr val="097F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325" y="6427444"/>
              <a:ext cx="167487" cy="18935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3914" y="300061"/>
            <a:ext cx="8046084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Exhibit</a:t>
            </a:r>
            <a:r>
              <a:rPr spc="-110" dirty="0"/>
              <a:t> </a:t>
            </a:r>
            <a:r>
              <a:rPr spc="-25" dirty="0"/>
              <a:t>9-</a:t>
            </a:r>
            <a:r>
              <a:rPr dirty="0"/>
              <a:t>1</a:t>
            </a:r>
            <a:r>
              <a:rPr spc="-110" dirty="0"/>
              <a:t> </a:t>
            </a:r>
            <a:r>
              <a:rPr dirty="0"/>
              <a:t>Strategic</a:t>
            </a:r>
            <a:r>
              <a:rPr spc="-110" dirty="0"/>
              <a:t> </a:t>
            </a:r>
            <a:r>
              <a:rPr dirty="0"/>
              <a:t>Management</a:t>
            </a:r>
            <a:r>
              <a:rPr spc="-110" dirty="0"/>
              <a:t> </a:t>
            </a:r>
            <a:r>
              <a:rPr spc="-10" dirty="0"/>
              <a:t>Process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325" y="1660212"/>
            <a:ext cx="8169693" cy="26069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44500" y="5575223"/>
            <a:ext cx="80511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Exhibit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9-</a:t>
            </a:r>
            <a:r>
              <a:rPr sz="1600" b="1" dirty="0">
                <a:latin typeface="Arial"/>
                <a:cs typeface="Arial"/>
              </a:rPr>
              <a:t>1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illustrates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six-</a:t>
            </a:r>
            <a:r>
              <a:rPr sz="1600" dirty="0">
                <a:latin typeface="Arial MT"/>
                <a:cs typeface="Arial MT"/>
              </a:rPr>
              <a:t>step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process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strategic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management,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which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encompasses </a:t>
            </a:r>
            <a:r>
              <a:rPr sz="1600" dirty="0">
                <a:latin typeface="Arial MT"/>
                <a:cs typeface="Arial MT"/>
              </a:rPr>
              <a:t>strategy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planning,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implementation,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evaluation.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75221"/>
            <a:ext cx="7175500" cy="1061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90" dirty="0"/>
              <a:t> </a:t>
            </a:r>
            <a:r>
              <a:rPr dirty="0"/>
              <a:t>1:</a:t>
            </a:r>
            <a:r>
              <a:rPr spc="-85" dirty="0"/>
              <a:t> </a:t>
            </a:r>
            <a:r>
              <a:rPr dirty="0"/>
              <a:t>Identifying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spc="-10" dirty="0"/>
              <a:t>Organization’s </a:t>
            </a:r>
            <a:r>
              <a:rPr dirty="0"/>
              <a:t>Current</a:t>
            </a:r>
            <a:r>
              <a:rPr spc="-120" dirty="0"/>
              <a:t> </a:t>
            </a:r>
            <a:r>
              <a:rPr dirty="0"/>
              <a:t>Mission,</a:t>
            </a:r>
            <a:r>
              <a:rPr spc="-114" dirty="0"/>
              <a:t> </a:t>
            </a:r>
            <a:r>
              <a:rPr dirty="0"/>
              <a:t>Goals,</a:t>
            </a:r>
            <a:r>
              <a:rPr spc="-114" dirty="0"/>
              <a:t> </a:t>
            </a:r>
            <a:r>
              <a:rPr dirty="0"/>
              <a:t>and</a:t>
            </a:r>
            <a:r>
              <a:rPr spc="-125" dirty="0"/>
              <a:t> </a:t>
            </a:r>
            <a:r>
              <a:rPr spc="-10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397188"/>
            <a:ext cx="8191500" cy="242570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Font typeface="Arial MT"/>
              <a:buChar char="•"/>
              <a:tabLst>
                <a:tab pos="267970" algn="l"/>
              </a:tabLst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Mission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: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purpose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an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organization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268605" marR="5080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Arial MT"/>
                <a:cs typeface="Arial MT"/>
              </a:rPr>
              <a:t>Mission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focus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strategic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company</a:t>
            </a:r>
            <a:endParaRPr sz="2400" dirty="0">
              <a:latin typeface="Arial MT"/>
              <a:cs typeface="Arial MT"/>
            </a:endParaRPr>
          </a:p>
          <a:p>
            <a:pPr marL="268605" marR="43180" indent="-25654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slide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included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mission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statement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4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Exhibit</a:t>
            </a:r>
            <a:r>
              <a:rPr sz="2800" spc="-60" dirty="0"/>
              <a:t> </a:t>
            </a:r>
            <a:r>
              <a:rPr sz="2800" spc="-10" dirty="0"/>
              <a:t>9-</a:t>
            </a:r>
            <a:r>
              <a:rPr sz="2800" dirty="0"/>
              <a:t>2</a:t>
            </a:r>
            <a:r>
              <a:rPr sz="2800" spc="-60" dirty="0"/>
              <a:t> </a:t>
            </a:r>
            <a:r>
              <a:rPr sz="2800" dirty="0"/>
              <a:t>Components</a:t>
            </a:r>
            <a:r>
              <a:rPr sz="2800" spc="-60" dirty="0"/>
              <a:t> </a:t>
            </a:r>
            <a:r>
              <a:rPr sz="2800" dirty="0"/>
              <a:t>of</a:t>
            </a:r>
            <a:r>
              <a:rPr sz="2800" spc="-55" dirty="0"/>
              <a:t> </a:t>
            </a:r>
            <a:r>
              <a:rPr sz="2800" dirty="0"/>
              <a:t>a</a:t>
            </a:r>
            <a:r>
              <a:rPr sz="2800" spc="-65" dirty="0"/>
              <a:t> </a:t>
            </a:r>
            <a:r>
              <a:rPr sz="2800" dirty="0"/>
              <a:t>Mission</a:t>
            </a:r>
            <a:r>
              <a:rPr sz="2800" spc="-60" dirty="0"/>
              <a:t> </a:t>
            </a:r>
            <a:r>
              <a:rPr sz="2800" spc="-10" dirty="0"/>
              <a:t>Statement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746" y="1080409"/>
            <a:ext cx="8034447" cy="46567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T analysis. Strategy, planning, project and business concept">
            <a:extLst>
              <a:ext uri="{FF2B5EF4-FFF2-40B4-BE49-F238E27FC236}">
                <a16:creationId xmlns:a16="http://schemas.microsoft.com/office/drawing/2014/main" id="{D9367196-F3BA-BABE-6D61-D07A50EBB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19" y="838200"/>
            <a:ext cx="8242300" cy="5489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FCC43F-58F5-1A6E-583E-49E7DDD5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153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50" dirty="0"/>
              <a:t> </a:t>
            </a:r>
            <a:r>
              <a:rPr dirty="0"/>
              <a:t>2:</a:t>
            </a:r>
            <a:r>
              <a:rPr spc="-25" dirty="0"/>
              <a:t> </a:t>
            </a:r>
            <a:r>
              <a:rPr spc="-35" dirty="0"/>
              <a:t>SWOT</a:t>
            </a:r>
            <a:r>
              <a:rPr spc="-254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174355" cy="371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1178560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SWOT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analysis: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organization’s </a:t>
            </a:r>
            <a:r>
              <a:rPr sz="2400" dirty="0">
                <a:latin typeface="Arial MT"/>
                <a:cs typeface="Arial MT"/>
              </a:rPr>
              <a:t>strengths,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weaknesses,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opportunities,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threats</a:t>
            </a:r>
            <a:endParaRPr sz="2400">
              <a:latin typeface="Arial MT"/>
              <a:cs typeface="Arial MT"/>
            </a:endParaRPr>
          </a:p>
          <a:p>
            <a:pPr marL="268605" marR="194310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Strengths: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activities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its </a:t>
            </a:r>
            <a:r>
              <a:rPr sz="2400" dirty="0">
                <a:latin typeface="Arial MT"/>
                <a:cs typeface="Arial MT"/>
              </a:rPr>
              <a:t>unique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resources</a:t>
            </a:r>
            <a:endParaRPr sz="2400">
              <a:latin typeface="Arial MT"/>
              <a:cs typeface="Arial MT"/>
            </a:endParaRPr>
          </a:p>
          <a:p>
            <a:pPr marL="268605" marR="201295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spc="-10" dirty="0">
                <a:latin typeface="Arial"/>
                <a:cs typeface="Arial"/>
              </a:rPr>
              <a:t>Weaknesses</a:t>
            </a:r>
            <a:r>
              <a:rPr sz="2400" spc="-10" dirty="0">
                <a:latin typeface="Arial MT"/>
                <a:cs typeface="Arial MT"/>
              </a:rPr>
              <a:t>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activities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well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resources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possess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7970" algn="l"/>
              </a:tabLst>
            </a:pPr>
            <a:r>
              <a:rPr sz="2400" b="1" dirty="0">
                <a:latin typeface="Arial"/>
                <a:cs typeface="Arial"/>
              </a:rPr>
              <a:t>Opportunities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trends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external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environment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Font typeface="Arial MT"/>
              <a:buChar char="•"/>
              <a:tabLst>
                <a:tab pos="267970" algn="l"/>
              </a:tabLst>
            </a:pPr>
            <a:r>
              <a:rPr sz="2400" b="1" dirty="0">
                <a:latin typeface="Arial"/>
                <a:cs typeface="Arial"/>
              </a:rPr>
              <a:t>Threats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negative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trends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external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environment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54EF-590A-6F8E-1FBB-752B47CC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Quiz????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1B52C-CA6A-44A9-654A-F074DEBD9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053985"/>
            <a:ext cx="8046084" cy="4801314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A Pakistani university has seen a decline in admissions over the last three years.</a:t>
            </a:r>
          </a:p>
          <a:p>
            <a:endParaRPr lang="en-GB" b="1" dirty="0">
              <a:solidFill>
                <a:srgbClr val="FF0000"/>
              </a:solidFill>
            </a:endParaRPr>
          </a:p>
          <a:p>
            <a:endParaRPr lang="en-GB" b="1" dirty="0">
              <a:solidFill>
                <a:srgbClr val="FF0000"/>
              </a:solidFill>
            </a:endParaRPr>
          </a:p>
          <a:p>
            <a:r>
              <a:rPr lang="en-GB" b="1" dirty="0">
                <a:solidFill>
                  <a:srgbClr val="FF0000"/>
                </a:solidFill>
              </a:rPr>
              <a:t>Question: </a:t>
            </a:r>
            <a:r>
              <a:rPr lang="en-GB" b="1" i="1" dirty="0">
                <a:solidFill>
                  <a:srgbClr val="FF0000"/>
                </a:solidFill>
              </a:rPr>
              <a:t>As a strategic management team leader , identify the university's possible weaknesses and propose a three-year strategic plan to increase admissions and improve its reputation.</a:t>
            </a:r>
          </a:p>
          <a:p>
            <a:endParaRPr lang="en-GB" b="1" i="1" dirty="0">
              <a:solidFill>
                <a:srgbClr val="FF0000"/>
              </a:solidFill>
            </a:endParaRPr>
          </a:p>
          <a:p>
            <a:r>
              <a:rPr lang="en-GB" b="1" i="1" dirty="0">
                <a:solidFill>
                  <a:srgbClr val="FF0000"/>
                </a:solidFill>
              </a:rPr>
              <a:t>What steps would you take to increase admission bring in more resources and funds for research and also promote research?</a:t>
            </a:r>
            <a:endParaRPr lang="en-GB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324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Doing</a:t>
            </a:r>
            <a:r>
              <a:rPr spc="-35" dirty="0"/>
              <a:t> </a:t>
            </a:r>
            <a:r>
              <a:rPr dirty="0"/>
              <a:t>an</a:t>
            </a:r>
            <a:r>
              <a:rPr spc="-30" dirty="0"/>
              <a:t> </a:t>
            </a:r>
            <a:r>
              <a:rPr spc="-20" dirty="0"/>
              <a:t>Internal</a:t>
            </a:r>
            <a:r>
              <a:rPr spc="-19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045450" cy="3333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59435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Resources: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organization’s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assets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develop,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manufacture,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deliver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its </a:t>
            </a:r>
            <a:r>
              <a:rPr sz="2400" spc="-10" dirty="0">
                <a:latin typeface="Arial MT"/>
                <a:cs typeface="Arial MT"/>
              </a:rPr>
              <a:t>customers</a:t>
            </a:r>
            <a:endParaRPr sz="2400">
              <a:latin typeface="Arial MT"/>
              <a:cs typeface="Arial MT"/>
            </a:endParaRPr>
          </a:p>
          <a:p>
            <a:pPr marL="268605" marR="5080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Capabilities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organization’s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skills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abilities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doing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activities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business</a:t>
            </a:r>
            <a:endParaRPr sz="2400">
              <a:latin typeface="Arial MT"/>
              <a:cs typeface="Arial MT"/>
            </a:endParaRPr>
          </a:p>
          <a:p>
            <a:pPr marL="268605" marR="629285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Core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competencies: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organization’s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major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value- </a:t>
            </a:r>
            <a:r>
              <a:rPr sz="2400" dirty="0">
                <a:latin typeface="Arial MT"/>
                <a:cs typeface="Arial MT"/>
              </a:rPr>
              <a:t>creating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capabilities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determine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competitive weapons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spc="-110" dirty="0"/>
              <a:t> </a:t>
            </a:r>
            <a:r>
              <a:rPr dirty="0"/>
              <a:t>3:</a:t>
            </a:r>
            <a:r>
              <a:rPr spc="-90" dirty="0"/>
              <a:t> </a:t>
            </a:r>
            <a:r>
              <a:rPr sz="3600" dirty="0"/>
              <a:t>Formulating</a:t>
            </a:r>
            <a:r>
              <a:rPr sz="3600" spc="-105" dirty="0"/>
              <a:t> </a:t>
            </a:r>
            <a:r>
              <a:rPr sz="3600" spc="-10" dirty="0"/>
              <a:t>Strategies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44500" y="977808"/>
            <a:ext cx="7681595" cy="17938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7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strategies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formulate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10" dirty="0">
                <a:latin typeface="Arial MT"/>
                <a:cs typeface="Arial MT"/>
              </a:rPr>
              <a:t>Corporate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10" dirty="0">
                <a:latin typeface="Arial MT"/>
                <a:cs typeface="Arial MT"/>
              </a:rPr>
              <a:t>Competitive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10" dirty="0">
                <a:latin typeface="Arial MT"/>
                <a:cs typeface="Arial MT"/>
              </a:rPr>
              <a:t>Functional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spc="-95" dirty="0"/>
              <a:t> </a:t>
            </a:r>
            <a:r>
              <a:rPr dirty="0"/>
              <a:t>4:</a:t>
            </a:r>
            <a:r>
              <a:rPr spc="-75" dirty="0"/>
              <a:t> </a:t>
            </a:r>
            <a:r>
              <a:rPr sz="3600" dirty="0"/>
              <a:t>Implementing</a:t>
            </a:r>
            <a:r>
              <a:rPr sz="3600" spc="-90" dirty="0"/>
              <a:t> </a:t>
            </a:r>
            <a:r>
              <a:rPr sz="3600" spc="-10" dirty="0"/>
              <a:t>Strategies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79965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Arial MT"/>
                <a:cs typeface="Arial MT"/>
              </a:rPr>
              <a:t>No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matter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effectively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planned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its </a:t>
            </a:r>
            <a:r>
              <a:rPr sz="2400" dirty="0">
                <a:latin typeface="Arial MT"/>
                <a:cs typeface="Arial MT"/>
              </a:rPr>
              <a:t>strategies,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performance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suffer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strategies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aren’t implemented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properly.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spc="-50" dirty="0"/>
              <a:t> </a:t>
            </a:r>
            <a:r>
              <a:rPr dirty="0"/>
              <a:t>5:</a:t>
            </a:r>
            <a:r>
              <a:rPr spc="-30" dirty="0"/>
              <a:t> </a:t>
            </a:r>
            <a:r>
              <a:rPr sz="3600" dirty="0"/>
              <a:t>Evaluating</a:t>
            </a:r>
            <a:r>
              <a:rPr sz="3600" spc="-40" dirty="0"/>
              <a:t> </a:t>
            </a:r>
            <a:r>
              <a:rPr sz="3600" spc="-10" dirty="0"/>
              <a:t>Results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6929120" cy="1313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effective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strategies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been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achieve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goals?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adjustments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necessary?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A168-919A-EF70-E6EF-94FBF52EE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Question…..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7C819-F303-9FFD-6646-08C59E892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053985"/>
            <a:ext cx="7443470" cy="4431983"/>
          </a:xfrm>
        </p:spPr>
        <p:txBody>
          <a:bodyPr/>
          <a:lstStyle/>
          <a:p>
            <a:r>
              <a:rPr lang="en-GB" b="1" dirty="0"/>
              <a:t>The </a:t>
            </a:r>
            <a:r>
              <a:rPr lang="en-GB" b="1" dirty="0" err="1"/>
              <a:t>Enrollment</a:t>
            </a:r>
            <a:r>
              <a:rPr lang="en-GB" b="1" dirty="0"/>
              <a:t> Crisis…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dirty="0"/>
              <a:t>Admissions at your university have dropped by 30% over the last three years.</a:t>
            </a:r>
          </a:p>
          <a:p>
            <a:endParaRPr lang="en-GB" dirty="0"/>
          </a:p>
          <a:p>
            <a:r>
              <a:rPr lang="en-GB" b="1" dirty="0"/>
              <a:t>Identify at least two strengths, two weaknesses, two opportunities, and two threats. 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Then propose a recovery strategy.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808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100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Corporate</a:t>
            </a:r>
            <a:r>
              <a:rPr spc="-100" dirty="0"/>
              <a:t> </a:t>
            </a:r>
            <a:r>
              <a:rPr spc="-10" dirty="0"/>
              <a:t>Strategy?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790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Corporate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strategy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strategy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determines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company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wants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those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businesses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473" y="6378642"/>
            <a:ext cx="916305" cy="278765"/>
            <a:chOff x="457473" y="6378642"/>
            <a:chExt cx="916305" cy="278765"/>
          </a:xfrm>
        </p:grpSpPr>
        <p:sp>
          <p:nvSpPr>
            <p:cNvPr id="3" name="object 3"/>
            <p:cNvSpPr/>
            <p:nvPr/>
          </p:nvSpPr>
          <p:spPr>
            <a:xfrm>
              <a:off x="750963" y="6453720"/>
              <a:ext cx="622935" cy="130175"/>
            </a:xfrm>
            <a:custGeom>
              <a:avLst/>
              <a:gdLst/>
              <a:ahLst/>
              <a:cxnLst/>
              <a:rect l="l" t="t" r="r" b="b"/>
              <a:pathLst>
                <a:path w="622935" h="130175">
                  <a:moveTo>
                    <a:pt x="106553" y="37439"/>
                  </a:moveTo>
                  <a:lnTo>
                    <a:pt x="101600" y="18834"/>
                  </a:lnTo>
                  <a:lnTo>
                    <a:pt x="88811" y="7391"/>
                  </a:lnTo>
                  <a:lnTo>
                    <a:pt x="85001" y="6121"/>
                  </a:lnTo>
                  <a:lnTo>
                    <a:pt x="84594" y="5994"/>
                  </a:lnTo>
                  <a:lnTo>
                    <a:pt x="84594" y="37439"/>
                  </a:lnTo>
                  <a:lnTo>
                    <a:pt x="83439" y="50850"/>
                  </a:lnTo>
                  <a:lnTo>
                    <a:pt x="83375" y="51638"/>
                  </a:lnTo>
                  <a:lnTo>
                    <a:pt x="78651" y="62153"/>
                  </a:lnTo>
                  <a:lnTo>
                    <a:pt x="68795" y="68681"/>
                  </a:lnTo>
                  <a:lnTo>
                    <a:pt x="52197" y="70916"/>
                  </a:lnTo>
                  <a:lnTo>
                    <a:pt x="38150" y="70916"/>
                  </a:lnTo>
                  <a:lnTo>
                    <a:pt x="38150" y="6121"/>
                  </a:lnTo>
                  <a:lnTo>
                    <a:pt x="53276" y="6121"/>
                  </a:lnTo>
                  <a:lnTo>
                    <a:pt x="69710" y="8890"/>
                  </a:lnTo>
                  <a:lnTo>
                    <a:pt x="79184" y="16116"/>
                  </a:lnTo>
                  <a:lnTo>
                    <a:pt x="83540" y="26174"/>
                  </a:lnTo>
                  <a:lnTo>
                    <a:pt x="84594" y="37439"/>
                  </a:lnTo>
                  <a:lnTo>
                    <a:pt x="84594" y="5994"/>
                  </a:lnTo>
                  <a:lnTo>
                    <a:pt x="78473" y="3962"/>
                  </a:lnTo>
                  <a:lnTo>
                    <a:pt x="71310" y="1600"/>
                  </a:lnTo>
                  <a:lnTo>
                    <a:pt x="52197" y="0"/>
                  </a:lnTo>
                  <a:lnTo>
                    <a:pt x="1079" y="0"/>
                  </a:lnTo>
                  <a:lnTo>
                    <a:pt x="0" y="1079"/>
                  </a:lnTo>
                  <a:lnTo>
                    <a:pt x="0" y="3962"/>
                  </a:lnTo>
                  <a:lnTo>
                    <a:pt x="1079" y="5041"/>
                  </a:lnTo>
                  <a:lnTo>
                    <a:pt x="6121" y="6121"/>
                  </a:lnTo>
                  <a:lnTo>
                    <a:pt x="17995" y="3962"/>
                  </a:lnTo>
                  <a:lnTo>
                    <a:pt x="17995" y="117716"/>
                  </a:lnTo>
                  <a:lnTo>
                    <a:pt x="15113" y="122758"/>
                  </a:lnTo>
                  <a:lnTo>
                    <a:pt x="1079" y="123482"/>
                  </a:lnTo>
                  <a:lnTo>
                    <a:pt x="0" y="123482"/>
                  </a:lnTo>
                  <a:lnTo>
                    <a:pt x="0" y="127800"/>
                  </a:lnTo>
                  <a:lnTo>
                    <a:pt x="1079" y="128524"/>
                  </a:lnTo>
                  <a:lnTo>
                    <a:pt x="57238" y="128524"/>
                  </a:lnTo>
                  <a:lnTo>
                    <a:pt x="57238" y="123482"/>
                  </a:lnTo>
                  <a:lnTo>
                    <a:pt x="56515" y="123482"/>
                  </a:lnTo>
                  <a:lnTo>
                    <a:pt x="41402" y="122758"/>
                  </a:lnTo>
                  <a:lnTo>
                    <a:pt x="38150" y="118440"/>
                  </a:lnTo>
                  <a:lnTo>
                    <a:pt x="38150" y="77038"/>
                  </a:lnTo>
                  <a:lnTo>
                    <a:pt x="51473" y="77038"/>
                  </a:lnTo>
                  <a:lnTo>
                    <a:pt x="64998" y="76250"/>
                  </a:lnTo>
                  <a:lnTo>
                    <a:pt x="76847" y="73888"/>
                  </a:lnTo>
                  <a:lnTo>
                    <a:pt x="84556" y="70916"/>
                  </a:lnTo>
                  <a:lnTo>
                    <a:pt x="86804" y="70053"/>
                  </a:lnTo>
                  <a:lnTo>
                    <a:pt x="94678" y="64795"/>
                  </a:lnTo>
                  <a:lnTo>
                    <a:pt x="100787" y="57899"/>
                  </a:lnTo>
                  <a:lnTo>
                    <a:pt x="104394" y="50850"/>
                  </a:lnTo>
                  <a:lnTo>
                    <a:pt x="106108" y="43954"/>
                  </a:lnTo>
                  <a:lnTo>
                    <a:pt x="106553" y="37439"/>
                  </a:lnTo>
                  <a:close/>
                </a:path>
                <a:path w="622935" h="130175">
                  <a:moveTo>
                    <a:pt x="185089" y="67652"/>
                  </a:moveTo>
                  <a:lnTo>
                    <a:pt x="165950" y="39357"/>
                  </a:lnTo>
                  <a:lnTo>
                    <a:pt x="165950" y="70916"/>
                  </a:lnTo>
                  <a:lnTo>
                    <a:pt x="125996" y="70916"/>
                  </a:lnTo>
                  <a:lnTo>
                    <a:pt x="128346" y="57937"/>
                  </a:lnTo>
                  <a:lnTo>
                    <a:pt x="132651" y="48336"/>
                  </a:lnTo>
                  <a:lnTo>
                    <a:pt x="138734" y="42481"/>
                  </a:lnTo>
                  <a:lnTo>
                    <a:pt x="138404" y="42481"/>
                  </a:lnTo>
                  <a:lnTo>
                    <a:pt x="146875" y="40322"/>
                  </a:lnTo>
                  <a:lnTo>
                    <a:pt x="152996" y="40322"/>
                  </a:lnTo>
                  <a:lnTo>
                    <a:pt x="165950" y="70916"/>
                  </a:lnTo>
                  <a:lnTo>
                    <a:pt x="165950" y="39357"/>
                  </a:lnTo>
                  <a:lnTo>
                    <a:pt x="164020" y="38303"/>
                  </a:lnTo>
                  <a:lnTo>
                    <a:pt x="156540" y="36068"/>
                  </a:lnTo>
                  <a:lnTo>
                    <a:pt x="147955" y="35280"/>
                  </a:lnTo>
                  <a:lnTo>
                    <a:pt x="131597" y="39090"/>
                  </a:lnTo>
                  <a:lnTo>
                    <a:pt x="118071" y="49504"/>
                  </a:lnTo>
                  <a:lnTo>
                    <a:pt x="108864" y="65049"/>
                  </a:lnTo>
                  <a:lnTo>
                    <a:pt x="105473" y="84239"/>
                  </a:lnTo>
                  <a:lnTo>
                    <a:pt x="108712" y="102412"/>
                  </a:lnTo>
                  <a:lnTo>
                    <a:pt x="117665" y="116776"/>
                  </a:lnTo>
                  <a:lnTo>
                    <a:pt x="131140" y="126212"/>
                  </a:lnTo>
                  <a:lnTo>
                    <a:pt x="147955" y="129603"/>
                  </a:lnTo>
                  <a:lnTo>
                    <a:pt x="161899" y="127584"/>
                  </a:lnTo>
                  <a:lnTo>
                    <a:pt x="172300" y="122364"/>
                  </a:lnTo>
                  <a:lnTo>
                    <a:pt x="174129" y="120599"/>
                  </a:lnTo>
                  <a:lnTo>
                    <a:pt x="179793" y="115176"/>
                  </a:lnTo>
                  <a:lnTo>
                    <a:pt x="185039" y="107276"/>
                  </a:lnTo>
                  <a:lnTo>
                    <a:pt x="185039" y="105473"/>
                  </a:lnTo>
                  <a:lnTo>
                    <a:pt x="184315" y="105473"/>
                  </a:lnTo>
                  <a:lnTo>
                    <a:pt x="184315" y="104394"/>
                  </a:lnTo>
                  <a:lnTo>
                    <a:pt x="182156" y="104394"/>
                  </a:lnTo>
                  <a:lnTo>
                    <a:pt x="181076" y="105473"/>
                  </a:lnTo>
                  <a:lnTo>
                    <a:pt x="175348" y="111645"/>
                  </a:lnTo>
                  <a:lnTo>
                    <a:pt x="169595" y="116420"/>
                  </a:lnTo>
                  <a:lnTo>
                    <a:pt x="163093" y="119507"/>
                  </a:lnTo>
                  <a:lnTo>
                    <a:pt x="155155" y="120599"/>
                  </a:lnTo>
                  <a:lnTo>
                    <a:pt x="144348" y="118579"/>
                  </a:lnTo>
                  <a:lnTo>
                    <a:pt x="134632" y="112014"/>
                  </a:lnTo>
                  <a:lnTo>
                    <a:pt x="127609" y="100101"/>
                  </a:lnTo>
                  <a:lnTo>
                    <a:pt x="124917" y="82080"/>
                  </a:lnTo>
                  <a:lnTo>
                    <a:pt x="124917" y="77038"/>
                  </a:lnTo>
                  <a:lnTo>
                    <a:pt x="185039" y="77038"/>
                  </a:lnTo>
                  <a:lnTo>
                    <a:pt x="185077" y="70916"/>
                  </a:lnTo>
                  <a:lnTo>
                    <a:pt x="185089" y="67652"/>
                  </a:lnTo>
                  <a:close/>
                </a:path>
                <a:path w="622935" h="130175">
                  <a:moveTo>
                    <a:pt x="278638" y="123482"/>
                  </a:moveTo>
                  <a:lnTo>
                    <a:pt x="277558" y="122770"/>
                  </a:lnTo>
                  <a:lnTo>
                    <a:pt x="277558" y="121678"/>
                  </a:lnTo>
                  <a:lnTo>
                    <a:pt x="270713" y="121678"/>
                  </a:lnTo>
                  <a:lnTo>
                    <a:pt x="268554" y="120599"/>
                  </a:lnTo>
                  <a:lnTo>
                    <a:pt x="266750" y="119519"/>
                  </a:lnTo>
                  <a:lnTo>
                    <a:pt x="265671" y="116636"/>
                  </a:lnTo>
                  <a:lnTo>
                    <a:pt x="265671" y="114477"/>
                  </a:lnTo>
                  <a:lnTo>
                    <a:pt x="265671" y="82080"/>
                  </a:lnTo>
                  <a:lnTo>
                    <a:pt x="265671" y="63715"/>
                  </a:lnTo>
                  <a:lnTo>
                    <a:pt x="263588" y="51854"/>
                  </a:lnTo>
                  <a:lnTo>
                    <a:pt x="257429" y="43294"/>
                  </a:lnTo>
                  <a:lnTo>
                    <a:pt x="253746" y="41402"/>
                  </a:lnTo>
                  <a:lnTo>
                    <a:pt x="247294" y="38112"/>
                  </a:lnTo>
                  <a:lnTo>
                    <a:pt x="233273" y="36360"/>
                  </a:lnTo>
                  <a:lnTo>
                    <a:pt x="218998" y="38112"/>
                  </a:lnTo>
                  <a:lnTo>
                    <a:pt x="219608" y="38112"/>
                  </a:lnTo>
                  <a:lnTo>
                    <a:pt x="209016" y="42443"/>
                  </a:lnTo>
                  <a:lnTo>
                    <a:pt x="201726" y="48971"/>
                  </a:lnTo>
                  <a:lnTo>
                    <a:pt x="199072" y="56883"/>
                  </a:lnTo>
                  <a:lnTo>
                    <a:pt x="199072" y="62636"/>
                  </a:lnTo>
                  <a:lnTo>
                    <a:pt x="203390" y="67678"/>
                  </a:lnTo>
                  <a:lnTo>
                    <a:pt x="208432" y="67678"/>
                  </a:lnTo>
                  <a:lnTo>
                    <a:pt x="211315" y="68757"/>
                  </a:lnTo>
                  <a:lnTo>
                    <a:pt x="215277" y="66954"/>
                  </a:lnTo>
                  <a:lnTo>
                    <a:pt x="222478" y="59753"/>
                  </a:lnTo>
                  <a:lnTo>
                    <a:pt x="221399" y="53644"/>
                  </a:lnTo>
                  <a:lnTo>
                    <a:pt x="216382" y="46494"/>
                  </a:lnTo>
                  <a:lnTo>
                    <a:pt x="219240" y="43561"/>
                  </a:lnTo>
                  <a:lnTo>
                    <a:pt x="225361" y="41402"/>
                  </a:lnTo>
                  <a:lnTo>
                    <a:pt x="232562" y="41402"/>
                  </a:lnTo>
                  <a:lnTo>
                    <a:pt x="248399" y="75958"/>
                  </a:lnTo>
                  <a:lnTo>
                    <a:pt x="248399" y="82080"/>
                  </a:lnTo>
                  <a:lnTo>
                    <a:pt x="248399" y="108356"/>
                  </a:lnTo>
                  <a:lnTo>
                    <a:pt x="245516" y="111239"/>
                  </a:lnTo>
                  <a:lnTo>
                    <a:pt x="238315" y="120599"/>
                  </a:lnTo>
                  <a:lnTo>
                    <a:pt x="217436" y="120599"/>
                  </a:lnTo>
                  <a:lnTo>
                    <a:pt x="215277" y="111239"/>
                  </a:lnTo>
                  <a:lnTo>
                    <a:pt x="215277" y="104394"/>
                  </a:lnTo>
                  <a:lnTo>
                    <a:pt x="217055" y="96913"/>
                  </a:lnTo>
                  <a:lnTo>
                    <a:pt x="222783" y="90957"/>
                  </a:lnTo>
                  <a:lnTo>
                    <a:pt x="233045" y="86131"/>
                  </a:lnTo>
                  <a:lnTo>
                    <a:pt x="248399" y="82080"/>
                  </a:lnTo>
                  <a:lnTo>
                    <a:pt x="248399" y="75958"/>
                  </a:lnTo>
                  <a:lnTo>
                    <a:pt x="245516" y="75958"/>
                  </a:lnTo>
                  <a:lnTo>
                    <a:pt x="243357" y="77038"/>
                  </a:lnTo>
                  <a:lnTo>
                    <a:pt x="238315" y="78117"/>
                  </a:lnTo>
                  <a:lnTo>
                    <a:pt x="200152" y="92163"/>
                  </a:lnTo>
                  <a:lnTo>
                    <a:pt x="196202" y="99364"/>
                  </a:lnTo>
                  <a:lnTo>
                    <a:pt x="196202" y="108356"/>
                  </a:lnTo>
                  <a:lnTo>
                    <a:pt x="197434" y="115938"/>
                  </a:lnTo>
                  <a:lnTo>
                    <a:pt x="201498" y="122770"/>
                  </a:lnTo>
                  <a:lnTo>
                    <a:pt x="209092" y="127800"/>
                  </a:lnTo>
                  <a:lnTo>
                    <a:pt x="209537" y="127800"/>
                  </a:lnTo>
                  <a:lnTo>
                    <a:pt x="220319" y="129603"/>
                  </a:lnTo>
                  <a:lnTo>
                    <a:pt x="227685" y="128663"/>
                  </a:lnTo>
                  <a:lnTo>
                    <a:pt x="234759" y="125831"/>
                  </a:lnTo>
                  <a:lnTo>
                    <a:pt x="241617" y="121107"/>
                  </a:lnTo>
                  <a:lnTo>
                    <a:pt x="242125" y="120599"/>
                  </a:lnTo>
                  <a:lnTo>
                    <a:pt x="248399" y="114477"/>
                  </a:lnTo>
                  <a:lnTo>
                    <a:pt x="248932" y="119519"/>
                  </a:lnTo>
                  <a:lnTo>
                    <a:pt x="249047" y="120599"/>
                  </a:lnTo>
                  <a:lnTo>
                    <a:pt x="249161" y="121678"/>
                  </a:lnTo>
                  <a:lnTo>
                    <a:pt x="249275" y="122770"/>
                  </a:lnTo>
                  <a:lnTo>
                    <a:pt x="249351" y="123482"/>
                  </a:lnTo>
                  <a:lnTo>
                    <a:pt x="249478" y="124561"/>
                  </a:lnTo>
                  <a:lnTo>
                    <a:pt x="253441" y="128524"/>
                  </a:lnTo>
                  <a:lnTo>
                    <a:pt x="268554" y="128524"/>
                  </a:lnTo>
                  <a:lnTo>
                    <a:pt x="271792" y="127800"/>
                  </a:lnTo>
                  <a:lnTo>
                    <a:pt x="276834" y="125641"/>
                  </a:lnTo>
                  <a:lnTo>
                    <a:pt x="277558" y="125641"/>
                  </a:lnTo>
                  <a:lnTo>
                    <a:pt x="278638" y="123482"/>
                  </a:lnTo>
                  <a:close/>
                </a:path>
                <a:path w="622935" h="130175">
                  <a:moveTo>
                    <a:pt x="354241" y="43561"/>
                  </a:moveTo>
                  <a:lnTo>
                    <a:pt x="350278" y="36360"/>
                  </a:lnTo>
                  <a:lnTo>
                    <a:pt x="339115" y="36360"/>
                  </a:lnTo>
                  <a:lnTo>
                    <a:pt x="331863" y="37439"/>
                  </a:lnTo>
                  <a:lnTo>
                    <a:pt x="332333" y="37439"/>
                  </a:lnTo>
                  <a:lnTo>
                    <a:pt x="326237" y="40411"/>
                  </a:lnTo>
                  <a:lnTo>
                    <a:pt x="320078" y="45783"/>
                  </a:lnTo>
                  <a:lnTo>
                    <a:pt x="313918" y="53644"/>
                  </a:lnTo>
                  <a:lnTo>
                    <a:pt x="313918" y="38519"/>
                  </a:lnTo>
                  <a:lnTo>
                    <a:pt x="312839" y="37439"/>
                  </a:lnTo>
                  <a:lnTo>
                    <a:pt x="287997" y="37439"/>
                  </a:lnTo>
                  <a:lnTo>
                    <a:pt x="286918" y="38519"/>
                  </a:lnTo>
                  <a:lnTo>
                    <a:pt x="286918" y="41402"/>
                  </a:lnTo>
                  <a:lnTo>
                    <a:pt x="287997" y="42481"/>
                  </a:lnTo>
                  <a:lnTo>
                    <a:pt x="295910" y="43561"/>
                  </a:lnTo>
                  <a:lnTo>
                    <a:pt x="296633" y="46443"/>
                  </a:lnTo>
                  <a:lnTo>
                    <a:pt x="296633" y="121678"/>
                  </a:lnTo>
                  <a:lnTo>
                    <a:pt x="295910" y="123482"/>
                  </a:lnTo>
                  <a:lnTo>
                    <a:pt x="288721" y="123482"/>
                  </a:lnTo>
                  <a:lnTo>
                    <a:pt x="286918" y="124561"/>
                  </a:lnTo>
                  <a:lnTo>
                    <a:pt x="286918" y="127800"/>
                  </a:lnTo>
                  <a:lnTo>
                    <a:pt x="287997" y="128524"/>
                  </a:lnTo>
                  <a:lnTo>
                    <a:pt x="326872" y="128524"/>
                  </a:lnTo>
                  <a:lnTo>
                    <a:pt x="326872" y="124561"/>
                  </a:lnTo>
                  <a:lnTo>
                    <a:pt x="326161" y="124561"/>
                  </a:lnTo>
                  <a:lnTo>
                    <a:pt x="317157" y="123482"/>
                  </a:lnTo>
                  <a:lnTo>
                    <a:pt x="314998" y="122758"/>
                  </a:lnTo>
                  <a:lnTo>
                    <a:pt x="314998" y="62636"/>
                  </a:lnTo>
                  <a:lnTo>
                    <a:pt x="320459" y="53644"/>
                  </a:lnTo>
                  <a:lnTo>
                    <a:pt x="321119" y="52565"/>
                  </a:lnTo>
                  <a:lnTo>
                    <a:pt x="325081" y="47523"/>
                  </a:lnTo>
                  <a:lnTo>
                    <a:pt x="332727" y="45783"/>
                  </a:lnTo>
                  <a:lnTo>
                    <a:pt x="332905" y="45783"/>
                  </a:lnTo>
                  <a:lnTo>
                    <a:pt x="331914" y="46443"/>
                  </a:lnTo>
                  <a:lnTo>
                    <a:pt x="331914" y="56883"/>
                  </a:lnTo>
                  <a:lnTo>
                    <a:pt x="336956" y="60833"/>
                  </a:lnTo>
                  <a:lnTo>
                    <a:pt x="350278" y="60833"/>
                  </a:lnTo>
                  <a:lnTo>
                    <a:pt x="354241" y="56883"/>
                  </a:lnTo>
                  <a:lnTo>
                    <a:pt x="354241" y="45783"/>
                  </a:lnTo>
                  <a:lnTo>
                    <a:pt x="354241" y="43561"/>
                  </a:lnTo>
                  <a:close/>
                </a:path>
                <a:path w="622935" h="130175">
                  <a:moveTo>
                    <a:pt x="423710" y="99364"/>
                  </a:moveTo>
                  <a:lnTo>
                    <a:pt x="396354" y="71996"/>
                  </a:lnTo>
                  <a:lnTo>
                    <a:pt x="395274" y="71996"/>
                  </a:lnTo>
                  <a:lnTo>
                    <a:pt x="385152" y="68605"/>
                  </a:lnTo>
                  <a:lnTo>
                    <a:pt x="378345" y="64846"/>
                  </a:lnTo>
                  <a:lnTo>
                    <a:pt x="374510" y="60617"/>
                  </a:lnTo>
                  <a:lnTo>
                    <a:pt x="373316" y="55803"/>
                  </a:lnTo>
                  <a:lnTo>
                    <a:pt x="373316" y="46443"/>
                  </a:lnTo>
                  <a:lnTo>
                    <a:pt x="379437" y="40322"/>
                  </a:lnTo>
                  <a:lnTo>
                    <a:pt x="389521" y="40322"/>
                  </a:lnTo>
                  <a:lnTo>
                    <a:pt x="415442" y="64846"/>
                  </a:lnTo>
                  <a:lnTo>
                    <a:pt x="415442" y="65874"/>
                  </a:lnTo>
                  <a:lnTo>
                    <a:pt x="418680" y="65874"/>
                  </a:lnTo>
                  <a:lnTo>
                    <a:pt x="419709" y="64846"/>
                  </a:lnTo>
                  <a:lnTo>
                    <a:pt x="419760" y="35280"/>
                  </a:lnTo>
                  <a:lnTo>
                    <a:pt x="416521" y="35280"/>
                  </a:lnTo>
                  <a:lnTo>
                    <a:pt x="416521" y="36360"/>
                  </a:lnTo>
                  <a:lnTo>
                    <a:pt x="415442" y="36360"/>
                  </a:lnTo>
                  <a:lnTo>
                    <a:pt x="412559" y="40322"/>
                  </a:lnTo>
                  <a:lnTo>
                    <a:pt x="407517" y="38519"/>
                  </a:lnTo>
                  <a:lnTo>
                    <a:pt x="400316" y="35280"/>
                  </a:lnTo>
                  <a:lnTo>
                    <a:pt x="392391" y="35280"/>
                  </a:lnTo>
                  <a:lnTo>
                    <a:pt x="379895" y="37452"/>
                  </a:lnTo>
                  <a:lnTo>
                    <a:pt x="369976" y="43434"/>
                  </a:lnTo>
                  <a:lnTo>
                    <a:pt x="363435" y="52451"/>
                  </a:lnTo>
                  <a:lnTo>
                    <a:pt x="361073" y="63715"/>
                  </a:lnTo>
                  <a:lnTo>
                    <a:pt x="362927" y="74104"/>
                  </a:lnTo>
                  <a:lnTo>
                    <a:pt x="368401" y="81457"/>
                  </a:lnTo>
                  <a:lnTo>
                    <a:pt x="377317" y="86512"/>
                  </a:lnTo>
                  <a:lnTo>
                    <a:pt x="389521" y="90004"/>
                  </a:lnTo>
                  <a:lnTo>
                    <a:pt x="400253" y="93853"/>
                  </a:lnTo>
                  <a:lnTo>
                    <a:pt x="407377" y="98107"/>
                  </a:lnTo>
                  <a:lnTo>
                    <a:pt x="411327" y="103162"/>
                  </a:lnTo>
                  <a:lnTo>
                    <a:pt x="412559" y="109435"/>
                  </a:lnTo>
                  <a:lnTo>
                    <a:pt x="412559" y="119519"/>
                  </a:lnTo>
                  <a:lnTo>
                    <a:pt x="402475" y="124561"/>
                  </a:lnTo>
                  <a:lnTo>
                    <a:pt x="395274" y="124561"/>
                  </a:lnTo>
                  <a:lnTo>
                    <a:pt x="387210" y="123482"/>
                  </a:lnTo>
                  <a:lnTo>
                    <a:pt x="386880" y="123482"/>
                  </a:lnTo>
                  <a:lnTo>
                    <a:pt x="379793" y="119253"/>
                  </a:lnTo>
                  <a:lnTo>
                    <a:pt x="372795" y="110896"/>
                  </a:lnTo>
                  <a:lnTo>
                    <a:pt x="364312" y="97193"/>
                  </a:lnTo>
                  <a:lnTo>
                    <a:pt x="364312" y="96113"/>
                  </a:lnTo>
                  <a:lnTo>
                    <a:pt x="361073" y="96113"/>
                  </a:lnTo>
                  <a:lnTo>
                    <a:pt x="360362" y="97193"/>
                  </a:lnTo>
                  <a:lnTo>
                    <a:pt x="360362" y="129603"/>
                  </a:lnTo>
                  <a:lnTo>
                    <a:pt x="364312" y="129603"/>
                  </a:lnTo>
                  <a:lnTo>
                    <a:pt x="364312" y="128524"/>
                  </a:lnTo>
                  <a:lnTo>
                    <a:pt x="370433" y="123482"/>
                  </a:lnTo>
                  <a:lnTo>
                    <a:pt x="376199" y="127800"/>
                  </a:lnTo>
                  <a:lnTo>
                    <a:pt x="386270" y="129603"/>
                  </a:lnTo>
                  <a:lnTo>
                    <a:pt x="402475" y="129603"/>
                  </a:lnTo>
                  <a:lnTo>
                    <a:pt x="410400" y="126720"/>
                  </a:lnTo>
                  <a:lnTo>
                    <a:pt x="412546" y="124561"/>
                  </a:lnTo>
                  <a:lnTo>
                    <a:pt x="421551" y="115557"/>
                  </a:lnTo>
                  <a:lnTo>
                    <a:pt x="423710" y="108356"/>
                  </a:lnTo>
                  <a:lnTo>
                    <a:pt x="423710" y="99364"/>
                  </a:lnTo>
                  <a:close/>
                </a:path>
                <a:path w="622935" h="130175">
                  <a:moveTo>
                    <a:pt x="523074" y="82080"/>
                  </a:moveTo>
                  <a:lnTo>
                    <a:pt x="519671" y="64604"/>
                  </a:lnTo>
                  <a:lnTo>
                    <a:pt x="519582" y="64147"/>
                  </a:lnTo>
                  <a:lnTo>
                    <a:pt x="510108" y="49377"/>
                  </a:lnTo>
                  <a:lnTo>
                    <a:pt x="510019" y="49237"/>
                  </a:lnTo>
                  <a:lnTo>
                    <a:pt x="503275" y="44437"/>
                  </a:lnTo>
                  <a:lnTo>
                    <a:pt x="503275" y="83159"/>
                  </a:lnTo>
                  <a:lnTo>
                    <a:pt x="501713" y="101511"/>
                  </a:lnTo>
                  <a:lnTo>
                    <a:pt x="497154" y="114401"/>
                  </a:lnTo>
                  <a:lnTo>
                    <a:pt x="489597" y="122047"/>
                  </a:lnTo>
                  <a:lnTo>
                    <a:pt x="479158" y="124561"/>
                  </a:lnTo>
                  <a:lnTo>
                    <a:pt x="467868" y="122047"/>
                  </a:lnTo>
                  <a:lnTo>
                    <a:pt x="459892" y="114401"/>
                  </a:lnTo>
                  <a:lnTo>
                    <a:pt x="455269" y="101815"/>
                  </a:lnTo>
                  <a:lnTo>
                    <a:pt x="455155" y="101511"/>
                  </a:lnTo>
                  <a:lnTo>
                    <a:pt x="455828" y="60680"/>
                  </a:lnTo>
                  <a:lnTo>
                    <a:pt x="476999" y="40322"/>
                  </a:lnTo>
                  <a:lnTo>
                    <a:pt x="488238" y="43027"/>
                  </a:lnTo>
                  <a:lnTo>
                    <a:pt x="496481" y="51079"/>
                  </a:lnTo>
                  <a:lnTo>
                    <a:pt x="501421" y="64147"/>
                  </a:lnTo>
                  <a:lnTo>
                    <a:pt x="501548" y="64604"/>
                  </a:lnTo>
                  <a:lnTo>
                    <a:pt x="503174" y="82080"/>
                  </a:lnTo>
                  <a:lnTo>
                    <a:pt x="503275" y="83159"/>
                  </a:lnTo>
                  <a:lnTo>
                    <a:pt x="503275" y="44437"/>
                  </a:lnTo>
                  <a:lnTo>
                    <a:pt x="497522" y="40322"/>
                  </a:lnTo>
                  <a:lnTo>
                    <a:pt x="495757" y="39077"/>
                  </a:lnTo>
                  <a:lnTo>
                    <a:pt x="478078" y="35280"/>
                  </a:lnTo>
                  <a:lnTo>
                    <a:pt x="460819" y="39077"/>
                  </a:lnTo>
                  <a:lnTo>
                    <a:pt x="446747" y="49377"/>
                  </a:lnTo>
                  <a:lnTo>
                    <a:pt x="437261" y="64604"/>
                  </a:lnTo>
                  <a:lnTo>
                    <a:pt x="433793" y="83159"/>
                  </a:lnTo>
                  <a:lnTo>
                    <a:pt x="437159" y="101511"/>
                  </a:lnTo>
                  <a:lnTo>
                    <a:pt x="446481" y="116243"/>
                  </a:lnTo>
                  <a:lnTo>
                    <a:pt x="460527" y="126047"/>
                  </a:lnTo>
                  <a:lnTo>
                    <a:pt x="478078" y="129603"/>
                  </a:lnTo>
                  <a:lnTo>
                    <a:pt x="494372" y="126288"/>
                  </a:lnTo>
                  <a:lnTo>
                    <a:pt x="496976" y="124561"/>
                  </a:lnTo>
                  <a:lnTo>
                    <a:pt x="508800" y="116776"/>
                  </a:lnTo>
                  <a:lnTo>
                    <a:pt x="519125" y="101815"/>
                  </a:lnTo>
                  <a:lnTo>
                    <a:pt x="523074" y="82080"/>
                  </a:lnTo>
                  <a:close/>
                </a:path>
                <a:path w="622935" h="130175">
                  <a:moveTo>
                    <a:pt x="622795" y="124561"/>
                  </a:moveTo>
                  <a:lnTo>
                    <a:pt x="621715" y="123482"/>
                  </a:lnTo>
                  <a:lnTo>
                    <a:pt x="612711" y="123482"/>
                  </a:lnTo>
                  <a:lnTo>
                    <a:pt x="611632" y="121678"/>
                  </a:lnTo>
                  <a:lnTo>
                    <a:pt x="611632" y="63715"/>
                  </a:lnTo>
                  <a:lnTo>
                    <a:pt x="609981" y="52158"/>
                  </a:lnTo>
                  <a:lnTo>
                    <a:pt x="606831" y="46443"/>
                  </a:lnTo>
                  <a:lnTo>
                    <a:pt x="605243" y="43561"/>
                  </a:lnTo>
                  <a:lnTo>
                    <a:pt x="597662" y="38214"/>
                  </a:lnTo>
                  <a:lnTo>
                    <a:pt x="587514" y="36360"/>
                  </a:lnTo>
                  <a:lnTo>
                    <a:pt x="571868" y="39230"/>
                  </a:lnTo>
                  <a:lnTo>
                    <a:pt x="562038" y="45542"/>
                  </a:lnTo>
                  <a:lnTo>
                    <a:pt x="556933" y="51866"/>
                  </a:lnTo>
                  <a:lnTo>
                    <a:pt x="555472" y="54724"/>
                  </a:lnTo>
                  <a:lnTo>
                    <a:pt x="555472" y="38519"/>
                  </a:lnTo>
                  <a:lnTo>
                    <a:pt x="553313" y="36360"/>
                  </a:lnTo>
                  <a:lnTo>
                    <a:pt x="529196" y="37439"/>
                  </a:lnTo>
                  <a:lnTo>
                    <a:pt x="528116" y="37439"/>
                  </a:lnTo>
                  <a:lnTo>
                    <a:pt x="527392" y="38519"/>
                  </a:lnTo>
                  <a:lnTo>
                    <a:pt x="527392" y="41402"/>
                  </a:lnTo>
                  <a:lnTo>
                    <a:pt x="528116" y="42481"/>
                  </a:lnTo>
                  <a:lnTo>
                    <a:pt x="536397" y="43561"/>
                  </a:lnTo>
                  <a:lnTo>
                    <a:pt x="537476" y="46443"/>
                  </a:lnTo>
                  <a:lnTo>
                    <a:pt x="537476" y="121678"/>
                  </a:lnTo>
                  <a:lnTo>
                    <a:pt x="536397" y="123482"/>
                  </a:lnTo>
                  <a:lnTo>
                    <a:pt x="527392" y="123482"/>
                  </a:lnTo>
                  <a:lnTo>
                    <a:pt x="527392" y="127800"/>
                  </a:lnTo>
                  <a:lnTo>
                    <a:pt x="528116" y="128524"/>
                  </a:lnTo>
                  <a:lnTo>
                    <a:pt x="563397" y="128524"/>
                  </a:lnTo>
                  <a:lnTo>
                    <a:pt x="564476" y="127800"/>
                  </a:lnTo>
                  <a:lnTo>
                    <a:pt x="564476" y="124561"/>
                  </a:lnTo>
                  <a:lnTo>
                    <a:pt x="563397" y="123482"/>
                  </a:lnTo>
                  <a:lnTo>
                    <a:pt x="556552" y="123482"/>
                  </a:lnTo>
                  <a:lnTo>
                    <a:pt x="555472" y="121678"/>
                  </a:lnTo>
                  <a:lnTo>
                    <a:pt x="555472" y="66954"/>
                  </a:lnTo>
                  <a:lnTo>
                    <a:pt x="557276" y="61925"/>
                  </a:lnTo>
                  <a:lnTo>
                    <a:pt x="559435" y="58674"/>
                  </a:lnTo>
                  <a:lnTo>
                    <a:pt x="562546" y="54724"/>
                  </a:lnTo>
                  <a:lnTo>
                    <a:pt x="563397" y="53644"/>
                  </a:lnTo>
                  <a:lnTo>
                    <a:pt x="569518" y="46443"/>
                  </a:lnTo>
                  <a:lnTo>
                    <a:pt x="577430" y="46443"/>
                  </a:lnTo>
                  <a:lnTo>
                    <a:pt x="585127" y="47663"/>
                  </a:lnTo>
                  <a:lnTo>
                    <a:pt x="590118" y="51536"/>
                  </a:lnTo>
                  <a:lnTo>
                    <a:pt x="592823" y="58445"/>
                  </a:lnTo>
                  <a:lnTo>
                    <a:pt x="593636" y="68757"/>
                  </a:lnTo>
                  <a:lnTo>
                    <a:pt x="593636" y="121678"/>
                  </a:lnTo>
                  <a:lnTo>
                    <a:pt x="592556" y="123482"/>
                  </a:lnTo>
                  <a:lnTo>
                    <a:pt x="585711" y="123482"/>
                  </a:lnTo>
                  <a:lnTo>
                    <a:pt x="584631" y="124561"/>
                  </a:lnTo>
                  <a:lnTo>
                    <a:pt x="584631" y="127800"/>
                  </a:lnTo>
                  <a:lnTo>
                    <a:pt x="585711" y="128524"/>
                  </a:lnTo>
                  <a:lnTo>
                    <a:pt x="621715" y="128524"/>
                  </a:lnTo>
                  <a:lnTo>
                    <a:pt x="622795" y="127800"/>
                  </a:lnTo>
                  <a:lnTo>
                    <a:pt x="622795" y="124561"/>
                  </a:lnTo>
                  <a:close/>
                </a:path>
              </a:pathLst>
            </a:custGeom>
            <a:solidFill>
              <a:srgbClr val="3D39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473" y="6378642"/>
              <a:ext cx="252095" cy="278765"/>
            </a:xfrm>
            <a:custGeom>
              <a:avLst/>
              <a:gdLst/>
              <a:ahLst/>
              <a:cxnLst/>
              <a:rect l="l" t="t" r="r" b="b"/>
              <a:pathLst>
                <a:path w="252095" h="278765">
                  <a:moveTo>
                    <a:pt x="114401" y="0"/>
                  </a:moveTo>
                  <a:lnTo>
                    <a:pt x="74092" y="12480"/>
                  </a:lnTo>
                  <a:lnTo>
                    <a:pt x="38847" y="39147"/>
                  </a:lnTo>
                  <a:lnTo>
                    <a:pt x="11968" y="80120"/>
                  </a:lnTo>
                  <a:lnTo>
                    <a:pt x="0" y="127191"/>
                  </a:lnTo>
                  <a:lnTo>
                    <a:pt x="2609" y="179969"/>
                  </a:lnTo>
                  <a:lnTo>
                    <a:pt x="20877" y="228901"/>
                  </a:lnTo>
                  <a:lnTo>
                    <a:pt x="55885" y="264435"/>
                  </a:lnTo>
                  <a:lnTo>
                    <a:pt x="102465" y="278306"/>
                  </a:lnTo>
                  <a:lnTo>
                    <a:pt x="150700" y="271185"/>
                  </a:lnTo>
                  <a:lnTo>
                    <a:pt x="194549" y="245301"/>
                  </a:lnTo>
                  <a:lnTo>
                    <a:pt x="227970" y="202878"/>
                  </a:lnTo>
                  <a:lnTo>
                    <a:pt x="246242" y="157463"/>
                  </a:lnTo>
                  <a:lnTo>
                    <a:pt x="251747" y="114158"/>
                  </a:lnTo>
                  <a:lnTo>
                    <a:pt x="245020" y="74984"/>
                  </a:lnTo>
                  <a:lnTo>
                    <a:pt x="226595" y="41963"/>
                  </a:lnTo>
                  <a:lnTo>
                    <a:pt x="197007" y="17115"/>
                  </a:lnTo>
                  <a:lnTo>
                    <a:pt x="156474" y="1585"/>
                  </a:lnTo>
                  <a:lnTo>
                    <a:pt x="114401" y="0"/>
                  </a:lnTo>
                  <a:close/>
                </a:path>
              </a:pathLst>
            </a:custGeom>
            <a:solidFill>
              <a:srgbClr val="097F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325" y="6427444"/>
              <a:ext cx="167487" cy="18935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Exhibit</a:t>
            </a:r>
            <a:r>
              <a:rPr sz="3200" spc="-55" dirty="0"/>
              <a:t> </a:t>
            </a:r>
            <a:r>
              <a:rPr sz="3200" dirty="0"/>
              <a:t>9-3</a:t>
            </a:r>
            <a:r>
              <a:rPr sz="3200" spc="-100" dirty="0"/>
              <a:t> </a:t>
            </a:r>
            <a:r>
              <a:rPr sz="3200" spc="-25" dirty="0"/>
              <a:t>Types</a:t>
            </a:r>
            <a:r>
              <a:rPr sz="3200" spc="-50" dirty="0"/>
              <a:t> </a:t>
            </a:r>
            <a:r>
              <a:rPr sz="3200" dirty="0"/>
              <a:t>of</a:t>
            </a:r>
            <a:r>
              <a:rPr sz="3200" spc="-50" dirty="0"/>
              <a:t> </a:t>
            </a:r>
            <a:r>
              <a:rPr sz="3200" dirty="0"/>
              <a:t>Organizational</a:t>
            </a:r>
            <a:r>
              <a:rPr sz="3200" spc="-55" dirty="0"/>
              <a:t> </a:t>
            </a:r>
            <a:r>
              <a:rPr sz="3200" spc="-10" dirty="0"/>
              <a:t>Strategies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444500" y="5625985"/>
            <a:ext cx="804862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Exhibit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9-</a:t>
            </a:r>
            <a:r>
              <a:rPr sz="1600" b="1" dirty="0">
                <a:latin typeface="Arial"/>
                <a:cs typeface="Arial"/>
              </a:rPr>
              <a:t>3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shows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three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types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strategies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organizations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use: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corporate,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competitive,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functional.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328" y="1371612"/>
            <a:ext cx="7614844" cy="19572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What</a:t>
            </a:r>
            <a:r>
              <a:rPr spc="-195" dirty="0"/>
              <a:t> </a:t>
            </a:r>
            <a:r>
              <a:rPr dirty="0"/>
              <a:t>Are</a:t>
            </a:r>
            <a:r>
              <a:rPr spc="-150" dirty="0"/>
              <a:t> </a:t>
            </a:r>
            <a:r>
              <a:rPr dirty="0"/>
              <a:t>the</a:t>
            </a:r>
            <a:r>
              <a:rPr spc="-140" dirty="0"/>
              <a:t> </a:t>
            </a:r>
            <a:r>
              <a:rPr spc="-30" dirty="0"/>
              <a:t>Types</a:t>
            </a:r>
            <a:r>
              <a:rPr spc="-90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dirty="0"/>
              <a:t>Corporate</a:t>
            </a:r>
            <a:r>
              <a:rPr spc="-85" dirty="0"/>
              <a:t> </a:t>
            </a:r>
            <a:r>
              <a:rPr spc="-10" dirty="0"/>
              <a:t>Strategy?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7867650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Growth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strategy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corporate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strategy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that’s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when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wants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markets </a:t>
            </a:r>
            <a:r>
              <a:rPr sz="2400" dirty="0">
                <a:latin typeface="Arial MT"/>
                <a:cs typeface="Arial MT"/>
              </a:rPr>
              <a:t>served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offered,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either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current business(es)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business(es)</a:t>
            </a:r>
            <a:endParaRPr sz="2400" dirty="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10" dirty="0">
                <a:latin typeface="Arial MT"/>
                <a:cs typeface="Arial MT"/>
              </a:rPr>
              <a:t>Concentration</a:t>
            </a:r>
            <a:r>
              <a:rPr lang="en-GB" sz="20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lang="en-GB" sz="2000" dirty="0">
                <a:solidFill>
                  <a:srgbClr val="FF0000"/>
                </a:solidFill>
              </a:rPr>
              <a:t>Do what you already do, but do it better."</a:t>
            </a:r>
            <a:r>
              <a:rPr lang="en-GB" sz="2000" spc="-1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10" dirty="0">
                <a:latin typeface="Arial MT"/>
                <a:cs typeface="Arial MT"/>
              </a:rPr>
              <a:t>Vertical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integration</a:t>
            </a:r>
            <a:endParaRPr sz="2400" dirty="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Horizontal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integration</a:t>
            </a:r>
            <a:endParaRPr sz="2400" dirty="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10" dirty="0">
                <a:latin typeface="Arial MT"/>
                <a:cs typeface="Arial MT"/>
              </a:rPr>
              <a:t>Diversification</a:t>
            </a:r>
            <a:r>
              <a:rPr lang="en-GB" sz="2400" spc="-10" dirty="0">
                <a:latin typeface="Arial MT"/>
                <a:cs typeface="Arial MT"/>
              </a:rPr>
              <a:t> </a:t>
            </a:r>
            <a:r>
              <a:rPr lang="en-GB" sz="2000" spc="-1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lang="en-GB" sz="2000" dirty="0">
                <a:solidFill>
                  <a:srgbClr val="FF0000"/>
                </a:solidFill>
              </a:rPr>
              <a:t>Diversification is a growth strategy in which an organization enters a new business or market that is different from its current products or services.)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5CF45-911D-A2B9-474F-D097A89BC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76301"/>
            <a:ext cx="8547100" cy="104644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Horizontal Integration vs Vertical Integration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C2DEA9-047E-2DB1-6189-7E40F8CF14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659199"/>
              </p:ext>
            </p:extLst>
          </p:nvPr>
        </p:nvGraphicFramePr>
        <p:xfrm>
          <a:off x="564514" y="1066800"/>
          <a:ext cx="8046084" cy="4876799"/>
        </p:xfrm>
        <a:graphic>
          <a:graphicData uri="http://schemas.openxmlformats.org/drawingml/2006/table">
            <a:tbl>
              <a:tblPr/>
              <a:tblGrid>
                <a:gridCol w="2682028">
                  <a:extLst>
                    <a:ext uri="{9D8B030D-6E8A-4147-A177-3AD203B41FA5}">
                      <a16:colId xmlns:a16="http://schemas.microsoft.com/office/drawing/2014/main" val="1524912436"/>
                    </a:ext>
                  </a:extLst>
                </a:gridCol>
                <a:gridCol w="2682028">
                  <a:extLst>
                    <a:ext uri="{9D8B030D-6E8A-4147-A177-3AD203B41FA5}">
                      <a16:colId xmlns:a16="http://schemas.microsoft.com/office/drawing/2014/main" val="2673919032"/>
                    </a:ext>
                  </a:extLst>
                </a:gridCol>
                <a:gridCol w="2682028">
                  <a:extLst>
                    <a:ext uri="{9D8B030D-6E8A-4147-A177-3AD203B41FA5}">
                      <a16:colId xmlns:a16="http://schemas.microsoft.com/office/drawing/2014/main" val="1878846496"/>
                    </a:ext>
                  </a:extLst>
                </a:gridCol>
              </a:tblGrid>
              <a:tr h="415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Feature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Horizontal Integration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Vertical Integration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849897"/>
                  </a:ext>
                </a:extLst>
              </a:tr>
              <a:tr h="134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Definition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 company acquires or merges with another company at the </a:t>
                      </a:r>
                      <a:r>
                        <a:rPr lang="en-GB" sz="1800" b="1"/>
                        <a:t>same stage</a:t>
                      </a:r>
                      <a:r>
                        <a:rPr lang="en-GB" sz="1800"/>
                        <a:t> of the value chain.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 company acquires or controls businesses </a:t>
                      </a:r>
                      <a:r>
                        <a:rPr lang="en-GB" sz="1800" b="1"/>
                        <a:t>above or below</a:t>
                      </a:r>
                      <a:r>
                        <a:rPr lang="en-GB" sz="1800"/>
                        <a:t> it in the supply chain.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32481"/>
                  </a:ext>
                </a:extLst>
              </a:tr>
              <a:tr h="1037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Objective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Increase market share and reduce competition.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Gain control over supply, distribution, or production costs.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758450"/>
                  </a:ext>
                </a:extLst>
              </a:tr>
              <a:tr h="415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Focus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Competitors.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Suppliers or distributors.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462237"/>
                  </a:ext>
                </a:extLst>
              </a:tr>
              <a:tr h="1660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Example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One university acquires or merges with another university.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A university creates its own publishing house, online learning platform, or student housing facilities.</a:t>
                      </a:r>
                    </a:p>
                  </a:txBody>
                  <a:tcPr marL="61507" marR="61507" marT="30754" marB="307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616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392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Stability</a:t>
            </a:r>
            <a:r>
              <a:rPr spc="-8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Renewal</a:t>
            </a:r>
            <a:r>
              <a:rPr spc="-80" dirty="0"/>
              <a:t> </a:t>
            </a:r>
            <a:r>
              <a:rPr spc="-10" dirty="0"/>
              <a:t>Strategies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Stability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strategy</a:t>
            </a:r>
            <a:r>
              <a:rPr sz="2400" dirty="0"/>
              <a:t>:</a:t>
            </a:r>
            <a:r>
              <a:rPr sz="2400" spc="-65" dirty="0"/>
              <a:t> </a:t>
            </a:r>
            <a:r>
              <a:rPr sz="2400" dirty="0"/>
              <a:t>a</a:t>
            </a:r>
            <a:r>
              <a:rPr sz="2400" spc="-65" dirty="0"/>
              <a:t> </a:t>
            </a:r>
            <a:r>
              <a:rPr sz="2400" dirty="0"/>
              <a:t>corporate</a:t>
            </a:r>
            <a:r>
              <a:rPr sz="2400" spc="-70" dirty="0"/>
              <a:t> </a:t>
            </a:r>
            <a:r>
              <a:rPr sz="2400" dirty="0"/>
              <a:t>strategy</a:t>
            </a:r>
            <a:r>
              <a:rPr sz="2400" spc="-65" dirty="0"/>
              <a:t> </a:t>
            </a:r>
            <a:r>
              <a:rPr sz="2400" dirty="0"/>
              <a:t>in</a:t>
            </a:r>
            <a:r>
              <a:rPr sz="2400" spc="-70" dirty="0"/>
              <a:t> </a:t>
            </a:r>
            <a:r>
              <a:rPr sz="2400" dirty="0"/>
              <a:t>which</a:t>
            </a:r>
            <a:r>
              <a:rPr sz="2400" spc="-65" dirty="0"/>
              <a:t> </a:t>
            </a:r>
            <a:r>
              <a:rPr sz="2400" spc="-25" dirty="0"/>
              <a:t>an </a:t>
            </a:r>
            <a:r>
              <a:rPr sz="2400" spc="-10" dirty="0"/>
              <a:t>organization</a:t>
            </a:r>
            <a:r>
              <a:rPr sz="2400" spc="-55" dirty="0"/>
              <a:t> </a:t>
            </a:r>
            <a:r>
              <a:rPr sz="2400" dirty="0"/>
              <a:t>continues</a:t>
            </a:r>
            <a:r>
              <a:rPr sz="2400" spc="-50" dirty="0"/>
              <a:t> </a:t>
            </a:r>
            <a:r>
              <a:rPr sz="2400" dirty="0"/>
              <a:t>to</a:t>
            </a:r>
            <a:r>
              <a:rPr sz="2400" spc="-55" dirty="0"/>
              <a:t> </a:t>
            </a:r>
            <a:r>
              <a:rPr sz="2400" dirty="0"/>
              <a:t>do</a:t>
            </a:r>
            <a:r>
              <a:rPr sz="2400" spc="-50" dirty="0"/>
              <a:t> </a:t>
            </a:r>
            <a:r>
              <a:rPr sz="2400" dirty="0"/>
              <a:t>what</a:t>
            </a:r>
            <a:r>
              <a:rPr sz="2400" spc="-50" dirty="0"/>
              <a:t> </a:t>
            </a:r>
            <a:r>
              <a:rPr sz="2400" dirty="0"/>
              <a:t>it</a:t>
            </a:r>
            <a:r>
              <a:rPr sz="2400" spc="-50" dirty="0"/>
              <a:t> </a:t>
            </a:r>
            <a:r>
              <a:rPr sz="2400" dirty="0"/>
              <a:t>is</a:t>
            </a:r>
            <a:r>
              <a:rPr sz="2400" spc="-50" dirty="0"/>
              <a:t> </a:t>
            </a:r>
            <a:r>
              <a:rPr sz="2400" dirty="0"/>
              <a:t>currently</a:t>
            </a:r>
            <a:r>
              <a:rPr sz="2400" spc="-55" dirty="0"/>
              <a:t> </a:t>
            </a:r>
            <a:r>
              <a:rPr sz="2400" spc="-10" dirty="0"/>
              <a:t>doing</a:t>
            </a:r>
            <a:endParaRPr sz="2400">
              <a:latin typeface="Arial"/>
              <a:cs typeface="Arial"/>
            </a:endParaRPr>
          </a:p>
          <a:p>
            <a:pPr marL="268605" marR="120014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Renewal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strategy</a:t>
            </a:r>
            <a:r>
              <a:rPr sz="2400" dirty="0"/>
              <a:t>:</a:t>
            </a:r>
            <a:r>
              <a:rPr sz="2400" spc="-85" dirty="0"/>
              <a:t> </a:t>
            </a:r>
            <a:r>
              <a:rPr sz="2400" dirty="0"/>
              <a:t>a</a:t>
            </a:r>
            <a:r>
              <a:rPr sz="2400" spc="-90" dirty="0"/>
              <a:t> </a:t>
            </a:r>
            <a:r>
              <a:rPr sz="2400" dirty="0"/>
              <a:t>corporate</a:t>
            </a:r>
            <a:r>
              <a:rPr sz="2400" spc="-85" dirty="0"/>
              <a:t> </a:t>
            </a:r>
            <a:r>
              <a:rPr sz="2400" dirty="0"/>
              <a:t>strategy</a:t>
            </a:r>
            <a:r>
              <a:rPr sz="2400" spc="-85" dirty="0"/>
              <a:t> </a:t>
            </a:r>
            <a:r>
              <a:rPr sz="2400" dirty="0"/>
              <a:t>designed</a:t>
            </a:r>
            <a:r>
              <a:rPr sz="2400" spc="-90" dirty="0"/>
              <a:t> </a:t>
            </a:r>
            <a:r>
              <a:rPr sz="2400" spc="-25" dirty="0"/>
              <a:t>to </a:t>
            </a:r>
            <a:r>
              <a:rPr sz="2400" dirty="0"/>
              <a:t>address</a:t>
            </a:r>
            <a:r>
              <a:rPr sz="2400" spc="-120" dirty="0"/>
              <a:t> </a:t>
            </a:r>
            <a:r>
              <a:rPr sz="2400" dirty="0"/>
              <a:t>declining</a:t>
            </a:r>
            <a:r>
              <a:rPr sz="2400" spc="-114" dirty="0"/>
              <a:t> </a:t>
            </a:r>
            <a:r>
              <a:rPr sz="2400" spc="-10" dirty="0"/>
              <a:t>performance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How</a:t>
            </a:r>
            <a:r>
              <a:rPr spc="-200" dirty="0"/>
              <a:t> </a:t>
            </a:r>
            <a:r>
              <a:rPr dirty="0"/>
              <a:t>Are</a:t>
            </a:r>
            <a:r>
              <a:rPr spc="-195" dirty="0"/>
              <a:t> </a:t>
            </a:r>
            <a:r>
              <a:rPr dirty="0"/>
              <a:t>Corporate</a:t>
            </a:r>
            <a:r>
              <a:rPr spc="-105" dirty="0"/>
              <a:t> </a:t>
            </a:r>
            <a:r>
              <a:rPr dirty="0"/>
              <a:t>Strategies</a:t>
            </a:r>
            <a:r>
              <a:rPr spc="-110" dirty="0"/>
              <a:t> </a:t>
            </a:r>
            <a:r>
              <a:rPr spc="-10" dirty="0"/>
              <a:t>Managed?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BCG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matrix</a:t>
            </a:r>
            <a:r>
              <a:rPr sz="2400" dirty="0"/>
              <a:t>:</a:t>
            </a:r>
            <a:r>
              <a:rPr sz="2400" spc="-50" dirty="0"/>
              <a:t> </a:t>
            </a:r>
            <a:r>
              <a:rPr sz="2400" dirty="0"/>
              <a:t>a</a:t>
            </a:r>
            <a:r>
              <a:rPr sz="2400" spc="-55" dirty="0"/>
              <a:t> </a:t>
            </a:r>
            <a:r>
              <a:rPr sz="2400" dirty="0"/>
              <a:t>strategy</a:t>
            </a:r>
            <a:r>
              <a:rPr sz="2400" spc="-55" dirty="0"/>
              <a:t> </a:t>
            </a:r>
            <a:r>
              <a:rPr sz="2400" dirty="0"/>
              <a:t>tool</a:t>
            </a:r>
            <a:r>
              <a:rPr sz="2400" spc="-55" dirty="0"/>
              <a:t> </a:t>
            </a:r>
            <a:r>
              <a:rPr sz="2400" dirty="0"/>
              <a:t>that</a:t>
            </a:r>
            <a:r>
              <a:rPr sz="2400" spc="-50" dirty="0"/>
              <a:t> </a:t>
            </a:r>
            <a:r>
              <a:rPr sz="2400" dirty="0"/>
              <a:t>guides</a:t>
            </a:r>
            <a:r>
              <a:rPr sz="2400" spc="-55" dirty="0"/>
              <a:t> </a:t>
            </a:r>
            <a:r>
              <a:rPr sz="2400" spc="-10" dirty="0"/>
              <a:t>resource </a:t>
            </a:r>
            <a:r>
              <a:rPr sz="2400" dirty="0"/>
              <a:t>allocation</a:t>
            </a:r>
            <a:r>
              <a:rPr sz="2400" spc="-80" dirty="0"/>
              <a:t> </a:t>
            </a:r>
            <a:r>
              <a:rPr sz="2400" dirty="0"/>
              <a:t>decisions</a:t>
            </a:r>
            <a:r>
              <a:rPr sz="2400" spc="-75" dirty="0"/>
              <a:t> </a:t>
            </a:r>
            <a:r>
              <a:rPr sz="2400" dirty="0"/>
              <a:t>on</a:t>
            </a:r>
            <a:r>
              <a:rPr sz="2400" spc="-75" dirty="0"/>
              <a:t> </a:t>
            </a:r>
            <a:r>
              <a:rPr sz="2400" dirty="0"/>
              <a:t>the</a:t>
            </a:r>
            <a:r>
              <a:rPr sz="2400" spc="-75" dirty="0"/>
              <a:t> </a:t>
            </a:r>
            <a:r>
              <a:rPr sz="2400" dirty="0"/>
              <a:t>basis</a:t>
            </a:r>
            <a:r>
              <a:rPr sz="2400" spc="-80" dirty="0"/>
              <a:t> </a:t>
            </a:r>
            <a:r>
              <a:rPr sz="2400" dirty="0"/>
              <a:t>of</a:t>
            </a:r>
            <a:r>
              <a:rPr sz="2400" spc="-70" dirty="0"/>
              <a:t> </a:t>
            </a:r>
            <a:r>
              <a:rPr sz="2400" dirty="0"/>
              <a:t>market</a:t>
            </a:r>
            <a:r>
              <a:rPr sz="2400" spc="-70" dirty="0"/>
              <a:t> </a:t>
            </a:r>
            <a:r>
              <a:rPr sz="2400" dirty="0"/>
              <a:t>share</a:t>
            </a:r>
            <a:r>
              <a:rPr sz="2400" spc="-80" dirty="0"/>
              <a:t> </a:t>
            </a:r>
            <a:r>
              <a:rPr sz="2400" spc="-25" dirty="0"/>
              <a:t>and </a:t>
            </a:r>
            <a:r>
              <a:rPr sz="2400" dirty="0"/>
              <a:t>growth</a:t>
            </a:r>
            <a:r>
              <a:rPr sz="2400" spc="-50" dirty="0"/>
              <a:t> </a:t>
            </a:r>
            <a:r>
              <a:rPr sz="2400" dirty="0"/>
              <a:t>rate</a:t>
            </a:r>
            <a:r>
              <a:rPr sz="2400" spc="-50" dirty="0"/>
              <a:t> </a:t>
            </a:r>
            <a:r>
              <a:rPr sz="2400" dirty="0"/>
              <a:t>of</a:t>
            </a:r>
            <a:r>
              <a:rPr sz="2400" spc="-45" dirty="0"/>
              <a:t> </a:t>
            </a:r>
            <a:r>
              <a:rPr sz="2400" spc="-20" dirty="0"/>
              <a:t>SBUs</a:t>
            </a:r>
            <a:endParaRPr sz="24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10" dirty="0">
                <a:latin typeface="Arial MT"/>
                <a:cs typeface="Arial MT"/>
              </a:rPr>
              <a:t>Stars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Cash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cows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Question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marks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20" dirty="0">
                <a:latin typeface="Arial MT"/>
                <a:cs typeface="Arial MT"/>
              </a:rPr>
              <a:t>Dogs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Competitive</a:t>
            </a:r>
            <a:r>
              <a:rPr spc="-204" dirty="0"/>
              <a:t> </a:t>
            </a:r>
            <a:r>
              <a:rPr spc="-10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040370" cy="204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Competitive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strategy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strategy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how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compete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business(es)</a:t>
            </a:r>
            <a:endParaRPr sz="2400">
              <a:latin typeface="Arial MT"/>
              <a:cs typeface="Arial MT"/>
            </a:endParaRPr>
          </a:p>
          <a:p>
            <a:pPr marL="268605" marR="245110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Strategic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business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unit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(SBU)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independent </a:t>
            </a:r>
            <a:r>
              <a:rPr sz="2400" dirty="0">
                <a:latin typeface="Arial MT"/>
                <a:cs typeface="Arial MT"/>
              </a:rPr>
              <a:t>businesses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formulate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own </a:t>
            </a:r>
            <a:r>
              <a:rPr sz="2400" dirty="0">
                <a:latin typeface="Arial MT"/>
                <a:cs typeface="Arial MT"/>
              </a:rPr>
              <a:t>competitive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strategies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Role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5" dirty="0"/>
              <a:t>Competitive</a:t>
            </a:r>
            <a:r>
              <a:rPr spc="-195" dirty="0"/>
              <a:t> </a:t>
            </a:r>
            <a:r>
              <a:rPr spc="-10" dirty="0"/>
              <a:t>Advantage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173720" cy="308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Competitive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advantage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apart;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distinctive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edge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Competitive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advantage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stem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from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10" dirty="0">
                <a:latin typeface="Arial MT"/>
                <a:cs typeface="Arial MT"/>
              </a:rPr>
              <a:t>Quality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Low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cost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10" dirty="0">
                <a:latin typeface="Arial MT"/>
                <a:cs typeface="Arial MT"/>
              </a:rPr>
              <a:t>Technology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factors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Sustaining</a:t>
            </a:r>
            <a:r>
              <a:rPr spc="-80" dirty="0"/>
              <a:t> </a:t>
            </a:r>
            <a:r>
              <a:rPr spc="-25" dirty="0"/>
              <a:t>Competitive</a:t>
            </a:r>
            <a:r>
              <a:rPr spc="-195" dirty="0"/>
              <a:t> </a:t>
            </a:r>
            <a:r>
              <a:rPr dirty="0"/>
              <a:t>Advantage</a:t>
            </a:r>
            <a:r>
              <a:rPr spc="30" dirty="0"/>
              <a:t> </a:t>
            </a:r>
            <a:r>
              <a:rPr sz="2600" dirty="0"/>
              <a:t>(1</a:t>
            </a:r>
            <a:r>
              <a:rPr sz="2600" spc="-25" dirty="0"/>
              <a:t> </a:t>
            </a:r>
            <a:r>
              <a:rPr sz="2600" dirty="0"/>
              <a:t>of</a:t>
            </a:r>
            <a:r>
              <a:rPr sz="2600" spc="-40" dirty="0"/>
              <a:t> </a:t>
            </a:r>
            <a:r>
              <a:rPr sz="2600" spc="-25" dirty="0"/>
              <a:t>2)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241030" cy="48295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86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Businesses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competitive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advantage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sustain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it.</a:t>
            </a:r>
            <a:endParaRPr sz="2400" dirty="0">
              <a:latin typeface="Arial MT"/>
              <a:cs typeface="Arial MT"/>
            </a:endParaRPr>
          </a:p>
          <a:p>
            <a:pPr marL="268605" marR="5080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8605" algn="l"/>
              </a:tabLst>
            </a:pPr>
            <a:r>
              <a:rPr sz="2400" b="1" dirty="0">
                <a:latin typeface="Arial"/>
                <a:cs typeface="Arial"/>
              </a:rPr>
              <a:t>Economic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moat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sustaining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competitive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advantage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by </a:t>
            </a:r>
            <a:r>
              <a:rPr sz="2400" dirty="0">
                <a:latin typeface="Arial MT"/>
                <a:cs typeface="Arial MT"/>
              </a:rPr>
              <a:t>protecting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long-</a:t>
            </a:r>
            <a:r>
              <a:rPr sz="2400" dirty="0">
                <a:latin typeface="Arial MT"/>
                <a:cs typeface="Arial MT"/>
              </a:rPr>
              <a:t>term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profits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various means.</a:t>
            </a:r>
            <a:endParaRPr lang="en-GB" sz="2400" spc="-10" dirty="0">
              <a:latin typeface="Arial MT"/>
              <a:cs typeface="Arial MT"/>
            </a:endParaRPr>
          </a:p>
          <a:p>
            <a:r>
              <a:rPr lang="en-GB" sz="2400" b="1" dirty="0"/>
              <a:t>Simple Definition can be : </a:t>
            </a:r>
          </a:p>
          <a:p>
            <a:r>
              <a:rPr lang="en-GB" sz="2400" dirty="0">
                <a:solidFill>
                  <a:srgbClr val="0070C0"/>
                </a:solidFill>
              </a:rPr>
              <a:t>An economic moat is something that makes it difficult for competitors to take away a company's customers, profits, or market position.</a:t>
            </a:r>
          </a:p>
          <a:p>
            <a:pPr marL="266700" marR="140970" indent="-254635" algn="just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Arial MT"/>
                <a:cs typeface="Arial MT"/>
              </a:rPr>
              <a:t>Economic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popularized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Warren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Buffett 	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visualize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concept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keeping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competitive 	advantage.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D2CDD-2A99-E61B-42D4-7D5BD39E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porter five forces model and analysis to Analyze your Businesses">
            <a:extLst>
              <a:ext uri="{FF2B5EF4-FFF2-40B4-BE49-F238E27FC236}">
                <a16:creationId xmlns:a16="http://schemas.microsoft.com/office/drawing/2014/main" id="{7463BA42-F7D1-D901-563E-E90BEF3F9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" y="176301"/>
            <a:ext cx="8787766" cy="623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954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Sustaining</a:t>
            </a:r>
            <a:r>
              <a:rPr spc="-80" dirty="0"/>
              <a:t> </a:t>
            </a:r>
            <a:r>
              <a:rPr spc="-25" dirty="0"/>
              <a:t>Competitive</a:t>
            </a:r>
            <a:r>
              <a:rPr spc="-195" dirty="0"/>
              <a:t> </a:t>
            </a:r>
            <a:r>
              <a:rPr dirty="0"/>
              <a:t>Advantage</a:t>
            </a:r>
            <a:r>
              <a:rPr spc="30" dirty="0"/>
              <a:t> </a:t>
            </a:r>
            <a:r>
              <a:rPr sz="2600" dirty="0"/>
              <a:t>(2</a:t>
            </a:r>
            <a:r>
              <a:rPr sz="2600" spc="-25" dirty="0"/>
              <a:t> </a:t>
            </a:r>
            <a:r>
              <a:rPr sz="2600" dirty="0"/>
              <a:t>of</a:t>
            </a:r>
            <a:r>
              <a:rPr sz="2600" spc="-40" dirty="0"/>
              <a:t> </a:t>
            </a:r>
            <a:r>
              <a:rPr sz="2600" spc="-25" dirty="0"/>
              <a:t>2)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444500" y="977808"/>
            <a:ext cx="4779010" cy="26784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700"/>
              </a:spcBef>
              <a:buClr>
                <a:srgbClr val="007EA2"/>
              </a:buClr>
              <a:buFont typeface="Arial MT"/>
              <a:buChar char="•"/>
              <a:tabLst>
                <a:tab pos="267970" algn="l"/>
              </a:tabLst>
            </a:pPr>
            <a:r>
              <a:rPr sz="2400" b="1" dirty="0">
                <a:latin typeface="Arial"/>
                <a:cs typeface="Arial"/>
              </a:rPr>
              <a:t>Porter’s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Five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Forces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Model</a:t>
            </a:r>
            <a:r>
              <a:rPr sz="2400" spc="-1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Threat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entrants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Threat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substitutes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Bargaining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power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buyers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Bargaining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power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suppliers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Current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rivalry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Choosing</a:t>
            </a:r>
            <a:r>
              <a:rPr spc="-120" dirty="0"/>
              <a:t> </a:t>
            </a:r>
            <a:r>
              <a:rPr dirty="0"/>
              <a:t>a</a:t>
            </a:r>
            <a:r>
              <a:rPr spc="-114" dirty="0"/>
              <a:t> </a:t>
            </a:r>
            <a:r>
              <a:rPr dirty="0"/>
              <a:t>Competitive</a:t>
            </a:r>
            <a:r>
              <a:rPr spc="-110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63686"/>
            <a:ext cx="3565525" cy="225044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leadership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strategy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spc="-10" dirty="0">
                <a:latin typeface="Arial MT"/>
                <a:cs typeface="Arial MT"/>
              </a:rPr>
              <a:t>Differentiation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strategy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Focus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strategy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Stuck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middle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Examples</a:t>
            </a:r>
            <a:r>
              <a:rPr spc="-13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spc="-10" dirty="0"/>
              <a:t>Differentiation</a:t>
            </a:r>
            <a:r>
              <a:rPr spc="-140" dirty="0"/>
              <a:t> </a:t>
            </a:r>
            <a:r>
              <a:rPr spc="-10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63686"/>
            <a:ext cx="7421880" cy="363791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spc="-10" dirty="0">
                <a:latin typeface="Arial MT"/>
                <a:cs typeface="Arial MT"/>
              </a:rPr>
              <a:t>Quality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Innovation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strategies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10" dirty="0">
                <a:latin typeface="Arial MT"/>
                <a:cs typeface="Arial MT"/>
              </a:rPr>
              <a:t>Transfer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technology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division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another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Invest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R&amp;D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Improve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</a:t>
            </a:r>
            <a:endParaRPr sz="2400">
              <a:latin typeface="Arial MT"/>
              <a:cs typeface="Arial MT"/>
            </a:endParaRPr>
          </a:p>
          <a:p>
            <a:pPr marL="753745" marR="50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Arial MT"/>
              <a:buChar char="–"/>
              <a:tabLst>
                <a:tab pos="755650" algn="l"/>
              </a:tabLst>
            </a:pPr>
            <a:r>
              <a:rPr sz="2400" b="1" dirty="0">
                <a:latin typeface="Arial"/>
                <a:cs typeface="Arial"/>
              </a:rPr>
              <a:t>First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mover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that’s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a 	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innovation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new 	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innovation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473" y="6378642"/>
            <a:ext cx="916305" cy="278765"/>
            <a:chOff x="457473" y="6378642"/>
            <a:chExt cx="916305" cy="278765"/>
          </a:xfrm>
        </p:grpSpPr>
        <p:sp>
          <p:nvSpPr>
            <p:cNvPr id="3" name="object 3"/>
            <p:cNvSpPr/>
            <p:nvPr/>
          </p:nvSpPr>
          <p:spPr>
            <a:xfrm>
              <a:off x="750963" y="6453720"/>
              <a:ext cx="622935" cy="130175"/>
            </a:xfrm>
            <a:custGeom>
              <a:avLst/>
              <a:gdLst/>
              <a:ahLst/>
              <a:cxnLst/>
              <a:rect l="l" t="t" r="r" b="b"/>
              <a:pathLst>
                <a:path w="622935" h="130175">
                  <a:moveTo>
                    <a:pt x="106553" y="37439"/>
                  </a:moveTo>
                  <a:lnTo>
                    <a:pt x="101600" y="18834"/>
                  </a:lnTo>
                  <a:lnTo>
                    <a:pt x="88811" y="7391"/>
                  </a:lnTo>
                  <a:lnTo>
                    <a:pt x="85001" y="6121"/>
                  </a:lnTo>
                  <a:lnTo>
                    <a:pt x="84594" y="5994"/>
                  </a:lnTo>
                  <a:lnTo>
                    <a:pt x="84594" y="37439"/>
                  </a:lnTo>
                  <a:lnTo>
                    <a:pt x="83439" y="50850"/>
                  </a:lnTo>
                  <a:lnTo>
                    <a:pt x="83375" y="51638"/>
                  </a:lnTo>
                  <a:lnTo>
                    <a:pt x="78651" y="62153"/>
                  </a:lnTo>
                  <a:lnTo>
                    <a:pt x="68795" y="68681"/>
                  </a:lnTo>
                  <a:lnTo>
                    <a:pt x="52197" y="70916"/>
                  </a:lnTo>
                  <a:lnTo>
                    <a:pt x="38150" y="70916"/>
                  </a:lnTo>
                  <a:lnTo>
                    <a:pt x="38150" y="6121"/>
                  </a:lnTo>
                  <a:lnTo>
                    <a:pt x="53276" y="6121"/>
                  </a:lnTo>
                  <a:lnTo>
                    <a:pt x="69710" y="8890"/>
                  </a:lnTo>
                  <a:lnTo>
                    <a:pt x="79184" y="16116"/>
                  </a:lnTo>
                  <a:lnTo>
                    <a:pt x="83540" y="26174"/>
                  </a:lnTo>
                  <a:lnTo>
                    <a:pt x="84594" y="37439"/>
                  </a:lnTo>
                  <a:lnTo>
                    <a:pt x="84594" y="5994"/>
                  </a:lnTo>
                  <a:lnTo>
                    <a:pt x="78473" y="3962"/>
                  </a:lnTo>
                  <a:lnTo>
                    <a:pt x="71310" y="1600"/>
                  </a:lnTo>
                  <a:lnTo>
                    <a:pt x="52197" y="0"/>
                  </a:lnTo>
                  <a:lnTo>
                    <a:pt x="1079" y="0"/>
                  </a:lnTo>
                  <a:lnTo>
                    <a:pt x="0" y="1079"/>
                  </a:lnTo>
                  <a:lnTo>
                    <a:pt x="0" y="3962"/>
                  </a:lnTo>
                  <a:lnTo>
                    <a:pt x="1079" y="5041"/>
                  </a:lnTo>
                  <a:lnTo>
                    <a:pt x="6121" y="6121"/>
                  </a:lnTo>
                  <a:lnTo>
                    <a:pt x="17995" y="3962"/>
                  </a:lnTo>
                  <a:lnTo>
                    <a:pt x="17995" y="117716"/>
                  </a:lnTo>
                  <a:lnTo>
                    <a:pt x="15113" y="122758"/>
                  </a:lnTo>
                  <a:lnTo>
                    <a:pt x="1079" y="123482"/>
                  </a:lnTo>
                  <a:lnTo>
                    <a:pt x="0" y="123482"/>
                  </a:lnTo>
                  <a:lnTo>
                    <a:pt x="0" y="127800"/>
                  </a:lnTo>
                  <a:lnTo>
                    <a:pt x="1079" y="128524"/>
                  </a:lnTo>
                  <a:lnTo>
                    <a:pt x="57238" y="128524"/>
                  </a:lnTo>
                  <a:lnTo>
                    <a:pt x="57238" y="123482"/>
                  </a:lnTo>
                  <a:lnTo>
                    <a:pt x="56515" y="123482"/>
                  </a:lnTo>
                  <a:lnTo>
                    <a:pt x="41402" y="122758"/>
                  </a:lnTo>
                  <a:lnTo>
                    <a:pt x="38150" y="118440"/>
                  </a:lnTo>
                  <a:lnTo>
                    <a:pt x="38150" y="77038"/>
                  </a:lnTo>
                  <a:lnTo>
                    <a:pt x="51473" y="77038"/>
                  </a:lnTo>
                  <a:lnTo>
                    <a:pt x="64998" y="76250"/>
                  </a:lnTo>
                  <a:lnTo>
                    <a:pt x="76847" y="73888"/>
                  </a:lnTo>
                  <a:lnTo>
                    <a:pt x="84556" y="70916"/>
                  </a:lnTo>
                  <a:lnTo>
                    <a:pt x="86804" y="70053"/>
                  </a:lnTo>
                  <a:lnTo>
                    <a:pt x="94678" y="64795"/>
                  </a:lnTo>
                  <a:lnTo>
                    <a:pt x="100787" y="57899"/>
                  </a:lnTo>
                  <a:lnTo>
                    <a:pt x="104394" y="50850"/>
                  </a:lnTo>
                  <a:lnTo>
                    <a:pt x="106108" y="43954"/>
                  </a:lnTo>
                  <a:lnTo>
                    <a:pt x="106553" y="37439"/>
                  </a:lnTo>
                  <a:close/>
                </a:path>
                <a:path w="622935" h="130175">
                  <a:moveTo>
                    <a:pt x="185089" y="67652"/>
                  </a:moveTo>
                  <a:lnTo>
                    <a:pt x="165950" y="39357"/>
                  </a:lnTo>
                  <a:lnTo>
                    <a:pt x="165950" y="70916"/>
                  </a:lnTo>
                  <a:lnTo>
                    <a:pt x="125996" y="70916"/>
                  </a:lnTo>
                  <a:lnTo>
                    <a:pt x="128346" y="57937"/>
                  </a:lnTo>
                  <a:lnTo>
                    <a:pt x="132651" y="48336"/>
                  </a:lnTo>
                  <a:lnTo>
                    <a:pt x="138734" y="42481"/>
                  </a:lnTo>
                  <a:lnTo>
                    <a:pt x="138404" y="42481"/>
                  </a:lnTo>
                  <a:lnTo>
                    <a:pt x="146875" y="40322"/>
                  </a:lnTo>
                  <a:lnTo>
                    <a:pt x="152996" y="40322"/>
                  </a:lnTo>
                  <a:lnTo>
                    <a:pt x="165950" y="70916"/>
                  </a:lnTo>
                  <a:lnTo>
                    <a:pt x="165950" y="39357"/>
                  </a:lnTo>
                  <a:lnTo>
                    <a:pt x="164020" y="38303"/>
                  </a:lnTo>
                  <a:lnTo>
                    <a:pt x="156540" y="36068"/>
                  </a:lnTo>
                  <a:lnTo>
                    <a:pt x="147955" y="35280"/>
                  </a:lnTo>
                  <a:lnTo>
                    <a:pt x="131597" y="39090"/>
                  </a:lnTo>
                  <a:lnTo>
                    <a:pt x="118071" y="49504"/>
                  </a:lnTo>
                  <a:lnTo>
                    <a:pt x="108864" y="65049"/>
                  </a:lnTo>
                  <a:lnTo>
                    <a:pt x="105473" y="84239"/>
                  </a:lnTo>
                  <a:lnTo>
                    <a:pt x="108712" y="102412"/>
                  </a:lnTo>
                  <a:lnTo>
                    <a:pt x="117665" y="116776"/>
                  </a:lnTo>
                  <a:lnTo>
                    <a:pt x="131140" y="126212"/>
                  </a:lnTo>
                  <a:lnTo>
                    <a:pt x="147955" y="129603"/>
                  </a:lnTo>
                  <a:lnTo>
                    <a:pt x="161899" y="127584"/>
                  </a:lnTo>
                  <a:lnTo>
                    <a:pt x="172300" y="122364"/>
                  </a:lnTo>
                  <a:lnTo>
                    <a:pt x="174129" y="120599"/>
                  </a:lnTo>
                  <a:lnTo>
                    <a:pt x="179793" y="115176"/>
                  </a:lnTo>
                  <a:lnTo>
                    <a:pt x="185039" y="107276"/>
                  </a:lnTo>
                  <a:lnTo>
                    <a:pt x="185039" y="105473"/>
                  </a:lnTo>
                  <a:lnTo>
                    <a:pt x="184315" y="105473"/>
                  </a:lnTo>
                  <a:lnTo>
                    <a:pt x="184315" y="104394"/>
                  </a:lnTo>
                  <a:lnTo>
                    <a:pt x="182156" y="104394"/>
                  </a:lnTo>
                  <a:lnTo>
                    <a:pt x="181076" y="105473"/>
                  </a:lnTo>
                  <a:lnTo>
                    <a:pt x="175348" y="111645"/>
                  </a:lnTo>
                  <a:lnTo>
                    <a:pt x="169595" y="116420"/>
                  </a:lnTo>
                  <a:lnTo>
                    <a:pt x="163093" y="119507"/>
                  </a:lnTo>
                  <a:lnTo>
                    <a:pt x="155155" y="120599"/>
                  </a:lnTo>
                  <a:lnTo>
                    <a:pt x="144348" y="118579"/>
                  </a:lnTo>
                  <a:lnTo>
                    <a:pt x="134632" y="112014"/>
                  </a:lnTo>
                  <a:lnTo>
                    <a:pt x="127609" y="100101"/>
                  </a:lnTo>
                  <a:lnTo>
                    <a:pt x="124917" y="82080"/>
                  </a:lnTo>
                  <a:lnTo>
                    <a:pt x="124917" y="77038"/>
                  </a:lnTo>
                  <a:lnTo>
                    <a:pt x="185039" y="77038"/>
                  </a:lnTo>
                  <a:lnTo>
                    <a:pt x="185077" y="70916"/>
                  </a:lnTo>
                  <a:lnTo>
                    <a:pt x="185089" y="67652"/>
                  </a:lnTo>
                  <a:close/>
                </a:path>
                <a:path w="622935" h="130175">
                  <a:moveTo>
                    <a:pt x="278638" y="123482"/>
                  </a:moveTo>
                  <a:lnTo>
                    <a:pt x="277558" y="122770"/>
                  </a:lnTo>
                  <a:lnTo>
                    <a:pt x="277558" y="121678"/>
                  </a:lnTo>
                  <a:lnTo>
                    <a:pt x="270713" y="121678"/>
                  </a:lnTo>
                  <a:lnTo>
                    <a:pt x="268554" y="120599"/>
                  </a:lnTo>
                  <a:lnTo>
                    <a:pt x="266750" y="119519"/>
                  </a:lnTo>
                  <a:lnTo>
                    <a:pt x="265671" y="116636"/>
                  </a:lnTo>
                  <a:lnTo>
                    <a:pt x="265671" y="114477"/>
                  </a:lnTo>
                  <a:lnTo>
                    <a:pt x="265671" y="82080"/>
                  </a:lnTo>
                  <a:lnTo>
                    <a:pt x="265671" y="63715"/>
                  </a:lnTo>
                  <a:lnTo>
                    <a:pt x="263588" y="51854"/>
                  </a:lnTo>
                  <a:lnTo>
                    <a:pt x="257429" y="43294"/>
                  </a:lnTo>
                  <a:lnTo>
                    <a:pt x="253746" y="41402"/>
                  </a:lnTo>
                  <a:lnTo>
                    <a:pt x="247294" y="38112"/>
                  </a:lnTo>
                  <a:lnTo>
                    <a:pt x="233273" y="36360"/>
                  </a:lnTo>
                  <a:lnTo>
                    <a:pt x="218998" y="38112"/>
                  </a:lnTo>
                  <a:lnTo>
                    <a:pt x="219608" y="38112"/>
                  </a:lnTo>
                  <a:lnTo>
                    <a:pt x="209016" y="42443"/>
                  </a:lnTo>
                  <a:lnTo>
                    <a:pt x="201726" y="48971"/>
                  </a:lnTo>
                  <a:lnTo>
                    <a:pt x="199072" y="56883"/>
                  </a:lnTo>
                  <a:lnTo>
                    <a:pt x="199072" y="62636"/>
                  </a:lnTo>
                  <a:lnTo>
                    <a:pt x="203390" y="67678"/>
                  </a:lnTo>
                  <a:lnTo>
                    <a:pt x="208432" y="67678"/>
                  </a:lnTo>
                  <a:lnTo>
                    <a:pt x="211315" y="68757"/>
                  </a:lnTo>
                  <a:lnTo>
                    <a:pt x="215277" y="66954"/>
                  </a:lnTo>
                  <a:lnTo>
                    <a:pt x="222478" y="59753"/>
                  </a:lnTo>
                  <a:lnTo>
                    <a:pt x="221399" y="53644"/>
                  </a:lnTo>
                  <a:lnTo>
                    <a:pt x="216382" y="46494"/>
                  </a:lnTo>
                  <a:lnTo>
                    <a:pt x="219240" y="43561"/>
                  </a:lnTo>
                  <a:lnTo>
                    <a:pt x="225361" y="41402"/>
                  </a:lnTo>
                  <a:lnTo>
                    <a:pt x="232562" y="41402"/>
                  </a:lnTo>
                  <a:lnTo>
                    <a:pt x="248399" y="75958"/>
                  </a:lnTo>
                  <a:lnTo>
                    <a:pt x="248399" y="82080"/>
                  </a:lnTo>
                  <a:lnTo>
                    <a:pt x="248399" y="108356"/>
                  </a:lnTo>
                  <a:lnTo>
                    <a:pt x="245516" y="111239"/>
                  </a:lnTo>
                  <a:lnTo>
                    <a:pt x="238315" y="120599"/>
                  </a:lnTo>
                  <a:lnTo>
                    <a:pt x="217436" y="120599"/>
                  </a:lnTo>
                  <a:lnTo>
                    <a:pt x="215277" y="111239"/>
                  </a:lnTo>
                  <a:lnTo>
                    <a:pt x="215277" y="104394"/>
                  </a:lnTo>
                  <a:lnTo>
                    <a:pt x="217055" y="96913"/>
                  </a:lnTo>
                  <a:lnTo>
                    <a:pt x="222783" y="90957"/>
                  </a:lnTo>
                  <a:lnTo>
                    <a:pt x="233045" y="86131"/>
                  </a:lnTo>
                  <a:lnTo>
                    <a:pt x="248399" y="82080"/>
                  </a:lnTo>
                  <a:lnTo>
                    <a:pt x="248399" y="75958"/>
                  </a:lnTo>
                  <a:lnTo>
                    <a:pt x="245516" y="75958"/>
                  </a:lnTo>
                  <a:lnTo>
                    <a:pt x="243357" y="77038"/>
                  </a:lnTo>
                  <a:lnTo>
                    <a:pt x="238315" y="78117"/>
                  </a:lnTo>
                  <a:lnTo>
                    <a:pt x="200152" y="92163"/>
                  </a:lnTo>
                  <a:lnTo>
                    <a:pt x="196202" y="99364"/>
                  </a:lnTo>
                  <a:lnTo>
                    <a:pt x="196202" y="108356"/>
                  </a:lnTo>
                  <a:lnTo>
                    <a:pt x="197434" y="115938"/>
                  </a:lnTo>
                  <a:lnTo>
                    <a:pt x="201498" y="122770"/>
                  </a:lnTo>
                  <a:lnTo>
                    <a:pt x="209092" y="127800"/>
                  </a:lnTo>
                  <a:lnTo>
                    <a:pt x="209537" y="127800"/>
                  </a:lnTo>
                  <a:lnTo>
                    <a:pt x="220319" y="129603"/>
                  </a:lnTo>
                  <a:lnTo>
                    <a:pt x="227685" y="128663"/>
                  </a:lnTo>
                  <a:lnTo>
                    <a:pt x="234759" y="125831"/>
                  </a:lnTo>
                  <a:lnTo>
                    <a:pt x="241617" y="121107"/>
                  </a:lnTo>
                  <a:lnTo>
                    <a:pt x="242125" y="120599"/>
                  </a:lnTo>
                  <a:lnTo>
                    <a:pt x="248399" y="114477"/>
                  </a:lnTo>
                  <a:lnTo>
                    <a:pt x="248932" y="119519"/>
                  </a:lnTo>
                  <a:lnTo>
                    <a:pt x="249047" y="120599"/>
                  </a:lnTo>
                  <a:lnTo>
                    <a:pt x="249161" y="121678"/>
                  </a:lnTo>
                  <a:lnTo>
                    <a:pt x="249275" y="122770"/>
                  </a:lnTo>
                  <a:lnTo>
                    <a:pt x="249351" y="123482"/>
                  </a:lnTo>
                  <a:lnTo>
                    <a:pt x="249478" y="124561"/>
                  </a:lnTo>
                  <a:lnTo>
                    <a:pt x="253441" y="128524"/>
                  </a:lnTo>
                  <a:lnTo>
                    <a:pt x="268554" y="128524"/>
                  </a:lnTo>
                  <a:lnTo>
                    <a:pt x="271792" y="127800"/>
                  </a:lnTo>
                  <a:lnTo>
                    <a:pt x="276834" y="125641"/>
                  </a:lnTo>
                  <a:lnTo>
                    <a:pt x="277558" y="125641"/>
                  </a:lnTo>
                  <a:lnTo>
                    <a:pt x="278638" y="123482"/>
                  </a:lnTo>
                  <a:close/>
                </a:path>
                <a:path w="622935" h="130175">
                  <a:moveTo>
                    <a:pt x="354241" y="43561"/>
                  </a:moveTo>
                  <a:lnTo>
                    <a:pt x="350278" y="36360"/>
                  </a:lnTo>
                  <a:lnTo>
                    <a:pt x="339115" y="36360"/>
                  </a:lnTo>
                  <a:lnTo>
                    <a:pt x="331863" y="37439"/>
                  </a:lnTo>
                  <a:lnTo>
                    <a:pt x="332333" y="37439"/>
                  </a:lnTo>
                  <a:lnTo>
                    <a:pt x="326237" y="40411"/>
                  </a:lnTo>
                  <a:lnTo>
                    <a:pt x="320078" y="45783"/>
                  </a:lnTo>
                  <a:lnTo>
                    <a:pt x="313918" y="53644"/>
                  </a:lnTo>
                  <a:lnTo>
                    <a:pt x="313918" y="38519"/>
                  </a:lnTo>
                  <a:lnTo>
                    <a:pt x="312839" y="37439"/>
                  </a:lnTo>
                  <a:lnTo>
                    <a:pt x="287997" y="37439"/>
                  </a:lnTo>
                  <a:lnTo>
                    <a:pt x="286918" y="38519"/>
                  </a:lnTo>
                  <a:lnTo>
                    <a:pt x="286918" y="41402"/>
                  </a:lnTo>
                  <a:lnTo>
                    <a:pt x="287997" y="42481"/>
                  </a:lnTo>
                  <a:lnTo>
                    <a:pt x="295910" y="43561"/>
                  </a:lnTo>
                  <a:lnTo>
                    <a:pt x="296633" y="46443"/>
                  </a:lnTo>
                  <a:lnTo>
                    <a:pt x="296633" y="121678"/>
                  </a:lnTo>
                  <a:lnTo>
                    <a:pt x="295910" y="123482"/>
                  </a:lnTo>
                  <a:lnTo>
                    <a:pt x="288721" y="123482"/>
                  </a:lnTo>
                  <a:lnTo>
                    <a:pt x="286918" y="124561"/>
                  </a:lnTo>
                  <a:lnTo>
                    <a:pt x="286918" y="127800"/>
                  </a:lnTo>
                  <a:lnTo>
                    <a:pt x="287997" y="128524"/>
                  </a:lnTo>
                  <a:lnTo>
                    <a:pt x="326872" y="128524"/>
                  </a:lnTo>
                  <a:lnTo>
                    <a:pt x="326872" y="124561"/>
                  </a:lnTo>
                  <a:lnTo>
                    <a:pt x="326161" y="124561"/>
                  </a:lnTo>
                  <a:lnTo>
                    <a:pt x="317157" y="123482"/>
                  </a:lnTo>
                  <a:lnTo>
                    <a:pt x="314998" y="122758"/>
                  </a:lnTo>
                  <a:lnTo>
                    <a:pt x="314998" y="62636"/>
                  </a:lnTo>
                  <a:lnTo>
                    <a:pt x="320459" y="53644"/>
                  </a:lnTo>
                  <a:lnTo>
                    <a:pt x="321119" y="52565"/>
                  </a:lnTo>
                  <a:lnTo>
                    <a:pt x="325081" y="47523"/>
                  </a:lnTo>
                  <a:lnTo>
                    <a:pt x="332727" y="45783"/>
                  </a:lnTo>
                  <a:lnTo>
                    <a:pt x="332905" y="45783"/>
                  </a:lnTo>
                  <a:lnTo>
                    <a:pt x="331914" y="46443"/>
                  </a:lnTo>
                  <a:lnTo>
                    <a:pt x="331914" y="56883"/>
                  </a:lnTo>
                  <a:lnTo>
                    <a:pt x="336956" y="60833"/>
                  </a:lnTo>
                  <a:lnTo>
                    <a:pt x="350278" y="60833"/>
                  </a:lnTo>
                  <a:lnTo>
                    <a:pt x="354241" y="56883"/>
                  </a:lnTo>
                  <a:lnTo>
                    <a:pt x="354241" y="45783"/>
                  </a:lnTo>
                  <a:lnTo>
                    <a:pt x="354241" y="43561"/>
                  </a:lnTo>
                  <a:close/>
                </a:path>
                <a:path w="622935" h="130175">
                  <a:moveTo>
                    <a:pt x="423710" y="99364"/>
                  </a:moveTo>
                  <a:lnTo>
                    <a:pt x="396354" y="71996"/>
                  </a:lnTo>
                  <a:lnTo>
                    <a:pt x="395274" y="71996"/>
                  </a:lnTo>
                  <a:lnTo>
                    <a:pt x="385152" y="68605"/>
                  </a:lnTo>
                  <a:lnTo>
                    <a:pt x="378345" y="64846"/>
                  </a:lnTo>
                  <a:lnTo>
                    <a:pt x="374510" y="60617"/>
                  </a:lnTo>
                  <a:lnTo>
                    <a:pt x="373316" y="55803"/>
                  </a:lnTo>
                  <a:lnTo>
                    <a:pt x="373316" y="46443"/>
                  </a:lnTo>
                  <a:lnTo>
                    <a:pt x="379437" y="40322"/>
                  </a:lnTo>
                  <a:lnTo>
                    <a:pt x="389521" y="40322"/>
                  </a:lnTo>
                  <a:lnTo>
                    <a:pt x="415442" y="64846"/>
                  </a:lnTo>
                  <a:lnTo>
                    <a:pt x="415442" y="65874"/>
                  </a:lnTo>
                  <a:lnTo>
                    <a:pt x="418680" y="65874"/>
                  </a:lnTo>
                  <a:lnTo>
                    <a:pt x="419709" y="64846"/>
                  </a:lnTo>
                  <a:lnTo>
                    <a:pt x="419760" y="35280"/>
                  </a:lnTo>
                  <a:lnTo>
                    <a:pt x="416521" y="35280"/>
                  </a:lnTo>
                  <a:lnTo>
                    <a:pt x="416521" y="36360"/>
                  </a:lnTo>
                  <a:lnTo>
                    <a:pt x="415442" y="36360"/>
                  </a:lnTo>
                  <a:lnTo>
                    <a:pt x="412559" y="40322"/>
                  </a:lnTo>
                  <a:lnTo>
                    <a:pt x="407517" y="38519"/>
                  </a:lnTo>
                  <a:lnTo>
                    <a:pt x="400316" y="35280"/>
                  </a:lnTo>
                  <a:lnTo>
                    <a:pt x="392391" y="35280"/>
                  </a:lnTo>
                  <a:lnTo>
                    <a:pt x="379895" y="37452"/>
                  </a:lnTo>
                  <a:lnTo>
                    <a:pt x="369976" y="43434"/>
                  </a:lnTo>
                  <a:lnTo>
                    <a:pt x="363435" y="52451"/>
                  </a:lnTo>
                  <a:lnTo>
                    <a:pt x="361073" y="63715"/>
                  </a:lnTo>
                  <a:lnTo>
                    <a:pt x="362927" y="74104"/>
                  </a:lnTo>
                  <a:lnTo>
                    <a:pt x="368401" y="81457"/>
                  </a:lnTo>
                  <a:lnTo>
                    <a:pt x="377317" y="86512"/>
                  </a:lnTo>
                  <a:lnTo>
                    <a:pt x="389521" y="90004"/>
                  </a:lnTo>
                  <a:lnTo>
                    <a:pt x="400253" y="93853"/>
                  </a:lnTo>
                  <a:lnTo>
                    <a:pt x="407377" y="98107"/>
                  </a:lnTo>
                  <a:lnTo>
                    <a:pt x="411327" y="103162"/>
                  </a:lnTo>
                  <a:lnTo>
                    <a:pt x="412559" y="109435"/>
                  </a:lnTo>
                  <a:lnTo>
                    <a:pt x="412559" y="119519"/>
                  </a:lnTo>
                  <a:lnTo>
                    <a:pt x="402475" y="124561"/>
                  </a:lnTo>
                  <a:lnTo>
                    <a:pt x="395274" y="124561"/>
                  </a:lnTo>
                  <a:lnTo>
                    <a:pt x="387210" y="123482"/>
                  </a:lnTo>
                  <a:lnTo>
                    <a:pt x="386880" y="123482"/>
                  </a:lnTo>
                  <a:lnTo>
                    <a:pt x="379793" y="119253"/>
                  </a:lnTo>
                  <a:lnTo>
                    <a:pt x="372795" y="110896"/>
                  </a:lnTo>
                  <a:lnTo>
                    <a:pt x="364312" y="97193"/>
                  </a:lnTo>
                  <a:lnTo>
                    <a:pt x="364312" y="96113"/>
                  </a:lnTo>
                  <a:lnTo>
                    <a:pt x="361073" y="96113"/>
                  </a:lnTo>
                  <a:lnTo>
                    <a:pt x="360362" y="97193"/>
                  </a:lnTo>
                  <a:lnTo>
                    <a:pt x="360362" y="129603"/>
                  </a:lnTo>
                  <a:lnTo>
                    <a:pt x="364312" y="129603"/>
                  </a:lnTo>
                  <a:lnTo>
                    <a:pt x="364312" y="128524"/>
                  </a:lnTo>
                  <a:lnTo>
                    <a:pt x="370433" y="123482"/>
                  </a:lnTo>
                  <a:lnTo>
                    <a:pt x="376199" y="127800"/>
                  </a:lnTo>
                  <a:lnTo>
                    <a:pt x="386270" y="129603"/>
                  </a:lnTo>
                  <a:lnTo>
                    <a:pt x="402475" y="129603"/>
                  </a:lnTo>
                  <a:lnTo>
                    <a:pt x="410400" y="126720"/>
                  </a:lnTo>
                  <a:lnTo>
                    <a:pt x="412546" y="124561"/>
                  </a:lnTo>
                  <a:lnTo>
                    <a:pt x="421551" y="115557"/>
                  </a:lnTo>
                  <a:lnTo>
                    <a:pt x="423710" y="108356"/>
                  </a:lnTo>
                  <a:lnTo>
                    <a:pt x="423710" y="99364"/>
                  </a:lnTo>
                  <a:close/>
                </a:path>
                <a:path w="622935" h="130175">
                  <a:moveTo>
                    <a:pt x="523074" y="82080"/>
                  </a:moveTo>
                  <a:lnTo>
                    <a:pt x="519671" y="64604"/>
                  </a:lnTo>
                  <a:lnTo>
                    <a:pt x="519582" y="64147"/>
                  </a:lnTo>
                  <a:lnTo>
                    <a:pt x="510108" y="49377"/>
                  </a:lnTo>
                  <a:lnTo>
                    <a:pt x="510019" y="49237"/>
                  </a:lnTo>
                  <a:lnTo>
                    <a:pt x="503275" y="44437"/>
                  </a:lnTo>
                  <a:lnTo>
                    <a:pt x="503275" y="83159"/>
                  </a:lnTo>
                  <a:lnTo>
                    <a:pt x="501713" y="101511"/>
                  </a:lnTo>
                  <a:lnTo>
                    <a:pt x="497154" y="114401"/>
                  </a:lnTo>
                  <a:lnTo>
                    <a:pt x="489597" y="122047"/>
                  </a:lnTo>
                  <a:lnTo>
                    <a:pt x="479158" y="124561"/>
                  </a:lnTo>
                  <a:lnTo>
                    <a:pt x="467868" y="122047"/>
                  </a:lnTo>
                  <a:lnTo>
                    <a:pt x="459892" y="114401"/>
                  </a:lnTo>
                  <a:lnTo>
                    <a:pt x="455269" y="101815"/>
                  </a:lnTo>
                  <a:lnTo>
                    <a:pt x="455155" y="101511"/>
                  </a:lnTo>
                  <a:lnTo>
                    <a:pt x="455828" y="60680"/>
                  </a:lnTo>
                  <a:lnTo>
                    <a:pt x="476999" y="40322"/>
                  </a:lnTo>
                  <a:lnTo>
                    <a:pt x="488238" y="43027"/>
                  </a:lnTo>
                  <a:lnTo>
                    <a:pt x="496481" y="51079"/>
                  </a:lnTo>
                  <a:lnTo>
                    <a:pt x="501421" y="64147"/>
                  </a:lnTo>
                  <a:lnTo>
                    <a:pt x="501548" y="64604"/>
                  </a:lnTo>
                  <a:lnTo>
                    <a:pt x="503174" y="82080"/>
                  </a:lnTo>
                  <a:lnTo>
                    <a:pt x="503275" y="83159"/>
                  </a:lnTo>
                  <a:lnTo>
                    <a:pt x="503275" y="44437"/>
                  </a:lnTo>
                  <a:lnTo>
                    <a:pt x="497522" y="40322"/>
                  </a:lnTo>
                  <a:lnTo>
                    <a:pt x="495757" y="39077"/>
                  </a:lnTo>
                  <a:lnTo>
                    <a:pt x="478078" y="35280"/>
                  </a:lnTo>
                  <a:lnTo>
                    <a:pt x="460819" y="39077"/>
                  </a:lnTo>
                  <a:lnTo>
                    <a:pt x="446747" y="49377"/>
                  </a:lnTo>
                  <a:lnTo>
                    <a:pt x="437261" y="64604"/>
                  </a:lnTo>
                  <a:lnTo>
                    <a:pt x="433793" y="83159"/>
                  </a:lnTo>
                  <a:lnTo>
                    <a:pt x="437159" y="101511"/>
                  </a:lnTo>
                  <a:lnTo>
                    <a:pt x="446481" y="116243"/>
                  </a:lnTo>
                  <a:lnTo>
                    <a:pt x="460527" y="126047"/>
                  </a:lnTo>
                  <a:lnTo>
                    <a:pt x="478078" y="129603"/>
                  </a:lnTo>
                  <a:lnTo>
                    <a:pt x="494372" y="126288"/>
                  </a:lnTo>
                  <a:lnTo>
                    <a:pt x="496976" y="124561"/>
                  </a:lnTo>
                  <a:lnTo>
                    <a:pt x="508800" y="116776"/>
                  </a:lnTo>
                  <a:lnTo>
                    <a:pt x="519125" y="101815"/>
                  </a:lnTo>
                  <a:lnTo>
                    <a:pt x="523074" y="82080"/>
                  </a:lnTo>
                  <a:close/>
                </a:path>
                <a:path w="622935" h="130175">
                  <a:moveTo>
                    <a:pt x="622795" y="124561"/>
                  </a:moveTo>
                  <a:lnTo>
                    <a:pt x="621715" y="123482"/>
                  </a:lnTo>
                  <a:lnTo>
                    <a:pt x="612711" y="123482"/>
                  </a:lnTo>
                  <a:lnTo>
                    <a:pt x="611632" y="121678"/>
                  </a:lnTo>
                  <a:lnTo>
                    <a:pt x="611632" y="63715"/>
                  </a:lnTo>
                  <a:lnTo>
                    <a:pt x="609981" y="52158"/>
                  </a:lnTo>
                  <a:lnTo>
                    <a:pt x="606831" y="46443"/>
                  </a:lnTo>
                  <a:lnTo>
                    <a:pt x="605243" y="43561"/>
                  </a:lnTo>
                  <a:lnTo>
                    <a:pt x="597662" y="38214"/>
                  </a:lnTo>
                  <a:lnTo>
                    <a:pt x="587514" y="36360"/>
                  </a:lnTo>
                  <a:lnTo>
                    <a:pt x="571868" y="39230"/>
                  </a:lnTo>
                  <a:lnTo>
                    <a:pt x="562038" y="45542"/>
                  </a:lnTo>
                  <a:lnTo>
                    <a:pt x="556933" y="51866"/>
                  </a:lnTo>
                  <a:lnTo>
                    <a:pt x="555472" y="54724"/>
                  </a:lnTo>
                  <a:lnTo>
                    <a:pt x="555472" y="38519"/>
                  </a:lnTo>
                  <a:lnTo>
                    <a:pt x="553313" y="36360"/>
                  </a:lnTo>
                  <a:lnTo>
                    <a:pt x="529196" y="37439"/>
                  </a:lnTo>
                  <a:lnTo>
                    <a:pt x="528116" y="37439"/>
                  </a:lnTo>
                  <a:lnTo>
                    <a:pt x="527392" y="38519"/>
                  </a:lnTo>
                  <a:lnTo>
                    <a:pt x="527392" y="41402"/>
                  </a:lnTo>
                  <a:lnTo>
                    <a:pt x="528116" y="42481"/>
                  </a:lnTo>
                  <a:lnTo>
                    <a:pt x="536397" y="43561"/>
                  </a:lnTo>
                  <a:lnTo>
                    <a:pt x="537476" y="46443"/>
                  </a:lnTo>
                  <a:lnTo>
                    <a:pt x="537476" y="121678"/>
                  </a:lnTo>
                  <a:lnTo>
                    <a:pt x="536397" y="123482"/>
                  </a:lnTo>
                  <a:lnTo>
                    <a:pt x="527392" y="123482"/>
                  </a:lnTo>
                  <a:lnTo>
                    <a:pt x="527392" y="127800"/>
                  </a:lnTo>
                  <a:lnTo>
                    <a:pt x="528116" y="128524"/>
                  </a:lnTo>
                  <a:lnTo>
                    <a:pt x="563397" y="128524"/>
                  </a:lnTo>
                  <a:lnTo>
                    <a:pt x="564476" y="127800"/>
                  </a:lnTo>
                  <a:lnTo>
                    <a:pt x="564476" y="124561"/>
                  </a:lnTo>
                  <a:lnTo>
                    <a:pt x="563397" y="123482"/>
                  </a:lnTo>
                  <a:lnTo>
                    <a:pt x="556552" y="123482"/>
                  </a:lnTo>
                  <a:lnTo>
                    <a:pt x="555472" y="121678"/>
                  </a:lnTo>
                  <a:lnTo>
                    <a:pt x="555472" y="66954"/>
                  </a:lnTo>
                  <a:lnTo>
                    <a:pt x="557276" y="61925"/>
                  </a:lnTo>
                  <a:lnTo>
                    <a:pt x="559435" y="58674"/>
                  </a:lnTo>
                  <a:lnTo>
                    <a:pt x="562546" y="54724"/>
                  </a:lnTo>
                  <a:lnTo>
                    <a:pt x="563397" y="53644"/>
                  </a:lnTo>
                  <a:lnTo>
                    <a:pt x="569518" y="46443"/>
                  </a:lnTo>
                  <a:lnTo>
                    <a:pt x="577430" y="46443"/>
                  </a:lnTo>
                  <a:lnTo>
                    <a:pt x="585127" y="47663"/>
                  </a:lnTo>
                  <a:lnTo>
                    <a:pt x="590118" y="51536"/>
                  </a:lnTo>
                  <a:lnTo>
                    <a:pt x="592823" y="58445"/>
                  </a:lnTo>
                  <a:lnTo>
                    <a:pt x="593636" y="68757"/>
                  </a:lnTo>
                  <a:lnTo>
                    <a:pt x="593636" y="121678"/>
                  </a:lnTo>
                  <a:lnTo>
                    <a:pt x="592556" y="123482"/>
                  </a:lnTo>
                  <a:lnTo>
                    <a:pt x="585711" y="123482"/>
                  </a:lnTo>
                  <a:lnTo>
                    <a:pt x="584631" y="124561"/>
                  </a:lnTo>
                  <a:lnTo>
                    <a:pt x="584631" y="127800"/>
                  </a:lnTo>
                  <a:lnTo>
                    <a:pt x="585711" y="128524"/>
                  </a:lnTo>
                  <a:lnTo>
                    <a:pt x="621715" y="128524"/>
                  </a:lnTo>
                  <a:lnTo>
                    <a:pt x="622795" y="127800"/>
                  </a:lnTo>
                  <a:lnTo>
                    <a:pt x="622795" y="124561"/>
                  </a:lnTo>
                  <a:close/>
                </a:path>
              </a:pathLst>
            </a:custGeom>
            <a:solidFill>
              <a:srgbClr val="3D39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473" y="6378642"/>
              <a:ext cx="252095" cy="278765"/>
            </a:xfrm>
            <a:custGeom>
              <a:avLst/>
              <a:gdLst/>
              <a:ahLst/>
              <a:cxnLst/>
              <a:rect l="l" t="t" r="r" b="b"/>
              <a:pathLst>
                <a:path w="252095" h="278765">
                  <a:moveTo>
                    <a:pt x="114401" y="0"/>
                  </a:moveTo>
                  <a:lnTo>
                    <a:pt x="74092" y="12480"/>
                  </a:lnTo>
                  <a:lnTo>
                    <a:pt x="38847" y="39147"/>
                  </a:lnTo>
                  <a:lnTo>
                    <a:pt x="11968" y="80120"/>
                  </a:lnTo>
                  <a:lnTo>
                    <a:pt x="0" y="127191"/>
                  </a:lnTo>
                  <a:lnTo>
                    <a:pt x="2609" y="179969"/>
                  </a:lnTo>
                  <a:lnTo>
                    <a:pt x="20877" y="228901"/>
                  </a:lnTo>
                  <a:lnTo>
                    <a:pt x="55885" y="264435"/>
                  </a:lnTo>
                  <a:lnTo>
                    <a:pt x="102465" y="278306"/>
                  </a:lnTo>
                  <a:lnTo>
                    <a:pt x="150700" y="271185"/>
                  </a:lnTo>
                  <a:lnTo>
                    <a:pt x="194549" y="245301"/>
                  </a:lnTo>
                  <a:lnTo>
                    <a:pt x="227970" y="202878"/>
                  </a:lnTo>
                  <a:lnTo>
                    <a:pt x="246242" y="157463"/>
                  </a:lnTo>
                  <a:lnTo>
                    <a:pt x="251747" y="114158"/>
                  </a:lnTo>
                  <a:lnTo>
                    <a:pt x="245020" y="74984"/>
                  </a:lnTo>
                  <a:lnTo>
                    <a:pt x="226595" y="41963"/>
                  </a:lnTo>
                  <a:lnTo>
                    <a:pt x="197007" y="17115"/>
                  </a:lnTo>
                  <a:lnTo>
                    <a:pt x="156474" y="1585"/>
                  </a:lnTo>
                  <a:lnTo>
                    <a:pt x="114401" y="0"/>
                  </a:lnTo>
                  <a:close/>
                </a:path>
              </a:pathLst>
            </a:custGeom>
            <a:solidFill>
              <a:srgbClr val="097F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325" y="6427444"/>
              <a:ext cx="167487" cy="18935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165137"/>
            <a:ext cx="78720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Exhibit</a:t>
            </a:r>
            <a:r>
              <a:rPr sz="3600" spc="-65" dirty="0"/>
              <a:t> </a:t>
            </a:r>
            <a:r>
              <a:rPr sz="3600" spc="-15" dirty="0"/>
              <a:t>9-</a:t>
            </a:r>
            <a:r>
              <a:rPr sz="3600" dirty="0"/>
              <a:t>4</a:t>
            </a:r>
            <a:r>
              <a:rPr sz="3600" spc="-40" dirty="0"/>
              <a:t> </a:t>
            </a:r>
            <a:r>
              <a:rPr sz="3600" dirty="0"/>
              <a:t>First</a:t>
            </a:r>
            <a:r>
              <a:rPr sz="3600" spc="-35" dirty="0"/>
              <a:t> </a:t>
            </a:r>
            <a:r>
              <a:rPr sz="3600" spc="-30" dirty="0"/>
              <a:t>Mover</a:t>
            </a:r>
            <a:r>
              <a:rPr sz="3600" spc="-265" dirty="0"/>
              <a:t> </a:t>
            </a:r>
            <a:r>
              <a:rPr sz="3600" dirty="0"/>
              <a:t>Advantages</a:t>
            </a:r>
            <a:r>
              <a:rPr sz="3600" spc="-45" dirty="0"/>
              <a:t> </a:t>
            </a:r>
            <a:r>
              <a:rPr sz="3600" spc="-25" dirty="0"/>
              <a:t>and </a:t>
            </a:r>
            <a:r>
              <a:rPr sz="3600" spc="-10" dirty="0"/>
              <a:t>Disadvantages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6912" y="1476412"/>
            <a:ext cx="5805951" cy="426186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44500" y="5903899"/>
            <a:ext cx="68776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Exhibit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9-</a:t>
            </a:r>
            <a:r>
              <a:rPr sz="1600" b="1" dirty="0">
                <a:latin typeface="Arial"/>
                <a:cs typeface="Arial"/>
              </a:rPr>
              <a:t>4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shows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advantages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disadvantages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first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mover.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Other</a:t>
            </a:r>
            <a:r>
              <a:rPr spc="-195" dirty="0"/>
              <a:t> </a:t>
            </a:r>
            <a:r>
              <a:rPr spc="-10" dirty="0"/>
              <a:t>Differentiation</a:t>
            </a:r>
            <a:r>
              <a:rPr spc="-140" dirty="0"/>
              <a:t> </a:t>
            </a:r>
            <a:r>
              <a:rPr spc="-10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63686"/>
            <a:ext cx="2957195" cy="169418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Customer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service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Mass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customization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Social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media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E9D8-11B7-9B26-FEAB-29C96097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76301"/>
            <a:ext cx="8046084" cy="1046440"/>
          </a:xfrm>
        </p:spPr>
        <p:txBody>
          <a:bodyPr/>
          <a:lstStyle/>
          <a:p>
            <a:r>
              <a:rPr lang="en-US" dirty="0"/>
              <a:t>Concluding Example for Discussion and Exam preparation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92104-642F-56D5-A19E-BD040D3D7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00200"/>
            <a:ext cx="7443470" cy="4801314"/>
          </a:xfrm>
        </p:spPr>
        <p:txBody>
          <a:bodyPr/>
          <a:lstStyle/>
          <a:p>
            <a:r>
              <a:rPr lang="en-GB" dirty="0"/>
              <a:t>Imagine you are a team hired to save a struggling university.</a:t>
            </a:r>
          </a:p>
          <a:p>
            <a:r>
              <a:rPr lang="en-GB" dirty="0"/>
              <a:t>The university has: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Falling admissions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Outdated programs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Limited budget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Strong alumni network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Good campus location </a:t>
            </a:r>
          </a:p>
          <a:p>
            <a:r>
              <a:rPr lang="en-GB" b="1" dirty="0"/>
              <a:t>Using both SWOT Analysis and Porter's Five Forces, develop a strategy that can make the university the most attractive institution in Pakistan within five years.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3005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8CB33-3C1C-9047-D112-7F1F11E7F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52400"/>
            <a:ext cx="8534400" cy="6278642"/>
          </a:xfrm>
        </p:spPr>
        <p:txBody>
          <a:bodyPr/>
          <a:lstStyle/>
          <a:p>
            <a:r>
              <a:rPr lang="en-GB" dirty="0"/>
              <a:t>A company has: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Strong profits.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High market share.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Loyal customers.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Excellent brand reputation. </a:t>
            </a:r>
          </a:p>
          <a:p>
            <a:r>
              <a:rPr lang="en-GB" b="1" dirty="0">
                <a:solidFill>
                  <a:srgbClr val="FF0000"/>
                </a:solidFill>
              </a:rPr>
              <a:t>However: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New technologies are disrupting the industry.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Competitors are innovating faster. 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dirty="0"/>
              <a:t>Customer preferences are changing. </a:t>
            </a:r>
          </a:p>
          <a:p>
            <a:endParaRPr lang="en-GB" b="1" dirty="0"/>
          </a:p>
          <a:p>
            <a:r>
              <a:rPr lang="en-GB" b="1" dirty="0"/>
              <a:t>Question: </a:t>
            </a:r>
            <a:r>
              <a:rPr lang="en-GB" b="1" dirty="0">
                <a:solidFill>
                  <a:srgbClr val="FF0000"/>
                </a:solidFill>
              </a:rPr>
              <a:t>Using SWOT Analysis, Porter's Five Forces, Economic Moat, Concentration, Diversification, Horizontal Integration, and Vertical Integration, explain why a company that appears successful today may be strategically weaker than a company that is currently struggling.</a:t>
            </a:r>
            <a:r>
              <a:rPr lang="en-GB" dirty="0">
                <a:solidFill>
                  <a:srgbClr val="FF0000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69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1458</Words>
  <Application>Microsoft Macintosh PowerPoint</Application>
  <PresentationFormat>On-screen Show (4:3)</PresentationFormat>
  <Paragraphs>176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Arial MT</vt:lpstr>
      <vt:lpstr>Times New Roman</vt:lpstr>
      <vt:lpstr>Trebuchet MS</vt:lpstr>
      <vt:lpstr>Wingdings</vt:lpstr>
      <vt:lpstr>Office Theme</vt:lpstr>
      <vt:lpstr>Management</vt:lpstr>
      <vt:lpstr>Learning Objectives</vt:lpstr>
      <vt:lpstr>What Is Strategic Management?</vt:lpstr>
      <vt:lpstr>Strategic Management Example.</vt:lpstr>
      <vt:lpstr>Class Question????</vt:lpstr>
      <vt:lpstr>Why Is Strategic Management Important?</vt:lpstr>
      <vt:lpstr>Supporting the Strategic Management Process</vt:lpstr>
      <vt:lpstr>The Strategic Management Process</vt:lpstr>
      <vt:lpstr>Exhibit 9-1 Strategic Management Process</vt:lpstr>
      <vt:lpstr>Step 1: Identifying the Organization’s Current Mission, Goals, and Strategies</vt:lpstr>
      <vt:lpstr>Exhibit 9-2 Components of a Mission Statement</vt:lpstr>
      <vt:lpstr>PowerPoint Presentation</vt:lpstr>
      <vt:lpstr>Step 2: SWOT Analysis</vt:lpstr>
      <vt:lpstr>Class Quiz????</vt:lpstr>
      <vt:lpstr>Doing an Internal Analysis</vt:lpstr>
      <vt:lpstr>Step 3: Formulating Strategies</vt:lpstr>
      <vt:lpstr>Step 4: Implementing Strategies</vt:lpstr>
      <vt:lpstr>Step 5: Evaluating Results</vt:lpstr>
      <vt:lpstr>Discussion Question…..</vt:lpstr>
      <vt:lpstr>What Is Corporate Strategy?</vt:lpstr>
      <vt:lpstr>Exhibit 9-3 Types of Organizational Strategies</vt:lpstr>
      <vt:lpstr>What Are the Types of Corporate Strategy?</vt:lpstr>
      <vt:lpstr>Horizontal Integration vs Vertical Integration</vt:lpstr>
      <vt:lpstr>Stability and Renewal Strategies</vt:lpstr>
      <vt:lpstr>How Are Corporate Strategies Managed?</vt:lpstr>
      <vt:lpstr>Competitive Strategies</vt:lpstr>
      <vt:lpstr>The Role of Competitive Advantage</vt:lpstr>
      <vt:lpstr>Sustaining Competitive Advantage (1 of 2)</vt:lpstr>
      <vt:lpstr>PowerPoint Presentation</vt:lpstr>
      <vt:lpstr>Sustaining Competitive Advantage (2 of 2)</vt:lpstr>
      <vt:lpstr>Choosing a Competitive Strategy</vt:lpstr>
      <vt:lpstr>Examples of Differentiation Strategies</vt:lpstr>
      <vt:lpstr>Exhibit 9-4 First Mover Advantages and Disadvantages</vt:lpstr>
      <vt:lpstr>Other Differentiation Strategies</vt:lpstr>
      <vt:lpstr>Concluding Example for Discussion and Exam preparation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Management, Sixteenth edition, Chapter 1, Managers and You in the Workplace</dc:title>
  <dc:creator>Stephen P. Robbins and Mary Coulter</dc:creator>
  <cp:keywords>Management</cp:keywords>
  <cp:lastModifiedBy>Dr Samad Baseer</cp:lastModifiedBy>
  <cp:revision>9</cp:revision>
  <dcterms:created xsi:type="dcterms:W3CDTF">2026-06-03T20:42:51Z</dcterms:created>
  <dcterms:modified xsi:type="dcterms:W3CDTF">2026-06-03T21:26:26Z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7.5</vt:lpwstr>
  </property>
  <property fmtid="{D5CDD505-2E9C-101B-9397-08002B2CF9AE}" pid="5" name="LastSaved">
    <vt:filetime>2025-11-18T00:00:00Z</vt:filetime>
  </property>
</Properties>
</file>