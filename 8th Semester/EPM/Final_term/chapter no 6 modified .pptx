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6"/>
  </p:notesMasterIdLst>
  <p:sldIdLst>
    <p:sldId id="256" r:id="rId2"/>
    <p:sldId id="257" r:id="rId3"/>
    <p:sldId id="293" r:id="rId4"/>
    <p:sldId id="301" r:id="rId5"/>
    <p:sldId id="302" r:id="rId6"/>
    <p:sldId id="303" r:id="rId7"/>
    <p:sldId id="294" r:id="rId8"/>
    <p:sldId id="295" r:id="rId9"/>
    <p:sldId id="258" r:id="rId10"/>
    <p:sldId id="296" r:id="rId11"/>
    <p:sldId id="259" r:id="rId12"/>
    <p:sldId id="297" r:id="rId13"/>
    <p:sldId id="260" r:id="rId14"/>
    <p:sldId id="261" r:id="rId15"/>
    <p:sldId id="298" r:id="rId16"/>
    <p:sldId id="262" r:id="rId17"/>
    <p:sldId id="263" r:id="rId18"/>
    <p:sldId id="265" r:id="rId19"/>
    <p:sldId id="266" r:id="rId20"/>
    <p:sldId id="267" r:id="rId21"/>
    <p:sldId id="268" r:id="rId22"/>
    <p:sldId id="299" r:id="rId23"/>
    <p:sldId id="269" r:id="rId24"/>
    <p:sldId id="270" r:id="rId25"/>
    <p:sldId id="271" r:id="rId26"/>
    <p:sldId id="300" r:id="rId27"/>
    <p:sldId id="272" r:id="rId28"/>
    <p:sldId id="273" r:id="rId29"/>
    <p:sldId id="274" r:id="rId30"/>
    <p:sldId id="277" r:id="rId31"/>
    <p:sldId id="278" r:id="rId32"/>
    <p:sldId id="279" r:id="rId33"/>
    <p:sldId id="280" r:id="rId34"/>
    <p:sldId id="281" r:id="rId35"/>
    <p:sldId id="282" r:id="rId36"/>
    <p:sldId id="283" r:id="rId37"/>
    <p:sldId id="284" r:id="rId38"/>
    <p:sldId id="285" r:id="rId39"/>
    <p:sldId id="286" r:id="rId40"/>
    <p:sldId id="287" r:id="rId41"/>
    <p:sldId id="288" r:id="rId42"/>
    <p:sldId id="290" r:id="rId43"/>
    <p:sldId id="291" r:id="rId44"/>
    <p:sldId id="292" r:id="rId45"/>
  </p:sldIdLst>
  <p:sldSz cx="9144000" cy="6858000" type="screen4x3"/>
  <p:notesSz cx="9144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6711"/>
  </p:normalViewPr>
  <p:slideViewPr>
    <p:cSldViewPr>
      <p:cViewPr varScale="1">
        <p:scale>
          <a:sx n="96" d="100"/>
          <a:sy n="96" d="100"/>
        </p:scale>
        <p:origin x="2080" y="16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90" d="100"/>
        <a:sy n="9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AD107F5-CE2C-7143-9DB6-F008C21E7BE8}" type="datetimeFigureOut">
              <a:rPr lang="en-US" smtClean="0"/>
              <a:t>5/6/26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8A7EE2-2FCE-C748-81CA-C21BB2627F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66216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8A7EE2-2FCE-C748-81CA-C21BB2627F3F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4081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6014720"/>
            <a:ext cx="1369060" cy="843280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1295400" y="6019800"/>
            <a:ext cx="7848600" cy="838200"/>
          </a:xfrm>
          <a:custGeom>
            <a:avLst/>
            <a:gdLst/>
            <a:ahLst/>
            <a:cxnLst/>
            <a:rect l="l" t="t" r="r" b="b"/>
            <a:pathLst>
              <a:path w="7848600" h="838200">
                <a:moveTo>
                  <a:pt x="0" y="0"/>
                </a:moveTo>
                <a:lnTo>
                  <a:pt x="7848600" y="0"/>
                </a:lnTo>
                <a:lnTo>
                  <a:pt x="7848600" y="838200"/>
                </a:lnTo>
                <a:lnTo>
                  <a:pt x="0" y="8382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1295400" y="6019800"/>
            <a:ext cx="7848600" cy="838200"/>
          </a:xfrm>
          <a:custGeom>
            <a:avLst/>
            <a:gdLst/>
            <a:ahLst/>
            <a:cxnLst/>
            <a:rect l="l" t="t" r="r" b="b"/>
            <a:pathLst>
              <a:path w="7848600" h="838200">
                <a:moveTo>
                  <a:pt x="0" y="0"/>
                </a:moveTo>
                <a:lnTo>
                  <a:pt x="7848600" y="0"/>
                </a:lnTo>
                <a:lnTo>
                  <a:pt x="7848600" y="838200"/>
                </a:lnTo>
                <a:lnTo>
                  <a:pt x="0" y="838200"/>
                </a:lnTo>
                <a:lnTo>
                  <a:pt x="0" y="0"/>
                </a:lnTo>
                <a:close/>
              </a:path>
            </a:pathLst>
          </a:custGeom>
          <a:ln w="1257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1289100" y="6013513"/>
            <a:ext cx="7861300" cy="850900"/>
          </a:xfrm>
          <a:custGeom>
            <a:avLst/>
            <a:gdLst/>
            <a:ahLst/>
            <a:cxnLst/>
            <a:rect l="l" t="t" r="r" b="b"/>
            <a:pathLst>
              <a:path w="7861300" h="850900">
                <a:moveTo>
                  <a:pt x="12585" y="6286"/>
                </a:moveTo>
                <a:lnTo>
                  <a:pt x="10744" y="1841"/>
                </a:lnTo>
                <a:lnTo>
                  <a:pt x="6299" y="0"/>
                </a:lnTo>
                <a:lnTo>
                  <a:pt x="1841" y="1841"/>
                </a:lnTo>
                <a:lnTo>
                  <a:pt x="0" y="6286"/>
                </a:lnTo>
                <a:lnTo>
                  <a:pt x="1841" y="10744"/>
                </a:lnTo>
                <a:lnTo>
                  <a:pt x="6299" y="12585"/>
                </a:lnTo>
                <a:lnTo>
                  <a:pt x="10744" y="10744"/>
                </a:lnTo>
                <a:lnTo>
                  <a:pt x="12585" y="6286"/>
                </a:lnTo>
                <a:close/>
              </a:path>
              <a:path w="7861300" h="850900">
                <a:moveTo>
                  <a:pt x="7861186" y="844486"/>
                </a:moveTo>
                <a:lnTo>
                  <a:pt x="7859344" y="840041"/>
                </a:lnTo>
                <a:lnTo>
                  <a:pt x="7854899" y="838200"/>
                </a:lnTo>
                <a:lnTo>
                  <a:pt x="7850441" y="840041"/>
                </a:lnTo>
                <a:lnTo>
                  <a:pt x="7848600" y="844486"/>
                </a:lnTo>
                <a:lnTo>
                  <a:pt x="7850441" y="848931"/>
                </a:lnTo>
                <a:lnTo>
                  <a:pt x="7854899" y="850773"/>
                </a:lnTo>
                <a:lnTo>
                  <a:pt x="7859344" y="848931"/>
                </a:lnTo>
                <a:lnTo>
                  <a:pt x="7861186" y="84448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0" name="bg object 2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6014720"/>
            <a:ext cx="1369060" cy="84328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213350" y="1741170"/>
            <a:ext cx="3740784" cy="14255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425"/>
              </a:lnSpc>
            </a:pPr>
            <a:r>
              <a:rPr dirty="0"/>
              <a:t>Copyright</a:t>
            </a:r>
            <a:r>
              <a:rPr spc="-15" dirty="0"/>
              <a:t> </a:t>
            </a:r>
            <a:r>
              <a:rPr dirty="0"/>
              <a:t>©</a:t>
            </a:r>
            <a:r>
              <a:rPr spc="-15" dirty="0"/>
              <a:t> </a:t>
            </a:r>
            <a:r>
              <a:rPr dirty="0"/>
              <a:t>2016</a:t>
            </a:r>
            <a:r>
              <a:rPr spc="-5" dirty="0"/>
              <a:t> </a:t>
            </a:r>
            <a:r>
              <a:rPr dirty="0"/>
              <a:t>Pearson</a:t>
            </a:r>
            <a:r>
              <a:rPr spc="-10" dirty="0"/>
              <a:t> </a:t>
            </a:r>
            <a:r>
              <a:rPr dirty="0"/>
              <a:t>Education,</a:t>
            </a:r>
            <a:r>
              <a:rPr spc="-15" dirty="0"/>
              <a:t> </a:t>
            </a:r>
            <a:r>
              <a:rPr spc="-20" dirty="0"/>
              <a:t>Ltd.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4/30/26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425"/>
              </a:lnSpc>
            </a:pPr>
            <a:r>
              <a:rPr spc="-10" dirty="0"/>
              <a:t>6-</a:t>
            </a: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7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425"/>
              </a:lnSpc>
            </a:pPr>
            <a:r>
              <a:rPr dirty="0"/>
              <a:t>Copyright</a:t>
            </a:r>
            <a:r>
              <a:rPr spc="-15" dirty="0"/>
              <a:t> </a:t>
            </a:r>
            <a:r>
              <a:rPr dirty="0"/>
              <a:t>©</a:t>
            </a:r>
            <a:r>
              <a:rPr spc="-15" dirty="0"/>
              <a:t> </a:t>
            </a:r>
            <a:r>
              <a:rPr dirty="0"/>
              <a:t>2016</a:t>
            </a:r>
            <a:r>
              <a:rPr spc="-5" dirty="0"/>
              <a:t> </a:t>
            </a:r>
            <a:r>
              <a:rPr dirty="0"/>
              <a:t>Pearson</a:t>
            </a:r>
            <a:r>
              <a:rPr spc="-10" dirty="0"/>
              <a:t> </a:t>
            </a:r>
            <a:r>
              <a:rPr dirty="0"/>
              <a:t>Education,</a:t>
            </a:r>
            <a:r>
              <a:rPr spc="-15" dirty="0"/>
              <a:t> </a:t>
            </a:r>
            <a:r>
              <a:rPr spc="-20" dirty="0"/>
              <a:t>Ltd.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4/30/26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425"/>
              </a:lnSpc>
            </a:pPr>
            <a:r>
              <a:rPr spc="-10" dirty="0"/>
              <a:t>6-</a:t>
            </a: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425"/>
              </a:lnSpc>
            </a:pPr>
            <a:r>
              <a:rPr dirty="0"/>
              <a:t>Copyright</a:t>
            </a:r>
            <a:r>
              <a:rPr spc="-15" dirty="0"/>
              <a:t> </a:t>
            </a:r>
            <a:r>
              <a:rPr dirty="0"/>
              <a:t>©</a:t>
            </a:r>
            <a:r>
              <a:rPr spc="-15" dirty="0"/>
              <a:t> </a:t>
            </a:r>
            <a:r>
              <a:rPr dirty="0"/>
              <a:t>2016</a:t>
            </a:r>
            <a:r>
              <a:rPr spc="-5" dirty="0"/>
              <a:t> </a:t>
            </a:r>
            <a:r>
              <a:rPr dirty="0"/>
              <a:t>Pearson</a:t>
            </a:r>
            <a:r>
              <a:rPr spc="-10" dirty="0"/>
              <a:t> </a:t>
            </a:r>
            <a:r>
              <a:rPr dirty="0"/>
              <a:t>Education,</a:t>
            </a:r>
            <a:r>
              <a:rPr spc="-15" dirty="0"/>
              <a:t> </a:t>
            </a:r>
            <a:r>
              <a:rPr spc="-20" dirty="0"/>
              <a:t>Ltd.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4/30/26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425"/>
              </a:lnSpc>
            </a:pPr>
            <a:r>
              <a:rPr spc="-10" dirty="0"/>
              <a:t>6-</a:t>
            </a: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425"/>
              </a:lnSpc>
            </a:pPr>
            <a:r>
              <a:rPr dirty="0"/>
              <a:t>Copyright</a:t>
            </a:r>
            <a:r>
              <a:rPr spc="-15" dirty="0"/>
              <a:t> </a:t>
            </a:r>
            <a:r>
              <a:rPr dirty="0"/>
              <a:t>©</a:t>
            </a:r>
            <a:r>
              <a:rPr spc="-15" dirty="0"/>
              <a:t> </a:t>
            </a:r>
            <a:r>
              <a:rPr dirty="0"/>
              <a:t>2016</a:t>
            </a:r>
            <a:r>
              <a:rPr spc="-5" dirty="0"/>
              <a:t> </a:t>
            </a:r>
            <a:r>
              <a:rPr dirty="0"/>
              <a:t>Pearson</a:t>
            </a:r>
            <a:r>
              <a:rPr spc="-10" dirty="0"/>
              <a:t> </a:t>
            </a:r>
            <a:r>
              <a:rPr dirty="0"/>
              <a:t>Education,</a:t>
            </a:r>
            <a:r>
              <a:rPr spc="-15" dirty="0"/>
              <a:t> </a:t>
            </a:r>
            <a:r>
              <a:rPr spc="-20" dirty="0"/>
              <a:t>Ltd.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4/30/26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425"/>
              </a:lnSpc>
            </a:pPr>
            <a:r>
              <a:rPr spc="-10" dirty="0"/>
              <a:t>6-</a:t>
            </a: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425"/>
              </a:lnSpc>
            </a:pPr>
            <a:r>
              <a:rPr dirty="0"/>
              <a:t>Copyright</a:t>
            </a:r>
            <a:r>
              <a:rPr spc="-15" dirty="0"/>
              <a:t> </a:t>
            </a:r>
            <a:r>
              <a:rPr dirty="0"/>
              <a:t>©</a:t>
            </a:r>
            <a:r>
              <a:rPr spc="-15" dirty="0"/>
              <a:t> </a:t>
            </a:r>
            <a:r>
              <a:rPr dirty="0"/>
              <a:t>2016</a:t>
            </a:r>
            <a:r>
              <a:rPr spc="-5" dirty="0"/>
              <a:t> </a:t>
            </a:r>
            <a:r>
              <a:rPr dirty="0"/>
              <a:t>Pearson</a:t>
            </a:r>
            <a:r>
              <a:rPr spc="-10" dirty="0"/>
              <a:t> </a:t>
            </a:r>
            <a:r>
              <a:rPr dirty="0"/>
              <a:t>Education,</a:t>
            </a:r>
            <a:r>
              <a:rPr spc="-15" dirty="0"/>
              <a:t> </a:t>
            </a:r>
            <a:r>
              <a:rPr spc="-20" dirty="0"/>
              <a:t>Ltd.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4/30/26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425"/>
              </a:lnSpc>
            </a:pPr>
            <a:r>
              <a:rPr spc="-10" dirty="0"/>
              <a:t>6-</a:t>
            </a: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1295400" y="6019800"/>
            <a:ext cx="7848600" cy="838200"/>
          </a:xfrm>
          <a:custGeom>
            <a:avLst/>
            <a:gdLst/>
            <a:ahLst/>
            <a:cxnLst/>
            <a:rect l="l" t="t" r="r" b="b"/>
            <a:pathLst>
              <a:path w="7848600" h="838200">
                <a:moveTo>
                  <a:pt x="0" y="0"/>
                </a:moveTo>
                <a:lnTo>
                  <a:pt x="7848600" y="0"/>
                </a:lnTo>
                <a:lnTo>
                  <a:pt x="7848600" y="838200"/>
                </a:lnTo>
                <a:lnTo>
                  <a:pt x="0" y="8382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1295400" y="6019800"/>
            <a:ext cx="7848600" cy="838200"/>
          </a:xfrm>
          <a:custGeom>
            <a:avLst/>
            <a:gdLst/>
            <a:ahLst/>
            <a:cxnLst/>
            <a:rect l="l" t="t" r="r" b="b"/>
            <a:pathLst>
              <a:path w="7848600" h="838200">
                <a:moveTo>
                  <a:pt x="0" y="0"/>
                </a:moveTo>
                <a:lnTo>
                  <a:pt x="7848600" y="0"/>
                </a:lnTo>
                <a:lnTo>
                  <a:pt x="7848600" y="838200"/>
                </a:lnTo>
                <a:lnTo>
                  <a:pt x="0" y="838200"/>
                </a:lnTo>
                <a:lnTo>
                  <a:pt x="0" y="0"/>
                </a:lnTo>
                <a:close/>
              </a:path>
            </a:pathLst>
          </a:custGeom>
          <a:ln w="1257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1289100" y="6013513"/>
            <a:ext cx="7861300" cy="850900"/>
          </a:xfrm>
          <a:custGeom>
            <a:avLst/>
            <a:gdLst/>
            <a:ahLst/>
            <a:cxnLst/>
            <a:rect l="l" t="t" r="r" b="b"/>
            <a:pathLst>
              <a:path w="7861300" h="850900">
                <a:moveTo>
                  <a:pt x="12585" y="6286"/>
                </a:moveTo>
                <a:lnTo>
                  <a:pt x="10744" y="1841"/>
                </a:lnTo>
                <a:lnTo>
                  <a:pt x="6299" y="0"/>
                </a:lnTo>
                <a:lnTo>
                  <a:pt x="1841" y="1841"/>
                </a:lnTo>
                <a:lnTo>
                  <a:pt x="0" y="6286"/>
                </a:lnTo>
                <a:lnTo>
                  <a:pt x="1841" y="10744"/>
                </a:lnTo>
                <a:lnTo>
                  <a:pt x="6299" y="12585"/>
                </a:lnTo>
                <a:lnTo>
                  <a:pt x="10744" y="10744"/>
                </a:lnTo>
                <a:lnTo>
                  <a:pt x="12585" y="6286"/>
                </a:lnTo>
                <a:close/>
              </a:path>
              <a:path w="7861300" h="850900">
                <a:moveTo>
                  <a:pt x="7861186" y="844486"/>
                </a:moveTo>
                <a:lnTo>
                  <a:pt x="7859344" y="840041"/>
                </a:lnTo>
                <a:lnTo>
                  <a:pt x="7854899" y="838200"/>
                </a:lnTo>
                <a:lnTo>
                  <a:pt x="7850441" y="840041"/>
                </a:lnTo>
                <a:lnTo>
                  <a:pt x="7848600" y="844486"/>
                </a:lnTo>
                <a:lnTo>
                  <a:pt x="7850441" y="848931"/>
                </a:lnTo>
                <a:lnTo>
                  <a:pt x="7854899" y="850773"/>
                </a:lnTo>
                <a:lnTo>
                  <a:pt x="7859344" y="848931"/>
                </a:lnTo>
                <a:lnTo>
                  <a:pt x="7861186" y="84448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9" name="bg object 1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6014720"/>
            <a:ext cx="1369060" cy="843280"/>
          </a:xfrm>
          <a:prstGeom prst="rect">
            <a:avLst/>
          </a:prstGeom>
        </p:spPr>
      </p:pic>
      <p:sp>
        <p:nvSpPr>
          <p:cNvPr id="20" name="bg object 20"/>
          <p:cNvSpPr/>
          <p:nvPr/>
        </p:nvSpPr>
        <p:spPr>
          <a:xfrm>
            <a:off x="0" y="5411470"/>
            <a:ext cx="7604759" cy="928369"/>
          </a:xfrm>
          <a:custGeom>
            <a:avLst/>
            <a:gdLst/>
            <a:ahLst/>
            <a:cxnLst/>
            <a:rect l="l" t="t" r="r" b="b"/>
            <a:pathLst>
              <a:path w="7604759" h="928370">
                <a:moveTo>
                  <a:pt x="0" y="0"/>
                </a:moveTo>
                <a:lnTo>
                  <a:pt x="0" y="76199"/>
                </a:lnTo>
                <a:lnTo>
                  <a:pt x="7225030" y="928369"/>
                </a:lnTo>
                <a:lnTo>
                  <a:pt x="7604759" y="89788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1295400" y="6019800"/>
            <a:ext cx="7848600" cy="838200"/>
          </a:xfrm>
          <a:custGeom>
            <a:avLst/>
            <a:gdLst/>
            <a:ahLst/>
            <a:cxnLst/>
            <a:rect l="l" t="t" r="r" b="b"/>
            <a:pathLst>
              <a:path w="7848600" h="838200">
                <a:moveTo>
                  <a:pt x="0" y="0"/>
                </a:moveTo>
                <a:lnTo>
                  <a:pt x="7848600" y="0"/>
                </a:lnTo>
                <a:lnTo>
                  <a:pt x="7848600" y="838200"/>
                </a:lnTo>
                <a:lnTo>
                  <a:pt x="0" y="8382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1295400" y="6019800"/>
            <a:ext cx="7848600" cy="838200"/>
          </a:xfrm>
          <a:custGeom>
            <a:avLst/>
            <a:gdLst/>
            <a:ahLst/>
            <a:cxnLst/>
            <a:rect l="l" t="t" r="r" b="b"/>
            <a:pathLst>
              <a:path w="7848600" h="838200">
                <a:moveTo>
                  <a:pt x="0" y="0"/>
                </a:moveTo>
                <a:lnTo>
                  <a:pt x="7848600" y="0"/>
                </a:lnTo>
                <a:lnTo>
                  <a:pt x="7848600" y="838200"/>
                </a:lnTo>
                <a:lnTo>
                  <a:pt x="0" y="838200"/>
                </a:lnTo>
                <a:lnTo>
                  <a:pt x="0" y="0"/>
                </a:lnTo>
                <a:close/>
              </a:path>
            </a:pathLst>
          </a:custGeom>
          <a:ln w="1257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g object 23"/>
          <p:cNvSpPr/>
          <p:nvPr/>
        </p:nvSpPr>
        <p:spPr>
          <a:xfrm>
            <a:off x="1289100" y="6013513"/>
            <a:ext cx="7861300" cy="850900"/>
          </a:xfrm>
          <a:custGeom>
            <a:avLst/>
            <a:gdLst/>
            <a:ahLst/>
            <a:cxnLst/>
            <a:rect l="l" t="t" r="r" b="b"/>
            <a:pathLst>
              <a:path w="7861300" h="850900">
                <a:moveTo>
                  <a:pt x="12585" y="6286"/>
                </a:moveTo>
                <a:lnTo>
                  <a:pt x="10744" y="1841"/>
                </a:lnTo>
                <a:lnTo>
                  <a:pt x="6299" y="0"/>
                </a:lnTo>
                <a:lnTo>
                  <a:pt x="1841" y="1841"/>
                </a:lnTo>
                <a:lnTo>
                  <a:pt x="0" y="6286"/>
                </a:lnTo>
                <a:lnTo>
                  <a:pt x="1841" y="10744"/>
                </a:lnTo>
                <a:lnTo>
                  <a:pt x="6299" y="12585"/>
                </a:lnTo>
                <a:lnTo>
                  <a:pt x="10744" y="10744"/>
                </a:lnTo>
                <a:lnTo>
                  <a:pt x="12585" y="6286"/>
                </a:lnTo>
                <a:close/>
              </a:path>
              <a:path w="7861300" h="850900">
                <a:moveTo>
                  <a:pt x="7861186" y="844486"/>
                </a:moveTo>
                <a:lnTo>
                  <a:pt x="7859344" y="840041"/>
                </a:lnTo>
                <a:lnTo>
                  <a:pt x="7854899" y="838200"/>
                </a:lnTo>
                <a:lnTo>
                  <a:pt x="7850441" y="840041"/>
                </a:lnTo>
                <a:lnTo>
                  <a:pt x="7848600" y="844486"/>
                </a:lnTo>
                <a:lnTo>
                  <a:pt x="7850441" y="848931"/>
                </a:lnTo>
                <a:lnTo>
                  <a:pt x="7854899" y="850773"/>
                </a:lnTo>
                <a:lnTo>
                  <a:pt x="7859344" y="848931"/>
                </a:lnTo>
                <a:lnTo>
                  <a:pt x="7861186" y="84448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4" name="bg object 24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6014720"/>
            <a:ext cx="1369060" cy="84328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73100" y="308610"/>
            <a:ext cx="7773669" cy="12306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48969" y="1635759"/>
            <a:ext cx="7739380" cy="36791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1449069" y="6349196"/>
            <a:ext cx="2889250" cy="1962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425"/>
              </a:lnSpc>
            </a:pPr>
            <a:r>
              <a:rPr dirty="0"/>
              <a:t>Copyright</a:t>
            </a:r>
            <a:r>
              <a:rPr spc="-15" dirty="0"/>
              <a:t> </a:t>
            </a:r>
            <a:r>
              <a:rPr dirty="0"/>
              <a:t>©</a:t>
            </a:r>
            <a:r>
              <a:rPr spc="-15" dirty="0"/>
              <a:t> </a:t>
            </a:r>
            <a:r>
              <a:rPr dirty="0"/>
              <a:t>2016</a:t>
            </a:r>
            <a:r>
              <a:rPr spc="-5" dirty="0"/>
              <a:t> </a:t>
            </a:r>
            <a:r>
              <a:rPr dirty="0"/>
              <a:t>Pearson</a:t>
            </a:r>
            <a:r>
              <a:rPr spc="-10" dirty="0"/>
              <a:t> </a:t>
            </a:r>
            <a:r>
              <a:rPr dirty="0"/>
              <a:t>Education,</a:t>
            </a:r>
            <a:r>
              <a:rPr spc="-15" dirty="0"/>
              <a:t> </a:t>
            </a:r>
            <a:r>
              <a:rPr spc="-20" dirty="0"/>
              <a:t>Ltd.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4/30/26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535669" y="6326336"/>
            <a:ext cx="331470" cy="1962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425"/>
              </a:lnSpc>
            </a:pPr>
            <a:r>
              <a:rPr spc="-10" dirty="0"/>
              <a:t>6-</a:t>
            </a: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ctr">
              <a:lnSpc>
                <a:spcPct val="100400"/>
              </a:lnSpc>
              <a:spcBef>
                <a:spcPts val="95"/>
              </a:spcBef>
            </a:pPr>
            <a:r>
              <a:rPr sz="3050" spc="290" dirty="0"/>
              <a:t>MANAGING</a:t>
            </a:r>
            <a:r>
              <a:rPr sz="3050" spc="55" dirty="0"/>
              <a:t> </a:t>
            </a:r>
            <a:r>
              <a:rPr sz="3050" spc="260" dirty="0"/>
              <a:t>SOCIAL </a:t>
            </a:r>
            <a:r>
              <a:rPr sz="3050" spc="225" dirty="0"/>
              <a:t>RESPONSIBILITY </a:t>
            </a:r>
            <a:r>
              <a:rPr sz="3050" spc="365" dirty="0"/>
              <a:t>AND</a:t>
            </a:r>
            <a:r>
              <a:rPr sz="3050" spc="75" dirty="0"/>
              <a:t> </a:t>
            </a:r>
            <a:r>
              <a:rPr sz="3050" spc="240" dirty="0"/>
              <a:t>ETHICS</a:t>
            </a:r>
            <a:endParaRPr sz="305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5054600" cy="5943600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7461310" y="4260910"/>
            <a:ext cx="1231900" cy="1308100"/>
            <a:chOff x="7461310" y="4260910"/>
            <a:chExt cx="1231900" cy="1308100"/>
          </a:xfrm>
        </p:grpSpPr>
        <p:sp>
          <p:nvSpPr>
            <p:cNvPr id="5" name="object 5"/>
            <p:cNvSpPr/>
            <p:nvPr/>
          </p:nvSpPr>
          <p:spPr>
            <a:xfrm>
              <a:off x="7467600" y="4267200"/>
              <a:ext cx="1219200" cy="1294130"/>
            </a:xfrm>
            <a:custGeom>
              <a:avLst/>
              <a:gdLst/>
              <a:ahLst/>
              <a:cxnLst/>
              <a:rect l="l" t="t" r="r" b="b"/>
              <a:pathLst>
                <a:path w="1219200" h="1294129">
                  <a:moveTo>
                    <a:pt x="641350" y="0"/>
                  </a:moveTo>
                  <a:lnTo>
                    <a:pt x="577850" y="0"/>
                  </a:lnTo>
                  <a:lnTo>
                    <a:pt x="546100" y="2539"/>
                  </a:lnTo>
                  <a:lnTo>
                    <a:pt x="482600" y="13969"/>
                  </a:lnTo>
                  <a:lnTo>
                    <a:pt x="391159" y="41910"/>
                  </a:lnTo>
                  <a:lnTo>
                    <a:pt x="332740" y="69850"/>
                  </a:lnTo>
                  <a:lnTo>
                    <a:pt x="276859" y="104139"/>
                  </a:lnTo>
                  <a:lnTo>
                    <a:pt x="226059" y="143510"/>
                  </a:lnTo>
                  <a:lnTo>
                    <a:pt x="179070" y="189230"/>
                  </a:lnTo>
                  <a:lnTo>
                    <a:pt x="115570" y="266700"/>
                  </a:lnTo>
                  <a:lnTo>
                    <a:pt x="81279" y="322580"/>
                  </a:lnTo>
                  <a:lnTo>
                    <a:pt x="52070" y="383539"/>
                  </a:lnTo>
                  <a:lnTo>
                    <a:pt x="29209" y="447039"/>
                  </a:lnTo>
                  <a:lnTo>
                    <a:pt x="12700" y="513080"/>
                  </a:lnTo>
                  <a:lnTo>
                    <a:pt x="2540" y="579119"/>
                  </a:lnTo>
                  <a:lnTo>
                    <a:pt x="0" y="613410"/>
                  </a:lnTo>
                  <a:lnTo>
                    <a:pt x="0" y="680719"/>
                  </a:lnTo>
                  <a:lnTo>
                    <a:pt x="12700" y="781050"/>
                  </a:lnTo>
                  <a:lnTo>
                    <a:pt x="29209" y="847089"/>
                  </a:lnTo>
                  <a:lnTo>
                    <a:pt x="52070" y="910589"/>
                  </a:lnTo>
                  <a:lnTo>
                    <a:pt x="81279" y="970280"/>
                  </a:lnTo>
                  <a:lnTo>
                    <a:pt x="115570" y="1027430"/>
                  </a:lnTo>
                  <a:lnTo>
                    <a:pt x="156209" y="1080770"/>
                  </a:lnTo>
                  <a:lnTo>
                    <a:pt x="200659" y="1127760"/>
                  </a:lnTo>
                  <a:lnTo>
                    <a:pt x="250190" y="1170940"/>
                  </a:lnTo>
                  <a:lnTo>
                    <a:pt x="304800" y="1207770"/>
                  </a:lnTo>
                  <a:lnTo>
                    <a:pt x="360679" y="1238250"/>
                  </a:lnTo>
                  <a:lnTo>
                    <a:pt x="450850" y="1272540"/>
                  </a:lnTo>
                  <a:lnTo>
                    <a:pt x="513079" y="1286510"/>
                  </a:lnTo>
                  <a:lnTo>
                    <a:pt x="576579" y="1294130"/>
                  </a:lnTo>
                  <a:lnTo>
                    <a:pt x="641350" y="1294130"/>
                  </a:lnTo>
                  <a:lnTo>
                    <a:pt x="704850" y="1286510"/>
                  </a:lnTo>
                  <a:lnTo>
                    <a:pt x="767079" y="1272540"/>
                  </a:lnTo>
                  <a:lnTo>
                    <a:pt x="828040" y="1252220"/>
                  </a:lnTo>
                  <a:lnTo>
                    <a:pt x="886459" y="1224280"/>
                  </a:lnTo>
                  <a:lnTo>
                    <a:pt x="941070" y="1189990"/>
                  </a:lnTo>
                  <a:lnTo>
                    <a:pt x="991870" y="1150620"/>
                  </a:lnTo>
                  <a:lnTo>
                    <a:pt x="1040129" y="1104900"/>
                  </a:lnTo>
                  <a:lnTo>
                    <a:pt x="1083309" y="1054100"/>
                  </a:lnTo>
                  <a:lnTo>
                    <a:pt x="1120140" y="999490"/>
                  </a:lnTo>
                  <a:lnTo>
                    <a:pt x="1151890" y="941069"/>
                  </a:lnTo>
                  <a:lnTo>
                    <a:pt x="1178559" y="878839"/>
                  </a:lnTo>
                  <a:lnTo>
                    <a:pt x="1197609" y="814069"/>
                  </a:lnTo>
                  <a:lnTo>
                    <a:pt x="1215390" y="715010"/>
                  </a:lnTo>
                  <a:lnTo>
                    <a:pt x="1217929" y="680719"/>
                  </a:lnTo>
                  <a:lnTo>
                    <a:pt x="1217929" y="646430"/>
                  </a:lnTo>
                  <a:lnTo>
                    <a:pt x="1219200" y="646430"/>
                  </a:lnTo>
                  <a:lnTo>
                    <a:pt x="1215390" y="579119"/>
                  </a:lnTo>
                  <a:lnTo>
                    <a:pt x="1205229" y="511810"/>
                  </a:lnTo>
                  <a:lnTo>
                    <a:pt x="1188720" y="447039"/>
                  </a:lnTo>
                  <a:lnTo>
                    <a:pt x="1165859" y="383539"/>
                  </a:lnTo>
                  <a:lnTo>
                    <a:pt x="1136650" y="322580"/>
                  </a:lnTo>
                  <a:lnTo>
                    <a:pt x="1102359" y="266700"/>
                  </a:lnTo>
                  <a:lnTo>
                    <a:pt x="1061720" y="213360"/>
                  </a:lnTo>
                  <a:lnTo>
                    <a:pt x="1017270" y="166369"/>
                  </a:lnTo>
                  <a:lnTo>
                    <a:pt x="967740" y="123189"/>
                  </a:lnTo>
                  <a:lnTo>
                    <a:pt x="914400" y="86360"/>
                  </a:lnTo>
                  <a:lnTo>
                    <a:pt x="828040" y="41910"/>
                  </a:lnTo>
                  <a:lnTo>
                    <a:pt x="767079" y="21589"/>
                  </a:lnTo>
                  <a:lnTo>
                    <a:pt x="704850" y="7619"/>
                  </a:lnTo>
                  <a:lnTo>
                    <a:pt x="673100" y="2539"/>
                  </a:lnTo>
                  <a:lnTo>
                    <a:pt x="641350" y="0"/>
                  </a:lnTo>
                  <a:close/>
                </a:path>
              </a:pathLst>
            </a:custGeom>
            <a:solidFill>
              <a:srgbClr val="FF1C1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467600" y="4267200"/>
              <a:ext cx="1219200" cy="1294130"/>
            </a:xfrm>
            <a:custGeom>
              <a:avLst/>
              <a:gdLst/>
              <a:ahLst/>
              <a:cxnLst/>
              <a:rect l="l" t="t" r="r" b="b"/>
              <a:pathLst>
                <a:path w="1219200" h="1294129">
                  <a:moveTo>
                    <a:pt x="0" y="647700"/>
                  </a:moveTo>
                  <a:lnTo>
                    <a:pt x="0" y="613410"/>
                  </a:lnTo>
                  <a:lnTo>
                    <a:pt x="2540" y="579119"/>
                  </a:lnTo>
                  <a:lnTo>
                    <a:pt x="7620" y="546100"/>
                  </a:lnTo>
                  <a:lnTo>
                    <a:pt x="12700" y="513080"/>
                  </a:lnTo>
                  <a:lnTo>
                    <a:pt x="20320" y="478789"/>
                  </a:lnTo>
                  <a:lnTo>
                    <a:pt x="29209" y="447039"/>
                  </a:lnTo>
                  <a:lnTo>
                    <a:pt x="40640" y="415289"/>
                  </a:lnTo>
                  <a:lnTo>
                    <a:pt x="52070" y="383539"/>
                  </a:lnTo>
                  <a:lnTo>
                    <a:pt x="81279" y="322580"/>
                  </a:lnTo>
                  <a:lnTo>
                    <a:pt x="115570" y="266700"/>
                  </a:lnTo>
                  <a:lnTo>
                    <a:pt x="135890" y="240030"/>
                  </a:lnTo>
                  <a:lnTo>
                    <a:pt x="156209" y="213360"/>
                  </a:lnTo>
                  <a:lnTo>
                    <a:pt x="201929" y="166369"/>
                  </a:lnTo>
                  <a:lnTo>
                    <a:pt x="251459" y="123189"/>
                  </a:lnTo>
                  <a:lnTo>
                    <a:pt x="304800" y="86360"/>
                  </a:lnTo>
                  <a:lnTo>
                    <a:pt x="361950" y="55880"/>
                  </a:lnTo>
                  <a:lnTo>
                    <a:pt x="391159" y="41910"/>
                  </a:lnTo>
                  <a:lnTo>
                    <a:pt x="421640" y="31750"/>
                  </a:lnTo>
                  <a:lnTo>
                    <a:pt x="452120" y="21589"/>
                  </a:lnTo>
                  <a:lnTo>
                    <a:pt x="482600" y="13969"/>
                  </a:lnTo>
                  <a:lnTo>
                    <a:pt x="514350" y="7619"/>
                  </a:lnTo>
                  <a:lnTo>
                    <a:pt x="546100" y="2539"/>
                  </a:lnTo>
                  <a:lnTo>
                    <a:pt x="577850" y="0"/>
                  </a:lnTo>
                  <a:lnTo>
                    <a:pt x="609600" y="0"/>
                  </a:lnTo>
                  <a:lnTo>
                    <a:pt x="641350" y="0"/>
                  </a:lnTo>
                  <a:lnTo>
                    <a:pt x="673100" y="2539"/>
                  </a:lnTo>
                  <a:lnTo>
                    <a:pt x="704850" y="7619"/>
                  </a:lnTo>
                  <a:lnTo>
                    <a:pt x="736600" y="13969"/>
                  </a:lnTo>
                  <a:lnTo>
                    <a:pt x="767079" y="21589"/>
                  </a:lnTo>
                  <a:lnTo>
                    <a:pt x="797559" y="31750"/>
                  </a:lnTo>
                  <a:lnTo>
                    <a:pt x="828040" y="41910"/>
                  </a:lnTo>
                  <a:lnTo>
                    <a:pt x="857250" y="55880"/>
                  </a:lnTo>
                  <a:lnTo>
                    <a:pt x="886459" y="69850"/>
                  </a:lnTo>
                  <a:lnTo>
                    <a:pt x="914400" y="86360"/>
                  </a:lnTo>
                  <a:lnTo>
                    <a:pt x="967740" y="123189"/>
                  </a:lnTo>
                  <a:lnTo>
                    <a:pt x="1017270" y="166369"/>
                  </a:lnTo>
                  <a:lnTo>
                    <a:pt x="1061720" y="213360"/>
                  </a:lnTo>
                  <a:lnTo>
                    <a:pt x="1102359" y="266700"/>
                  </a:lnTo>
                  <a:lnTo>
                    <a:pt x="1136650" y="322580"/>
                  </a:lnTo>
                  <a:lnTo>
                    <a:pt x="1165859" y="383539"/>
                  </a:lnTo>
                  <a:lnTo>
                    <a:pt x="1188720" y="447039"/>
                  </a:lnTo>
                  <a:lnTo>
                    <a:pt x="1205229" y="511810"/>
                  </a:lnTo>
                  <a:lnTo>
                    <a:pt x="1215390" y="579119"/>
                  </a:lnTo>
                  <a:lnTo>
                    <a:pt x="1219200" y="646430"/>
                  </a:lnTo>
                  <a:lnTo>
                    <a:pt x="1217929" y="646430"/>
                  </a:lnTo>
                  <a:lnTo>
                    <a:pt x="1217929" y="680719"/>
                  </a:lnTo>
                  <a:lnTo>
                    <a:pt x="1215390" y="715010"/>
                  </a:lnTo>
                  <a:lnTo>
                    <a:pt x="1210309" y="748030"/>
                  </a:lnTo>
                  <a:lnTo>
                    <a:pt x="1205229" y="781050"/>
                  </a:lnTo>
                  <a:lnTo>
                    <a:pt x="1188720" y="847089"/>
                  </a:lnTo>
                  <a:lnTo>
                    <a:pt x="1165859" y="910589"/>
                  </a:lnTo>
                  <a:lnTo>
                    <a:pt x="1136650" y="970280"/>
                  </a:lnTo>
                  <a:lnTo>
                    <a:pt x="1102359" y="1027430"/>
                  </a:lnTo>
                  <a:lnTo>
                    <a:pt x="1061720" y="1080770"/>
                  </a:lnTo>
                  <a:lnTo>
                    <a:pt x="1017270" y="1127760"/>
                  </a:lnTo>
                  <a:lnTo>
                    <a:pt x="967740" y="1170940"/>
                  </a:lnTo>
                  <a:lnTo>
                    <a:pt x="914400" y="1207770"/>
                  </a:lnTo>
                  <a:lnTo>
                    <a:pt x="857250" y="1238250"/>
                  </a:lnTo>
                  <a:lnTo>
                    <a:pt x="828040" y="1252220"/>
                  </a:lnTo>
                  <a:lnTo>
                    <a:pt x="797559" y="1262380"/>
                  </a:lnTo>
                  <a:lnTo>
                    <a:pt x="767079" y="1272540"/>
                  </a:lnTo>
                  <a:lnTo>
                    <a:pt x="735329" y="1280160"/>
                  </a:lnTo>
                  <a:lnTo>
                    <a:pt x="704850" y="1286510"/>
                  </a:lnTo>
                  <a:lnTo>
                    <a:pt x="673100" y="1290320"/>
                  </a:lnTo>
                  <a:lnTo>
                    <a:pt x="641350" y="1294130"/>
                  </a:lnTo>
                  <a:lnTo>
                    <a:pt x="609600" y="1294130"/>
                  </a:lnTo>
                  <a:lnTo>
                    <a:pt x="576579" y="1294130"/>
                  </a:lnTo>
                  <a:lnTo>
                    <a:pt x="544829" y="1290320"/>
                  </a:lnTo>
                  <a:lnTo>
                    <a:pt x="482600" y="1280160"/>
                  </a:lnTo>
                  <a:lnTo>
                    <a:pt x="420370" y="1262380"/>
                  </a:lnTo>
                  <a:lnTo>
                    <a:pt x="360679" y="1238250"/>
                  </a:lnTo>
                  <a:lnTo>
                    <a:pt x="304800" y="1207770"/>
                  </a:lnTo>
                  <a:lnTo>
                    <a:pt x="250190" y="1170940"/>
                  </a:lnTo>
                  <a:lnTo>
                    <a:pt x="200659" y="1127760"/>
                  </a:lnTo>
                  <a:lnTo>
                    <a:pt x="156209" y="1080770"/>
                  </a:lnTo>
                  <a:lnTo>
                    <a:pt x="115570" y="1027430"/>
                  </a:lnTo>
                  <a:lnTo>
                    <a:pt x="81279" y="970280"/>
                  </a:lnTo>
                  <a:lnTo>
                    <a:pt x="52070" y="910589"/>
                  </a:lnTo>
                  <a:lnTo>
                    <a:pt x="29209" y="847089"/>
                  </a:lnTo>
                  <a:lnTo>
                    <a:pt x="12700" y="781050"/>
                  </a:lnTo>
                  <a:lnTo>
                    <a:pt x="7620" y="748030"/>
                  </a:lnTo>
                  <a:lnTo>
                    <a:pt x="2540" y="715010"/>
                  </a:lnTo>
                  <a:lnTo>
                    <a:pt x="0" y="680719"/>
                  </a:lnTo>
                  <a:lnTo>
                    <a:pt x="0" y="646430"/>
                  </a:lnTo>
                  <a:lnTo>
                    <a:pt x="0" y="647700"/>
                  </a:lnTo>
                  <a:close/>
                </a:path>
              </a:pathLst>
            </a:custGeom>
            <a:ln w="12579">
              <a:solidFill>
                <a:srgbClr val="B7920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461301" y="4260913"/>
              <a:ext cx="1231900" cy="1308100"/>
            </a:xfrm>
            <a:custGeom>
              <a:avLst/>
              <a:gdLst/>
              <a:ahLst/>
              <a:cxnLst/>
              <a:rect l="l" t="t" r="r" b="b"/>
              <a:pathLst>
                <a:path w="1231900" h="1308100">
                  <a:moveTo>
                    <a:pt x="12585" y="6286"/>
                  </a:moveTo>
                  <a:lnTo>
                    <a:pt x="10744" y="1841"/>
                  </a:lnTo>
                  <a:lnTo>
                    <a:pt x="6299" y="0"/>
                  </a:lnTo>
                  <a:lnTo>
                    <a:pt x="1841" y="1841"/>
                  </a:lnTo>
                  <a:lnTo>
                    <a:pt x="0" y="6286"/>
                  </a:lnTo>
                  <a:lnTo>
                    <a:pt x="1841" y="10744"/>
                  </a:lnTo>
                  <a:lnTo>
                    <a:pt x="6299" y="12585"/>
                  </a:lnTo>
                  <a:lnTo>
                    <a:pt x="10744" y="10744"/>
                  </a:lnTo>
                  <a:lnTo>
                    <a:pt x="12585" y="6286"/>
                  </a:lnTo>
                  <a:close/>
                </a:path>
                <a:path w="1231900" h="1308100">
                  <a:moveTo>
                    <a:pt x="1231785" y="1301686"/>
                  </a:moveTo>
                  <a:lnTo>
                    <a:pt x="1229944" y="1297241"/>
                  </a:lnTo>
                  <a:lnTo>
                    <a:pt x="1225499" y="1295400"/>
                  </a:lnTo>
                  <a:lnTo>
                    <a:pt x="1221041" y="1297241"/>
                  </a:lnTo>
                  <a:lnTo>
                    <a:pt x="1219200" y="1301686"/>
                  </a:lnTo>
                  <a:lnTo>
                    <a:pt x="1221041" y="1306144"/>
                  </a:lnTo>
                  <a:lnTo>
                    <a:pt x="1225499" y="1307985"/>
                  </a:lnTo>
                  <a:lnTo>
                    <a:pt x="1229944" y="1306144"/>
                  </a:lnTo>
                  <a:lnTo>
                    <a:pt x="1231785" y="1301686"/>
                  </a:lnTo>
                  <a:close/>
                </a:path>
              </a:pathLst>
            </a:custGeom>
            <a:solidFill>
              <a:srgbClr val="B7920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7885430" y="4566920"/>
            <a:ext cx="38100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spc="434" dirty="0">
                <a:latin typeface="Trebuchet MS"/>
                <a:cs typeface="Trebuchet MS"/>
              </a:rPr>
              <a:t>6</a:t>
            </a:r>
            <a:endParaRPr sz="440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spc="-10" dirty="0"/>
              <a:t>6-</a:t>
            </a:r>
            <a:fld id="{81D60167-4931-47E6-BA6A-407CBD079E47}" type="slidenum">
              <a:rPr spc="-25" dirty="0"/>
              <a:t>1</a:t>
            </a:fld>
            <a:endParaRPr spc="-25" dirty="0"/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Copyright</a:t>
            </a:r>
            <a:r>
              <a:rPr spc="-15" dirty="0"/>
              <a:t> </a:t>
            </a:r>
            <a:r>
              <a:rPr dirty="0"/>
              <a:t>©</a:t>
            </a:r>
            <a:r>
              <a:rPr spc="-15" dirty="0"/>
              <a:t> </a:t>
            </a:r>
            <a:r>
              <a:rPr dirty="0"/>
              <a:t>2016</a:t>
            </a:r>
            <a:r>
              <a:rPr spc="-5" dirty="0"/>
              <a:t> </a:t>
            </a:r>
            <a:r>
              <a:rPr dirty="0"/>
              <a:t>Pearson</a:t>
            </a:r>
            <a:r>
              <a:rPr spc="-10" dirty="0"/>
              <a:t> </a:t>
            </a:r>
            <a:r>
              <a:rPr dirty="0"/>
              <a:t>Education,</a:t>
            </a:r>
            <a:r>
              <a:rPr spc="-15" dirty="0"/>
              <a:t> </a:t>
            </a:r>
            <a:r>
              <a:rPr spc="-20" dirty="0"/>
              <a:t>Ltd.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653539" y="558800"/>
            <a:ext cx="583311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pc="470" dirty="0">
                <a:latin typeface="Trebuchet MS"/>
                <a:cs typeface="Trebuchet MS"/>
              </a:rPr>
              <a:t>LEARNING</a:t>
            </a:r>
            <a:r>
              <a:rPr b="1" spc="190" dirty="0">
                <a:latin typeface="Trebuchet MS"/>
                <a:cs typeface="Trebuchet MS"/>
              </a:rPr>
              <a:t> </a:t>
            </a:r>
            <a:r>
              <a:rPr b="1" spc="345" dirty="0">
                <a:latin typeface="Trebuchet MS"/>
                <a:cs typeface="Trebuchet MS"/>
              </a:rPr>
              <a:t>OBJECTIVES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9780" y="5003800"/>
            <a:ext cx="66675" cy="15875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49250" y="1328420"/>
            <a:ext cx="8155940" cy="36163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81330" marR="42545" indent="-455930">
              <a:lnSpc>
                <a:spcPct val="100000"/>
              </a:lnSpc>
              <a:spcBef>
                <a:spcPts val="100"/>
              </a:spcBef>
              <a:buClr>
                <a:srgbClr val="FF1C1C"/>
              </a:buClr>
              <a:buSzPct val="84782"/>
              <a:buAutoNum type="arabicPeriod"/>
              <a:tabLst>
                <a:tab pos="481330" algn="l"/>
              </a:tabLst>
            </a:pPr>
            <a:r>
              <a:rPr sz="2300" b="1" dirty="0">
                <a:latin typeface="Arial"/>
                <a:cs typeface="Arial"/>
              </a:rPr>
              <a:t>Discuss</a:t>
            </a:r>
            <a:r>
              <a:rPr sz="2300" b="1" spc="-5" dirty="0">
                <a:latin typeface="Arial"/>
                <a:cs typeface="Arial"/>
              </a:rPr>
              <a:t> </a:t>
            </a:r>
            <a:r>
              <a:rPr sz="2300" dirty="0">
                <a:latin typeface="Arial MT"/>
                <a:cs typeface="Arial MT"/>
              </a:rPr>
              <a:t>what</a:t>
            </a:r>
            <a:r>
              <a:rPr sz="2300" spc="-20" dirty="0">
                <a:latin typeface="Arial MT"/>
                <a:cs typeface="Arial MT"/>
              </a:rPr>
              <a:t> </a:t>
            </a:r>
            <a:r>
              <a:rPr sz="2300" dirty="0">
                <a:latin typeface="Arial MT"/>
                <a:cs typeface="Arial MT"/>
              </a:rPr>
              <a:t>it</a:t>
            </a:r>
            <a:r>
              <a:rPr sz="2300" spc="-25" dirty="0">
                <a:latin typeface="Arial MT"/>
                <a:cs typeface="Arial MT"/>
              </a:rPr>
              <a:t> </a:t>
            </a:r>
            <a:r>
              <a:rPr sz="2300" dirty="0">
                <a:latin typeface="Arial MT"/>
                <a:cs typeface="Arial MT"/>
              </a:rPr>
              <a:t>means</a:t>
            </a:r>
            <a:r>
              <a:rPr sz="2300" spc="-10" dirty="0">
                <a:latin typeface="Arial MT"/>
                <a:cs typeface="Arial MT"/>
              </a:rPr>
              <a:t> </a:t>
            </a:r>
            <a:r>
              <a:rPr sz="2300" dirty="0">
                <a:latin typeface="Arial MT"/>
                <a:cs typeface="Arial MT"/>
              </a:rPr>
              <a:t>to</a:t>
            </a:r>
            <a:r>
              <a:rPr sz="2300" spc="-5" dirty="0">
                <a:latin typeface="Arial MT"/>
                <a:cs typeface="Arial MT"/>
              </a:rPr>
              <a:t> </a:t>
            </a:r>
            <a:r>
              <a:rPr sz="2300" dirty="0">
                <a:latin typeface="Arial MT"/>
                <a:cs typeface="Arial MT"/>
              </a:rPr>
              <a:t>be</a:t>
            </a:r>
            <a:r>
              <a:rPr sz="2300" spc="-10" dirty="0">
                <a:latin typeface="Arial MT"/>
                <a:cs typeface="Arial MT"/>
              </a:rPr>
              <a:t> </a:t>
            </a:r>
            <a:r>
              <a:rPr sz="2300" dirty="0">
                <a:latin typeface="Arial MT"/>
                <a:cs typeface="Arial MT"/>
              </a:rPr>
              <a:t>socially</a:t>
            </a:r>
            <a:r>
              <a:rPr sz="2300" spc="-10" dirty="0">
                <a:latin typeface="Arial MT"/>
                <a:cs typeface="Arial MT"/>
              </a:rPr>
              <a:t> </a:t>
            </a:r>
            <a:r>
              <a:rPr sz="2300" dirty="0">
                <a:latin typeface="Arial MT"/>
                <a:cs typeface="Arial MT"/>
              </a:rPr>
              <a:t>responsible</a:t>
            </a:r>
            <a:r>
              <a:rPr sz="2300" spc="-15" dirty="0">
                <a:latin typeface="Arial MT"/>
                <a:cs typeface="Arial MT"/>
              </a:rPr>
              <a:t> </a:t>
            </a:r>
            <a:r>
              <a:rPr sz="2300" dirty="0">
                <a:latin typeface="Arial MT"/>
                <a:cs typeface="Arial MT"/>
              </a:rPr>
              <a:t>and</a:t>
            </a:r>
            <a:r>
              <a:rPr sz="2300" spc="-10" dirty="0">
                <a:latin typeface="Arial MT"/>
                <a:cs typeface="Arial MT"/>
              </a:rPr>
              <a:t> </a:t>
            </a:r>
            <a:r>
              <a:rPr sz="2300" spc="-20" dirty="0">
                <a:latin typeface="Arial MT"/>
                <a:cs typeface="Arial MT"/>
              </a:rPr>
              <a:t>what </a:t>
            </a:r>
            <a:r>
              <a:rPr sz="2300" dirty="0">
                <a:latin typeface="Arial MT"/>
                <a:cs typeface="Arial MT"/>
              </a:rPr>
              <a:t>factors</a:t>
            </a:r>
            <a:r>
              <a:rPr sz="2300" spc="-15" dirty="0">
                <a:latin typeface="Arial MT"/>
                <a:cs typeface="Arial MT"/>
              </a:rPr>
              <a:t> </a:t>
            </a:r>
            <a:r>
              <a:rPr sz="2300" dirty="0">
                <a:latin typeface="Arial MT"/>
                <a:cs typeface="Arial MT"/>
              </a:rPr>
              <a:t>influence</a:t>
            </a:r>
            <a:r>
              <a:rPr sz="2300" spc="-10" dirty="0">
                <a:latin typeface="Arial MT"/>
                <a:cs typeface="Arial MT"/>
              </a:rPr>
              <a:t> </a:t>
            </a:r>
            <a:r>
              <a:rPr sz="2300" dirty="0">
                <a:latin typeface="Arial MT"/>
                <a:cs typeface="Arial MT"/>
              </a:rPr>
              <a:t>that</a:t>
            </a:r>
            <a:r>
              <a:rPr sz="2300" spc="-25" dirty="0">
                <a:latin typeface="Arial MT"/>
                <a:cs typeface="Arial MT"/>
              </a:rPr>
              <a:t> </a:t>
            </a:r>
            <a:r>
              <a:rPr sz="2300" spc="-10" dirty="0">
                <a:latin typeface="Arial MT"/>
                <a:cs typeface="Arial MT"/>
              </a:rPr>
              <a:t>decision.</a:t>
            </a:r>
            <a:endParaRPr sz="2300" dirty="0">
              <a:latin typeface="Arial MT"/>
              <a:cs typeface="Arial MT"/>
            </a:endParaRPr>
          </a:p>
          <a:p>
            <a:pPr marL="481330" marR="826135" indent="-455930">
              <a:lnSpc>
                <a:spcPct val="100000"/>
              </a:lnSpc>
              <a:spcBef>
                <a:spcPts val="700"/>
              </a:spcBef>
              <a:buClr>
                <a:srgbClr val="FF1C1C"/>
              </a:buClr>
              <a:buSzPct val="84782"/>
              <a:buAutoNum type="arabicPeriod"/>
              <a:tabLst>
                <a:tab pos="481330" algn="l"/>
              </a:tabLst>
            </a:pPr>
            <a:r>
              <a:rPr sz="2300" b="1" dirty="0">
                <a:latin typeface="Arial"/>
                <a:cs typeface="Arial"/>
              </a:rPr>
              <a:t>Discuss</a:t>
            </a:r>
            <a:r>
              <a:rPr sz="2300" b="1" spc="-5" dirty="0">
                <a:latin typeface="Arial"/>
                <a:cs typeface="Arial"/>
              </a:rPr>
              <a:t> </a:t>
            </a:r>
            <a:r>
              <a:rPr sz="2300" dirty="0">
                <a:latin typeface="Arial MT"/>
                <a:cs typeface="Arial MT"/>
              </a:rPr>
              <a:t>the</a:t>
            </a:r>
            <a:r>
              <a:rPr sz="2300" spc="-15" dirty="0">
                <a:latin typeface="Arial MT"/>
                <a:cs typeface="Arial MT"/>
              </a:rPr>
              <a:t> </a:t>
            </a:r>
            <a:r>
              <a:rPr sz="2300" dirty="0">
                <a:latin typeface="Arial MT"/>
                <a:cs typeface="Arial MT"/>
              </a:rPr>
              <a:t>factors</a:t>
            </a:r>
            <a:r>
              <a:rPr sz="2300" spc="-15" dirty="0">
                <a:latin typeface="Arial MT"/>
                <a:cs typeface="Arial MT"/>
              </a:rPr>
              <a:t> </a:t>
            </a:r>
            <a:r>
              <a:rPr sz="2300" dirty="0">
                <a:latin typeface="Arial MT"/>
                <a:cs typeface="Arial MT"/>
              </a:rPr>
              <a:t>that</a:t>
            </a:r>
            <a:r>
              <a:rPr sz="2300" spc="-20" dirty="0">
                <a:latin typeface="Arial MT"/>
                <a:cs typeface="Arial MT"/>
              </a:rPr>
              <a:t> </a:t>
            </a:r>
            <a:r>
              <a:rPr sz="2300" dirty="0">
                <a:latin typeface="Arial MT"/>
                <a:cs typeface="Arial MT"/>
              </a:rPr>
              <a:t>lead</a:t>
            </a:r>
            <a:r>
              <a:rPr sz="2300" spc="-15" dirty="0">
                <a:latin typeface="Arial MT"/>
                <a:cs typeface="Arial MT"/>
              </a:rPr>
              <a:t> </a:t>
            </a:r>
            <a:r>
              <a:rPr sz="2300" dirty="0">
                <a:latin typeface="Arial MT"/>
                <a:cs typeface="Arial MT"/>
              </a:rPr>
              <a:t>to</a:t>
            </a:r>
            <a:r>
              <a:rPr sz="2300" spc="-15" dirty="0">
                <a:latin typeface="Arial MT"/>
                <a:cs typeface="Arial MT"/>
              </a:rPr>
              <a:t> </a:t>
            </a:r>
            <a:r>
              <a:rPr sz="2300" dirty="0">
                <a:latin typeface="Arial MT"/>
                <a:cs typeface="Arial MT"/>
              </a:rPr>
              <a:t>ethical</a:t>
            </a:r>
            <a:r>
              <a:rPr sz="2300" spc="-15" dirty="0">
                <a:latin typeface="Arial MT"/>
                <a:cs typeface="Arial MT"/>
              </a:rPr>
              <a:t> </a:t>
            </a:r>
            <a:r>
              <a:rPr sz="2300" dirty="0">
                <a:latin typeface="Arial MT"/>
                <a:cs typeface="Arial MT"/>
              </a:rPr>
              <a:t>and</a:t>
            </a:r>
            <a:r>
              <a:rPr sz="2300" spc="-15" dirty="0">
                <a:latin typeface="Arial MT"/>
                <a:cs typeface="Arial MT"/>
              </a:rPr>
              <a:t> </a:t>
            </a:r>
            <a:r>
              <a:rPr sz="2300" spc="-10" dirty="0">
                <a:latin typeface="Arial MT"/>
                <a:cs typeface="Arial MT"/>
              </a:rPr>
              <a:t>unethical behavior.</a:t>
            </a:r>
            <a:endParaRPr sz="2300" dirty="0">
              <a:latin typeface="Arial MT"/>
              <a:cs typeface="Arial MT"/>
            </a:endParaRPr>
          </a:p>
          <a:p>
            <a:pPr marL="697865" lvl="1" indent="-273685">
              <a:lnSpc>
                <a:spcPct val="100000"/>
              </a:lnSpc>
              <a:spcBef>
                <a:spcPts val="700"/>
              </a:spcBef>
              <a:buClr>
                <a:srgbClr val="FF0000"/>
              </a:buClr>
              <a:buSzPct val="84090"/>
              <a:buFont typeface="Arial MT"/>
              <a:buChar char="•"/>
              <a:tabLst>
                <a:tab pos="697865" algn="l"/>
              </a:tabLst>
            </a:pPr>
            <a:r>
              <a:rPr sz="2200" b="1" dirty="0">
                <a:latin typeface="Arial"/>
                <a:cs typeface="Arial"/>
              </a:rPr>
              <a:t>Develop</a:t>
            </a:r>
            <a:r>
              <a:rPr sz="2200" b="1" spc="-60" dirty="0">
                <a:latin typeface="Arial"/>
                <a:cs typeface="Arial"/>
              </a:rPr>
              <a:t> </a:t>
            </a:r>
            <a:r>
              <a:rPr sz="2200" b="1" dirty="0">
                <a:latin typeface="Arial"/>
                <a:cs typeface="Arial"/>
              </a:rPr>
              <a:t>your</a:t>
            </a:r>
            <a:r>
              <a:rPr sz="2200" b="1" spc="-65" dirty="0">
                <a:latin typeface="Arial"/>
                <a:cs typeface="Arial"/>
              </a:rPr>
              <a:t> </a:t>
            </a:r>
            <a:r>
              <a:rPr sz="2200" b="1" dirty="0">
                <a:latin typeface="Arial"/>
                <a:cs typeface="Arial"/>
              </a:rPr>
              <a:t>skill</a:t>
            </a:r>
            <a:r>
              <a:rPr sz="2200" b="1" spc="-60" dirty="0">
                <a:latin typeface="Arial"/>
                <a:cs typeface="Arial"/>
              </a:rPr>
              <a:t> </a:t>
            </a:r>
            <a:r>
              <a:rPr sz="2200" b="1" dirty="0">
                <a:latin typeface="Arial"/>
                <a:cs typeface="Arial"/>
              </a:rPr>
              <a:t>at</a:t>
            </a:r>
            <a:r>
              <a:rPr sz="2200" b="1" spc="-45" dirty="0">
                <a:latin typeface="Arial"/>
                <a:cs typeface="Arial"/>
              </a:rPr>
              <a:t> </a:t>
            </a:r>
            <a:r>
              <a:rPr sz="2200" dirty="0">
                <a:latin typeface="Arial MT"/>
                <a:cs typeface="Arial MT"/>
              </a:rPr>
              <a:t>creating</a:t>
            </a:r>
            <a:r>
              <a:rPr sz="2200" spc="-6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trust</a:t>
            </a:r>
            <a:r>
              <a:rPr sz="2200" spc="-5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in</a:t>
            </a:r>
            <a:r>
              <a:rPr sz="2200" spc="-6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work</a:t>
            </a:r>
            <a:r>
              <a:rPr sz="2200" spc="-50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groups.</a:t>
            </a:r>
            <a:endParaRPr sz="2200" dirty="0">
              <a:latin typeface="Arial MT"/>
              <a:cs typeface="Arial MT"/>
            </a:endParaRPr>
          </a:p>
          <a:p>
            <a:pPr marL="481330" marR="934719" indent="-455930">
              <a:lnSpc>
                <a:spcPct val="100000"/>
              </a:lnSpc>
              <a:spcBef>
                <a:spcPts val="700"/>
              </a:spcBef>
              <a:buClr>
                <a:srgbClr val="FF1C1C"/>
              </a:buClr>
              <a:buSzPct val="84782"/>
              <a:buAutoNum type="arabicPeriod"/>
              <a:tabLst>
                <a:tab pos="481330" algn="l"/>
              </a:tabLst>
            </a:pPr>
            <a:r>
              <a:rPr sz="2300" b="1" dirty="0">
                <a:latin typeface="Arial"/>
                <a:cs typeface="Arial"/>
              </a:rPr>
              <a:t>Describe</a:t>
            </a:r>
            <a:r>
              <a:rPr sz="2300" b="1" spc="-5" dirty="0">
                <a:latin typeface="Arial"/>
                <a:cs typeface="Arial"/>
              </a:rPr>
              <a:t> </a:t>
            </a:r>
            <a:r>
              <a:rPr sz="2300" dirty="0">
                <a:latin typeface="Arial MT"/>
                <a:cs typeface="Arial MT"/>
              </a:rPr>
              <a:t>management’s</a:t>
            </a:r>
            <a:r>
              <a:rPr sz="2300" spc="-40" dirty="0">
                <a:latin typeface="Arial MT"/>
                <a:cs typeface="Arial MT"/>
              </a:rPr>
              <a:t> </a:t>
            </a:r>
            <a:r>
              <a:rPr sz="2300" dirty="0">
                <a:latin typeface="Arial MT"/>
                <a:cs typeface="Arial MT"/>
              </a:rPr>
              <a:t>role</a:t>
            </a:r>
            <a:r>
              <a:rPr sz="2300" spc="-15" dirty="0">
                <a:latin typeface="Arial MT"/>
                <a:cs typeface="Arial MT"/>
              </a:rPr>
              <a:t> </a:t>
            </a:r>
            <a:r>
              <a:rPr sz="2300" dirty="0">
                <a:latin typeface="Arial MT"/>
                <a:cs typeface="Arial MT"/>
              </a:rPr>
              <a:t>in</a:t>
            </a:r>
            <a:r>
              <a:rPr sz="2300" spc="-15" dirty="0">
                <a:latin typeface="Arial MT"/>
                <a:cs typeface="Arial MT"/>
              </a:rPr>
              <a:t> </a:t>
            </a:r>
            <a:r>
              <a:rPr sz="2300" dirty="0">
                <a:latin typeface="Arial MT"/>
                <a:cs typeface="Arial MT"/>
              </a:rPr>
              <a:t>encouraging</a:t>
            </a:r>
            <a:r>
              <a:rPr sz="2300" spc="-25" dirty="0">
                <a:latin typeface="Arial MT"/>
                <a:cs typeface="Arial MT"/>
              </a:rPr>
              <a:t> </a:t>
            </a:r>
            <a:r>
              <a:rPr sz="2300" spc="-10" dirty="0">
                <a:latin typeface="Arial MT"/>
                <a:cs typeface="Arial MT"/>
              </a:rPr>
              <a:t>ethical behavior.</a:t>
            </a:r>
            <a:endParaRPr sz="2300" dirty="0">
              <a:latin typeface="Arial MT"/>
              <a:cs typeface="Arial MT"/>
            </a:endParaRPr>
          </a:p>
          <a:p>
            <a:pPr marL="698500">
              <a:lnSpc>
                <a:spcPct val="100000"/>
              </a:lnSpc>
              <a:spcBef>
                <a:spcPts val="690"/>
              </a:spcBef>
            </a:pPr>
            <a:r>
              <a:rPr sz="2200" b="1" dirty="0">
                <a:latin typeface="Arial"/>
                <a:cs typeface="Arial"/>
              </a:rPr>
              <a:t>Know</a:t>
            </a:r>
            <a:r>
              <a:rPr sz="2200" b="1" spc="-50" dirty="0">
                <a:latin typeface="Arial"/>
                <a:cs typeface="Arial"/>
              </a:rPr>
              <a:t> </a:t>
            </a:r>
            <a:r>
              <a:rPr sz="2200" b="1" dirty="0">
                <a:latin typeface="Arial"/>
                <a:cs typeface="Arial"/>
              </a:rPr>
              <a:t>how</a:t>
            </a:r>
            <a:r>
              <a:rPr sz="2200" b="1" spc="-35" dirty="0">
                <a:latin typeface="Arial"/>
                <a:cs typeface="Arial"/>
              </a:rPr>
              <a:t> </a:t>
            </a:r>
            <a:r>
              <a:rPr sz="2200" dirty="0">
                <a:latin typeface="Arial MT"/>
                <a:cs typeface="Arial MT"/>
              </a:rPr>
              <a:t>to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make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good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decisions</a:t>
            </a:r>
            <a:r>
              <a:rPr sz="2200" spc="-6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about</a:t>
            </a:r>
            <a:r>
              <a:rPr sz="2200" spc="-6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ethical</a:t>
            </a:r>
            <a:r>
              <a:rPr sz="2200" spc="-50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dilemmas.</a:t>
            </a:r>
            <a:endParaRPr sz="2200" dirty="0">
              <a:latin typeface="Arial MT"/>
              <a:cs typeface="Arial MT"/>
            </a:endParaRPr>
          </a:p>
          <a:p>
            <a:pPr marL="480695" indent="-455295">
              <a:lnSpc>
                <a:spcPct val="100000"/>
              </a:lnSpc>
              <a:spcBef>
                <a:spcPts val="700"/>
              </a:spcBef>
              <a:buClr>
                <a:srgbClr val="FF1C1C"/>
              </a:buClr>
              <a:buSzPct val="84782"/>
              <a:buAutoNum type="arabicPeriod" startAt="5"/>
              <a:tabLst>
                <a:tab pos="480695" algn="l"/>
              </a:tabLst>
            </a:pPr>
            <a:r>
              <a:rPr sz="2300" b="1" dirty="0">
                <a:latin typeface="Arial"/>
                <a:cs typeface="Arial"/>
              </a:rPr>
              <a:t>Discuss</a:t>
            </a:r>
            <a:r>
              <a:rPr sz="2300" b="1" spc="-15" dirty="0">
                <a:latin typeface="Arial"/>
                <a:cs typeface="Arial"/>
              </a:rPr>
              <a:t> </a:t>
            </a:r>
            <a:r>
              <a:rPr sz="2300" dirty="0">
                <a:latin typeface="Arial MT"/>
                <a:cs typeface="Arial MT"/>
              </a:rPr>
              <a:t>current</a:t>
            </a:r>
            <a:r>
              <a:rPr sz="2300" spc="-30" dirty="0">
                <a:latin typeface="Arial MT"/>
                <a:cs typeface="Arial MT"/>
              </a:rPr>
              <a:t> </a:t>
            </a:r>
            <a:r>
              <a:rPr sz="2300" dirty="0">
                <a:latin typeface="Arial MT"/>
                <a:cs typeface="Arial MT"/>
              </a:rPr>
              <a:t>social</a:t>
            </a:r>
            <a:r>
              <a:rPr sz="2300" spc="-20" dirty="0">
                <a:latin typeface="Arial MT"/>
                <a:cs typeface="Arial MT"/>
              </a:rPr>
              <a:t> </a:t>
            </a:r>
            <a:r>
              <a:rPr sz="2300" dirty="0">
                <a:latin typeface="Arial MT"/>
                <a:cs typeface="Arial MT"/>
              </a:rPr>
              <a:t>responsibility</a:t>
            </a:r>
            <a:r>
              <a:rPr sz="2300" spc="-25" dirty="0">
                <a:latin typeface="Arial MT"/>
                <a:cs typeface="Arial MT"/>
              </a:rPr>
              <a:t> </a:t>
            </a:r>
            <a:r>
              <a:rPr sz="2300" dirty="0">
                <a:latin typeface="Arial MT"/>
                <a:cs typeface="Arial MT"/>
              </a:rPr>
              <a:t>and</a:t>
            </a:r>
            <a:r>
              <a:rPr sz="2300" spc="-15" dirty="0">
                <a:latin typeface="Arial MT"/>
                <a:cs typeface="Arial MT"/>
              </a:rPr>
              <a:t> </a:t>
            </a:r>
            <a:r>
              <a:rPr sz="2300" dirty="0">
                <a:latin typeface="Arial MT"/>
                <a:cs typeface="Arial MT"/>
              </a:rPr>
              <a:t>ethics</a:t>
            </a:r>
            <a:r>
              <a:rPr sz="2300" spc="-25" dirty="0">
                <a:latin typeface="Arial MT"/>
                <a:cs typeface="Arial MT"/>
              </a:rPr>
              <a:t> </a:t>
            </a:r>
            <a:r>
              <a:rPr sz="2300" spc="-10" dirty="0">
                <a:latin typeface="Arial MT"/>
                <a:cs typeface="Arial MT"/>
              </a:rPr>
              <a:t>issues.</a:t>
            </a:r>
            <a:endParaRPr sz="2300" dirty="0">
              <a:latin typeface="Arial MT"/>
              <a:cs typeface="Arial MT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spc="-10" dirty="0"/>
              <a:t>6-</a:t>
            </a:r>
            <a:fld id="{81D60167-4931-47E6-BA6A-407CBD079E47}" type="slidenum">
              <a:rPr spc="-25" dirty="0"/>
              <a:t>2</a:t>
            </a:fld>
            <a:endParaRPr spc="-25" dirty="0"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Copyright</a:t>
            </a:r>
            <a:r>
              <a:rPr spc="-15" dirty="0"/>
              <a:t> </a:t>
            </a:r>
            <a:r>
              <a:rPr dirty="0"/>
              <a:t>©</a:t>
            </a:r>
            <a:r>
              <a:rPr spc="-15" dirty="0"/>
              <a:t> </a:t>
            </a:r>
            <a:r>
              <a:rPr dirty="0"/>
              <a:t>2016</a:t>
            </a:r>
            <a:r>
              <a:rPr spc="-5" dirty="0"/>
              <a:t> </a:t>
            </a:r>
            <a:r>
              <a:rPr dirty="0"/>
              <a:t>Pearson</a:t>
            </a:r>
            <a:r>
              <a:rPr spc="-10" dirty="0"/>
              <a:t> </a:t>
            </a:r>
            <a:r>
              <a:rPr dirty="0"/>
              <a:t>Education,</a:t>
            </a:r>
            <a:r>
              <a:rPr spc="-15" dirty="0"/>
              <a:t> </a:t>
            </a:r>
            <a:r>
              <a:rPr spc="-20" dirty="0"/>
              <a:t>Ltd.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8FC774-7A61-3D16-BB47-88A3505A00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3100" y="308610"/>
            <a:ext cx="7773669" cy="553998"/>
          </a:xfrm>
        </p:spPr>
        <p:txBody>
          <a:bodyPr/>
          <a:lstStyle/>
          <a:p>
            <a:r>
              <a:rPr lang="en-US" dirty="0"/>
              <a:t>What is Ethics?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6C13A3-F24C-286B-9411-86A0D3B42D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77876" y="1219200"/>
            <a:ext cx="8159749" cy="4570482"/>
          </a:xfrm>
        </p:spPr>
        <p:txBody>
          <a:bodyPr/>
          <a:lstStyle/>
          <a:p>
            <a:pPr marL="457200" indent="-457200">
              <a:buFont typeface="Wingdings" pitchFamily="2" charset="2"/>
              <a:buChar char="q"/>
            </a:pPr>
            <a:r>
              <a:rPr lang="en-US" dirty="0"/>
              <a:t>Do you follow Ethics in your daily life?</a:t>
            </a:r>
          </a:p>
          <a:p>
            <a:pPr marL="457200" indent="-457200">
              <a:buFont typeface="Wingdings" pitchFamily="2" charset="2"/>
              <a:buChar char="q"/>
            </a:pPr>
            <a:r>
              <a:rPr lang="en-US" dirty="0"/>
              <a:t>Would you cheat to pass an exam???</a:t>
            </a:r>
          </a:p>
          <a:p>
            <a:pPr marL="457200" indent="-457200">
              <a:buFont typeface="Wingdings" pitchFamily="2" charset="2"/>
              <a:buChar char="q"/>
            </a:pPr>
            <a:r>
              <a:rPr lang="en-US" dirty="0"/>
              <a:t>Would you lie to get promoted ???</a:t>
            </a:r>
          </a:p>
          <a:p>
            <a:pPr marL="457200" indent="-457200">
              <a:buFont typeface="Wingdings" pitchFamily="2" charset="2"/>
              <a:buChar char="q"/>
            </a:pPr>
            <a:r>
              <a:rPr lang="en-US" dirty="0"/>
              <a:t>Would you forge documents to get a better position?</a:t>
            </a:r>
          </a:p>
          <a:p>
            <a:pPr marL="457200" indent="-457200">
              <a:buFont typeface="Wingdings" pitchFamily="2" charset="2"/>
              <a:buChar char="q"/>
            </a:pPr>
            <a:r>
              <a:rPr lang="en-US" dirty="0"/>
              <a:t>Would you copy someone else's work to get good grade?</a:t>
            </a:r>
          </a:p>
          <a:p>
            <a:pPr marL="457200" indent="-457200">
              <a:buFont typeface="Wingdings" pitchFamily="2" charset="2"/>
              <a:buChar char="q"/>
            </a:pPr>
            <a:r>
              <a:rPr lang="en-US" dirty="0"/>
              <a:t>Would you buy some expensive gifts in return for a good grade or post ??</a:t>
            </a:r>
          </a:p>
          <a:p>
            <a:pPr marL="457200" indent="-457200">
              <a:buFont typeface="Wingdings" pitchFamily="2" charset="2"/>
              <a:buChar char="q"/>
            </a:pPr>
            <a:r>
              <a:rPr lang="en-US" dirty="0"/>
              <a:t>Would you sell your product on lies to gain more profit???</a:t>
            </a:r>
          </a:p>
        </p:txBody>
      </p:sp>
    </p:spTree>
    <p:extLst>
      <p:ext uri="{BB962C8B-B14F-4D97-AF65-F5344CB8AC3E}">
        <p14:creationId xmlns:p14="http://schemas.microsoft.com/office/powerpoint/2010/main" val="39502961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7EF91E-6D36-08A8-B663-D523FFFC89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3100" y="308610"/>
            <a:ext cx="7773669" cy="1107996"/>
          </a:xfrm>
        </p:spPr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Ethical Question: </a:t>
            </a:r>
            <a:r>
              <a:rPr lang="en-GB" b="1" dirty="0">
                <a:solidFill>
                  <a:srgbClr val="FF0000"/>
                </a:solidFill>
              </a:rPr>
              <a:t>Case Question</a:t>
            </a:r>
            <a:br>
              <a:rPr lang="en-GB" b="1" dirty="0">
                <a:solidFill>
                  <a:srgbClr val="FF0000"/>
                </a:solidFill>
              </a:rPr>
            </a:b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98BB9F-D256-DD41-3292-FCF8D734F5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8968" y="1635758"/>
            <a:ext cx="8114032" cy="3926841"/>
          </a:xfrm>
        </p:spPr>
        <p:txBody>
          <a:bodyPr/>
          <a:lstStyle/>
          <a:p>
            <a:r>
              <a:rPr lang="en-GB" sz="3200" dirty="0"/>
              <a:t>A university teacher owns a clothing shop and </a:t>
            </a:r>
            <a:r>
              <a:rPr lang="en-GB" sz="3200" b="1" dirty="0"/>
              <a:t>requires students to purchase their uniforms only from his outlet</a:t>
            </a:r>
            <a:r>
              <a:rPr lang="en-GB" sz="3200" dirty="0"/>
              <a:t>.</a:t>
            </a:r>
          </a:p>
          <a:p>
            <a:endParaRPr lang="en-GB" sz="3200" dirty="0"/>
          </a:p>
          <a:p>
            <a:r>
              <a:rPr lang="en-GB" sz="3200" dirty="0"/>
              <a:t>👉 </a:t>
            </a:r>
            <a:r>
              <a:rPr lang="en-GB" sz="3200" b="1" dirty="0"/>
              <a:t>Is this socially acceptable and ethically acceptable?</a:t>
            </a:r>
            <a:endParaRPr lang="en-GB" sz="3200" dirty="0"/>
          </a:p>
          <a:p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517346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93599A-871D-FD6A-0B7A-C3FE2D7B88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3100" y="308610"/>
            <a:ext cx="7773669" cy="1107996"/>
          </a:xfrm>
        </p:spPr>
        <p:txBody>
          <a:bodyPr/>
          <a:lstStyle/>
          <a:p>
            <a:r>
              <a:rPr lang="en-GB" b="1" dirty="0">
                <a:solidFill>
                  <a:srgbClr val="FF0000"/>
                </a:solidFill>
              </a:rPr>
              <a:t>Scenario: 2</a:t>
            </a:r>
            <a:br>
              <a:rPr lang="en-GB" b="1" dirty="0">
                <a:solidFill>
                  <a:srgbClr val="FF0000"/>
                </a:solidFill>
              </a:rPr>
            </a:b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55E8DA-681B-97FA-3325-587B39769C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8969" y="1635759"/>
            <a:ext cx="7739380" cy="2908489"/>
          </a:xfrm>
        </p:spPr>
        <p:txBody>
          <a:bodyPr/>
          <a:lstStyle/>
          <a:p>
            <a:r>
              <a:rPr lang="en-GB" b="1" dirty="0"/>
              <a:t>Scenario</a:t>
            </a:r>
          </a:p>
          <a:p>
            <a:r>
              <a:rPr lang="en-GB" dirty="0"/>
              <a:t>A teacher tells students that those who join his </a:t>
            </a:r>
            <a:r>
              <a:rPr lang="en-GB" b="1" dirty="0"/>
              <a:t>private tuition academy</a:t>
            </a:r>
            <a:r>
              <a:rPr lang="en-GB" dirty="0"/>
              <a:t> will receive “better guidance” and are more likely to pass exams.</a:t>
            </a:r>
          </a:p>
          <a:p>
            <a:r>
              <a:rPr lang="en-GB" dirty="0"/>
              <a:t>👉 </a:t>
            </a:r>
            <a:r>
              <a:rPr lang="en-GB" b="1" dirty="0"/>
              <a:t>Question:</a:t>
            </a:r>
            <a:br>
              <a:rPr lang="en-GB" dirty="0"/>
            </a:br>
            <a:r>
              <a:rPr lang="en-GB" dirty="0"/>
              <a:t>Is this socially and ethically acceptable?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28370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0AA57A-C819-DAFF-A099-07BDD83825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328969"/>
            <a:ext cx="7773669" cy="5539978"/>
          </a:xfrm>
        </p:spPr>
        <p:txBody>
          <a:bodyPr/>
          <a:lstStyle/>
          <a:p>
            <a:r>
              <a:rPr lang="en-GB" dirty="0"/>
              <a:t>A pharmaceutical company sets a </a:t>
            </a:r>
            <a:r>
              <a:rPr lang="en-GB" b="1" dirty="0"/>
              <a:t>very high price</a:t>
            </a:r>
            <a:r>
              <a:rPr lang="en-GB" dirty="0"/>
              <a:t> for a life-saving drug to recover R&amp;D costs and maximize profit.</a:t>
            </a:r>
            <a:br>
              <a:rPr lang="en-GB" dirty="0"/>
            </a:br>
            <a:br>
              <a:rPr lang="en-GB" dirty="0"/>
            </a:br>
            <a:br>
              <a:rPr lang="en-GB" dirty="0"/>
            </a:br>
            <a:br>
              <a:rPr lang="en-GB" dirty="0"/>
            </a:br>
            <a:r>
              <a:rPr lang="en-GB" b="1" dirty="0"/>
              <a:t>Discussion Question</a:t>
            </a:r>
            <a:br>
              <a:rPr lang="en-GB" b="1" dirty="0"/>
            </a:br>
            <a:r>
              <a:rPr lang="en-GB" dirty="0"/>
              <a:t>👉 Is this ethically acceptable?</a:t>
            </a:r>
            <a:br>
              <a:rPr lang="en-GB" dirty="0"/>
            </a:br>
            <a:endParaRPr lang="en-US" dirty="0"/>
          </a:p>
        </p:txBody>
      </p:sp>
      <p:pic>
        <p:nvPicPr>
          <p:cNvPr id="4" name="Picture 3" descr="Drugs and calculator on Pakistani currency. Cost of drugs concept.">
            <a:extLst>
              <a:ext uri="{FF2B5EF4-FFF2-40B4-BE49-F238E27FC236}">
                <a16:creationId xmlns:a16="http://schemas.microsoft.com/office/drawing/2014/main" id="{24D41659-2C76-962C-9D64-1510AA8177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0200" y="2185615"/>
            <a:ext cx="3733800" cy="2486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54320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CC54AF-4BFB-4A00-4F45-7A65ADD9A0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3100" y="308610"/>
            <a:ext cx="7773669" cy="553998"/>
          </a:xfrm>
        </p:spPr>
        <p:txBody>
          <a:bodyPr/>
          <a:lstStyle/>
          <a:p>
            <a:r>
              <a:rPr lang="en-US" dirty="0"/>
              <a:t>Engro and its Social Responsibilities</a:t>
            </a:r>
          </a:p>
        </p:txBody>
      </p:sp>
      <p:pic>
        <p:nvPicPr>
          <p:cNvPr id="4" name="Picture 3" descr="education programs - engro foundation">
            <a:extLst>
              <a:ext uri="{FF2B5EF4-FFF2-40B4-BE49-F238E27FC236}">
                <a16:creationId xmlns:a16="http://schemas.microsoft.com/office/drawing/2014/main" id="{333DC053-77E3-70CC-DA17-0E11D8932D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86992"/>
            <a:ext cx="4152900" cy="2875085"/>
          </a:xfrm>
          <a:prstGeom prst="rect">
            <a:avLst/>
          </a:prstGeom>
        </p:spPr>
      </p:pic>
      <p:pic>
        <p:nvPicPr>
          <p:cNvPr id="5" name="Picture 4" descr="Educational NGOs in Pakistan | Moawin Foundation Impact">
            <a:extLst>
              <a:ext uri="{FF2B5EF4-FFF2-40B4-BE49-F238E27FC236}">
                <a16:creationId xmlns:a16="http://schemas.microsoft.com/office/drawing/2014/main" id="{477775C7-EDC5-5F06-89A2-141A1DF906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52900" y="1145083"/>
            <a:ext cx="4722876" cy="2656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40116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BCF4BF-8676-2922-7DC4-09F0E51F4F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 descr="Meezan Bank donates Rs. 35 million to finance Solar Panels System for Indus Hospital - Biz Today">
            <a:extLst>
              <a:ext uri="{FF2B5EF4-FFF2-40B4-BE49-F238E27FC236}">
                <a16:creationId xmlns:a16="http://schemas.microsoft.com/office/drawing/2014/main" id="{E1DD9F1C-1461-3469-23FE-668ED2BB1A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724" y="275082"/>
            <a:ext cx="8347307" cy="5347493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AF45B4-8E8D-7AB7-ED89-DC5DFDD9D0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98194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02869" rIns="0" bIns="0" rtlCol="0">
            <a:spAutoFit/>
          </a:bodyPr>
          <a:lstStyle/>
          <a:p>
            <a:pPr marL="2123440" marR="5080" indent="-1981200">
              <a:lnSpc>
                <a:spcPct val="100000"/>
              </a:lnSpc>
              <a:spcBef>
                <a:spcPts val="100"/>
              </a:spcBef>
            </a:pPr>
            <a:r>
              <a:rPr sz="2850" spc="290" dirty="0"/>
              <a:t>FROM</a:t>
            </a:r>
            <a:r>
              <a:rPr sz="2850" spc="55" dirty="0"/>
              <a:t> </a:t>
            </a:r>
            <a:r>
              <a:rPr sz="2850" spc="185" dirty="0"/>
              <a:t>OBLIGATION</a:t>
            </a:r>
            <a:r>
              <a:rPr sz="2850" spc="55" dirty="0"/>
              <a:t> </a:t>
            </a:r>
            <a:r>
              <a:rPr sz="2850" spc="190" dirty="0"/>
              <a:t>TO</a:t>
            </a:r>
            <a:r>
              <a:rPr sz="2850" spc="60" dirty="0"/>
              <a:t> </a:t>
            </a:r>
            <a:r>
              <a:rPr sz="2850" spc="280" dirty="0"/>
              <a:t>RESPONSIVENESS </a:t>
            </a:r>
            <a:r>
              <a:rPr sz="2850" spc="190" dirty="0"/>
              <a:t>TO</a:t>
            </a:r>
            <a:r>
              <a:rPr sz="2850" spc="45" dirty="0"/>
              <a:t> </a:t>
            </a:r>
            <a:r>
              <a:rPr sz="2850" spc="195" dirty="0"/>
              <a:t>RESPONSIBILITY</a:t>
            </a:r>
            <a:endParaRPr sz="2850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spc="-10" dirty="0"/>
              <a:t>6-</a:t>
            </a:r>
            <a:fld id="{81D60167-4931-47E6-BA6A-407CBD079E47}" type="slidenum">
              <a:rPr spc="-25" dirty="0"/>
              <a:t>9</a:t>
            </a:fld>
            <a:endParaRPr spc="-25" dirty="0"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Copyright</a:t>
            </a:r>
            <a:r>
              <a:rPr spc="-15" dirty="0"/>
              <a:t> </a:t>
            </a:r>
            <a:r>
              <a:rPr dirty="0"/>
              <a:t>©</a:t>
            </a:r>
            <a:r>
              <a:rPr spc="-15" dirty="0"/>
              <a:t> </a:t>
            </a:r>
            <a:r>
              <a:rPr dirty="0"/>
              <a:t>2016</a:t>
            </a:r>
            <a:r>
              <a:rPr spc="-5" dirty="0"/>
              <a:t> </a:t>
            </a:r>
            <a:r>
              <a:rPr dirty="0"/>
              <a:t>Pearson</a:t>
            </a:r>
            <a:r>
              <a:rPr spc="-10" dirty="0"/>
              <a:t> </a:t>
            </a:r>
            <a:r>
              <a:rPr dirty="0"/>
              <a:t>Education,</a:t>
            </a:r>
            <a:r>
              <a:rPr spc="-15" dirty="0"/>
              <a:t> </a:t>
            </a:r>
            <a:r>
              <a:rPr spc="-20" dirty="0"/>
              <a:t>Ltd.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73100" y="1649730"/>
            <a:ext cx="131445" cy="3886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350" spc="-50" dirty="0">
                <a:solidFill>
                  <a:srgbClr val="FF1C1C"/>
                </a:solidFill>
                <a:latin typeface="Arial MT"/>
                <a:cs typeface="Arial MT"/>
              </a:rPr>
              <a:t>•</a:t>
            </a:r>
            <a:endParaRPr sz="235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30300" y="1634490"/>
            <a:ext cx="7265034" cy="26631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932180">
              <a:lnSpc>
                <a:spcPct val="100299"/>
              </a:lnSpc>
              <a:spcBef>
                <a:spcPts val="90"/>
              </a:spcBef>
            </a:pPr>
            <a:r>
              <a:rPr sz="2800" b="1" dirty="0">
                <a:latin typeface="Arial"/>
                <a:cs typeface="Arial"/>
              </a:rPr>
              <a:t>Social</a:t>
            </a:r>
            <a:r>
              <a:rPr sz="2800" b="1" spc="-75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Obligation</a:t>
            </a:r>
            <a:r>
              <a:rPr sz="2800" b="1" spc="-55" dirty="0">
                <a:latin typeface="Arial"/>
                <a:cs typeface="Arial"/>
              </a:rPr>
              <a:t> </a:t>
            </a:r>
            <a:r>
              <a:rPr sz="2800" dirty="0">
                <a:latin typeface="Arial MT"/>
                <a:cs typeface="Arial MT"/>
              </a:rPr>
              <a:t>–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the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obligation</a:t>
            </a:r>
            <a:r>
              <a:rPr sz="2800" spc="-7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of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spc="-50" dirty="0">
                <a:latin typeface="Arial MT"/>
                <a:cs typeface="Arial MT"/>
              </a:rPr>
              <a:t>a </a:t>
            </a:r>
            <a:r>
              <a:rPr sz="2800" dirty="0">
                <a:latin typeface="Arial MT"/>
                <a:cs typeface="Arial MT"/>
              </a:rPr>
              <a:t>business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to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meet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its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economic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and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legal </a:t>
            </a:r>
            <a:r>
              <a:rPr sz="2800" dirty="0">
                <a:latin typeface="Arial MT"/>
                <a:cs typeface="Arial MT"/>
              </a:rPr>
              <a:t>responsibilities</a:t>
            </a:r>
            <a:r>
              <a:rPr sz="2800" spc="-12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and</a:t>
            </a:r>
            <a:r>
              <a:rPr sz="2800" spc="-12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nothing</a:t>
            </a:r>
            <a:r>
              <a:rPr sz="2800" spc="-120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more.</a:t>
            </a:r>
            <a:endParaRPr sz="2800">
              <a:latin typeface="Arial MT"/>
              <a:cs typeface="Arial MT"/>
            </a:endParaRPr>
          </a:p>
          <a:p>
            <a:pPr marL="12700" marR="5080">
              <a:lnSpc>
                <a:spcPct val="100299"/>
              </a:lnSpc>
              <a:spcBef>
                <a:spcPts val="560"/>
              </a:spcBef>
            </a:pPr>
            <a:r>
              <a:rPr sz="2800" b="1" dirty="0">
                <a:latin typeface="Arial"/>
                <a:cs typeface="Arial"/>
              </a:rPr>
              <a:t>Classical</a:t>
            </a:r>
            <a:r>
              <a:rPr sz="2800" b="1" spc="-60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view</a:t>
            </a:r>
            <a:r>
              <a:rPr sz="2800" b="1" spc="-20" dirty="0">
                <a:latin typeface="Arial"/>
                <a:cs typeface="Arial"/>
              </a:rPr>
              <a:t> </a:t>
            </a:r>
            <a:r>
              <a:rPr sz="2800" dirty="0">
                <a:latin typeface="Arial MT"/>
                <a:cs typeface="Arial MT"/>
              </a:rPr>
              <a:t>–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the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view</a:t>
            </a:r>
            <a:r>
              <a:rPr sz="2800" spc="-8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that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management’s </a:t>
            </a:r>
            <a:r>
              <a:rPr sz="2800" dirty="0">
                <a:latin typeface="Arial MT"/>
                <a:cs typeface="Arial MT"/>
              </a:rPr>
              <a:t>only</a:t>
            </a:r>
            <a:r>
              <a:rPr sz="2800" spc="-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social</a:t>
            </a:r>
            <a:r>
              <a:rPr sz="2800" spc="-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responsibility</a:t>
            </a:r>
            <a:r>
              <a:rPr sz="2800" spc="-7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is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to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maximize profits.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73100" y="3004819"/>
            <a:ext cx="131445" cy="3886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350" spc="-50" dirty="0">
                <a:solidFill>
                  <a:srgbClr val="FF1C1C"/>
                </a:solidFill>
                <a:latin typeface="Arial MT"/>
                <a:cs typeface="Arial MT"/>
              </a:rPr>
              <a:t>•</a:t>
            </a:r>
            <a:endParaRPr sz="23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A81F3-812B-1804-F601-F6EA6A5F3F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3100" y="308610"/>
            <a:ext cx="7773669" cy="877163"/>
          </a:xfrm>
        </p:spPr>
        <p:txBody>
          <a:bodyPr/>
          <a:lstStyle/>
          <a:p>
            <a:r>
              <a:rPr kumimoji="0" lang="en-GB" sz="2850" b="0" i="0" u="none" strike="noStrike" kern="0" cap="none" spc="29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j-ea"/>
              </a:rPr>
              <a:t>FROM</a:t>
            </a:r>
            <a:r>
              <a:rPr kumimoji="0" lang="en-GB" sz="2850" b="0" i="0" u="none" strike="noStrike" kern="0" cap="none" spc="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j-ea"/>
              </a:rPr>
              <a:t> </a:t>
            </a:r>
            <a:r>
              <a:rPr kumimoji="0" lang="en-GB" sz="2850" b="0" i="0" u="none" strike="noStrike" kern="0" cap="none" spc="18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j-ea"/>
              </a:rPr>
              <a:t>OBLIGATION</a:t>
            </a:r>
            <a:r>
              <a:rPr kumimoji="0" lang="en-GB" sz="2850" b="0" i="0" u="none" strike="noStrike" kern="0" cap="none" spc="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j-ea"/>
              </a:rPr>
              <a:t> </a:t>
            </a:r>
            <a:r>
              <a:rPr kumimoji="0" lang="en-GB" sz="2850" b="0" i="0" u="none" strike="noStrike" kern="0" cap="none" spc="19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j-ea"/>
              </a:rPr>
              <a:t>TO</a:t>
            </a:r>
            <a:r>
              <a:rPr kumimoji="0" lang="en-GB" sz="2850" b="0" i="0" u="none" strike="noStrike" kern="0" cap="none" spc="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j-ea"/>
              </a:rPr>
              <a:t> </a:t>
            </a:r>
            <a:r>
              <a:rPr kumimoji="0" lang="en-GB" sz="2850" b="0" i="0" u="none" strike="noStrike" kern="0" cap="none" spc="28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j-ea"/>
              </a:rPr>
              <a:t>RESPONSIVENESS </a:t>
            </a:r>
            <a:r>
              <a:rPr kumimoji="0" lang="en-GB" sz="2850" b="0" i="0" u="none" strike="noStrike" kern="0" cap="none" spc="19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j-ea"/>
              </a:rPr>
              <a:t>TO</a:t>
            </a:r>
            <a:r>
              <a:rPr kumimoji="0" lang="en-GB" sz="2850" b="0" i="0" u="none" strike="noStrike" kern="0" cap="none" spc="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j-ea"/>
              </a:rPr>
              <a:t> </a:t>
            </a:r>
            <a:r>
              <a:rPr kumimoji="0" lang="en-GB" sz="2850" b="0" i="0" u="none" strike="noStrike" kern="0" cap="none" spc="19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j-ea"/>
              </a:rPr>
              <a:t>RESPONSIBILITY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F25AD2-767E-64E0-FC7F-022F8B0092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8969" y="1635759"/>
            <a:ext cx="7739380" cy="3739485"/>
          </a:xfrm>
        </p:spPr>
        <p:txBody>
          <a:bodyPr/>
          <a:lstStyle/>
          <a:p>
            <a:r>
              <a:rPr lang="en-GB" b="1" dirty="0">
                <a:solidFill>
                  <a:srgbClr val="FF0000"/>
                </a:solidFill>
              </a:rPr>
              <a:t>Key Characteristics</a:t>
            </a:r>
            <a:endParaRPr lang="en-GB" dirty="0">
              <a:solidFill>
                <a:srgbClr val="FF0000"/>
              </a:solidFill>
            </a:endParaRPr>
          </a:p>
          <a:p>
            <a:r>
              <a:rPr lang="en-GB" dirty="0"/>
              <a:t>Proactive and value-driven </a:t>
            </a:r>
          </a:p>
          <a:p>
            <a:r>
              <a:rPr lang="en-GB" dirty="0"/>
              <a:t>Focus on </a:t>
            </a:r>
            <a:r>
              <a:rPr lang="en-GB" b="1" dirty="0"/>
              <a:t>long-term societal impact</a:t>
            </a:r>
            <a:r>
              <a:rPr lang="en-GB" dirty="0"/>
              <a:t> </a:t>
            </a:r>
          </a:p>
          <a:p>
            <a:r>
              <a:rPr lang="en-GB" dirty="0"/>
              <a:t>Integrated into business strategy </a:t>
            </a:r>
          </a:p>
          <a:p>
            <a:r>
              <a:rPr lang="en-GB" b="1" dirty="0">
                <a:solidFill>
                  <a:srgbClr val="FF0000"/>
                </a:solidFill>
              </a:rPr>
              <a:t>Example</a:t>
            </a:r>
            <a:r>
              <a:rPr lang="en-GB" b="1" dirty="0"/>
              <a:t>:</a:t>
            </a:r>
            <a:br>
              <a:rPr lang="en-GB" dirty="0"/>
            </a:br>
            <a:r>
              <a:rPr lang="en-GB" dirty="0"/>
              <a:t>A company invests in education, healthcare, or environmental sustainability without being forced.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85175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63269" y="1555750"/>
            <a:ext cx="7997825" cy="308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3695" marR="5080" indent="-34163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54965" algn="l"/>
              </a:tabLst>
            </a:pPr>
            <a:r>
              <a:rPr sz="2800" b="1" spc="-10" dirty="0">
                <a:latin typeface="Arial"/>
                <a:cs typeface="Arial"/>
              </a:rPr>
              <a:t>Socioeconomic</a:t>
            </a:r>
            <a:r>
              <a:rPr sz="2800" b="1" spc="-55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view</a:t>
            </a:r>
            <a:r>
              <a:rPr sz="2800" b="1" spc="-25" dirty="0">
                <a:latin typeface="Arial"/>
                <a:cs typeface="Arial"/>
              </a:rPr>
              <a:t> </a:t>
            </a:r>
            <a:r>
              <a:rPr sz="2800" dirty="0">
                <a:latin typeface="Arial MT"/>
                <a:cs typeface="Arial MT"/>
              </a:rPr>
              <a:t>–</a:t>
            </a:r>
            <a:r>
              <a:rPr sz="2800" spc="-5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the</a:t>
            </a:r>
            <a:r>
              <a:rPr sz="2800" spc="-5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view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spc="-20" dirty="0">
                <a:latin typeface="Arial MT"/>
                <a:cs typeface="Arial MT"/>
              </a:rPr>
              <a:t>that 	</a:t>
            </a:r>
            <a:r>
              <a:rPr sz="2800" spc="-10" dirty="0">
                <a:latin typeface="Arial MT"/>
                <a:cs typeface="Arial MT"/>
              </a:rPr>
              <a:t>management’s</a:t>
            </a:r>
            <a:r>
              <a:rPr sz="2800" spc="-10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social</a:t>
            </a:r>
            <a:r>
              <a:rPr sz="2800" spc="-8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responsibility</a:t>
            </a:r>
            <a:r>
              <a:rPr sz="2800" spc="-10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goes</a:t>
            </a:r>
            <a:r>
              <a:rPr sz="2800" spc="-90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beyond 	</a:t>
            </a:r>
            <a:r>
              <a:rPr sz="2800" dirty="0">
                <a:latin typeface="Arial MT"/>
                <a:cs typeface="Arial MT"/>
              </a:rPr>
              <a:t>making</a:t>
            </a:r>
            <a:r>
              <a:rPr sz="2800" spc="-8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profits</a:t>
            </a:r>
            <a:r>
              <a:rPr sz="2800" spc="-8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to</a:t>
            </a:r>
            <a:r>
              <a:rPr sz="2800" spc="-7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include</a:t>
            </a:r>
            <a:r>
              <a:rPr sz="2800" spc="-8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protecting</a:t>
            </a:r>
            <a:r>
              <a:rPr sz="2800" spc="-75" dirty="0">
                <a:latin typeface="Arial MT"/>
                <a:cs typeface="Arial MT"/>
              </a:rPr>
              <a:t> </a:t>
            </a:r>
            <a:r>
              <a:rPr sz="2800" spc="-25" dirty="0">
                <a:latin typeface="Arial MT"/>
                <a:cs typeface="Arial MT"/>
              </a:rPr>
              <a:t>and 	</a:t>
            </a:r>
            <a:r>
              <a:rPr sz="2800" dirty="0">
                <a:latin typeface="Arial MT"/>
                <a:cs typeface="Arial MT"/>
              </a:rPr>
              <a:t>improving</a:t>
            </a:r>
            <a:r>
              <a:rPr sz="2800" spc="-12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society’s</a:t>
            </a:r>
            <a:r>
              <a:rPr sz="2800" spc="-145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welfare.</a:t>
            </a:r>
            <a:endParaRPr sz="2800">
              <a:latin typeface="Arial MT"/>
              <a:cs typeface="Arial MT"/>
            </a:endParaRPr>
          </a:p>
          <a:p>
            <a:pPr marL="353695" marR="103505" indent="-341630">
              <a:lnSpc>
                <a:spcPct val="100000"/>
              </a:lnSpc>
              <a:spcBef>
                <a:spcPts val="560"/>
              </a:spcBef>
              <a:buFont typeface="Arial MT"/>
              <a:buChar char="•"/>
              <a:tabLst>
                <a:tab pos="354965" algn="l"/>
              </a:tabLst>
            </a:pPr>
            <a:r>
              <a:rPr sz="2800" b="1" dirty="0">
                <a:latin typeface="Arial"/>
                <a:cs typeface="Arial"/>
              </a:rPr>
              <a:t>Social</a:t>
            </a:r>
            <a:r>
              <a:rPr sz="2800" b="1" spc="-70" dirty="0">
                <a:latin typeface="Arial"/>
                <a:cs typeface="Arial"/>
              </a:rPr>
              <a:t> </a:t>
            </a:r>
            <a:r>
              <a:rPr sz="2800" b="1" spc="-10" dirty="0">
                <a:latin typeface="Arial"/>
                <a:cs typeface="Arial"/>
              </a:rPr>
              <a:t>responsiveness</a:t>
            </a:r>
            <a:r>
              <a:rPr sz="2800" b="1" spc="-20" dirty="0">
                <a:latin typeface="Arial"/>
                <a:cs typeface="Arial"/>
              </a:rPr>
              <a:t> </a:t>
            </a:r>
            <a:r>
              <a:rPr sz="2800" dirty="0">
                <a:latin typeface="Arial MT"/>
                <a:cs typeface="Arial MT"/>
              </a:rPr>
              <a:t>–</a:t>
            </a:r>
            <a:r>
              <a:rPr sz="2800" spc="-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when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</a:t>
            </a:r>
            <a:r>
              <a:rPr sz="2800" spc="-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firm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engages 	</a:t>
            </a:r>
            <a:r>
              <a:rPr sz="2800" dirty="0">
                <a:latin typeface="Arial MT"/>
                <a:cs typeface="Arial MT"/>
              </a:rPr>
              <a:t>in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social</a:t>
            </a:r>
            <a:r>
              <a:rPr sz="2800" spc="-5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actions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in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response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to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some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popular 	</a:t>
            </a:r>
            <a:r>
              <a:rPr sz="2800" dirty="0">
                <a:latin typeface="Arial MT"/>
                <a:cs typeface="Arial MT"/>
              </a:rPr>
              <a:t>social</a:t>
            </a:r>
            <a:r>
              <a:rPr sz="2800" spc="-85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need.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spc="-10" dirty="0"/>
              <a:t>6-</a:t>
            </a:r>
            <a:fld id="{81D60167-4931-47E6-BA6A-407CBD079E47}" type="slidenum">
              <a:rPr spc="-25" dirty="0"/>
              <a:t>11</a:t>
            </a:fld>
            <a:endParaRPr spc="-25" dirty="0"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Copyright</a:t>
            </a:r>
            <a:r>
              <a:rPr spc="-15" dirty="0"/>
              <a:t> </a:t>
            </a:r>
            <a:r>
              <a:rPr dirty="0"/>
              <a:t>©</a:t>
            </a:r>
            <a:r>
              <a:rPr spc="-15" dirty="0"/>
              <a:t> </a:t>
            </a:r>
            <a:r>
              <a:rPr dirty="0"/>
              <a:t>2016</a:t>
            </a:r>
            <a:r>
              <a:rPr spc="-5" dirty="0"/>
              <a:t> </a:t>
            </a:r>
            <a:r>
              <a:rPr dirty="0"/>
              <a:t>Pearson</a:t>
            </a:r>
            <a:r>
              <a:rPr spc="-10" dirty="0"/>
              <a:t> </a:t>
            </a:r>
            <a:r>
              <a:rPr dirty="0"/>
              <a:t>Education,</a:t>
            </a:r>
            <a:r>
              <a:rPr spc="-15" dirty="0"/>
              <a:t> </a:t>
            </a:r>
            <a:r>
              <a:rPr spc="-20" dirty="0"/>
              <a:t>Ltd.</a:t>
            </a: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02869" rIns="0" bIns="0" rtlCol="0">
            <a:spAutoFit/>
          </a:bodyPr>
          <a:lstStyle/>
          <a:p>
            <a:pPr marL="1372235" marR="5080" indent="-1230630">
              <a:lnSpc>
                <a:spcPct val="100000"/>
              </a:lnSpc>
              <a:spcBef>
                <a:spcPts val="100"/>
              </a:spcBef>
            </a:pPr>
            <a:r>
              <a:rPr sz="2850" spc="290" dirty="0"/>
              <a:t>FROM</a:t>
            </a:r>
            <a:r>
              <a:rPr sz="2850" spc="55" dirty="0"/>
              <a:t> </a:t>
            </a:r>
            <a:r>
              <a:rPr sz="2850" spc="185" dirty="0"/>
              <a:t>OBLIGATION</a:t>
            </a:r>
            <a:r>
              <a:rPr sz="2850" spc="55" dirty="0"/>
              <a:t> </a:t>
            </a:r>
            <a:r>
              <a:rPr sz="2850" spc="190" dirty="0"/>
              <a:t>TO</a:t>
            </a:r>
            <a:r>
              <a:rPr sz="2850" spc="60" dirty="0"/>
              <a:t> </a:t>
            </a:r>
            <a:r>
              <a:rPr sz="2850" spc="280" dirty="0"/>
              <a:t>RESPONSIVENESS </a:t>
            </a:r>
            <a:r>
              <a:rPr sz="2850" spc="190" dirty="0"/>
              <a:t>TO</a:t>
            </a:r>
            <a:r>
              <a:rPr sz="2850" spc="70" dirty="0"/>
              <a:t> </a:t>
            </a:r>
            <a:r>
              <a:rPr sz="2850" spc="204" dirty="0"/>
              <a:t>RESPONSIBILITY</a:t>
            </a:r>
            <a:r>
              <a:rPr sz="2850" spc="80" dirty="0"/>
              <a:t> </a:t>
            </a:r>
            <a:r>
              <a:rPr sz="2850" spc="65" dirty="0"/>
              <a:t>(CONT.)</a:t>
            </a:r>
            <a:endParaRPr sz="285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94E03D-E98B-D7D9-F1AB-7D93EEBDA5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F6F078-89ED-AB33-A683-6A638CD7AC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Picture 4" descr="Safa Pekhawar App | Code for Pakistan">
            <a:extLst>
              <a:ext uri="{FF2B5EF4-FFF2-40B4-BE49-F238E27FC236}">
                <a16:creationId xmlns:a16="http://schemas.microsoft.com/office/drawing/2014/main" id="{344F456A-0AC9-92DF-12AC-AA338301E4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920" y="308610"/>
            <a:ext cx="7739381" cy="5131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28289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6013510"/>
            <a:ext cx="9150350" cy="850900"/>
            <a:chOff x="0" y="6013510"/>
            <a:chExt cx="9150350" cy="850900"/>
          </a:xfrm>
        </p:grpSpPr>
        <p:sp>
          <p:nvSpPr>
            <p:cNvPr id="3" name="object 3"/>
            <p:cNvSpPr/>
            <p:nvPr/>
          </p:nvSpPr>
          <p:spPr>
            <a:xfrm>
              <a:off x="1295400" y="6019800"/>
              <a:ext cx="7848600" cy="838200"/>
            </a:xfrm>
            <a:custGeom>
              <a:avLst/>
              <a:gdLst/>
              <a:ahLst/>
              <a:cxnLst/>
              <a:rect l="l" t="t" r="r" b="b"/>
              <a:pathLst>
                <a:path w="7848600" h="838200">
                  <a:moveTo>
                    <a:pt x="0" y="0"/>
                  </a:moveTo>
                  <a:lnTo>
                    <a:pt x="7848600" y="0"/>
                  </a:lnTo>
                  <a:lnTo>
                    <a:pt x="7848600" y="838200"/>
                  </a:lnTo>
                  <a:lnTo>
                    <a:pt x="0" y="838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295400" y="6019800"/>
              <a:ext cx="7848600" cy="838200"/>
            </a:xfrm>
            <a:custGeom>
              <a:avLst/>
              <a:gdLst/>
              <a:ahLst/>
              <a:cxnLst/>
              <a:rect l="l" t="t" r="r" b="b"/>
              <a:pathLst>
                <a:path w="7848600" h="838200">
                  <a:moveTo>
                    <a:pt x="0" y="0"/>
                  </a:moveTo>
                  <a:lnTo>
                    <a:pt x="7848600" y="0"/>
                  </a:lnTo>
                  <a:lnTo>
                    <a:pt x="7848600" y="838200"/>
                  </a:lnTo>
                  <a:lnTo>
                    <a:pt x="0" y="838200"/>
                  </a:lnTo>
                  <a:lnTo>
                    <a:pt x="0" y="0"/>
                  </a:lnTo>
                  <a:close/>
                </a:path>
              </a:pathLst>
            </a:custGeom>
            <a:ln w="125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289100" y="6013513"/>
              <a:ext cx="7861300" cy="850900"/>
            </a:xfrm>
            <a:custGeom>
              <a:avLst/>
              <a:gdLst/>
              <a:ahLst/>
              <a:cxnLst/>
              <a:rect l="l" t="t" r="r" b="b"/>
              <a:pathLst>
                <a:path w="7861300" h="850900">
                  <a:moveTo>
                    <a:pt x="12585" y="6286"/>
                  </a:moveTo>
                  <a:lnTo>
                    <a:pt x="10744" y="1841"/>
                  </a:lnTo>
                  <a:lnTo>
                    <a:pt x="6299" y="0"/>
                  </a:lnTo>
                  <a:lnTo>
                    <a:pt x="1841" y="1841"/>
                  </a:lnTo>
                  <a:lnTo>
                    <a:pt x="0" y="6286"/>
                  </a:lnTo>
                  <a:lnTo>
                    <a:pt x="1841" y="10744"/>
                  </a:lnTo>
                  <a:lnTo>
                    <a:pt x="6299" y="12585"/>
                  </a:lnTo>
                  <a:lnTo>
                    <a:pt x="10744" y="10744"/>
                  </a:lnTo>
                  <a:lnTo>
                    <a:pt x="12585" y="6286"/>
                  </a:lnTo>
                  <a:close/>
                </a:path>
                <a:path w="7861300" h="850900">
                  <a:moveTo>
                    <a:pt x="7861186" y="844486"/>
                  </a:moveTo>
                  <a:lnTo>
                    <a:pt x="7859344" y="840041"/>
                  </a:lnTo>
                  <a:lnTo>
                    <a:pt x="7854899" y="838200"/>
                  </a:lnTo>
                  <a:lnTo>
                    <a:pt x="7850441" y="840041"/>
                  </a:lnTo>
                  <a:lnTo>
                    <a:pt x="7848600" y="844486"/>
                  </a:lnTo>
                  <a:lnTo>
                    <a:pt x="7850441" y="848931"/>
                  </a:lnTo>
                  <a:lnTo>
                    <a:pt x="7854899" y="850773"/>
                  </a:lnTo>
                  <a:lnTo>
                    <a:pt x="7859344" y="848931"/>
                  </a:lnTo>
                  <a:lnTo>
                    <a:pt x="7861186" y="84448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6014720"/>
              <a:ext cx="1369060" cy="843280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295400" y="6019800"/>
              <a:ext cx="7848600" cy="838200"/>
            </a:xfrm>
            <a:custGeom>
              <a:avLst/>
              <a:gdLst/>
              <a:ahLst/>
              <a:cxnLst/>
              <a:rect l="l" t="t" r="r" b="b"/>
              <a:pathLst>
                <a:path w="7848600" h="838200">
                  <a:moveTo>
                    <a:pt x="0" y="0"/>
                  </a:moveTo>
                  <a:lnTo>
                    <a:pt x="7848600" y="0"/>
                  </a:lnTo>
                  <a:lnTo>
                    <a:pt x="7848600" y="838200"/>
                  </a:lnTo>
                  <a:lnTo>
                    <a:pt x="0" y="838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295400" y="6019800"/>
              <a:ext cx="7848600" cy="838200"/>
            </a:xfrm>
            <a:custGeom>
              <a:avLst/>
              <a:gdLst/>
              <a:ahLst/>
              <a:cxnLst/>
              <a:rect l="l" t="t" r="r" b="b"/>
              <a:pathLst>
                <a:path w="7848600" h="838200">
                  <a:moveTo>
                    <a:pt x="0" y="0"/>
                  </a:moveTo>
                  <a:lnTo>
                    <a:pt x="7848600" y="0"/>
                  </a:lnTo>
                  <a:lnTo>
                    <a:pt x="7848600" y="838200"/>
                  </a:lnTo>
                  <a:lnTo>
                    <a:pt x="0" y="838200"/>
                  </a:lnTo>
                  <a:lnTo>
                    <a:pt x="0" y="0"/>
                  </a:lnTo>
                  <a:close/>
                </a:path>
              </a:pathLst>
            </a:custGeom>
            <a:ln w="125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289100" y="6013513"/>
              <a:ext cx="7861300" cy="850900"/>
            </a:xfrm>
            <a:custGeom>
              <a:avLst/>
              <a:gdLst/>
              <a:ahLst/>
              <a:cxnLst/>
              <a:rect l="l" t="t" r="r" b="b"/>
              <a:pathLst>
                <a:path w="7861300" h="850900">
                  <a:moveTo>
                    <a:pt x="12585" y="6286"/>
                  </a:moveTo>
                  <a:lnTo>
                    <a:pt x="10744" y="1841"/>
                  </a:lnTo>
                  <a:lnTo>
                    <a:pt x="6299" y="0"/>
                  </a:lnTo>
                  <a:lnTo>
                    <a:pt x="1841" y="1841"/>
                  </a:lnTo>
                  <a:lnTo>
                    <a:pt x="0" y="6286"/>
                  </a:lnTo>
                  <a:lnTo>
                    <a:pt x="1841" y="10744"/>
                  </a:lnTo>
                  <a:lnTo>
                    <a:pt x="6299" y="12585"/>
                  </a:lnTo>
                  <a:lnTo>
                    <a:pt x="10744" y="10744"/>
                  </a:lnTo>
                  <a:lnTo>
                    <a:pt x="12585" y="6286"/>
                  </a:lnTo>
                  <a:close/>
                </a:path>
                <a:path w="7861300" h="850900">
                  <a:moveTo>
                    <a:pt x="7861186" y="844486"/>
                  </a:moveTo>
                  <a:lnTo>
                    <a:pt x="7859344" y="840041"/>
                  </a:lnTo>
                  <a:lnTo>
                    <a:pt x="7854899" y="838200"/>
                  </a:lnTo>
                  <a:lnTo>
                    <a:pt x="7850441" y="840041"/>
                  </a:lnTo>
                  <a:lnTo>
                    <a:pt x="7848600" y="844486"/>
                  </a:lnTo>
                  <a:lnTo>
                    <a:pt x="7850441" y="848931"/>
                  </a:lnTo>
                  <a:lnTo>
                    <a:pt x="7854899" y="850773"/>
                  </a:lnTo>
                  <a:lnTo>
                    <a:pt x="7859344" y="848931"/>
                  </a:lnTo>
                  <a:lnTo>
                    <a:pt x="7861186" y="84448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6014720"/>
              <a:ext cx="1369060" cy="843280"/>
            </a:xfrm>
            <a:prstGeom prst="rect">
              <a:avLst/>
            </a:prstGeom>
          </p:spPr>
        </p:pic>
      </p:grpSp>
      <p:sp>
        <p:nvSpPr>
          <p:cNvPr id="11" name="object 11"/>
          <p:cNvSpPr txBox="1"/>
          <p:nvPr/>
        </p:nvSpPr>
        <p:spPr>
          <a:xfrm>
            <a:off x="306070" y="1631950"/>
            <a:ext cx="4389755" cy="39255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55600" algn="l"/>
              </a:tabLst>
            </a:pPr>
            <a:r>
              <a:rPr sz="3200" b="1" dirty="0">
                <a:latin typeface="Arial"/>
                <a:cs typeface="Arial"/>
              </a:rPr>
              <a:t>Social</a:t>
            </a:r>
            <a:r>
              <a:rPr sz="3200" b="1" spc="-20" dirty="0">
                <a:latin typeface="Arial"/>
                <a:cs typeface="Arial"/>
              </a:rPr>
              <a:t> </a:t>
            </a:r>
            <a:r>
              <a:rPr sz="3200" b="1" spc="-10" dirty="0">
                <a:latin typeface="Arial"/>
                <a:cs typeface="Arial"/>
              </a:rPr>
              <a:t>responsibility </a:t>
            </a:r>
            <a:r>
              <a:rPr sz="3200" dirty="0">
                <a:latin typeface="Arial MT"/>
                <a:cs typeface="Arial MT"/>
              </a:rPr>
              <a:t>– a </a:t>
            </a:r>
            <a:r>
              <a:rPr sz="3200" spc="-10" dirty="0">
                <a:latin typeface="Arial MT"/>
                <a:cs typeface="Arial MT"/>
              </a:rPr>
              <a:t>business’s </a:t>
            </a:r>
            <a:r>
              <a:rPr sz="3200" dirty="0">
                <a:latin typeface="Arial MT"/>
                <a:cs typeface="Arial MT"/>
              </a:rPr>
              <a:t>intention,</a:t>
            </a:r>
            <a:r>
              <a:rPr sz="3200" spc="-2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beyond</a:t>
            </a:r>
            <a:r>
              <a:rPr sz="3200" spc="-5" dirty="0">
                <a:latin typeface="Arial MT"/>
                <a:cs typeface="Arial MT"/>
              </a:rPr>
              <a:t> </a:t>
            </a:r>
            <a:r>
              <a:rPr sz="3200" spc="-25" dirty="0">
                <a:latin typeface="Arial MT"/>
                <a:cs typeface="Arial MT"/>
              </a:rPr>
              <a:t>its </a:t>
            </a:r>
            <a:r>
              <a:rPr sz="3200" dirty="0">
                <a:latin typeface="Arial MT"/>
                <a:cs typeface="Arial MT"/>
              </a:rPr>
              <a:t>legal</a:t>
            </a:r>
            <a:r>
              <a:rPr sz="3200" spc="-1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and </a:t>
            </a:r>
            <a:r>
              <a:rPr sz="3200" spc="-10" dirty="0">
                <a:latin typeface="Arial MT"/>
                <a:cs typeface="Arial MT"/>
              </a:rPr>
              <a:t>economic </a:t>
            </a:r>
            <a:r>
              <a:rPr sz="3200" dirty="0">
                <a:latin typeface="Arial MT"/>
                <a:cs typeface="Arial MT"/>
              </a:rPr>
              <a:t>obligations,</a:t>
            </a:r>
            <a:r>
              <a:rPr sz="3200" spc="-1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to</a:t>
            </a:r>
            <a:r>
              <a:rPr sz="3200" spc="-1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do </a:t>
            </a:r>
            <a:r>
              <a:rPr sz="3200" spc="-25" dirty="0">
                <a:latin typeface="Arial MT"/>
                <a:cs typeface="Arial MT"/>
              </a:rPr>
              <a:t>the </a:t>
            </a:r>
            <a:r>
              <a:rPr sz="3200" dirty="0">
                <a:latin typeface="Arial MT"/>
                <a:cs typeface="Arial MT"/>
              </a:rPr>
              <a:t>right</a:t>
            </a:r>
            <a:r>
              <a:rPr sz="3200" spc="-2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things and</a:t>
            </a:r>
            <a:r>
              <a:rPr sz="3200" spc="-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act</a:t>
            </a:r>
            <a:r>
              <a:rPr sz="3200" spc="-5" dirty="0">
                <a:latin typeface="Arial MT"/>
                <a:cs typeface="Arial MT"/>
              </a:rPr>
              <a:t> </a:t>
            </a:r>
            <a:r>
              <a:rPr sz="3200" spc="-25" dirty="0">
                <a:latin typeface="Arial MT"/>
                <a:cs typeface="Arial MT"/>
              </a:rPr>
              <a:t>in </a:t>
            </a:r>
            <a:r>
              <a:rPr sz="3200" dirty="0">
                <a:latin typeface="Arial MT"/>
                <a:cs typeface="Arial MT"/>
              </a:rPr>
              <a:t>ways</a:t>
            </a:r>
            <a:r>
              <a:rPr sz="3200" spc="-1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that</a:t>
            </a:r>
            <a:r>
              <a:rPr sz="3200" spc="-2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are</a:t>
            </a:r>
            <a:r>
              <a:rPr sz="3200" spc="-2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good</a:t>
            </a:r>
            <a:r>
              <a:rPr sz="3200" spc="-10" dirty="0">
                <a:latin typeface="Arial MT"/>
                <a:cs typeface="Arial MT"/>
              </a:rPr>
              <a:t> </a:t>
            </a:r>
            <a:r>
              <a:rPr sz="3200" spc="-25" dirty="0">
                <a:latin typeface="Arial MT"/>
                <a:cs typeface="Arial MT"/>
              </a:rPr>
              <a:t>for </a:t>
            </a:r>
            <a:r>
              <a:rPr sz="3200" spc="-10" dirty="0">
                <a:latin typeface="Arial MT"/>
                <a:cs typeface="Arial MT"/>
              </a:rPr>
              <a:t>society.</a:t>
            </a:r>
            <a:endParaRPr sz="3200">
              <a:latin typeface="Arial MT"/>
              <a:cs typeface="Arial MT"/>
            </a:endParaRPr>
          </a:p>
        </p:txBody>
      </p:sp>
      <p:sp>
        <p:nvSpPr>
          <p:cNvPr id="12" name="object 1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02869" rIns="0" bIns="0" rtlCol="0">
            <a:spAutoFit/>
          </a:bodyPr>
          <a:lstStyle/>
          <a:p>
            <a:pPr marL="1372235" marR="5080" indent="-1230630">
              <a:lnSpc>
                <a:spcPct val="100000"/>
              </a:lnSpc>
              <a:spcBef>
                <a:spcPts val="100"/>
              </a:spcBef>
            </a:pPr>
            <a:r>
              <a:rPr sz="2850" spc="290" dirty="0"/>
              <a:t>FROM</a:t>
            </a:r>
            <a:r>
              <a:rPr sz="2850" spc="55" dirty="0"/>
              <a:t> </a:t>
            </a:r>
            <a:r>
              <a:rPr sz="2850" spc="185" dirty="0"/>
              <a:t>OBLIGATION</a:t>
            </a:r>
            <a:r>
              <a:rPr sz="2850" spc="55" dirty="0"/>
              <a:t> </a:t>
            </a:r>
            <a:r>
              <a:rPr sz="2850" spc="190" dirty="0"/>
              <a:t>TO</a:t>
            </a:r>
            <a:r>
              <a:rPr sz="2850" spc="60" dirty="0"/>
              <a:t> </a:t>
            </a:r>
            <a:r>
              <a:rPr sz="2850" spc="280" dirty="0"/>
              <a:t>RESPONSIVENESS </a:t>
            </a:r>
            <a:r>
              <a:rPr sz="2850" spc="190" dirty="0"/>
              <a:t>TO</a:t>
            </a:r>
            <a:r>
              <a:rPr sz="2850" spc="70" dirty="0"/>
              <a:t> </a:t>
            </a:r>
            <a:r>
              <a:rPr sz="2850" spc="204" dirty="0"/>
              <a:t>RESPONSIBILITY</a:t>
            </a:r>
            <a:r>
              <a:rPr sz="2850" spc="80" dirty="0"/>
              <a:t> </a:t>
            </a:r>
            <a:r>
              <a:rPr sz="2850" spc="65" dirty="0"/>
              <a:t>(CONT.)</a:t>
            </a:r>
            <a:endParaRPr sz="2850"/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spc="-10" dirty="0"/>
              <a:t>6-</a:t>
            </a:r>
            <a:fld id="{81D60167-4931-47E6-BA6A-407CBD079E47}" type="slidenum">
              <a:rPr spc="-25" dirty="0"/>
              <a:t>13</a:t>
            </a:fld>
            <a:endParaRPr spc="-25" dirty="0"/>
          </a:p>
        </p:txBody>
      </p:sp>
      <p:sp>
        <p:nvSpPr>
          <p:cNvPr id="15" name="object 1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Copyright</a:t>
            </a:r>
            <a:r>
              <a:rPr spc="-15" dirty="0"/>
              <a:t> </a:t>
            </a:r>
            <a:r>
              <a:rPr dirty="0"/>
              <a:t>©</a:t>
            </a:r>
            <a:r>
              <a:rPr spc="-15" dirty="0"/>
              <a:t> </a:t>
            </a:r>
            <a:r>
              <a:rPr dirty="0"/>
              <a:t>2016</a:t>
            </a:r>
            <a:r>
              <a:rPr spc="-5" dirty="0"/>
              <a:t> </a:t>
            </a:r>
            <a:r>
              <a:rPr dirty="0"/>
              <a:t>Pearson</a:t>
            </a:r>
            <a:r>
              <a:rPr spc="-10" dirty="0"/>
              <a:t> </a:t>
            </a:r>
            <a:r>
              <a:rPr dirty="0"/>
              <a:t>Education,</a:t>
            </a:r>
            <a:r>
              <a:rPr spc="-15" dirty="0"/>
              <a:t> </a:t>
            </a:r>
            <a:r>
              <a:rPr spc="-20" dirty="0"/>
              <a:t>Ltd.</a:t>
            </a:r>
          </a:p>
        </p:txBody>
      </p:sp>
      <p:pic>
        <p:nvPicPr>
          <p:cNvPr id="17" name="Picture 16" descr="Young volunteers’ swift response in crisis situation - Newspaper - DAWN.COM">
            <a:extLst>
              <a:ext uri="{FF2B5EF4-FFF2-40B4-BE49-F238E27FC236}">
                <a16:creationId xmlns:a16="http://schemas.microsoft.com/office/drawing/2014/main" id="{BBD0A972-272A-7CF8-62A4-BBF8FBEA62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9700" y="1423837"/>
            <a:ext cx="3364276" cy="443640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677670" y="312419"/>
            <a:ext cx="5640070" cy="10687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34950" marR="5080" indent="-222250">
              <a:lnSpc>
                <a:spcPct val="100699"/>
              </a:lnSpc>
              <a:spcBef>
                <a:spcPts val="90"/>
              </a:spcBef>
            </a:pPr>
            <a:r>
              <a:rPr sz="3400" spc="375" dirty="0"/>
              <a:t>SHOULD</a:t>
            </a:r>
            <a:r>
              <a:rPr sz="3400" spc="75" dirty="0"/>
              <a:t> </a:t>
            </a:r>
            <a:r>
              <a:rPr sz="3400" spc="285" dirty="0"/>
              <a:t>ORGANIZATIONS </a:t>
            </a:r>
            <a:r>
              <a:rPr sz="3400" spc="370" dirty="0"/>
              <a:t>BE</a:t>
            </a:r>
            <a:r>
              <a:rPr sz="3400" spc="90" dirty="0"/>
              <a:t> </a:t>
            </a:r>
            <a:r>
              <a:rPr sz="3400" spc="204" dirty="0"/>
              <a:t>SOCIALLY</a:t>
            </a:r>
            <a:r>
              <a:rPr sz="3400" spc="85" dirty="0"/>
              <a:t> </a:t>
            </a:r>
            <a:r>
              <a:rPr sz="3400" spc="280" dirty="0"/>
              <a:t>INVOLVED?</a:t>
            </a:r>
            <a:endParaRPr sz="3400"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95325" y="1749425"/>
            <a:ext cx="79375" cy="193675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952500" y="1634489"/>
            <a:ext cx="7416800" cy="3422015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25400" marR="242570">
              <a:lnSpc>
                <a:spcPct val="101200"/>
              </a:lnSpc>
              <a:spcBef>
                <a:spcPts val="80"/>
              </a:spcBef>
            </a:pPr>
            <a:r>
              <a:rPr sz="2700" b="1" dirty="0">
                <a:latin typeface="Arial"/>
                <a:cs typeface="Arial"/>
              </a:rPr>
              <a:t>Social</a:t>
            </a:r>
            <a:r>
              <a:rPr sz="2700" b="1" spc="15" dirty="0">
                <a:latin typeface="Arial"/>
                <a:cs typeface="Arial"/>
              </a:rPr>
              <a:t> </a:t>
            </a:r>
            <a:r>
              <a:rPr sz="2700" b="1" dirty="0">
                <a:latin typeface="Arial"/>
                <a:cs typeface="Arial"/>
              </a:rPr>
              <a:t>Screening</a:t>
            </a:r>
            <a:r>
              <a:rPr sz="2700" b="1" spc="250" dirty="0">
                <a:latin typeface="Arial"/>
                <a:cs typeface="Arial"/>
              </a:rPr>
              <a:t> </a:t>
            </a:r>
            <a:r>
              <a:rPr sz="2700" spc="365" dirty="0">
                <a:latin typeface="Trebuchet MS"/>
                <a:cs typeface="Trebuchet MS"/>
              </a:rPr>
              <a:t>–</a:t>
            </a:r>
            <a:r>
              <a:rPr sz="2700" spc="165" dirty="0">
                <a:latin typeface="Trebuchet MS"/>
                <a:cs typeface="Trebuchet MS"/>
              </a:rPr>
              <a:t> </a:t>
            </a:r>
            <a:r>
              <a:rPr sz="2700" spc="190" dirty="0">
                <a:latin typeface="Trebuchet MS"/>
                <a:cs typeface="Trebuchet MS"/>
              </a:rPr>
              <a:t>applying</a:t>
            </a:r>
            <a:r>
              <a:rPr sz="2700" spc="80" dirty="0">
                <a:latin typeface="Trebuchet MS"/>
                <a:cs typeface="Trebuchet MS"/>
              </a:rPr>
              <a:t> </a:t>
            </a:r>
            <a:r>
              <a:rPr sz="2700" spc="145" dirty="0">
                <a:latin typeface="Trebuchet MS"/>
                <a:cs typeface="Trebuchet MS"/>
              </a:rPr>
              <a:t>social</a:t>
            </a:r>
            <a:r>
              <a:rPr sz="2700" spc="65" dirty="0">
                <a:latin typeface="Trebuchet MS"/>
                <a:cs typeface="Trebuchet MS"/>
              </a:rPr>
              <a:t> </a:t>
            </a:r>
            <a:r>
              <a:rPr sz="2700" spc="70" dirty="0">
                <a:latin typeface="Trebuchet MS"/>
                <a:cs typeface="Trebuchet MS"/>
              </a:rPr>
              <a:t>criteria </a:t>
            </a:r>
            <a:r>
              <a:rPr sz="2700" spc="175" dirty="0">
                <a:latin typeface="Trebuchet MS"/>
                <a:cs typeface="Trebuchet MS"/>
              </a:rPr>
              <a:t>(screens)</a:t>
            </a:r>
            <a:r>
              <a:rPr sz="2700" spc="60" dirty="0">
                <a:latin typeface="Trebuchet MS"/>
                <a:cs typeface="Trebuchet MS"/>
              </a:rPr>
              <a:t> </a:t>
            </a:r>
            <a:r>
              <a:rPr sz="2700" spc="95" dirty="0">
                <a:latin typeface="Trebuchet MS"/>
                <a:cs typeface="Trebuchet MS"/>
              </a:rPr>
              <a:t>to</a:t>
            </a:r>
            <a:r>
              <a:rPr sz="2700" spc="70" dirty="0">
                <a:latin typeface="Trebuchet MS"/>
                <a:cs typeface="Trebuchet MS"/>
              </a:rPr>
              <a:t> </a:t>
            </a:r>
            <a:r>
              <a:rPr sz="2700" spc="185" dirty="0">
                <a:latin typeface="Trebuchet MS"/>
                <a:cs typeface="Trebuchet MS"/>
              </a:rPr>
              <a:t>investment</a:t>
            </a:r>
            <a:r>
              <a:rPr sz="2700" spc="55" dirty="0">
                <a:latin typeface="Trebuchet MS"/>
                <a:cs typeface="Trebuchet MS"/>
              </a:rPr>
              <a:t> </a:t>
            </a:r>
            <a:r>
              <a:rPr sz="2700" spc="140" dirty="0">
                <a:latin typeface="Trebuchet MS"/>
                <a:cs typeface="Trebuchet MS"/>
              </a:rPr>
              <a:t>decisions.</a:t>
            </a:r>
            <a:endParaRPr sz="2700">
              <a:latin typeface="Trebuchet MS"/>
              <a:cs typeface="Trebuchet MS"/>
            </a:endParaRPr>
          </a:p>
          <a:p>
            <a:pPr marL="322580" marR="17780" indent="-200660">
              <a:lnSpc>
                <a:spcPct val="101099"/>
              </a:lnSpc>
              <a:spcBef>
                <a:spcPts val="545"/>
              </a:spcBef>
              <a:buClr>
                <a:srgbClr val="FF1C1C"/>
              </a:buClr>
              <a:buSzPct val="85185"/>
              <a:buFont typeface="Arial MT"/>
              <a:buChar char="•"/>
              <a:tabLst>
                <a:tab pos="322580" algn="l"/>
              </a:tabLst>
            </a:pPr>
            <a:r>
              <a:rPr sz="2700" spc="254" dirty="0">
                <a:latin typeface="Trebuchet MS"/>
                <a:cs typeface="Trebuchet MS"/>
              </a:rPr>
              <a:t>SRI</a:t>
            </a:r>
            <a:r>
              <a:rPr sz="2700" spc="65" dirty="0">
                <a:latin typeface="Trebuchet MS"/>
                <a:cs typeface="Trebuchet MS"/>
              </a:rPr>
              <a:t> </a:t>
            </a:r>
            <a:r>
              <a:rPr sz="2700" spc="200" dirty="0">
                <a:latin typeface="Trebuchet MS"/>
                <a:cs typeface="Trebuchet MS"/>
              </a:rPr>
              <a:t>funds</a:t>
            </a:r>
            <a:r>
              <a:rPr sz="2700" spc="95" dirty="0">
                <a:latin typeface="Trebuchet MS"/>
                <a:cs typeface="Trebuchet MS"/>
              </a:rPr>
              <a:t> </a:t>
            </a:r>
            <a:r>
              <a:rPr sz="2700" spc="175" dirty="0">
                <a:latin typeface="Trebuchet MS"/>
                <a:cs typeface="Trebuchet MS"/>
              </a:rPr>
              <a:t>usually</a:t>
            </a:r>
            <a:r>
              <a:rPr sz="2700" spc="75" dirty="0">
                <a:latin typeface="Trebuchet MS"/>
                <a:cs typeface="Trebuchet MS"/>
              </a:rPr>
              <a:t> </a:t>
            </a:r>
            <a:r>
              <a:rPr sz="2700" dirty="0">
                <a:latin typeface="Trebuchet MS"/>
                <a:cs typeface="Trebuchet MS"/>
              </a:rPr>
              <a:t>will</a:t>
            </a:r>
            <a:r>
              <a:rPr sz="2700" spc="75" dirty="0">
                <a:latin typeface="Trebuchet MS"/>
                <a:cs typeface="Trebuchet MS"/>
              </a:rPr>
              <a:t> </a:t>
            </a:r>
            <a:r>
              <a:rPr sz="2700" spc="145" dirty="0">
                <a:latin typeface="Trebuchet MS"/>
                <a:cs typeface="Trebuchet MS"/>
              </a:rPr>
              <a:t>not</a:t>
            </a:r>
            <a:r>
              <a:rPr sz="2700" spc="80" dirty="0">
                <a:latin typeface="Trebuchet MS"/>
                <a:cs typeface="Trebuchet MS"/>
              </a:rPr>
              <a:t> </a:t>
            </a:r>
            <a:r>
              <a:rPr sz="2700" spc="165" dirty="0">
                <a:latin typeface="Trebuchet MS"/>
                <a:cs typeface="Trebuchet MS"/>
              </a:rPr>
              <a:t>invest</a:t>
            </a:r>
            <a:r>
              <a:rPr sz="2700" spc="70" dirty="0">
                <a:latin typeface="Trebuchet MS"/>
                <a:cs typeface="Trebuchet MS"/>
              </a:rPr>
              <a:t> </a:t>
            </a:r>
            <a:r>
              <a:rPr sz="2700" spc="80" dirty="0">
                <a:latin typeface="Trebuchet MS"/>
                <a:cs typeface="Trebuchet MS"/>
              </a:rPr>
              <a:t>in </a:t>
            </a:r>
            <a:r>
              <a:rPr sz="2700" spc="220" dirty="0">
                <a:latin typeface="Trebuchet MS"/>
                <a:cs typeface="Trebuchet MS"/>
              </a:rPr>
              <a:t>companies</a:t>
            </a:r>
            <a:r>
              <a:rPr sz="2700" spc="70" dirty="0">
                <a:latin typeface="Trebuchet MS"/>
                <a:cs typeface="Trebuchet MS"/>
              </a:rPr>
              <a:t> </a:t>
            </a:r>
            <a:r>
              <a:rPr sz="2700" spc="170" dirty="0">
                <a:latin typeface="Trebuchet MS"/>
                <a:cs typeface="Trebuchet MS"/>
              </a:rPr>
              <a:t>involved</a:t>
            </a:r>
            <a:r>
              <a:rPr sz="2700" spc="85" dirty="0">
                <a:latin typeface="Trebuchet MS"/>
                <a:cs typeface="Trebuchet MS"/>
              </a:rPr>
              <a:t> </a:t>
            </a:r>
            <a:r>
              <a:rPr sz="2700" spc="100" dirty="0">
                <a:latin typeface="Trebuchet MS"/>
                <a:cs typeface="Trebuchet MS"/>
              </a:rPr>
              <a:t>in</a:t>
            </a:r>
            <a:r>
              <a:rPr sz="2700" spc="85" dirty="0">
                <a:latin typeface="Trebuchet MS"/>
                <a:cs typeface="Trebuchet MS"/>
              </a:rPr>
              <a:t> </a:t>
            </a:r>
            <a:r>
              <a:rPr sz="2700" spc="75" dirty="0">
                <a:latin typeface="Trebuchet MS"/>
                <a:cs typeface="Trebuchet MS"/>
              </a:rPr>
              <a:t>liquor,</a:t>
            </a:r>
            <a:r>
              <a:rPr sz="2700" spc="60" dirty="0">
                <a:latin typeface="Trebuchet MS"/>
                <a:cs typeface="Trebuchet MS"/>
              </a:rPr>
              <a:t> </a:t>
            </a:r>
            <a:r>
              <a:rPr sz="2700" spc="175" dirty="0">
                <a:latin typeface="Trebuchet MS"/>
                <a:cs typeface="Trebuchet MS"/>
              </a:rPr>
              <a:t>gambling, </a:t>
            </a:r>
            <a:r>
              <a:rPr sz="2700" spc="135" dirty="0">
                <a:latin typeface="Trebuchet MS"/>
                <a:cs typeface="Trebuchet MS"/>
              </a:rPr>
              <a:t>tobacco,</a:t>
            </a:r>
            <a:r>
              <a:rPr sz="2700" spc="60" dirty="0">
                <a:latin typeface="Trebuchet MS"/>
                <a:cs typeface="Trebuchet MS"/>
              </a:rPr>
              <a:t> </a:t>
            </a:r>
            <a:r>
              <a:rPr sz="2700" spc="155" dirty="0">
                <a:latin typeface="Trebuchet MS"/>
                <a:cs typeface="Trebuchet MS"/>
              </a:rPr>
              <a:t>nuclear</a:t>
            </a:r>
            <a:r>
              <a:rPr sz="2700" spc="70" dirty="0">
                <a:latin typeface="Trebuchet MS"/>
                <a:cs typeface="Trebuchet MS"/>
              </a:rPr>
              <a:t> </a:t>
            </a:r>
            <a:r>
              <a:rPr sz="2700" spc="180" dirty="0">
                <a:latin typeface="Trebuchet MS"/>
                <a:cs typeface="Trebuchet MS"/>
              </a:rPr>
              <a:t>power</a:t>
            </a:r>
            <a:r>
              <a:rPr sz="2700" spc="70" dirty="0">
                <a:latin typeface="Trebuchet MS"/>
                <a:cs typeface="Trebuchet MS"/>
              </a:rPr>
              <a:t> </a:t>
            </a:r>
            <a:r>
              <a:rPr sz="2700" spc="190" dirty="0">
                <a:latin typeface="Trebuchet MS"/>
                <a:cs typeface="Trebuchet MS"/>
              </a:rPr>
              <a:t>weapons,</a:t>
            </a:r>
            <a:r>
              <a:rPr sz="2700" spc="65" dirty="0">
                <a:latin typeface="Trebuchet MS"/>
                <a:cs typeface="Trebuchet MS"/>
              </a:rPr>
              <a:t> </a:t>
            </a:r>
            <a:r>
              <a:rPr sz="2700" spc="110" dirty="0">
                <a:latin typeface="Trebuchet MS"/>
                <a:cs typeface="Trebuchet MS"/>
              </a:rPr>
              <a:t>price </a:t>
            </a:r>
            <a:r>
              <a:rPr sz="2700" spc="90" dirty="0">
                <a:latin typeface="Trebuchet MS"/>
                <a:cs typeface="Trebuchet MS"/>
              </a:rPr>
              <a:t>fixing,</a:t>
            </a:r>
            <a:r>
              <a:rPr sz="2700" spc="55" dirty="0">
                <a:latin typeface="Trebuchet MS"/>
                <a:cs typeface="Trebuchet MS"/>
              </a:rPr>
              <a:t> </a:t>
            </a:r>
            <a:r>
              <a:rPr sz="2700" spc="105" dirty="0">
                <a:latin typeface="Trebuchet MS"/>
                <a:cs typeface="Trebuchet MS"/>
              </a:rPr>
              <a:t>fraud,</a:t>
            </a:r>
            <a:r>
              <a:rPr sz="2700" spc="60" dirty="0">
                <a:latin typeface="Trebuchet MS"/>
                <a:cs typeface="Trebuchet MS"/>
              </a:rPr>
              <a:t> </a:t>
            </a:r>
            <a:r>
              <a:rPr sz="2700" spc="135" dirty="0">
                <a:latin typeface="Trebuchet MS"/>
                <a:cs typeface="Trebuchet MS"/>
              </a:rPr>
              <a:t>or</a:t>
            </a:r>
            <a:r>
              <a:rPr sz="2700" spc="65" dirty="0">
                <a:latin typeface="Trebuchet MS"/>
                <a:cs typeface="Trebuchet MS"/>
              </a:rPr>
              <a:t> </a:t>
            </a:r>
            <a:r>
              <a:rPr sz="2700" spc="100" dirty="0">
                <a:latin typeface="Trebuchet MS"/>
                <a:cs typeface="Trebuchet MS"/>
              </a:rPr>
              <a:t>in</a:t>
            </a:r>
            <a:r>
              <a:rPr sz="2700" spc="75" dirty="0">
                <a:latin typeface="Trebuchet MS"/>
                <a:cs typeface="Trebuchet MS"/>
              </a:rPr>
              <a:t> </a:t>
            </a:r>
            <a:r>
              <a:rPr sz="2700" spc="220" dirty="0">
                <a:latin typeface="Trebuchet MS"/>
                <a:cs typeface="Trebuchet MS"/>
              </a:rPr>
              <a:t>companies</a:t>
            </a:r>
            <a:r>
              <a:rPr sz="2700" spc="70" dirty="0">
                <a:latin typeface="Trebuchet MS"/>
                <a:cs typeface="Trebuchet MS"/>
              </a:rPr>
              <a:t> </a:t>
            </a:r>
            <a:r>
              <a:rPr sz="2700" spc="120" dirty="0">
                <a:latin typeface="Trebuchet MS"/>
                <a:cs typeface="Trebuchet MS"/>
              </a:rPr>
              <a:t>that</a:t>
            </a:r>
            <a:r>
              <a:rPr sz="2700" spc="60" dirty="0">
                <a:latin typeface="Trebuchet MS"/>
                <a:cs typeface="Trebuchet MS"/>
              </a:rPr>
              <a:t> </a:t>
            </a:r>
            <a:r>
              <a:rPr sz="2700" spc="225" dirty="0">
                <a:latin typeface="Trebuchet MS"/>
                <a:cs typeface="Trebuchet MS"/>
              </a:rPr>
              <a:t>have </a:t>
            </a:r>
            <a:r>
              <a:rPr sz="2700" spc="180" dirty="0">
                <a:latin typeface="Trebuchet MS"/>
                <a:cs typeface="Trebuchet MS"/>
              </a:rPr>
              <a:t>poor</a:t>
            </a:r>
            <a:r>
              <a:rPr sz="2700" spc="65" dirty="0">
                <a:latin typeface="Trebuchet MS"/>
                <a:cs typeface="Trebuchet MS"/>
              </a:rPr>
              <a:t> </a:t>
            </a:r>
            <a:r>
              <a:rPr sz="2700" spc="150" dirty="0">
                <a:latin typeface="Trebuchet MS"/>
                <a:cs typeface="Trebuchet MS"/>
              </a:rPr>
              <a:t>product</a:t>
            </a:r>
            <a:r>
              <a:rPr sz="2700" spc="60" dirty="0">
                <a:latin typeface="Trebuchet MS"/>
                <a:cs typeface="Trebuchet MS"/>
              </a:rPr>
              <a:t> </a:t>
            </a:r>
            <a:r>
              <a:rPr sz="2700" spc="120" dirty="0">
                <a:latin typeface="Trebuchet MS"/>
                <a:cs typeface="Trebuchet MS"/>
              </a:rPr>
              <a:t>safety,</a:t>
            </a:r>
            <a:r>
              <a:rPr sz="2700" spc="60" dirty="0">
                <a:latin typeface="Trebuchet MS"/>
                <a:cs typeface="Trebuchet MS"/>
              </a:rPr>
              <a:t> </a:t>
            </a:r>
            <a:r>
              <a:rPr sz="2700" spc="204" dirty="0">
                <a:latin typeface="Trebuchet MS"/>
                <a:cs typeface="Trebuchet MS"/>
              </a:rPr>
              <a:t>employee</a:t>
            </a:r>
            <a:r>
              <a:rPr sz="2700" spc="65" dirty="0">
                <a:latin typeface="Trebuchet MS"/>
                <a:cs typeface="Trebuchet MS"/>
              </a:rPr>
              <a:t> </a:t>
            </a:r>
            <a:r>
              <a:rPr sz="2700" spc="90" dirty="0">
                <a:latin typeface="Trebuchet MS"/>
                <a:cs typeface="Trebuchet MS"/>
              </a:rPr>
              <a:t>relations, </a:t>
            </a:r>
            <a:r>
              <a:rPr sz="2700" spc="245" dirty="0">
                <a:latin typeface="Trebuchet MS"/>
                <a:cs typeface="Trebuchet MS"/>
              </a:rPr>
              <a:t>and</a:t>
            </a:r>
            <a:r>
              <a:rPr sz="2700" spc="70" dirty="0">
                <a:latin typeface="Trebuchet MS"/>
                <a:cs typeface="Trebuchet MS"/>
              </a:rPr>
              <a:t> </a:t>
            </a:r>
            <a:r>
              <a:rPr sz="2700" spc="165" dirty="0">
                <a:latin typeface="Trebuchet MS"/>
                <a:cs typeface="Trebuchet MS"/>
              </a:rPr>
              <a:t>environmental</a:t>
            </a:r>
            <a:r>
              <a:rPr sz="2700" spc="65" dirty="0">
                <a:latin typeface="Trebuchet MS"/>
                <a:cs typeface="Trebuchet MS"/>
              </a:rPr>
              <a:t> </a:t>
            </a:r>
            <a:r>
              <a:rPr sz="2700" spc="130" dirty="0">
                <a:latin typeface="Trebuchet MS"/>
                <a:cs typeface="Trebuchet MS"/>
              </a:rPr>
              <a:t>track</a:t>
            </a:r>
            <a:r>
              <a:rPr sz="2700" spc="65" dirty="0">
                <a:latin typeface="Trebuchet MS"/>
                <a:cs typeface="Trebuchet MS"/>
              </a:rPr>
              <a:t> </a:t>
            </a:r>
            <a:r>
              <a:rPr sz="2700" spc="114" dirty="0">
                <a:latin typeface="Trebuchet MS"/>
                <a:cs typeface="Trebuchet MS"/>
              </a:rPr>
              <a:t>records.</a:t>
            </a:r>
            <a:endParaRPr sz="270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spc="-10" dirty="0"/>
              <a:t>6-</a:t>
            </a:r>
            <a:fld id="{81D60167-4931-47E6-BA6A-407CBD079E47}" type="slidenum">
              <a:rPr spc="-25" dirty="0"/>
              <a:t>14</a:t>
            </a:fld>
            <a:endParaRPr spc="-25" dirty="0"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Copyright</a:t>
            </a:r>
            <a:r>
              <a:rPr spc="-15" dirty="0"/>
              <a:t> </a:t>
            </a:r>
            <a:r>
              <a:rPr dirty="0"/>
              <a:t>©</a:t>
            </a:r>
            <a:r>
              <a:rPr spc="-15" dirty="0"/>
              <a:t> </a:t>
            </a:r>
            <a:r>
              <a:rPr dirty="0"/>
              <a:t>2016</a:t>
            </a:r>
            <a:r>
              <a:rPr spc="-5" dirty="0"/>
              <a:t> </a:t>
            </a:r>
            <a:r>
              <a:rPr dirty="0"/>
              <a:t>Pearson</a:t>
            </a:r>
            <a:r>
              <a:rPr spc="-10" dirty="0"/>
              <a:t> </a:t>
            </a:r>
            <a:r>
              <a:rPr dirty="0"/>
              <a:t>Education,</a:t>
            </a:r>
            <a:r>
              <a:rPr spc="-15" dirty="0"/>
              <a:t> </a:t>
            </a:r>
            <a:r>
              <a:rPr spc="-20" dirty="0"/>
              <a:t>Ltd.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Hazardous living : Peshawar’s rising pollution problem | The Express Tribune">
            <a:extLst>
              <a:ext uri="{FF2B5EF4-FFF2-40B4-BE49-F238E27FC236}">
                <a16:creationId xmlns:a16="http://schemas.microsoft.com/office/drawing/2014/main" id="{7D768525-E4ED-2E94-272F-B3420C8F20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000" y="0"/>
            <a:ext cx="4064000" cy="2755900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5C12E0-5FF7-C61F-7801-30169B345E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7432" y="0"/>
            <a:ext cx="5052568" cy="6401753"/>
          </a:xfrm>
        </p:spPr>
        <p:txBody>
          <a:bodyPr/>
          <a:lstStyle/>
          <a:p>
            <a:r>
              <a:rPr lang="en-GB" sz="2600" b="1" dirty="0"/>
              <a:t>Scenario:</a:t>
            </a:r>
            <a:br>
              <a:rPr lang="en-GB" sz="2600" dirty="0"/>
            </a:br>
            <a:r>
              <a:rPr lang="en-GB" sz="2600" dirty="0"/>
              <a:t>A factory in Peshawar is earning good profit but causing </a:t>
            </a:r>
            <a:r>
              <a:rPr lang="en-GB" sz="2600" b="1" dirty="0"/>
              <a:t>pollution</a:t>
            </a:r>
            <a:r>
              <a:rPr lang="en-GB" sz="2600" dirty="0"/>
              <a:t> in the nearby area. It follows all government laws.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600" dirty="0"/>
              <a:t>Residents demand: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600" dirty="0"/>
              <a:t>Cleaner environment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600" dirty="0"/>
              <a:t>Support for local school </a:t>
            </a:r>
          </a:p>
          <a:p>
            <a:r>
              <a:rPr lang="en-GB" sz="2600" dirty="0"/>
              <a:t>Management says:</a:t>
            </a:r>
          </a:p>
          <a:p>
            <a:r>
              <a:rPr lang="en-GB" sz="2600" dirty="0">
                <a:solidFill>
                  <a:srgbClr val="FF0000"/>
                </a:solidFill>
              </a:rPr>
              <a:t>“We already follow the law. Social work is not our responsibility.”</a:t>
            </a:r>
          </a:p>
          <a:p>
            <a:r>
              <a:rPr lang="en-GB" sz="2600" b="1" dirty="0"/>
              <a:t>Discussion Question</a:t>
            </a:r>
          </a:p>
          <a:p>
            <a:r>
              <a:rPr lang="en-GB" sz="2600" dirty="0"/>
              <a:t>👉 Should the company do more than legal requirements?</a:t>
            </a:r>
          </a:p>
          <a:p>
            <a:endParaRPr lang="en-US" sz="2600" dirty="0"/>
          </a:p>
        </p:txBody>
      </p:sp>
    </p:spTree>
    <p:extLst>
      <p:ext uri="{BB962C8B-B14F-4D97-AF65-F5344CB8AC3E}">
        <p14:creationId xmlns:p14="http://schemas.microsoft.com/office/powerpoint/2010/main" val="38759502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97231" y="1143000"/>
            <a:ext cx="6617969" cy="4857750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6839" rIns="0" bIns="0" rtlCol="0">
            <a:spAutoFit/>
          </a:bodyPr>
          <a:lstStyle/>
          <a:p>
            <a:pPr marL="255270" marR="81280" algn="ctr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 MT"/>
                <a:cs typeface="Arial MT"/>
              </a:rPr>
              <a:t>EXHIBIT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6-</a:t>
            </a:r>
            <a:r>
              <a:rPr sz="2400" spc="-50" dirty="0">
                <a:latin typeface="Arial MT"/>
                <a:cs typeface="Arial MT"/>
              </a:rPr>
              <a:t>1</a:t>
            </a:r>
            <a:endParaRPr sz="2400">
              <a:latin typeface="Arial MT"/>
              <a:cs typeface="Arial MT"/>
            </a:endParaRPr>
          </a:p>
          <a:p>
            <a:pPr marL="267970" marR="5080" algn="ctr">
              <a:lnSpc>
                <a:spcPct val="100000"/>
              </a:lnSpc>
              <a:spcBef>
                <a:spcPts val="20"/>
              </a:spcBef>
            </a:pPr>
            <a:r>
              <a:rPr sz="2400" dirty="0">
                <a:latin typeface="Arial MT"/>
                <a:cs typeface="Arial MT"/>
              </a:rPr>
              <a:t>ARGUMENTS</a:t>
            </a:r>
            <a:r>
              <a:rPr sz="2400" spc="-10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FOR</a:t>
            </a:r>
            <a:r>
              <a:rPr sz="2400" spc="-155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AND</a:t>
            </a:r>
            <a:r>
              <a:rPr sz="2400" spc="-1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AGAINST</a:t>
            </a:r>
            <a:r>
              <a:rPr sz="2400" spc="-12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SOCIAL RESPONSIBILITY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spc="-10" dirty="0"/>
              <a:t>6-</a:t>
            </a:r>
            <a:fld id="{81D60167-4931-47E6-BA6A-407CBD079E47}" type="slidenum">
              <a:rPr spc="-25" dirty="0"/>
              <a:t>16</a:t>
            </a:fld>
            <a:endParaRPr spc="-25" dirty="0"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Copyright</a:t>
            </a:r>
            <a:r>
              <a:rPr spc="-15" dirty="0"/>
              <a:t> </a:t>
            </a:r>
            <a:r>
              <a:rPr dirty="0"/>
              <a:t>©</a:t>
            </a:r>
            <a:r>
              <a:rPr spc="-15" dirty="0"/>
              <a:t> </a:t>
            </a:r>
            <a:r>
              <a:rPr dirty="0"/>
              <a:t>2016</a:t>
            </a:r>
            <a:r>
              <a:rPr spc="-5" dirty="0"/>
              <a:t> </a:t>
            </a:r>
            <a:r>
              <a:rPr dirty="0"/>
              <a:t>Pearson</a:t>
            </a:r>
            <a:r>
              <a:rPr spc="-10" dirty="0"/>
              <a:t> </a:t>
            </a:r>
            <a:r>
              <a:rPr dirty="0"/>
              <a:t>Education,</a:t>
            </a:r>
            <a:r>
              <a:rPr spc="-15" dirty="0"/>
              <a:t> </a:t>
            </a:r>
            <a:r>
              <a:rPr spc="-20" dirty="0"/>
              <a:t>Ltd.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115185" marR="5080" indent="-1158240">
              <a:lnSpc>
                <a:spcPct val="100699"/>
              </a:lnSpc>
              <a:spcBef>
                <a:spcPts val="90"/>
              </a:spcBef>
            </a:pPr>
            <a:r>
              <a:rPr sz="3400" b="1" dirty="0">
                <a:latin typeface="Arial"/>
                <a:cs typeface="Arial"/>
              </a:rPr>
              <a:t>GREEN</a:t>
            </a:r>
            <a:r>
              <a:rPr sz="3400" b="1" spc="20" dirty="0">
                <a:latin typeface="Arial"/>
                <a:cs typeface="Arial"/>
              </a:rPr>
              <a:t> </a:t>
            </a:r>
            <a:r>
              <a:rPr sz="3400" b="1" dirty="0">
                <a:latin typeface="Arial"/>
                <a:cs typeface="Arial"/>
              </a:rPr>
              <a:t>MANAGEMENT</a:t>
            </a:r>
            <a:r>
              <a:rPr sz="3400" b="1" spc="-85" dirty="0">
                <a:latin typeface="Arial"/>
                <a:cs typeface="Arial"/>
              </a:rPr>
              <a:t> </a:t>
            </a:r>
            <a:r>
              <a:rPr sz="3400" b="1" spc="-25" dirty="0">
                <a:latin typeface="Arial"/>
                <a:cs typeface="Arial"/>
              </a:rPr>
              <a:t>AND </a:t>
            </a:r>
            <a:r>
              <a:rPr sz="3400" b="1" spc="-10" dirty="0">
                <a:latin typeface="Arial"/>
                <a:cs typeface="Arial"/>
              </a:rPr>
              <a:t>SUSTAINABILITY</a:t>
            </a:r>
            <a:endParaRPr sz="34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spc="-10" dirty="0"/>
              <a:t>6-</a:t>
            </a:r>
            <a:fld id="{81D60167-4931-47E6-BA6A-407CBD079E47}" type="slidenum">
              <a:rPr spc="-25" dirty="0"/>
              <a:t>17</a:t>
            </a:fld>
            <a:endParaRPr spc="-25" dirty="0"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Copyright</a:t>
            </a:r>
            <a:r>
              <a:rPr spc="-15" dirty="0"/>
              <a:t> </a:t>
            </a:r>
            <a:r>
              <a:rPr dirty="0"/>
              <a:t>©</a:t>
            </a:r>
            <a:r>
              <a:rPr spc="-15" dirty="0"/>
              <a:t> </a:t>
            </a:r>
            <a:r>
              <a:rPr dirty="0"/>
              <a:t>2016</a:t>
            </a:r>
            <a:r>
              <a:rPr spc="-5" dirty="0"/>
              <a:t> </a:t>
            </a:r>
            <a:r>
              <a:rPr dirty="0"/>
              <a:t>Pearson</a:t>
            </a:r>
            <a:r>
              <a:rPr spc="-10" dirty="0"/>
              <a:t> </a:t>
            </a:r>
            <a:r>
              <a:rPr dirty="0"/>
              <a:t>Education,</a:t>
            </a:r>
            <a:r>
              <a:rPr spc="-15" dirty="0"/>
              <a:t> </a:t>
            </a:r>
            <a:r>
              <a:rPr spc="-20" dirty="0"/>
              <a:t>Ltd.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41680" y="1635759"/>
            <a:ext cx="6576695" cy="4973156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287020" marR="5080" indent="-274320">
              <a:lnSpc>
                <a:spcPct val="100499"/>
              </a:lnSpc>
              <a:spcBef>
                <a:spcPts val="80"/>
              </a:spcBef>
              <a:buClr>
                <a:srgbClr val="FF1C1C"/>
              </a:buClr>
              <a:buSzPct val="84375"/>
              <a:buFont typeface="Arial MT"/>
              <a:buChar char="•"/>
              <a:tabLst>
                <a:tab pos="287020" algn="l"/>
              </a:tabLst>
            </a:pPr>
            <a:r>
              <a:rPr sz="3200" b="1" dirty="0">
                <a:latin typeface="Arial"/>
                <a:cs typeface="Arial"/>
              </a:rPr>
              <a:t>Green</a:t>
            </a:r>
            <a:r>
              <a:rPr sz="3200" b="1" spc="-20" dirty="0">
                <a:latin typeface="Arial"/>
                <a:cs typeface="Arial"/>
              </a:rPr>
              <a:t> </a:t>
            </a:r>
            <a:r>
              <a:rPr sz="3200" b="1" dirty="0">
                <a:latin typeface="Arial"/>
                <a:cs typeface="Arial"/>
              </a:rPr>
              <a:t>Management</a:t>
            </a:r>
            <a:r>
              <a:rPr sz="3200" b="1" spc="30" dirty="0">
                <a:latin typeface="Arial"/>
                <a:cs typeface="Arial"/>
              </a:rPr>
              <a:t> </a:t>
            </a:r>
            <a:r>
              <a:rPr sz="3200" spc="420" dirty="0">
                <a:latin typeface="Trebuchet MS"/>
                <a:cs typeface="Trebuchet MS"/>
              </a:rPr>
              <a:t>–</a:t>
            </a:r>
            <a:r>
              <a:rPr sz="3200" spc="135" dirty="0">
                <a:latin typeface="Trebuchet MS"/>
                <a:cs typeface="Trebuchet MS"/>
              </a:rPr>
              <a:t> </a:t>
            </a:r>
            <a:r>
              <a:rPr sz="3200" spc="270" dirty="0">
                <a:latin typeface="Trebuchet MS"/>
                <a:cs typeface="Trebuchet MS"/>
              </a:rPr>
              <a:t>managers </a:t>
            </a:r>
            <a:r>
              <a:rPr sz="3200" spc="185" dirty="0">
                <a:latin typeface="Trebuchet MS"/>
                <a:cs typeface="Trebuchet MS"/>
              </a:rPr>
              <a:t>consider</a:t>
            </a:r>
            <a:r>
              <a:rPr sz="3200" spc="65" dirty="0">
                <a:latin typeface="Trebuchet MS"/>
                <a:cs typeface="Trebuchet MS"/>
              </a:rPr>
              <a:t> </a:t>
            </a:r>
            <a:r>
              <a:rPr sz="3200" spc="150" dirty="0">
                <a:latin typeface="Trebuchet MS"/>
                <a:cs typeface="Trebuchet MS"/>
              </a:rPr>
              <a:t>the</a:t>
            </a:r>
            <a:r>
              <a:rPr sz="3200" spc="65" dirty="0">
                <a:latin typeface="Trebuchet MS"/>
                <a:cs typeface="Trebuchet MS"/>
              </a:rPr>
              <a:t> </a:t>
            </a:r>
            <a:r>
              <a:rPr sz="3200" spc="170" dirty="0">
                <a:latin typeface="Trebuchet MS"/>
                <a:cs typeface="Trebuchet MS"/>
              </a:rPr>
              <a:t>impact</a:t>
            </a:r>
            <a:r>
              <a:rPr sz="3200" spc="70" dirty="0">
                <a:latin typeface="Trebuchet MS"/>
                <a:cs typeface="Trebuchet MS"/>
              </a:rPr>
              <a:t> </a:t>
            </a:r>
            <a:r>
              <a:rPr sz="3200" spc="75" dirty="0">
                <a:latin typeface="Trebuchet MS"/>
                <a:cs typeface="Trebuchet MS"/>
              </a:rPr>
              <a:t>of</a:t>
            </a:r>
            <a:r>
              <a:rPr sz="3200" spc="65" dirty="0">
                <a:latin typeface="Trebuchet MS"/>
                <a:cs typeface="Trebuchet MS"/>
              </a:rPr>
              <a:t> </a:t>
            </a:r>
            <a:r>
              <a:rPr sz="3200" spc="70" dirty="0">
                <a:latin typeface="Trebuchet MS"/>
                <a:cs typeface="Trebuchet MS"/>
              </a:rPr>
              <a:t>their </a:t>
            </a:r>
            <a:r>
              <a:rPr sz="3200" spc="160" dirty="0">
                <a:latin typeface="Trebuchet MS"/>
                <a:cs typeface="Trebuchet MS"/>
              </a:rPr>
              <a:t>organization</a:t>
            </a:r>
            <a:r>
              <a:rPr sz="3200" spc="60" dirty="0">
                <a:latin typeface="Trebuchet MS"/>
                <a:cs typeface="Trebuchet MS"/>
              </a:rPr>
              <a:t> </a:t>
            </a:r>
            <a:r>
              <a:rPr sz="3200" spc="250" dirty="0">
                <a:latin typeface="Trebuchet MS"/>
                <a:cs typeface="Trebuchet MS"/>
              </a:rPr>
              <a:t>on</a:t>
            </a:r>
            <a:r>
              <a:rPr sz="3200" spc="50" dirty="0">
                <a:latin typeface="Trebuchet MS"/>
                <a:cs typeface="Trebuchet MS"/>
              </a:rPr>
              <a:t> </a:t>
            </a:r>
            <a:r>
              <a:rPr sz="3200" spc="150" dirty="0">
                <a:latin typeface="Trebuchet MS"/>
                <a:cs typeface="Trebuchet MS"/>
              </a:rPr>
              <a:t>the</a:t>
            </a:r>
            <a:r>
              <a:rPr sz="3200" spc="65" dirty="0">
                <a:latin typeface="Trebuchet MS"/>
                <a:cs typeface="Trebuchet MS"/>
              </a:rPr>
              <a:t> </a:t>
            </a:r>
            <a:r>
              <a:rPr sz="3200" spc="140" dirty="0">
                <a:latin typeface="Trebuchet MS"/>
                <a:cs typeface="Trebuchet MS"/>
              </a:rPr>
              <a:t>natural </a:t>
            </a:r>
            <a:r>
              <a:rPr sz="3200" spc="155" dirty="0">
                <a:latin typeface="Trebuchet MS"/>
                <a:cs typeface="Trebuchet MS"/>
              </a:rPr>
              <a:t>environment.</a:t>
            </a:r>
            <a:endParaRPr lang="en-GB" sz="3200" spc="155" dirty="0">
              <a:latin typeface="Trebuchet MS"/>
              <a:cs typeface="Trebuchet MS"/>
            </a:endParaRPr>
          </a:p>
          <a:p>
            <a:pPr marL="287020" marR="5080" indent="-274320">
              <a:lnSpc>
                <a:spcPct val="100499"/>
              </a:lnSpc>
              <a:spcBef>
                <a:spcPts val="80"/>
              </a:spcBef>
              <a:buClr>
                <a:srgbClr val="FF1C1C"/>
              </a:buClr>
              <a:buSzPct val="84375"/>
              <a:buFont typeface="Arial MT"/>
              <a:buChar char="•"/>
              <a:tabLst>
                <a:tab pos="287020" algn="l"/>
              </a:tabLst>
            </a:pPr>
            <a:endParaRPr lang="en-GB" sz="3200" spc="155" dirty="0">
              <a:latin typeface="Trebuchet MS"/>
              <a:cs typeface="Trebuchet MS"/>
            </a:endParaRPr>
          </a:p>
          <a:p>
            <a:pPr marL="287020" marR="5080" indent="-274320">
              <a:lnSpc>
                <a:spcPct val="100499"/>
              </a:lnSpc>
              <a:spcBef>
                <a:spcPts val="80"/>
              </a:spcBef>
              <a:buClr>
                <a:srgbClr val="FF1C1C"/>
              </a:buClr>
              <a:buSzPct val="84375"/>
              <a:buFont typeface="Arial MT"/>
              <a:buChar char="•"/>
              <a:tabLst>
                <a:tab pos="287020" algn="l"/>
              </a:tabLst>
            </a:pPr>
            <a:r>
              <a:rPr lang="en-GB" sz="3200" spc="155" dirty="0">
                <a:latin typeface="Trebuchet MS"/>
                <a:cs typeface="Trebuchet MS"/>
              </a:rPr>
              <a:t>Do we care about the Environment or not ?? If yes then how ? If no then why not ??</a:t>
            </a:r>
          </a:p>
          <a:p>
            <a:pPr marL="287020" marR="5080" indent="-274320">
              <a:lnSpc>
                <a:spcPct val="100499"/>
              </a:lnSpc>
              <a:spcBef>
                <a:spcPts val="80"/>
              </a:spcBef>
              <a:buClr>
                <a:srgbClr val="FF1C1C"/>
              </a:buClr>
              <a:buSzPct val="84375"/>
              <a:buFont typeface="Arial MT"/>
              <a:buChar char="•"/>
              <a:tabLst>
                <a:tab pos="287020" algn="l"/>
              </a:tabLst>
            </a:pPr>
            <a:endParaRPr sz="3200" dirty="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063240" marR="5080" indent="-2853690">
              <a:lnSpc>
                <a:spcPct val="100000"/>
              </a:lnSpc>
              <a:spcBef>
                <a:spcPts val="90"/>
              </a:spcBef>
            </a:pPr>
            <a:r>
              <a:rPr sz="3450" spc="375" dirty="0"/>
              <a:t>HOW</a:t>
            </a:r>
            <a:r>
              <a:rPr sz="3450" spc="75" dirty="0"/>
              <a:t> </a:t>
            </a:r>
            <a:r>
              <a:rPr sz="3450" spc="275" dirty="0"/>
              <a:t>ORGANIZATIONS</a:t>
            </a:r>
            <a:r>
              <a:rPr sz="3450" spc="75" dirty="0"/>
              <a:t> </a:t>
            </a:r>
            <a:r>
              <a:rPr sz="3450" spc="345" dirty="0"/>
              <a:t>GO</a:t>
            </a:r>
            <a:r>
              <a:rPr sz="3450" spc="70" dirty="0"/>
              <a:t> </a:t>
            </a:r>
            <a:r>
              <a:rPr sz="3450" spc="315" dirty="0"/>
              <a:t>GREEN </a:t>
            </a:r>
            <a:r>
              <a:rPr sz="3450" spc="85" dirty="0"/>
              <a:t>(CONT.)</a:t>
            </a:r>
            <a:endParaRPr sz="345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spc="-10" dirty="0"/>
              <a:t>6-</a:t>
            </a:r>
            <a:fld id="{81D60167-4931-47E6-BA6A-407CBD079E47}" type="slidenum">
              <a:rPr spc="-25" dirty="0"/>
              <a:t>18</a:t>
            </a:fld>
            <a:endParaRPr spc="-25" dirty="0"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Copyright</a:t>
            </a:r>
            <a:r>
              <a:rPr spc="-15" dirty="0"/>
              <a:t> </a:t>
            </a:r>
            <a:r>
              <a:rPr dirty="0"/>
              <a:t>©</a:t>
            </a:r>
            <a:r>
              <a:rPr spc="-15" dirty="0"/>
              <a:t> </a:t>
            </a:r>
            <a:r>
              <a:rPr dirty="0"/>
              <a:t>2016</a:t>
            </a:r>
            <a:r>
              <a:rPr spc="-5" dirty="0"/>
              <a:t> </a:t>
            </a:r>
            <a:r>
              <a:rPr dirty="0"/>
              <a:t>Pearson</a:t>
            </a:r>
            <a:r>
              <a:rPr spc="-10" dirty="0"/>
              <a:t> </a:t>
            </a:r>
            <a:r>
              <a:rPr dirty="0"/>
              <a:t>Education,</a:t>
            </a:r>
            <a:r>
              <a:rPr spc="-15" dirty="0"/>
              <a:t> </a:t>
            </a:r>
            <a:r>
              <a:rPr spc="-20" dirty="0"/>
              <a:t>Ltd.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73100" y="1649730"/>
            <a:ext cx="131445" cy="3886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350" spc="-50" dirty="0">
                <a:solidFill>
                  <a:srgbClr val="FF1C1C"/>
                </a:solidFill>
                <a:latin typeface="Arial MT"/>
                <a:cs typeface="Arial MT"/>
              </a:rPr>
              <a:t>•</a:t>
            </a:r>
            <a:endParaRPr sz="235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30300" y="1634490"/>
            <a:ext cx="7205345" cy="309118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84455">
              <a:lnSpc>
                <a:spcPct val="100299"/>
              </a:lnSpc>
              <a:spcBef>
                <a:spcPts val="90"/>
              </a:spcBef>
            </a:pPr>
            <a:r>
              <a:rPr sz="2800" b="1" spc="-10" dirty="0">
                <a:latin typeface="Arial"/>
                <a:cs typeface="Arial"/>
              </a:rPr>
              <a:t>Stakeholder</a:t>
            </a:r>
            <a:r>
              <a:rPr sz="2800" b="1" spc="-120" dirty="0">
                <a:latin typeface="Arial"/>
                <a:cs typeface="Arial"/>
              </a:rPr>
              <a:t> </a:t>
            </a:r>
            <a:r>
              <a:rPr sz="2800" b="1" spc="-10" dirty="0">
                <a:latin typeface="Arial"/>
                <a:cs typeface="Arial"/>
              </a:rPr>
              <a:t>Approach</a:t>
            </a:r>
            <a:r>
              <a:rPr sz="2800" b="1" spc="-45" dirty="0">
                <a:latin typeface="Arial"/>
                <a:cs typeface="Arial"/>
              </a:rPr>
              <a:t> </a:t>
            </a:r>
            <a:r>
              <a:rPr sz="2800" dirty="0">
                <a:latin typeface="Arial MT"/>
                <a:cs typeface="Arial MT"/>
              </a:rPr>
              <a:t>–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firms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work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to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sz="2800" spc="-20" dirty="0">
                <a:latin typeface="Arial MT"/>
                <a:cs typeface="Arial MT"/>
              </a:rPr>
              <a:t>meet </a:t>
            </a:r>
            <a:r>
              <a:rPr sz="2800" dirty="0">
                <a:latin typeface="Arial MT"/>
                <a:cs typeface="Arial MT"/>
              </a:rPr>
              <a:t>the</a:t>
            </a:r>
            <a:r>
              <a:rPr sz="2800" spc="-9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environmental</a:t>
            </a:r>
            <a:r>
              <a:rPr sz="2800" spc="-8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demands</a:t>
            </a:r>
            <a:r>
              <a:rPr sz="2800" spc="-8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of</a:t>
            </a:r>
            <a:r>
              <a:rPr sz="2800" spc="-80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multiple </a:t>
            </a:r>
            <a:r>
              <a:rPr sz="2800" spc="-20" dirty="0">
                <a:latin typeface="Arial MT"/>
                <a:cs typeface="Arial MT"/>
              </a:rPr>
              <a:t>stakeholders—</a:t>
            </a:r>
            <a:r>
              <a:rPr sz="2800" dirty="0">
                <a:latin typeface="Arial MT"/>
                <a:cs typeface="Arial MT"/>
              </a:rPr>
              <a:t>employees,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suppliers,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and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spc="-25" dirty="0">
                <a:latin typeface="Arial MT"/>
                <a:cs typeface="Arial MT"/>
              </a:rPr>
              <a:t>the </a:t>
            </a:r>
            <a:r>
              <a:rPr sz="2800" spc="-10" dirty="0">
                <a:latin typeface="Arial MT"/>
                <a:cs typeface="Arial MT"/>
              </a:rPr>
              <a:t>community.</a:t>
            </a:r>
            <a:endParaRPr sz="2800">
              <a:latin typeface="Arial MT"/>
              <a:cs typeface="Arial MT"/>
            </a:endParaRPr>
          </a:p>
          <a:p>
            <a:pPr marL="12700" marR="5080">
              <a:lnSpc>
                <a:spcPct val="100000"/>
              </a:lnSpc>
              <a:spcBef>
                <a:spcPts val="570"/>
              </a:spcBef>
            </a:pPr>
            <a:r>
              <a:rPr sz="2800" b="1" dirty="0">
                <a:latin typeface="Arial"/>
                <a:cs typeface="Arial"/>
              </a:rPr>
              <a:t>Activist</a:t>
            </a:r>
            <a:r>
              <a:rPr sz="2800" b="1" spc="-125" dirty="0">
                <a:latin typeface="Arial"/>
                <a:cs typeface="Arial"/>
              </a:rPr>
              <a:t> </a:t>
            </a:r>
            <a:r>
              <a:rPr sz="2800" b="1" spc="-10" dirty="0">
                <a:latin typeface="Arial"/>
                <a:cs typeface="Arial"/>
              </a:rPr>
              <a:t>Approach</a:t>
            </a:r>
            <a:r>
              <a:rPr sz="2800" b="1" spc="-45" dirty="0">
                <a:latin typeface="Arial"/>
                <a:cs typeface="Arial"/>
              </a:rPr>
              <a:t> </a:t>
            </a:r>
            <a:r>
              <a:rPr sz="2800" dirty="0">
                <a:latin typeface="Arial MT"/>
                <a:cs typeface="Arial MT"/>
              </a:rPr>
              <a:t>–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firms</a:t>
            </a:r>
            <a:r>
              <a:rPr sz="2800" spc="-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look</a:t>
            </a:r>
            <a:r>
              <a:rPr sz="2800" spc="-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for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ways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spc="-25" dirty="0">
                <a:latin typeface="Arial MT"/>
                <a:cs typeface="Arial MT"/>
              </a:rPr>
              <a:t>to </a:t>
            </a:r>
            <a:r>
              <a:rPr sz="2800" dirty="0">
                <a:latin typeface="Arial MT"/>
                <a:cs typeface="Arial MT"/>
              </a:rPr>
              <a:t>respect</a:t>
            </a:r>
            <a:r>
              <a:rPr sz="2800" spc="-9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and</a:t>
            </a:r>
            <a:r>
              <a:rPr sz="2800" spc="-8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preserve</a:t>
            </a:r>
            <a:r>
              <a:rPr sz="2800" spc="-8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the</a:t>
            </a:r>
            <a:r>
              <a:rPr sz="2800" spc="-8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environment</a:t>
            </a:r>
            <a:r>
              <a:rPr sz="2800" spc="-8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and</a:t>
            </a:r>
            <a:r>
              <a:rPr sz="2800" spc="-90" dirty="0">
                <a:latin typeface="Arial MT"/>
                <a:cs typeface="Arial MT"/>
              </a:rPr>
              <a:t> </a:t>
            </a:r>
            <a:r>
              <a:rPr sz="2800" spc="-25" dirty="0">
                <a:latin typeface="Arial MT"/>
                <a:cs typeface="Arial MT"/>
              </a:rPr>
              <a:t>be </a:t>
            </a:r>
            <a:r>
              <a:rPr sz="2800" dirty="0">
                <a:latin typeface="Arial MT"/>
                <a:cs typeface="Arial MT"/>
              </a:rPr>
              <a:t>actively</a:t>
            </a:r>
            <a:r>
              <a:rPr sz="2800" spc="-9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socially</a:t>
            </a:r>
            <a:r>
              <a:rPr sz="2800" spc="-95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responsible.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73100" y="3432810"/>
            <a:ext cx="131445" cy="3886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350" spc="-50" dirty="0">
                <a:solidFill>
                  <a:srgbClr val="FF1C1C"/>
                </a:solidFill>
                <a:latin typeface="Arial MT"/>
                <a:cs typeface="Arial MT"/>
              </a:rPr>
              <a:t>•</a:t>
            </a:r>
            <a:endParaRPr sz="23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259329" y="308610"/>
            <a:ext cx="4624705" cy="10756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indent="1007110">
              <a:lnSpc>
                <a:spcPct val="100000"/>
              </a:lnSpc>
              <a:spcBef>
                <a:spcPts val="90"/>
              </a:spcBef>
            </a:pPr>
            <a:r>
              <a:rPr sz="3450" spc="229" dirty="0"/>
              <a:t>EXHIBIT</a:t>
            </a:r>
            <a:r>
              <a:rPr sz="3450" spc="45" dirty="0"/>
              <a:t> </a:t>
            </a:r>
            <a:r>
              <a:rPr sz="3450" spc="170" dirty="0"/>
              <a:t>6-</a:t>
            </a:r>
            <a:r>
              <a:rPr sz="3450" spc="310" dirty="0"/>
              <a:t>2 </a:t>
            </a:r>
            <a:r>
              <a:rPr sz="3450" spc="325" dirty="0"/>
              <a:t>GREEN</a:t>
            </a:r>
            <a:r>
              <a:rPr sz="3450" spc="70" dirty="0"/>
              <a:t> </a:t>
            </a:r>
            <a:r>
              <a:rPr sz="3450" spc="280" dirty="0"/>
              <a:t>APPROACHES</a:t>
            </a:r>
            <a:endParaRPr sz="345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9498" y="1965010"/>
            <a:ext cx="8796081" cy="2978983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spc="-10" dirty="0"/>
              <a:t>6-</a:t>
            </a:r>
            <a:fld id="{81D60167-4931-47E6-BA6A-407CBD079E47}" type="slidenum">
              <a:rPr spc="-25" dirty="0"/>
              <a:t>19</a:t>
            </a:fld>
            <a:endParaRPr spc="-25" dirty="0"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Copyright</a:t>
            </a:r>
            <a:r>
              <a:rPr spc="-15" dirty="0"/>
              <a:t> </a:t>
            </a:r>
            <a:r>
              <a:rPr dirty="0"/>
              <a:t>©</a:t>
            </a:r>
            <a:r>
              <a:rPr spc="-15" dirty="0"/>
              <a:t> </a:t>
            </a:r>
            <a:r>
              <a:rPr dirty="0"/>
              <a:t>2016</a:t>
            </a:r>
            <a:r>
              <a:rPr spc="-5" dirty="0"/>
              <a:t> </a:t>
            </a:r>
            <a:r>
              <a:rPr dirty="0"/>
              <a:t>Pearson</a:t>
            </a:r>
            <a:r>
              <a:rPr spc="-10" dirty="0"/>
              <a:t> </a:t>
            </a:r>
            <a:r>
              <a:rPr dirty="0"/>
              <a:t>Education,</a:t>
            </a:r>
            <a:r>
              <a:rPr spc="-15" dirty="0"/>
              <a:t> </a:t>
            </a:r>
            <a:r>
              <a:rPr spc="-20" dirty="0"/>
              <a:t>Ltd.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5240" marR="127635" algn="ctr">
              <a:lnSpc>
                <a:spcPct val="100000"/>
              </a:lnSpc>
              <a:spcBef>
                <a:spcPts val="120"/>
              </a:spcBef>
            </a:pPr>
            <a:r>
              <a:rPr sz="3400" spc="375" dirty="0"/>
              <a:t>MANAGERS</a:t>
            </a:r>
            <a:endParaRPr sz="3400"/>
          </a:p>
          <a:p>
            <a:pPr marL="15240" algn="ctr">
              <a:lnSpc>
                <a:spcPct val="100000"/>
              </a:lnSpc>
              <a:spcBef>
                <a:spcPts val="30"/>
              </a:spcBef>
            </a:pPr>
            <a:r>
              <a:rPr sz="3400" spc="409" dirty="0"/>
              <a:t>AND</a:t>
            </a:r>
            <a:r>
              <a:rPr sz="3400" spc="75" dirty="0"/>
              <a:t> </a:t>
            </a:r>
            <a:r>
              <a:rPr sz="3400" spc="235" dirty="0"/>
              <a:t>ETHICAL</a:t>
            </a:r>
            <a:r>
              <a:rPr sz="3400" spc="70" dirty="0"/>
              <a:t> </a:t>
            </a:r>
            <a:r>
              <a:rPr sz="3400" spc="285" dirty="0"/>
              <a:t>BEHAVIOR</a:t>
            </a:r>
            <a:endParaRPr sz="34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95325" y="1764664"/>
            <a:ext cx="95250" cy="231775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379730" marR="303530">
              <a:lnSpc>
                <a:spcPct val="100499"/>
              </a:lnSpc>
              <a:spcBef>
                <a:spcPts val="80"/>
              </a:spcBef>
            </a:pPr>
            <a:r>
              <a:rPr sz="3200" b="1" dirty="0">
                <a:latin typeface="Arial"/>
                <a:cs typeface="Arial"/>
              </a:rPr>
              <a:t>Ethics</a:t>
            </a:r>
            <a:r>
              <a:rPr sz="3200" b="1" spc="10" dirty="0">
                <a:latin typeface="Arial"/>
                <a:cs typeface="Arial"/>
              </a:rPr>
              <a:t> </a:t>
            </a:r>
            <a:r>
              <a:rPr sz="3200" dirty="0">
                <a:latin typeface="Arial MT"/>
                <a:cs typeface="Arial MT"/>
              </a:rPr>
              <a:t>–</a:t>
            </a:r>
            <a:r>
              <a:rPr sz="3200" spc="140" dirty="0">
                <a:latin typeface="Arial MT"/>
                <a:cs typeface="Arial MT"/>
              </a:rPr>
              <a:t> </a:t>
            </a:r>
            <a:r>
              <a:rPr sz="3200" spc="110" dirty="0"/>
              <a:t>principles,</a:t>
            </a:r>
            <a:r>
              <a:rPr sz="3200" spc="55" dirty="0"/>
              <a:t> </a:t>
            </a:r>
            <a:r>
              <a:rPr sz="3200" spc="160" dirty="0"/>
              <a:t>values,</a:t>
            </a:r>
            <a:r>
              <a:rPr sz="3200" spc="50" dirty="0"/>
              <a:t> </a:t>
            </a:r>
            <a:r>
              <a:rPr sz="3200" spc="225" dirty="0"/>
              <a:t>and </a:t>
            </a:r>
            <a:r>
              <a:rPr sz="3200" spc="120" dirty="0"/>
              <a:t>beliefs</a:t>
            </a:r>
            <a:r>
              <a:rPr sz="3200" spc="60" dirty="0"/>
              <a:t> </a:t>
            </a:r>
            <a:r>
              <a:rPr sz="3200" spc="120" dirty="0"/>
              <a:t>that</a:t>
            </a:r>
            <a:r>
              <a:rPr sz="3200" spc="65" dirty="0"/>
              <a:t> </a:t>
            </a:r>
            <a:r>
              <a:rPr sz="3200" spc="130" dirty="0"/>
              <a:t>define</a:t>
            </a:r>
            <a:r>
              <a:rPr sz="3200" spc="60" dirty="0"/>
              <a:t> </a:t>
            </a:r>
            <a:r>
              <a:rPr sz="3200" spc="130" dirty="0"/>
              <a:t>right</a:t>
            </a:r>
            <a:r>
              <a:rPr sz="3200" spc="75" dirty="0"/>
              <a:t> </a:t>
            </a:r>
            <a:r>
              <a:rPr sz="3200" spc="254" dirty="0"/>
              <a:t>and</a:t>
            </a:r>
            <a:r>
              <a:rPr sz="3200" spc="60" dirty="0"/>
              <a:t> </a:t>
            </a:r>
            <a:r>
              <a:rPr sz="3200" spc="195" dirty="0"/>
              <a:t>wrong </a:t>
            </a:r>
            <a:r>
              <a:rPr sz="3200" spc="105" dirty="0"/>
              <a:t>behavior.</a:t>
            </a:r>
            <a:endParaRPr sz="3200">
              <a:latin typeface="Arial MT"/>
              <a:cs typeface="Arial MT"/>
            </a:endParaRPr>
          </a:p>
          <a:p>
            <a:pPr marL="729615" marR="17780" indent="-287020">
              <a:lnSpc>
                <a:spcPct val="100499"/>
              </a:lnSpc>
              <a:spcBef>
                <a:spcPts val="640"/>
              </a:spcBef>
              <a:buClr>
                <a:srgbClr val="FF1C1C"/>
              </a:buClr>
              <a:buSzPct val="84375"/>
              <a:buFont typeface="Arial MT"/>
              <a:buChar char="•"/>
              <a:tabLst>
                <a:tab pos="729615" algn="l"/>
              </a:tabLst>
            </a:pPr>
            <a:r>
              <a:rPr sz="3200" spc="325" dirty="0"/>
              <a:t>Many</a:t>
            </a:r>
            <a:r>
              <a:rPr sz="3200" spc="60" dirty="0"/>
              <a:t> </a:t>
            </a:r>
            <a:r>
              <a:rPr sz="3200" spc="195" dirty="0"/>
              <a:t>decisions</a:t>
            </a:r>
            <a:r>
              <a:rPr sz="3200" spc="60" dirty="0"/>
              <a:t> </a:t>
            </a:r>
            <a:r>
              <a:rPr sz="3200" spc="280" dirty="0"/>
              <a:t>managers</a:t>
            </a:r>
            <a:r>
              <a:rPr sz="3200" spc="60" dirty="0"/>
              <a:t> </a:t>
            </a:r>
            <a:r>
              <a:rPr sz="3200" spc="229" dirty="0"/>
              <a:t>make </a:t>
            </a:r>
            <a:r>
              <a:rPr sz="3200" spc="125" dirty="0"/>
              <a:t>require</a:t>
            </a:r>
            <a:r>
              <a:rPr sz="3200" spc="55" dirty="0"/>
              <a:t> </a:t>
            </a:r>
            <a:r>
              <a:rPr sz="3200" spc="220" dirty="0"/>
              <a:t>them</a:t>
            </a:r>
            <a:r>
              <a:rPr sz="3200" spc="70" dirty="0"/>
              <a:t> </a:t>
            </a:r>
            <a:r>
              <a:rPr sz="3200" spc="100" dirty="0"/>
              <a:t>to</a:t>
            </a:r>
            <a:r>
              <a:rPr sz="3200" spc="60" dirty="0"/>
              <a:t> </a:t>
            </a:r>
            <a:r>
              <a:rPr sz="3200" spc="185" dirty="0"/>
              <a:t>consider</a:t>
            </a:r>
            <a:r>
              <a:rPr sz="3200" spc="65" dirty="0"/>
              <a:t> </a:t>
            </a:r>
            <a:r>
              <a:rPr sz="3200" spc="170" dirty="0"/>
              <a:t>both</a:t>
            </a:r>
            <a:r>
              <a:rPr sz="3200" spc="50" dirty="0"/>
              <a:t> </a:t>
            </a:r>
            <a:r>
              <a:rPr sz="3200" spc="125" dirty="0"/>
              <a:t>the </a:t>
            </a:r>
            <a:r>
              <a:rPr sz="3200" spc="220" dirty="0"/>
              <a:t>process</a:t>
            </a:r>
            <a:r>
              <a:rPr sz="3200" spc="55" dirty="0"/>
              <a:t> </a:t>
            </a:r>
            <a:r>
              <a:rPr sz="3200" spc="254" dirty="0"/>
              <a:t>and</a:t>
            </a:r>
            <a:r>
              <a:rPr sz="3200" spc="65" dirty="0"/>
              <a:t> </a:t>
            </a:r>
            <a:r>
              <a:rPr sz="3200" spc="180" dirty="0"/>
              <a:t>who’s</a:t>
            </a:r>
            <a:r>
              <a:rPr sz="3200" spc="60" dirty="0"/>
              <a:t> </a:t>
            </a:r>
            <a:r>
              <a:rPr sz="3200" spc="110" dirty="0"/>
              <a:t>affected</a:t>
            </a:r>
            <a:r>
              <a:rPr sz="3200" spc="65" dirty="0"/>
              <a:t> </a:t>
            </a:r>
            <a:r>
              <a:rPr sz="3200" spc="265" dirty="0"/>
              <a:t>by</a:t>
            </a:r>
            <a:r>
              <a:rPr sz="3200" spc="65" dirty="0"/>
              <a:t> </a:t>
            </a:r>
            <a:r>
              <a:rPr sz="3200" spc="125" dirty="0"/>
              <a:t>the </a:t>
            </a:r>
            <a:r>
              <a:rPr sz="3200" spc="70" dirty="0"/>
              <a:t>result.</a:t>
            </a:r>
            <a:endParaRPr sz="320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spc="-10" dirty="0"/>
              <a:t>6-</a:t>
            </a:r>
            <a:fld id="{81D60167-4931-47E6-BA6A-407CBD079E47}" type="slidenum">
              <a:rPr spc="-25" dirty="0"/>
              <a:t>20</a:t>
            </a:fld>
            <a:endParaRPr spc="-25" dirty="0"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Copyright</a:t>
            </a:r>
            <a:r>
              <a:rPr spc="-15" dirty="0"/>
              <a:t> </a:t>
            </a:r>
            <a:r>
              <a:rPr dirty="0"/>
              <a:t>©</a:t>
            </a:r>
            <a:r>
              <a:rPr spc="-15" dirty="0"/>
              <a:t> </a:t>
            </a:r>
            <a:r>
              <a:rPr dirty="0"/>
              <a:t>2016</a:t>
            </a:r>
            <a:r>
              <a:rPr spc="-5" dirty="0"/>
              <a:t> </a:t>
            </a:r>
            <a:r>
              <a:rPr dirty="0"/>
              <a:t>Pearson</a:t>
            </a:r>
            <a:r>
              <a:rPr spc="-10" dirty="0"/>
              <a:t> </a:t>
            </a:r>
            <a:r>
              <a:rPr dirty="0"/>
              <a:t>Education,</a:t>
            </a:r>
            <a:r>
              <a:rPr spc="-15" dirty="0"/>
              <a:t> </a:t>
            </a:r>
            <a:r>
              <a:rPr spc="-20" dirty="0"/>
              <a:t>Ltd.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922779" y="313689"/>
            <a:ext cx="5289550" cy="106616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5080" algn="ctr">
              <a:lnSpc>
                <a:spcPct val="100000"/>
              </a:lnSpc>
              <a:spcBef>
                <a:spcPts val="120"/>
              </a:spcBef>
            </a:pPr>
            <a:r>
              <a:rPr sz="2250" spc="165" dirty="0"/>
              <a:t>EXHIBIT</a:t>
            </a:r>
            <a:r>
              <a:rPr sz="2250" spc="65" dirty="0"/>
              <a:t> </a:t>
            </a:r>
            <a:r>
              <a:rPr sz="2250" spc="130" dirty="0"/>
              <a:t>6-</a:t>
            </a:r>
            <a:r>
              <a:rPr sz="2250" spc="204" dirty="0"/>
              <a:t>3</a:t>
            </a:r>
            <a:endParaRPr sz="2250" dirty="0"/>
          </a:p>
          <a:p>
            <a:pPr marL="12065" marR="5080" algn="ctr">
              <a:lnSpc>
                <a:spcPts val="2740"/>
              </a:lnSpc>
              <a:spcBef>
                <a:spcPts val="85"/>
              </a:spcBef>
            </a:pPr>
            <a:r>
              <a:rPr sz="2250" spc="185" dirty="0"/>
              <a:t>FACTORS</a:t>
            </a:r>
            <a:r>
              <a:rPr sz="2250" spc="50" dirty="0"/>
              <a:t> </a:t>
            </a:r>
            <a:r>
              <a:rPr sz="2250" spc="100" dirty="0"/>
              <a:t>THAT</a:t>
            </a:r>
            <a:r>
              <a:rPr sz="2250" spc="45" dirty="0"/>
              <a:t> </a:t>
            </a:r>
            <a:r>
              <a:rPr sz="2250" spc="225" dirty="0"/>
              <a:t>DETERMINE</a:t>
            </a:r>
            <a:r>
              <a:rPr sz="2250" spc="50" dirty="0"/>
              <a:t> </a:t>
            </a:r>
            <a:r>
              <a:rPr sz="2250" spc="150" dirty="0"/>
              <a:t>ETHICAL </a:t>
            </a:r>
            <a:r>
              <a:rPr sz="2250" spc="285" dirty="0"/>
              <a:t>AND</a:t>
            </a:r>
            <a:r>
              <a:rPr sz="2250" spc="50" dirty="0"/>
              <a:t> </a:t>
            </a:r>
            <a:r>
              <a:rPr sz="2250" spc="175" dirty="0"/>
              <a:t>UNETHICAL</a:t>
            </a:r>
            <a:r>
              <a:rPr sz="2250" spc="50" dirty="0"/>
              <a:t> </a:t>
            </a:r>
            <a:r>
              <a:rPr sz="2250" spc="185" dirty="0"/>
              <a:t>BEHAVIOR</a:t>
            </a:r>
            <a:endParaRPr sz="2250" dirty="0"/>
          </a:p>
        </p:txBody>
      </p:sp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6207" y="1922732"/>
            <a:ext cx="8917792" cy="2992215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spc="-10" dirty="0"/>
              <a:t>6-</a:t>
            </a:r>
            <a:fld id="{81D60167-4931-47E6-BA6A-407CBD079E47}" type="slidenum">
              <a:rPr spc="-25" dirty="0"/>
              <a:t>21</a:t>
            </a:fld>
            <a:endParaRPr spc="-25" dirty="0"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Copyright</a:t>
            </a:r>
            <a:r>
              <a:rPr spc="-15" dirty="0"/>
              <a:t> </a:t>
            </a:r>
            <a:r>
              <a:rPr dirty="0"/>
              <a:t>©</a:t>
            </a:r>
            <a:r>
              <a:rPr spc="-15" dirty="0"/>
              <a:t> </a:t>
            </a:r>
            <a:r>
              <a:rPr dirty="0"/>
              <a:t>2016</a:t>
            </a:r>
            <a:r>
              <a:rPr spc="-5" dirty="0"/>
              <a:t> </a:t>
            </a:r>
            <a:r>
              <a:rPr dirty="0"/>
              <a:t>Pearson</a:t>
            </a:r>
            <a:r>
              <a:rPr spc="-10" dirty="0"/>
              <a:t> </a:t>
            </a:r>
            <a:r>
              <a:rPr dirty="0"/>
              <a:t>Education,</a:t>
            </a:r>
            <a:r>
              <a:rPr spc="-15" dirty="0"/>
              <a:t> </a:t>
            </a:r>
            <a:r>
              <a:rPr spc="-20" dirty="0"/>
              <a:t>Ltd.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5C661F-E851-789D-3038-AFAB67E873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 descr="Managing Company Ethics and Social Responsibility – HKT Consultant">
            <a:extLst>
              <a:ext uri="{FF2B5EF4-FFF2-40B4-BE49-F238E27FC236}">
                <a16:creationId xmlns:a16="http://schemas.microsoft.com/office/drawing/2014/main" id="{7B23BC2A-6009-0A64-7D03-7FAFBFF168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52400"/>
            <a:ext cx="8387122" cy="5638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663074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010285" marR="5080" indent="-951230">
              <a:lnSpc>
                <a:spcPct val="100499"/>
              </a:lnSpc>
              <a:spcBef>
                <a:spcPts val="90"/>
              </a:spcBef>
            </a:pPr>
            <a:r>
              <a:rPr sz="3300" spc="250" dirty="0"/>
              <a:t>FACTORS</a:t>
            </a:r>
            <a:r>
              <a:rPr sz="3300" spc="85" dirty="0"/>
              <a:t> </a:t>
            </a:r>
            <a:r>
              <a:rPr sz="3300" spc="140" dirty="0"/>
              <a:t>THAT</a:t>
            </a:r>
            <a:r>
              <a:rPr sz="3300" spc="75" dirty="0"/>
              <a:t> </a:t>
            </a:r>
            <a:r>
              <a:rPr sz="3300" spc="310" dirty="0"/>
              <a:t>DETERMINE</a:t>
            </a:r>
            <a:r>
              <a:rPr sz="3300" spc="75" dirty="0"/>
              <a:t> </a:t>
            </a:r>
            <a:r>
              <a:rPr sz="3300" spc="220" dirty="0"/>
              <a:t>ETHICAL </a:t>
            </a:r>
            <a:r>
              <a:rPr sz="3300" spc="390" dirty="0"/>
              <a:t>AND</a:t>
            </a:r>
            <a:r>
              <a:rPr sz="3300" spc="75" dirty="0"/>
              <a:t> </a:t>
            </a:r>
            <a:r>
              <a:rPr sz="3300" spc="250" dirty="0"/>
              <a:t>UNETHICAL</a:t>
            </a:r>
            <a:r>
              <a:rPr sz="3300" spc="65" dirty="0"/>
              <a:t> </a:t>
            </a:r>
            <a:r>
              <a:rPr sz="3300" spc="270" dirty="0"/>
              <a:t>BEHAVIOR</a:t>
            </a:r>
            <a:endParaRPr sz="33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3905" y="1764664"/>
            <a:ext cx="95250" cy="231775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991869" y="1558833"/>
            <a:ext cx="7364730" cy="4213860"/>
          </a:xfrm>
          <a:prstGeom prst="rect">
            <a:avLst/>
          </a:prstGeom>
        </p:spPr>
        <p:txBody>
          <a:bodyPr vert="horz" wrap="square" lIns="0" tIns="89535" rIns="0" bIns="0" rtlCol="0">
            <a:spAutoFit/>
          </a:bodyPr>
          <a:lstStyle/>
          <a:p>
            <a:pPr marL="36830">
              <a:lnSpc>
                <a:spcPct val="100000"/>
              </a:lnSpc>
              <a:spcBef>
                <a:spcPts val="705"/>
              </a:spcBef>
            </a:pPr>
            <a:r>
              <a:rPr sz="3200" spc="-10" dirty="0">
                <a:latin typeface="Arial MT"/>
                <a:cs typeface="Arial MT"/>
              </a:rPr>
              <a:t>Stage</a:t>
            </a:r>
            <a:r>
              <a:rPr sz="3200" spc="-540" dirty="0">
                <a:latin typeface="Arial MT"/>
                <a:cs typeface="Arial MT"/>
              </a:rPr>
              <a:t> </a:t>
            </a:r>
            <a:r>
              <a:rPr sz="3200" b="1" dirty="0">
                <a:latin typeface="Arial"/>
                <a:cs typeface="Arial"/>
              </a:rPr>
              <a:t>of</a:t>
            </a:r>
            <a:r>
              <a:rPr sz="3200" b="1" spc="-10" dirty="0">
                <a:latin typeface="Arial"/>
                <a:cs typeface="Arial"/>
              </a:rPr>
              <a:t> </a:t>
            </a:r>
            <a:r>
              <a:rPr sz="3200" b="1" dirty="0">
                <a:latin typeface="Arial"/>
                <a:cs typeface="Arial"/>
              </a:rPr>
              <a:t>Moral</a:t>
            </a:r>
            <a:r>
              <a:rPr sz="3200" b="1" spc="-10" dirty="0">
                <a:latin typeface="Arial"/>
                <a:cs typeface="Arial"/>
              </a:rPr>
              <a:t> Development</a:t>
            </a:r>
            <a:endParaRPr sz="3200">
              <a:latin typeface="Arial"/>
              <a:cs typeface="Arial"/>
            </a:endParaRPr>
          </a:p>
          <a:p>
            <a:pPr marL="297180" marR="64769" indent="-284480">
              <a:lnSpc>
                <a:spcPct val="100000"/>
              </a:lnSpc>
              <a:spcBef>
                <a:spcPts val="530"/>
              </a:spcBef>
              <a:buFont typeface="Arial MT"/>
              <a:buChar char="–"/>
              <a:tabLst>
                <a:tab pos="298450" algn="l"/>
              </a:tabLst>
            </a:pPr>
            <a:r>
              <a:rPr sz="2800" b="1" spc="-10" dirty="0">
                <a:latin typeface="Arial"/>
                <a:cs typeface="Arial"/>
              </a:rPr>
              <a:t>Preconvention</a:t>
            </a:r>
            <a:r>
              <a:rPr sz="2800" b="1" spc="-50" dirty="0">
                <a:latin typeface="Arial"/>
                <a:cs typeface="Arial"/>
              </a:rPr>
              <a:t> </a:t>
            </a:r>
            <a:r>
              <a:rPr sz="2800" dirty="0">
                <a:latin typeface="Arial MT"/>
                <a:cs typeface="Arial MT"/>
              </a:rPr>
              <a:t>level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–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</a:t>
            </a:r>
            <a:r>
              <a:rPr sz="2800" spc="-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person’s</a:t>
            </a:r>
            <a:r>
              <a:rPr sz="2800" spc="-85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choice 	</a:t>
            </a:r>
            <a:r>
              <a:rPr sz="2800" dirty="0">
                <a:latin typeface="Arial MT"/>
                <a:cs typeface="Arial MT"/>
              </a:rPr>
              <a:t>between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right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or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wrong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is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based</a:t>
            </a:r>
            <a:r>
              <a:rPr sz="2800" spc="-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on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personal 	consequences.</a:t>
            </a:r>
            <a:endParaRPr sz="2800">
              <a:latin typeface="Arial MT"/>
              <a:cs typeface="Arial MT"/>
            </a:endParaRPr>
          </a:p>
          <a:p>
            <a:pPr marL="297180" marR="5080" indent="-284480">
              <a:lnSpc>
                <a:spcPct val="100000"/>
              </a:lnSpc>
              <a:spcBef>
                <a:spcPts val="560"/>
              </a:spcBef>
              <a:buFont typeface="Arial MT"/>
              <a:buChar char="–"/>
              <a:tabLst>
                <a:tab pos="298450" algn="l"/>
              </a:tabLst>
            </a:pPr>
            <a:r>
              <a:rPr sz="2800" b="1" spc="-10" dirty="0">
                <a:latin typeface="Arial"/>
                <a:cs typeface="Arial"/>
              </a:rPr>
              <a:t>Conventional</a:t>
            </a:r>
            <a:r>
              <a:rPr sz="2800" b="1" spc="-65" dirty="0">
                <a:latin typeface="Arial"/>
                <a:cs typeface="Arial"/>
              </a:rPr>
              <a:t> </a:t>
            </a:r>
            <a:r>
              <a:rPr sz="2800" dirty="0">
                <a:latin typeface="Arial MT"/>
                <a:cs typeface="Arial MT"/>
              </a:rPr>
              <a:t>level,</a:t>
            </a:r>
            <a:r>
              <a:rPr sz="2800" spc="-9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ethical</a:t>
            </a:r>
            <a:r>
              <a:rPr sz="2800" spc="-9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decisions</a:t>
            </a:r>
            <a:r>
              <a:rPr sz="2800" spc="-8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rely</a:t>
            </a:r>
            <a:r>
              <a:rPr sz="2800" spc="-85" dirty="0">
                <a:latin typeface="Arial MT"/>
                <a:cs typeface="Arial MT"/>
              </a:rPr>
              <a:t> </a:t>
            </a:r>
            <a:r>
              <a:rPr sz="2800" spc="-25" dirty="0">
                <a:latin typeface="Arial MT"/>
                <a:cs typeface="Arial MT"/>
              </a:rPr>
              <a:t>on 	</a:t>
            </a:r>
            <a:r>
              <a:rPr sz="2800" dirty="0">
                <a:latin typeface="Arial MT"/>
                <a:cs typeface="Arial MT"/>
              </a:rPr>
              <a:t>living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up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to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the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expectations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of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others.</a:t>
            </a:r>
            <a:endParaRPr sz="2800">
              <a:latin typeface="Arial MT"/>
              <a:cs typeface="Arial MT"/>
            </a:endParaRPr>
          </a:p>
          <a:p>
            <a:pPr marL="297180" marR="77470" indent="-284480">
              <a:lnSpc>
                <a:spcPct val="100000"/>
              </a:lnSpc>
              <a:spcBef>
                <a:spcPts val="560"/>
              </a:spcBef>
              <a:buFont typeface="Arial MT"/>
              <a:buChar char="–"/>
              <a:tabLst>
                <a:tab pos="298450" algn="l"/>
              </a:tabLst>
            </a:pPr>
            <a:r>
              <a:rPr sz="2800" b="1" dirty="0">
                <a:latin typeface="Arial"/>
                <a:cs typeface="Arial"/>
              </a:rPr>
              <a:t>Principled</a:t>
            </a:r>
            <a:r>
              <a:rPr sz="2800" b="1" spc="-100" dirty="0">
                <a:latin typeface="Arial"/>
                <a:cs typeface="Arial"/>
              </a:rPr>
              <a:t> </a:t>
            </a:r>
            <a:r>
              <a:rPr sz="2800" dirty="0">
                <a:latin typeface="Arial MT"/>
                <a:cs typeface="Arial MT"/>
              </a:rPr>
              <a:t>level,</a:t>
            </a:r>
            <a:r>
              <a:rPr sz="2800" spc="-11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individuals</a:t>
            </a:r>
            <a:r>
              <a:rPr sz="2800" spc="-10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define</a:t>
            </a:r>
            <a:r>
              <a:rPr sz="2800" spc="-105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moral 	</a:t>
            </a:r>
            <a:r>
              <a:rPr sz="2800" dirty="0">
                <a:latin typeface="Arial MT"/>
                <a:cs typeface="Arial MT"/>
              </a:rPr>
              <a:t>values</a:t>
            </a:r>
            <a:r>
              <a:rPr sz="2800" spc="-5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apart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from</a:t>
            </a:r>
            <a:r>
              <a:rPr sz="2800" spc="-4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the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authority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of</a:t>
            </a:r>
            <a:r>
              <a:rPr sz="2800" spc="-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the</a:t>
            </a:r>
            <a:r>
              <a:rPr sz="2800" spc="-50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groups 	</a:t>
            </a:r>
            <a:r>
              <a:rPr sz="2800" dirty="0">
                <a:latin typeface="Arial MT"/>
                <a:cs typeface="Arial MT"/>
              </a:rPr>
              <a:t>or</a:t>
            </a:r>
            <a:r>
              <a:rPr sz="2800" spc="-4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society</a:t>
            </a:r>
            <a:r>
              <a:rPr sz="2800" spc="-4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in</a:t>
            </a:r>
            <a:r>
              <a:rPr sz="2800" spc="-35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general.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spc="-10" dirty="0"/>
              <a:t>6-</a:t>
            </a:r>
            <a:fld id="{81D60167-4931-47E6-BA6A-407CBD079E47}" type="slidenum">
              <a:rPr spc="-25" dirty="0"/>
              <a:t>23</a:t>
            </a:fld>
            <a:endParaRPr spc="-25" dirty="0"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Copyright</a:t>
            </a:r>
            <a:r>
              <a:rPr spc="-15" dirty="0"/>
              <a:t> </a:t>
            </a:r>
            <a:r>
              <a:rPr dirty="0"/>
              <a:t>©</a:t>
            </a:r>
            <a:r>
              <a:rPr spc="-15" dirty="0"/>
              <a:t> </a:t>
            </a:r>
            <a:r>
              <a:rPr dirty="0"/>
              <a:t>2016</a:t>
            </a:r>
            <a:r>
              <a:rPr spc="-5" dirty="0"/>
              <a:t> </a:t>
            </a:r>
            <a:r>
              <a:rPr dirty="0"/>
              <a:t>Pearson</a:t>
            </a:r>
            <a:r>
              <a:rPr spc="-10" dirty="0"/>
              <a:t> </a:t>
            </a:r>
            <a:r>
              <a:rPr dirty="0"/>
              <a:t>Education,</a:t>
            </a:r>
            <a:r>
              <a:rPr spc="-15" dirty="0"/>
              <a:t> </a:t>
            </a:r>
            <a:r>
              <a:rPr spc="-20" dirty="0"/>
              <a:t>Ltd.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8415" algn="ctr">
              <a:lnSpc>
                <a:spcPct val="100000"/>
              </a:lnSpc>
              <a:spcBef>
                <a:spcPts val="130"/>
              </a:spcBef>
            </a:pPr>
            <a:r>
              <a:rPr sz="3350" spc="250" dirty="0"/>
              <a:t>EXHIBIT</a:t>
            </a:r>
            <a:r>
              <a:rPr sz="3350" spc="85" dirty="0"/>
              <a:t> </a:t>
            </a:r>
            <a:r>
              <a:rPr sz="3350" spc="190" dirty="0"/>
              <a:t>6-</a:t>
            </a:r>
            <a:r>
              <a:rPr sz="3350" spc="335" dirty="0"/>
              <a:t>4</a:t>
            </a:r>
            <a:endParaRPr sz="3350"/>
          </a:p>
          <a:p>
            <a:pPr marL="14604" algn="ctr">
              <a:lnSpc>
                <a:spcPct val="100000"/>
              </a:lnSpc>
              <a:spcBef>
                <a:spcPts val="50"/>
              </a:spcBef>
            </a:pPr>
            <a:r>
              <a:rPr sz="3350" spc="315" dirty="0"/>
              <a:t>STAGES</a:t>
            </a:r>
            <a:r>
              <a:rPr sz="3350" spc="85" dirty="0"/>
              <a:t> </a:t>
            </a:r>
            <a:r>
              <a:rPr sz="3350" spc="285" dirty="0"/>
              <a:t>OF</a:t>
            </a:r>
            <a:r>
              <a:rPr sz="3350" spc="95" dirty="0"/>
              <a:t> </a:t>
            </a:r>
            <a:r>
              <a:rPr sz="3350" spc="335" dirty="0"/>
              <a:t>MORAL</a:t>
            </a:r>
            <a:r>
              <a:rPr sz="3350" spc="95" dirty="0"/>
              <a:t> </a:t>
            </a:r>
            <a:r>
              <a:rPr sz="3350" spc="305" dirty="0"/>
              <a:t>DEVELOPMENT</a:t>
            </a:r>
            <a:endParaRPr sz="335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4307" y="1819063"/>
            <a:ext cx="7662984" cy="3420533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spc="-10" dirty="0"/>
              <a:t>6-</a:t>
            </a:r>
            <a:fld id="{81D60167-4931-47E6-BA6A-407CBD079E47}" type="slidenum">
              <a:rPr spc="-25" dirty="0"/>
              <a:t>24</a:t>
            </a:fld>
            <a:endParaRPr spc="-25" dirty="0"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Copyright</a:t>
            </a:r>
            <a:r>
              <a:rPr spc="-15" dirty="0"/>
              <a:t> </a:t>
            </a:r>
            <a:r>
              <a:rPr dirty="0"/>
              <a:t>©</a:t>
            </a:r>
            <a:r>
              <a:rPr spc="-15" dirty="0"/>
              <a:t> </a:t>
            </a:r>
            <a:r>
              <a:rPr dirty="0"/>
              <a:t>2016</a:t>
            </a:r>
            <a:r>
              <a:rPr spc="-5" dirty="0"/>
              <a:t> </a:t>
            </a:r>
            <a:r>
              <a:rPr dirty="0"/>
              <a:t>Pearson</a:t>
            </a:r>
            <a:r>
              <a:rPr spc="-10" dirty="0"/>
              <a:t> </a:t>
            </a:r>
            <a:r>
              <a:rPr dirty="0"/>
              <a:t>Education,</a:t>
            </a:r>
            <a:r>
              <a:rPr spc="-15" dirty="0"/>
              <a:t> </a:t>
            </a:r>
            <a:r>
              <a:rPr spc="-20" dirty="0"/>
              <a:t>Ltd.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36525" marR="5080" indent="-77470">
              <a:lnSpc>
                <a:spcPct val="100499"/>
              </a:lnSpc>
              <a:spcBef>
                <a:spcPts val="90"/>
              </a:spcBef>
            </a:pPr>
            <a:r>
              <a:rPr sz="3300" spc="250" dirty="0"/>
              <a:t>FACTORS</a:t>
            </a:r>
            <a:r>
              <a:rPr sz="3300" spc="85" dirty="0"/>
              <a:t> </a:t>
            </a:r>
            <a:r>
              <a:rPr sz="3300" spc="140" dirty="0"/>
              <a:t>THAT</a:t>
            </a:r>
            <a:r>
              <a:rPr sz="3300" spc="75" dirty="0"/>
              <a:t> </a:t>
            </a:r>
            <a:r>
              <a:rPr sz="3300" spc="310" dirty="0"/>
              <a:t>DETERMINE</a:t>
            </a:r>
            <a:r>
              <a:rPr sz="3300" spc="75" dirty="0"/>
              <a:t> </a:t>
            </a:r>
            <a:r>
              <a:rPr sz="3300" spc="220" dirty="0"/>
              <a:t>ETHICAL </a:t>
            </a:r>
            <a:r>
              <a:rPr sz="3300" spc="390" dirty="0"/>
              <a:t>AND</a:t>
            </a:r>
            <a:r>
              <a:rPr sz="3300" spc="80" dirty="0"/>
              <a:t> </a:t>
            </a:r>
            <a:r>
              <a:rPr sz="3300" spc="245" dirty="0"/>
              <a:t>UNETHICAL</a:t>
            </a:r>
            <a:r>
              <a:rPr sz="3300" spc="70" dirty="0"/>
              <a:t> </a:t>
            </a:r>
            <a:r>
              <a:rPr sz="3300" spc="280" dirty="0"/>
              <a:t>BEHAVIOR</a:t>
            </a:r>
            <a:r>
              <a:rPr sz="3300" spc="70" dirty="0"/>
              <a:t> </a:t>
            </a:r>
            <a:r>
              <a:rPr sz="3300" spc="95" dirty="0"/>
              <a:t>(CONT.)</a:t>
            </a:r>
            <a:endParaRPr sz="33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3905" y="1764664"/>
            <a:ext cx="95250" cy="231775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943610" y="1501469"/>
            <a:ext cx="7503159" cy="3787140"/>
          </a:xfrm>
          <a:prstGeom prst="rect">
            <a:avLst/>
          </a:prstGeom>
        </p:spPr>
        <p:txBody>
          <a:bodyPr vert="horz" wrap="square" lIns="0" tIns="89535" rIns="0" bIns="0" rtlCol="0">
            <a:spAutoFit/>
          </a:bodyPr>
          <a:lstStyle/>
          <a:p>
            <a:pPr marL="36830">
              <a:lnSpc>
                <a:spcPct val="100000"/>
              </a:lnSpc>
              <a:spcBef>
                <a:spcPts val="705"/>
              </a:spcBef>
            </a:pPr>
            <a:r>
              <a:rPr sz="3200" spc="30" dirty="0" err="1">
                <a:latin typeface="Arial MT"/>
                <a:cs typeface="Arial MT"/>
              </a:rPr>
              <a:t>I</a:t>
            </a:r>
            <a:r>
              <a:rPr sz="3200" spc="40" dirty="0" err="1">
                <a:latin typeface="Arial MT"/>
                <a:cs typeface="Arial MT"/>
              </a:rPr>
              <a:t>nd</a:t>
            </a:r>
            <a:r>
              <a:rPr sz="3200" spc="15" dirty="0" err="1">
                <a:latin typeface="Arial MT"/>
                <a:cs typeface="Arial MT"/>
              </a:rPr>
              <a:t>i</a:t>
            </a:r>
            <a:r>
              <a:rPr sz="3200" spc="30" dirty="0" err="1">
                <a:latin typeface="Arial MT"/>
                <a:cs typeface="Arial MT"/>
              </a:rPr>
              <a:t>vi</a:t>
            </a:r>
            <a:r>
              <a:rPr sz="3200" spc="40" dirty="0" err="1">
                <a:latin typeface="Arial MT"/>
                <a:cs typeface="Arial MT"/>
              </a:rPr>
              <a:t>d</a:t>
            </a:r>
            <a:r>
              <a:rPr lang="en-GB" sz="3200" spc="-455" dirty="0" err="1">
                <a:latin typeface="Arial MT"/>
                <a:cs typeface="Arial MT"/>
              </a:rPr>
              <a:t>ual</a:t>
            </a:r>
            <a:r>
              <a:rPr lang="en-GB" sz="3200" spc="-455" dirty="0">
                <a:latin typeface="Arial MT"/>
                <a:cs typeface="Arial MT"/>
              </a:rPr>
              <a:t>  Characteristics </a:t>
            </a:r>
            <a:endParaRPr sz="3200" dirty="0">
              <a:latin typeface="Arial MT"/>
              <a:cs typeface="Arial MT"/>
            </a:endParaRPr>
          </a:p>
          <a:p>
            <a:pPr marL="297180" marR="5080" indent="-284480">
              <a:lnSpc>
                <a:spcPct val="100000"/>
              </a:lnSpc>
              <a:spcBef>
                <a:spcPts val="530"/>
              </a:spcBef>
              <a:buFont typeface="Arial MT"/>
              <a:buChar char="–"/>
              <a:tabLst>
                <a:tab pos="298450" algn="l"/>
              </a:tabLst>
            </a:pPr>
            <a:r>
              <a:rPr sz="2800" b="1" spc="-20" dirty="0">
                <a:latin typeface="Arial"/>
                <a:cs typeface="Arial"/>
              </a:rPr>
              <a:t>Values</a:t>
            </a:r>
            <a:r>
              <a:rPr sz="2800" b="1" spc="-75" dirty="0">
                <a:latin typeface="Arial"/>
                <a:cs typeface="Arial"/>
              </a:rPr>
              <a:t> </a:t>
            </a:r>
            <a:r>
              <a:rPr sz="2800" dirty="0">
                <a:latin typeface="Arial MT"/>
                <a:cs typeface="Arial MT"/>
              </a:rPr>
              <a:t>–</a:t>
            </a:r>
            <a:r>
              <a:rPr sz="2800" spc="-7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basic</a:t>
            </a:r>
            <a:r>
              <a:rPr sz="2800" spc="-7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convictions</a:t>
            </a:r>
            <a:r>
              <a:rPr sz="2800" spc="-7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about</a:t>
            </a:r>
            <a:r>
              <a:rPr sz="2800" spc="-7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what</a:t>
            </a:r>
            <a:r>
              <a:rPr sz="2800" spc="-7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is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right 	</a:t>
            </a:r>
            <a:r>
              <a:rPr sz="2800" dirty="0">
                <a:latin typeface="Arial MT"/>
                <a:cs typeface="Arial MT"/>
              </a:rPr>
              <a:t>and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wrong.</a:t>
            </a:r>
            <a:endParaRPr sz="2800" dirty="0">
              <a:latin typeface="Arial MT"/>
              <a:cs typeface="Arial MT"/>
            </a:endParaRPr>
          </a:p>
          <a:p>
            <a:pPr marL="297180" marR="83820" indent="-284480">
              <a:lnSpc>
                <a:spcPct val="100000"/>
              </a:lnSpc>
              <a:spcBef>
                <a:spcPts val="560"/>
              </a:spcBef>
              <a:buFont typeface="Arial MT"/>
              <a:buChar char="–"/>
              <a:tabLst>
                <a:tab pos="298450" algn="l"/>
              </a:tabLst>
            </a:pPr>
            <a:r>
              <a:rPr sz="2800" b="1" dirty="0">
                <a:latin typeface="Arial"/>
                <a:cs typeface="Arial"/>
              </a:rPr>
              <a:t>Ego</a:t>
            </a:r>
            <a:r>
              <a:rPr sz="2800" b="1" spc="-75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Strength</a:t>
            </a:r>
            <a:r>
              <a:rPr sz="2800" b="1" spc="-60" dirty="0">
                <a:latin typeface="Arial"/>
                <a:cs typeface="Arial"/>
              </a:rPr>
              <a:t> </a:t>
            </a:r>
            <a:r>
              <a:rPr sz="2800" dirty="0">
                <a:latin typeface="Arial MT"/>
                <a:cs typeface="Arial MT"/>
              </a:rPr>
              <a:t>–</a:t>
            </a:r>
            <a:r>
              <a:rPr sz="2800" spc="-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personality</a:t>
            </a:r>
            <a:r>
              <a:rPr sz="2800" spc="-8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measure</a:t>
            </a:r>
            <a:r>
              <a:rPr sz="2800" spc="-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of</a:t>
            </a:r>
            <a:r>
              <a:rPr sz="2800" spc="-65" dirty="0">
                <a:latin typeface="Arial MT"/>
                <a:cs typeface="Arial MT"/>
              </a:rPr>
              <a:t> </a:t>
            </a:r>
            <a:r>
              <a:rPr sz="2800" spc="-25" dirty="0">
                <a:latin typeface="Arial MT"/>
                <a:cs typeface="Arial MT"/>
              </a:rPr>
              <a:t>the 	</a:t>
            </a:r>
            <a:r>
              <a:rPr sz="2800" dirty="0">
                <a:latin typeface="Arial MT"/>
                <a:cs typeface="Arial MT"/>
              </a:rPr>
              <a:t>strength</a:t>
            </a:r>
            <a:r>
              <a:rPr sz="2800" spc="-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of</a:t>
            </a:r>
            <a:r>
              <a:rPr sz="2800" spc="-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person’s</a:t>
            </a:r>
            <a:r>
              <a:rPr sz="2800" spc="-85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convictions.</a:t>
            </a:r>
            <a:endParaRPr sz="2800" dirty="0">
              <a:latin typeface="Arial MT"/>
              <a:cs typeface="Arial MT"/>
            </a:endParaRPr>
          </a:p>
          <a:p>
            <a:pPr marL="297180" marR="561340" indent="-284480" algn="just">
              <a:lnSpc>
                <a:spcPct val="100000"/>
              </a:lnSpc>
              <a:spcBef>
                <a:spcPts val="560"/>
              </a:spcBef>
              <a:buFont typeface="Arial MT"/>
              <a:buChar char="–"/>
              <a:tabLst>
                <a:tab pos="298450" algn="l"/>
              </a:tabLst>
            </a:pPr>
            <a:r>
              <a:rPr sz="2800" b="1" dirty="0">
                <a:latin typeface="Arial"/>
                <a:cs typeface="Arial"/>
              </a:rPr>
              <a:t>Locus</a:t>
            </a:r>
            <a:r>
              <a:rPr sz="2800" b="1" spc="-75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of</a:t>
            </a:r>
            <a:r>
              <a:rPr sz="2800" b="1" spc="-65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Control</a:t>
            </a:r>
            <a:r>
              <a:rPr sz="2800" b="1" spc="-60" dirty="0">
                <a:latin typeface="Arial"/>
                <a:cs typeface="Arial"/>
              </a:rPr>
              <a:t> </a:t>
            </a:r>
            <a:r>
              <a:rPr sz="2800" dirty="0">
                <a:latin typeface="Arial MT"/>
                <a:cs typeface="Arial MT"/>
              </a:rPr>
              <a:t>–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personality</a:t>
            </a:r>
            <a:r>
              <a:rPr sz="2800" spc="-85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attribute 	</a:t>
            </a:r>
            <a:r>
              <a:rPr sz="2800" dirty="0">
                <a:latin typeface="Arial MT"/>
                <a:cs typeface="Arial MT"/>
              </a:rPr>
              <a:t>that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measures</a:t>
            </a:r>
            <a:r>
              <a:rPr sz="2800" spc="-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the</a:t>
            </a:r>
            <a:r>
              <a:rPr sz="2800" spc="-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degree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to</a:t>
            </a:r>
            <a:r>
              <a:rPr sz="2800" spc="-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which</a:t>
            </a:r>
            <a:r>
              <a:rPr sz="2800" spc="-65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people 	</a:t>
            </a:r>
            <a:r>
              <a:rPr sz="2800" dirty="0">
                <a:latin typeface="Arial MT"/>
                <a:cs typeface="Arial MT"/>
              </a:rPr>
              <a:t>believe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they</a:t>
            </a:r>
            <a:r>
              <a:rPr sz="2800" spc="-8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control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their</a:t>
            </a:r>
            <a:r>
              <a:rPr sz="2800" spc="-7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own</a:t>
            </a:r>
            <a:r>
              <a:rPr sz="2800" spc="-65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fate.</a:t>
            </a:r>
            <a:endParaRPr sz="2800" dirty="0">
              <a:latin typeface="Arial MT"/>
              <a:cs typeface="Arial MT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spc="-10" dirty="0"/>
              <a:t>6-</a:t>
            </a:r>
            <a:fld id="{81D60167-4931-47E6-BA6A-407CBD079E47}" type="slidenum">
              <a:rPr spc="-25" dirty="0"/>
              <a:t>25</a:t>
            </a:fld>
            <a:endParaRPr spc="-25" dirty="0"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Copyright</a:t>
            </a:r>
            <a:r>
              <a:rPr spc="-15" dirty="0"/>
              <a:t> </a:t>
            </a:r>
            <a:r>
              <a:rPr dirty="0"/>
              <a:t>©</a:t>
            </a:r>
            <a:r>
              <a:rPr spc="-15" dirty="0"/>
              <a:t> </a:t>
            </a:r>
            <a:r>
              <a:rPr dirty="0"/>
              <a:t>2016</a:t>
            </a:r>
            <a:r>
              <a:rPr spc="-5" dirty="0"/>
              <a:t> </a:t>
            </a:r>
            <a:r>
              <a:rPr dirty="0"/>
              <a:t>Pearson</a:t>
            </a:r>
            <a:r>
              <a:rPr spc="-10" dirty="0"/>
              <a:t> </a:t>
            </a:r>
            <a:r>
              <a:rPr dirty="0"/>
              <a:t>Education,</a:t>
            </a:r>
            <a:r>
              <a:rPr spc="-15" dirty="0"/>
              <a:t> </a:t>
            </a:r>
            <a:r>
              <a:rPr spc="-20" dirty="0"/>
              <a:t>Ltd.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Hire the Right People - Discover Locus of Control">
            <a:extLst>
              <a:ext uri="{FF2B5EF4-FFF2-40B4-BE49-F238E27FC236}">
                <a16:creationId xmlns:a16="http://schemas.microsoft.com/office/drawing/2014/main" id="{DF491057-52F3-41E4-8D27-8D670A8092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394" y="685800"/>
            <a:ext cx="8887079" cy="4898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717972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36525" marR="5080" indent="-77470">
              <a:lnSpc>
                <a:spcPct val="100499"/>
              </a:lnSpc>
              <a:spcBef>
                <a:spcPts val="90"/>
              </a:spcBef>
            </a:pPr>
            <a:r>
              <a:rPr sz="3300" spc="250" dirty="0"/>
              <a:t>FACTORS</a:t>
            </a:r>
            <a:r>
              <a:rPr sz="3300" spc="85" dirty="0"/>
              <a:t> </a:t>
            </a:r>
            <a:r>
              <a:rPr sz="3300" spc="140" dirty="0"/>
              <a:t>THAT</a:t>
            </a:r>
            <a:r>
              <a:rPr sz="3300" spc="75" dirty="0"/>
              <a:t> </a:t>
            </a:r>
            <a:r>
              <a:rPr sz="3300" spc="310" dirty="0"/>
              <a:t>DETERMINE</a:t>
            </a:r>
            <a:r>
              <a:rPr sz="3300" spc="75" dirty="0"/>
              <a:t> </a:t>
            </a:r>
            <a:r>
              <a:rPr sz="3300" spc="220" dirty="0"/>
              <a:t>ETHICAL </a:t>
            </a:r>
            <a:r>
              <a:rPr sz="3300" spc="390" dirty="0"/>
              <a:t>AND</a:t>
            </a:r>
            <a:r>
              <a:rPr sz="3300" spc="80" dirty="0"/>
              <a:t> </a:t>
            </a:r>
            <a:r>
              <a:rPr sz="3300" spc="245" dirty="0"/>
              <a:t>UNETHICAL</a:t>
            </a:r>
            <a:r>
              <a:rPr sz="3300" spc="70" dirty="0"/>
              <a:t> </a:t>
            </a:r>
            <a:r>
              <a:rPr sz="3300" spc="280" dirty="0"/>
              <a:t>BEHAVIOR</a:t>
            </a:r>
            <a:r>
              <a:rPr sz="3300" spc="70" dirty="0"/>
              <a:t> </a:t>
            </a:r>
            <a:r>
              <a:rPr sz="3300" spc="95" dirty="0"/>
              <a:t>(CONT.)</a:t>
            </a:r>
            <a:endParaRPr sz="33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3905" y="1764664"/>
            <a:ext cx="95250" cy="231775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991869" y="1559559"/>
            <a:ext cx="7521575" cy="326771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36830">
              <a:lnSpc>
                <a:spcPct val="100000"/>
              </a:lnSpc>
              <a:spcBef>
                <a:spcPts val="700"/>
              </a:spcBef>
            </a:pPr>
            <a:r>
              <a:rPr sz="3200" spc="-5" dirty="0">
                <a:latin typeface="+mj-lt"/>
                <a:cs typeface="Arial MT"/>
              </a:rPr>
              <a:t>O</a:t>
            </a:r>
            <a:r>
              <a:rPr sz="3200" spc="-20" dirty="0">
                <a:latin typeface="+mj-lt"/>
                <a:cs typeface="Arial MT"/>
              </a:rPr>
              <a:t>r</a:t>
            </a:r>
            <a:r>
              <a:rPr sz="3200" spc="-5" dirty="0">
                <a:latin typeface="+mj-lt"/>
                <a:cs typeface="Arial MT"/>
              </a:rPr>
              <a:t>gan</a:t>
            </a:r>
            <a:r>
              <a:rPr sz="3200" spc="-10" dirty="0">
                <a:latin typeface="+mj-lt"/>
                <a:cs typeface="Arial MT"/>
              </a:rPr>
              <a:t>i</a:t>
            </a:r>
            <a:r>
              <a:rPr sz="3200" spc="-5" dirty="0">
                <a:latin typeface="+mj-lt"/>
                <a:cs typeface="Arial MT"/>
              </a:rPr>
              <a:t>z</a:t>
            </a:r>
            <a:r>
              <a:rPr lang="en-GB" sz="3200" spc="-15" dirty="0">
                <a:latin typeface="+mj-lt"/>
                <a:cs typeface="Arial MT"/>
              </a:rPr>
              <a:t>ational culture..</a:t>
            </a:r>
            <a:endParaRPr sz="3200" dirty="0">
              <a:latin typeface="+mj-lt"/>
              <a:cs typeface="Arial MT"/>
            </a:endParaRPr>
          </a:p>
          <a:p>
            <a:pPr marL="297180" marR="41910" indent="-284480">
              <a:lnSpc>
                <a:spcPct val="100000"/>
              </a:lnSpc>
              <a:spcBef>
                <a:spcPts val="450"/>
              </a:spcBef>
              <a:buChar char="–"/>
              <a:tabLst>
                <a:tab pos="298450" algn="l"/>
              </a:tabLst>
            </a:pPr>
            <a:r>
              <a:rPr sz="2400" spc="-10" dirty="0">
                <a:latin typeface="Arial MT"/>
                <a:cs typeface="Arial MT"/>
              </a:rPr>
              <a:t>Organization’s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culture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consists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shared 	organizational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values.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These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values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reflect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what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the 	</a:t>
            </a:r>
            <a:r>
              <a:rPr sz="2400" spc="-10" dirty="0">
                <a:latin typeface="Arial MT"/>
                <a:cs typeface="Arial MT"/>
              </a:rPr>
              <a:t>organization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stands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for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what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it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believes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as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well 	</a:t>
            </a:r>
            <a:r>
              <a:rPr sz="2400" dirty="0">
                <a:latin typeface="Arial MT"/>
                <a:cs typeface="Arial MT"/>
              </a:rPr>
              <a:t>as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create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environment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that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influences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employee 	</a:t>
            </a:r>
            <a:r>
              <a:rPr sz="2400" dirty="0">
                <a:latin typeface="Arial MT"/>
                <a:cs typeface="Arial MT"/>
              </a:rPr>
              <a:t>behavior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ethically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or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unethically.</a:t>
            </a:r>
            <a:endParaRPr sz="2400" dirty="0">
              <a:latin typeface="Arial MT"/>
              <a:cs typeface="Arial MT"/>
            </a:endParaRPr>
          </a:p>
          <a:p>
            <a:pPr marL="297180" marR="5080" indent="-284480">
              <a:lnSpc>
                <a:spcPct val="100000"/>
              </a:lnSpc>
              <a:spcBef>
                <a:spcPts val="480"/>
              </a:spcBef>
              <a:buFont typeface="Arial MT"/>
              <a:buChar char="–"/>
              <a:tabLst>
                <a:tab pos="298450" algn="l"/>
              </a:tabLst>
            </a:pPr>
            <a:r>
              <a:rPr sz="2400" b="1" spc="-40" dirty="0">
                <a:latin typeface="Arial"/>
                <a:cs typeface="Arial"/>
              </a:rPr>
              <a:t>Values-</a:t>
            </a:r>
            <a:r>
              <a:rPr sz="2400" b="1" dirty="0">
                <a:latin typeface="Arial"/>
                <a:cs typeface="Arial"/>
              </a:rPr>
              <a:t>based</a:t>
            </a:r>
            <a:r>
              <a:rPr sz="2400" b="1" spc="-6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management</a:t>
            </a:r>
            <a:r>
              <a:rPr sz="2400" b="1" spc="-30" dirty="0">
                <a:latin typeface="Arial"/>
                <a:cs typeface="Arial"/>
              </a:rPr>
              <a:t> </a:t>
            </a:r>
            <a:r>
              <a:rPr sz="2400" dirty="0">
                <a:latin typeface="Arial MT"/>
                <a:cs typeface="Arial MT"/>
              </a:rPr>
              <a:t>–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organization’s 	</a:t>
            </a:r>
            <a:r>
              <a:rPr sz="2400" dirty="0">
                <a:latin typeface="Arial MT"/>
                <a:cs typeface="Arial MT"/>
              </a:rPr>
              <a:t>values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guide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employees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way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they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do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their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jobs.</a:t>
            </a:r>
            <a:endParaRPr sz="2400" dirty="0">
              <a:latin typeface="Arial MT"/>
              <a:cs typeface="Arial MT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spc="-10" dirty="0"/>
              <a:t>6-</a:t>
            </a:r>
            <a:fld id="{81D60167-4931-47E6-BA6A-407CBD079E47}" type="slidenum">
              <a:rPr spc="-25" dirty="0"/>
              <a:t>27</a:t>
            </a:fld>
            <a:endParaRPr spc="-25" dirty="0"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Copyright</a:t>
            </a:r>
            <a:r>
              <a:rPr spc="-15" dirty="0"/>
              <a:t> </a:t>
            </a:r>
            <a:r>
              <a:rPr dirty="0"/>
              <a:t>©</a:t>
            </a:r>
            <a:r>
              <a:rPr spc="-15" dirty="0"/>
              <a:t> </a:t>
            </a:r>
            <a:r>
              <a:rPr dirty="0"/>
              <a:t>2016</a:t>
            </a:r>
            <a:r>
              <a:rPr spc="-5" dirty="0"/>
              <a:t> </a:t>
            </a:r>
            <a:r>
              <a:rPr dirty="0"/>
              <a:t>Pearson</a:t>
            </a:r>
            <a:r>
              <a:rPr spc="-10" dirty="0"/>
              <a:t> </a:t>
            </a:r>
            <a:r>
              <a:rPr dirty="0"/>
              <a:t>Education,</a:t>
            </a:r>
            <a:r>
              <a:rPr spc="-15" dirty="0"/>
              <a:t> </a:t>
            </a:r>
            <a:r>
              <a:rPr spc="-20" dirty="0"/>
              <a:t>Ltd.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36525" marR="5080" indent="-77470">
              <a:lnSpc>
                <a:spcPct val="100499"/>
              </a:lnSpc>
              <a:spcBef>
                <a:spcPts val="90"/>
              </a:spcBef>
            </a:pPr>
            <a:r>
              <a:rPr sz="3300" spc="250" dirty="0"/>
              <a:t>FACTORS</a:t>
            </a:r>
            <a:r>
              <a:rPr sz="3300" spc="85" dirty="0"/>
              <a:t> </a:t>
            </a:r>
            <a:r>
              <a:rPr sz="3300" spc="140" dirty="0"/>
              <a:t>THAT</a:t>
            </a:r>
            <a:r>
              <a:rPr sz="3300" spc="75" dirty="0"/>
              <a:t> </a:t>
            </a:r>
            <a:r>
              <a:rPr sz="3300" spc="310" dirty="0"/>
              <a:t>DETERMINE</a:t>
            </a:r>
            <a:r>
              <a:rPr sz="3300" spc="75" dirty="0"/>
              <a:t> </a:t>
            </a:r>
            <a:r>
              <a:rPr sz="3300" spc="220" dirty="0"/>
              <a:t>ETHICAL </a:t>
            </a:r>
            <a:r>
              <a:rPr sz="3300" spc="390" dirty="0"/>
              <a:t>AND</a:t>
            </a:r>
            <a:r>
              <a:rPr sz="3300" spc="80" dirty="0"/>
              <a:t> </a:t>
            </a:r>
            <a:r>
              <a:rPr sz="3300" spc="245" dirty="0"/>
              <a:t>UNETHICAL</a:t>
            </a:r>
            <a:r>
              <a:rPr sz="3300" spc="70" dirty="0"/>
              <a:t> </a:t>
            </a:r>
            <a:r>
              <a:rPr sz="3300" spc="280" dirty="0"/>
              <a:t>BEHAVIOR</a:t>
            </a:r>
            <a:r>
              <a:rPr sz="3300" spc="70" dirty="0"/>
              <a:t> </a:t>
            </a:r>
            <a:r>
              <a:rPr sz="3300" spc="95" dirty="0"/>
              <a:t>(CONT.)</a:t>
            </a:r>
            <a:endParaRPr sz="33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3905" y="1764664"/>
            <a:ext cx="95250" cy="231775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877569" y="1635759"/>
            <a:ext cx="7576184" cy="4043679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 marR="5080" indent="138430">
              <a:lnSpc>
                <a:spcPct val="99600"/>
              </a:lnSpc>
              <a:spcBef>
                <a:spcPts val="114"/>
              </a:spcBef>
            </a:pPr>
            <a:r>
              <a:rPr sz="3200" dirty="0">
                <a:latin typeface="Arial MT"/>
                <a:cs typeface="Arial MT"/>
              </a:rPr>
              <a:t>Issue</a:t>
            </a:r>
            <a:r>
              <a:rPr sz="3200" spc="-15" dirty="0">
                <a:latin typeface="Arial MT"/>
                <a:cs typeface="Arial MT"/>
              </a:rPr>
              <a:t> </a:t>
            </a:r>
            <a:r>
              <a:rPr sz="3200" spc="-5" dirty="0">
                <a:latin typeface="Arial MT"/>
                <a:cs typeface="Arial MT"/>
              </a:rPr>
              <a:t>I</a:t>
            </a:r>
            <a:r>
              <a:rPr sz="3200" spc="5" dirty="0">
                <a:latin typeface="Arial MT"/>
                <a:cs typeface="Arial MT"/>
              </a:rPr>
              <a:t>n</a:t>
            </a:r>
            <a:r>
              <a:rPr sz="3200" spc="-10" dirty="0">
                <a:latin typeface="Arial MT"/>
                <a:cs typeface="Arial MT"/>
              </a:rPr>
              <a:t>t</a:t>
            </a:r>
            <a:r>
              <a:rPr sz="3200" spc="-640" dirty="0">
                <a:latin typeface="Arial MT"/>
                <a:cs typeface="Arial MT"/>
              </a:rPr>
              <a:t>e</a:t>
            </a:r>
            <a:r>
              <a:rPr sz="3200" spc="-1140" dirty="0">
                <a:latin typeface="Arial MT"/>
                <a:cs typeface="Arial MT"/>
              </a:rPr>
              <a:t>–</a:t>
            </a:r>
            <a:r>
              <a:rPr sz="3200" spc="265" dirty="0">
                <a:latin typeface="Arial MT"/>
                <a:cs typeface="Arial MT"/>
              </a:rPr>
              <a:t>n</a:t>
            </a:r>
            <a:r>
              <a:rPr sz="3200" spc="5" dirty="0">
                <a:latin typeface="Arial MT"/>
                <a:cs typeface="Arial MT"/>
              </a:rPr>
              <a:t>s</a:t>
            </a:r>
            <a:r>
              <a:rPr sz="3200" spc="-280" dirty="0">
                <a:latin typeface="Arial MT"/>
                <a:cs typeface="Arial MT"/>
              </a:rPr>
              <a:t>i</a:t>
            </a:r>
            <a:r>
              <a:rPr sz="3200" spc="-630" dirty="0">
                <a:latin typeface="Arial MT"/>
                <a:cs typeface="Arial MT"/>
              </a:rPr>
              <a:t>t</a:t>
            </a:r>
            <a:r>
              <a:rPr sz="3200" spc="-975" dirty="0">
                <a:latin typeface="Arial MT"/>
                <a:cs typeface="Arial MT"/>
              </a:rPr>
              <a:t>x</a:t>
            </a:r>
            <a:r>
              <a:rPr sz="3200" spc="245" dirty="0">
                <a:latin typeface="Arial MT"/>
                <a:cs typeface="Arial MT"/>
              </a:rPr>
              <a:t>y</a:t>
            </a:r>
            <a:r>
              <a:rPr sz="3200" spc="-5" dirty="0">
                <a:latin typeface="Arial MT"/>
                <a:cs typeface="Arial MT"/>
              </a:rPr>
              <a:t>c</a:t>
            </a:r>
            <a:r>
              <a:rPr sz="3200" spc="5" dirty="0">
                <a:latin typeface="Arial MT"/>
                <a:cs typeface="Arial MT"/>
              </a:rPr>
              <a:t>ha</a:t>
            </a:r>
            <a:r>
              <a:rPr sz="3200" dirty="0">
                <a:latin typeface="Arial MT"/>
                <a:cs typeface="Arial MT"/>
              </a:rPr>
              <a:t>ra</a:t>
            </a:r>
            <a:r>
              <a:rPr sz="3200" spc="5" dirty="0">
                <a:latin typeface="Arial MT"/>
                <a:cs typeface="Arial MT"/>
              </a:rPr>
              <a:t>c</a:t>
            </a:r>
            <a:r>
              <a:rPr sz="3200" spc="-5" dirty="0">
                <a:latin typeface="Arial MT"/>
                <a:cs typeface="Arial MT"/>
              </a:rPr>
              <a:t>t</a:t>
            </a:r>
            <a:r>
              <a:rPr sz="3200" spc="5" dirty="0">
                <a:latin typeface="Arial MT"/>
                <a:cs typeface="Arial MT"/>
              </a:rPr>
              <a:t>e</a:t>
            </a:r>
            <a:r>
              <a:rPr sz="3200" dirty="0">
                <a:latin typeface="Arial MT"/>
                <a:cs typeface="Arial MT"/>
              </a:rPr>
              <a:t>ri</a:t>
            </a:r>
            <a:r>
              <a:rPr sz="3200" spc="5" dirty="0">
                <a:latin typeface="Arial MT"/>
                <a:cs typeface="Arial MT"/>
              </a:rPr>
              <a:t>s</a:t>
            </a:r>
            <a:r>
              <a:rPr sz="3200" spc="-10" dirty="0">
                <a:latin typeface="Arial MT"/>
                <a:cs typeface="Arial MT"/>
              </a:rPr>
              <a:t>t</a:t>
            </a:r>
            <a:r>
              <a:rPr sz="3200" dirty="0">
                <a:latin typeface="Arial MT"/>
                <a:cs typeface="Arial MT"/>
              </a:rPr>
              <a:t>i</a:t>
            </a:r>
            <a:r>
              <a:rPr sz="3200" spc="5" dirty="0">
                <a:latin typeface="Arial MT"/>
                <a:cs typeface="Arial MT"/>
              </a:rPr>
              <a:t>c</a:t>
            </a:r>
            <a:r>
              <a:rPr sz="3200" dirty="0">
                <a:latin typeface="Arial MT"/>
                <a:cs typeface="Arial MT"/>
              </a:rPr>
              <a:t>s</a:t>
            </a:r>
            <a:r>
              <a:rPr sz="3200" spc="-15" dirty="0">
                <a:latin typeface="Arial MT"/>
                <a:cs typeface="Arial MT"/>
              </a:rPr>
              <a:t> </a:t>
            </a:r>
            <a:r>
              <a:rPr sz="3200" spc="-10" dirty="0">
                <a:latin typeface="Arial MT"/>
                <a:cs typeface="Arial MT"/>
              </a:rPr>
              <a:t>determine </a:t>
            </a:r>
            <a:r>
              <a:rPr sz="3200" dirty="0">
                <a:latin typeface="Arial MT"/>
                <a:cs typeface="Arial MT"/>
              </a:rPr>
              <a:t>issue</a:t>
            </a:r>
            <a:r>
              <a:rPr sz="3200" spc="-1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intensity</a:t>
            </a:r>
            <a:r>
              <a:rPr sz="3200" spc="-1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or</a:t>
            </a:r>
            <a:r>
              <a:rPr sz="3200" spc="-1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how</a:t>
            </a:r>
            <a:r>
              <a:rPr sz="3200" spc="-3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important</a:t>
            </a:r>
            <a:r>
              <a:rPr sz="3200" spc="-1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an</a:t>
            </a:r>
            <a:r>
              <a:rPr sz="3200" spc="-15" dirty="0">
                <a:latin typeface="Arial MT"/>
                <a:cs typeface="Arial MT"/>
              </a:rPr>
              <a:t> </a:t>
            </a:r>
            <a:r>
              <a:rPr sz="3200" spc="-10" dirty="0">
                <a:latin typeface="Arial MT"/>
                <a:cs typeface="Arial MT"/>
              </a:rPr>
              <a:t>ethical </a:t>
            </a:r>
            <a:r>
              <a:rPr sz="3200" dirty="0">
                <a:latin typeface="Arial MT"/>
                <a:cs typeface="Arial MT"/>
              </a:rPr>
              <a:t>issue</a:t>
            </a:r>
            <a:r>
              <a:rPr sz="3200" spc="-1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is</a:t>
            </a:r>
            <a:r>
              <a:rPr sz="3200" spc="-2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to</a:t>
            </a:r>
            <a:r>
              <a:rPr sz="3200" spc="-1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an</a:t>
            </a:r>
            <a:r>
              <a:rPr sz="3200" spc="-15" dirty="0">
                <a:latin typeface="Arial MT"/>
                <a:cs typeface="Arial MT"/>
              </a:rPr>
              <a:t> </a:t>
            </a:r>
            <a:r>
              <a:rPr sz="3200" spc="-10" dirty="0">
                <a:latin typeface="Arial MT"/>
                <a:cs typeface="Arial MT"/>
              </a:rPr>
              <a:t>individual:</a:t>
            </a:r>
            <a:endParaRPr sz="3200">
              <a:latin typeface="Arial MT"/>
              <a:cs typeface="Arial MT"/>
            </a:endParaRPr>
          </a:p>
          <a:p>
            <a:pPr marL="411480" indent="-284480">
              <a:lnSpc>
                <a:spcPct val="100000"/>
              </a:lnSpc>
              <a:spcBef>
                <a:spcPts val="480"/>
              </a:spcBef>
              <a:buChar char="–"/>
              <a:tabLst>
                <a:tab pos="411480" algn="l"/>
              </a:tabLst>
            </a:pPr>
            <a:r>
              <a:rPr sz="2400" dirty="0">
                <a:latin typeface="Arial MT"/>
                <a:cs typeface="Arial MT"/>
              </a:rPr>
              <a:t>Greatness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harm</a:t>
            </a:r>
            <a:endParaRPr sz="2400">
              <a:latin typeface="Arial MT"/>
              <a:cs typeface="Arial MT"/>
            </a:endParaRPr>
          </a:p>
          <a:p>
            <a:pPr marL="411480" indent="-284480">
              <a:lnSpc>
                <a:spcPct val="100000"/>
              </a:lnSpc>
              <a:spcBef>
                <a:spcPts val="480"/>
              </a:spcBef>
              <a:buChar char="–"/>
              <a:tabLst>
                <a:tab pos="411480" algn="l"/>
              </a:tabLst>
            </a:pPr>
            <a:r>
              <a:rPr sz="2400" dirty="0">
                <a:latin typeface="Arial MT"/>
                <a:cs typeface="Arial MT"/>
              </a:rPr>
              <a:t>Consensus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wrong</a:t>
            </a:r>
            <a:endParaRPr sz="2400">
              <a:latin typeface="Arial MT"/>
              <a:cs typeface="Arial MT"/>
            </a:endParaRPr>
          </a:p>
          <a:p>
            <a:pPr marL="411480" indent="-284480">
              <a:lnSpc>
                <a:spcPct val="100000"/>
              </a:lnSpc>
              <a:spcBef>
                <a:spcPts val="480"/>
              </a:spcBef>
              <a:buChar char="–"/>
              <a:tabLst>
                <a:tab pos="411480" algn="l"/>
              </a:tabLst>
            </a:pPr>
            <a:r>
              <a:rPr sz="2400" dirty="0">
                <a:latin typeface="Arial MT"/>
                <a:cs typeface="Arial MT"/>
              </a:rPr>
              <a:t>Probability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harm</a:t>
            </a:r>
            <a:endParaRPr sz="2400">
              <a:latin typeface="Arial MT"/>
              <a:cs typeface="Arial MT"/>
            </a:endParaRPr>
          </a:p>
          <a:p>
            <a:pPr marL="411480" indent="-284480">
              <a:lnSpc>
                <a:spcPct val="100000"/>
              </a:lnSpc>
              <a:spcBef>
                <a:spcPts val="480"/>
              </a:spcBef>
              <a:buChar char="–"/>
              <a:tabLst>
                <a:tab pos="411480" algn="l"/>
              </a:tabLst>
            </a:pPr>
            <a:r>
              <a:rPr sz="2400" dirty="0">
                <a:latin typeface="Arial MT"/>
                <a:cs typeface="Arial MT"/>
              </a:rPr>
              <a:t>Immediacy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consequences</a:t>
            </a:r>
            <a:endParaRPr sz="2400">
              <a:latin typeface="Arial MT"/>
              <a:cs typeface="Arial MT"/>
            </a:endParaRPr>
          </a:p>
          <a:p>
            <a:pPr marL="411480" indent="-284480">
              <a:lnSpc>
                <a:spcPct val="100000"/>
              </a:lnSpc>
              <a:spcBef>
                <a:spcPts val="470"/>
              </a:spcBef>
              <a:buChar char="–"/>
              <a:tabLst>
                <a:tab pos="411480" algn="l"/>
              </a:tabLst>
            </a:pPr>
            <a:r>
              <a:rPr sz="2400" dirty="0">
                <a:latin typeface="Arial MT"/>
                <a:cs typeface="Arial MT"/>
              </a:rPr>
              <a:t>Proximity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victim(s)</a:t>
            </a:r>
            <a:endParaRPr sz="2400">
              <a:latin typeface="Arial MT"/>
              <a:cs typeface="Arial MT"/>
            </a:endParaRPr>
          </a:p>
          <a:p>
            <a:pPr marL="411480" indent="-284480">
              <a:lnSpc>
                <a:spcPct val="100000"/>
              </a:lnSpc>
              <a:spcBef>
                <a:spcPts val="480"/>
              </a:spcBef>
              <a:buChar char="–"/>
              <a:tabLst>
                <a:tab pos="411480" algn="l"/>
              </a:tabLst>
            </a:pPr>
            <a:r>
              <a:rPr sz="2400" spc="-10" dirty="0">
                <a:latin typeface="Arial MT"/>
                <a:cs typeface="Arial MT"/>
              </a:rPr>
              <a:t>Concentration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effect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spc="-10" dirty="0"/>
              <a:t>6-</a:t>
            </a:r>
            <a:fld id="{81D60167-4931-47E6-BA6A-407CBD079E47}" type="slidenum">
              <a:rPr spc="-25" dirty="0"/>
              <a:t>28</a:t>
            </a:fld>
            <a:endParaRPr spc="-25" dirty="0"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Copyright</a:t>
            </a:r>
            <a:r>
              <a:rPr spc="-15" dirty="0"/>
              <a:t> </a:t>
            </a:r>
            <a:r>
              <a:rPr dirty="0"/>
              <a:t>©</a:t>
            </a:r>
            <a:r>
              <a:rPr spc="-15" dirty="0"/>
              <a:t> </a:t>
            </a:r>
            <a:r>
              <a:rPr dirty="0"/>
              <a:t>2016</a:t>
            </a:r>
            <a:r>
              <a:rPr spc="-5" dirty="0"/>
              <a:t> </a:t>
            </a:r>
            <a:r>
              <a:rPr dirty="0"/>
              <a:t>Pearson</a:t>
            </a:r>
            <a:r>
              <a:rPr spc="-10" dirty="0"/>
              <a:t> </a:t>
            </a:r>
            <a:r>
              <a:rPr dirty="0"/>
              <a:t>Education,</a:t>
            </a:r>
            <a:r>
              <a:rPr spc="-15" dirty="0"/>
              <a:t> </a:t>
            </a:r>
            <a:r>
              <a:rPr spc="-20" dirty="0"/>
              <a:t>Ltd.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17219" y="1591310"/>
            <a:ext cx="7840980" cy="4351020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32409" rIns="0" bIns="0" rtlCol="0">
            <a:spAutoFit/>
          </a:bodyPr>
          <a:lstStyle/>
          <a:p>
            <a:pPr marL="184150">
              <a:lnSpc>
                <a:spcPct val="100000"/>
              </a:lnSpc>
              <a:spcBef>
                <a:spcPts val="100"/>
              </a:spcBef>
            </a:pPr>
            <a:r>
              <a:rPr sz="4000" spc="275" dirty="0"/>
              <a:t>EXHIBIT</a:t>
            </a:r>
            <a:r>
              <a:rPr sz="4000" spc="65" dirty="0"/>
              <a:t> </a:t>
            </a:r>
            <a:r>
              <a:rPr sz="4000" spc="295" dirty="0"/>
              <a:t>6-</a:t>
            </a:r>
            <a:r>
              <a:rPr sz="4000" spc="229" dirty="0"/>
              <a:t>5</a:t>
            </a:r>
            <a:r>
              <a:rPr sz="4000" spc="70" dirty="0"/>
              <a:t> </a:t>
            </a:r>
            <a:r>
              <a:rPr sz="4000" spc="385" dirty="0"/>
              <a:t>ISSUE</a:t>
            </a:r>
            <a:r>
              <a:rPr sz="4000" spc="65" dirty="0"/>
              <a:t> </a:t>
            </a:r>
            <a:r>
              <a:rPr sz="4000" spc="235" dirty="0"/>
              <a:t>INTENSITY</a:t>
            </a:r>
            <a:endParaRPr sz="400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spc="-10" dirty="0"/>
              <a:t>6-</a:t>
            </a:r>
            <a:fld id="{81D60167-4931-47E6-BA6A-407CBD079E47}" type="slidenum">
              <a:rPr spc="-25" dirty="0"/>
              <a:t>29</a:t>
            </a:fld>
            <a:endParaRPr spc="-25" dirty="0"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Copyright</a:t>
            </a:r>
            <a:r>
              <a:rPr spc="-15" dirty="0"/>
              <a:t> </a:t>
            </a:r>
            <a:r>
              <a:rPr dirty="0"/>
              <a:t>©</a:t>
            </a:r>
            <a:r>
              <a:rPr spc="-15" dirty="0"/>
              <a:t> </a:t>
            </a:r>
            <a:r>
              <a:rPr dirty="0"/>
              <a:t>2016</a:t>
            </a:r>
            <a:r>
              <a:rPr spc="-5" dirty="0"/>
              <a:t> </a:t>
            </a:r>
            <a:r>
              <a:rPr dirty="0"/>
              <a:t>Pearson</a:t>
            </a:r>
            <a:r>
              <a:rPr spc="-10" dirty="0"/>
              <a:t> </a:t>
            </a:r>
            <a:r>
              <a:rPr dirty="0"/>
              <a:t>Education,</a:t>
            </a:r>
            <a:r>
              <a:rPr spc="-15" dirty="0"/>
              <a:t> </a:t>
            </a:r>
            <a:r>
              <a:rPr spc="-20" dirty="0"/>
              <a:t>Ltd.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75589" rIns="0" bIns="0" rtlCol="0">
            <a:spAutoFit/>
          </a:bodyPr>
          <a:lstStyle/>
          <a:p>
            <a:pPr marL="38735">
              <a:lnSpc>
                <a:spcPct val="100000"/>
              </a:lnSpc>
              <a:spcBef>
                <a:spcPts val="110"/>
              </a:spcBef>
            </a:pPr>
            <a:r>
              <a:rPr sz="3450" spc="300" dirty="0"/>
              <a:t>ENCOURAGING</a:t>
            </a:r>
            <a:r>
              <a:rPr sz="3450" spc="90" dirty="0"/>
              <a:t> </a:t>
            </a:r>
            <a:r>
              <a:rPr sz="3450" spc="229" dirty="0"/>
              <a:t>ETHICAL</a:t>
            </a:r>
            <a:r>
              <a:rPr sz="3450" spc="90" dirty="0"/>
              <a:t> </a:t>
            </a:r>
            <a:r>
              <a:rPr sz="3450" spc="275" dirty="0"/>
              <a:t>BEHAVIOR</a:t>
            </a:r>
            <a:endParaRPr sz="345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spc="-10" dirty="0"/>
              <a:t>6-</a:t>
            </a:r>
            <a:fld id="{81D60167-4931-47E6-BA6A-407CBD079E47}" type="slidenum">
              <a:rPr spc="-25" dirty="0"/>
              <a:t>30</a:t>
            </a:fld>
            <a:endParaRPr spc="-25" dirty="0"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Copyright</a:t>
            </a:r>
            <a:r>
              <a:rPr spc="-15" dirty="0"/>
              <a:t> </a:t>
            </a:r>
            <a:r>
              <a:rPr dirty="0"/>
              <a:t>©</a:t>
            </a:r>
            <a:r>
              <a:rPr spc="-15" dirty="0"/>
              <a:t> </a:t>
            </a:r>
            <a:r>
              <a:rPr dirty="0"/>
              <a:t>2016</a:t>
            </a:r>
            <a:r>
              <a:rPr spc="-5" dirty="0"/>
              <a:t> </a:t>
            </a:r>
            <a:r>
              <a:rPr dirty="0"/>
              <a:t>Pearson</a:t>
            </a:r>
            <a:r>
              <a:rPr spc="-10" dirty="0"/>
              <a:t> </a:t>
            </a:r>
            <a:r>
              <a:rPr dirty="0"/>
              <a:t>Education,</a:t>
            </a:r>
            <a:r>
              <a:rPr spc="-15" dirty="0"/>
              <a:t> </a:t>
            </a:r>
            <a:r>
              <a:rPr spc="-20" dirty="0"/>
              <a:t>Ltd.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73100" y="3470909"/>
            <a:ext cx="1327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solidFill>
                  <a:srgbClr val="FF1C1C"/>
                </a:solidFill>
                <a:latin typeface="Arial MT"/>
                <a:cs typeface="Arial MT"/>
              </a:rPr>
              <a:t>•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73100" y="1634490"/>
            <a:ext cx="7755255" cy="3586479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419100" marR="5080" indent="-406400">
              <a:lnSpc>
                <a:spcPct val="100499"/>
              </a:lnSpc>
              <a:spcBef>
                <a:spcPts val="80"/>
              </a:spcBef>
              <a:buClr>
                <a:srgbClr val="FF1C1C"/>
              </a:buClr>
              <a:buSzPct val="84210"/>
              <a:buFont typeface="Arial MT"/>
              <a:buChar char="•"/>
              <a:tabLst>
                <a:tab pos="419100" algn="l"/>
              </a:tabLst>
            </a:pPr>
            <a:r>
              <a:rPr sz="2850" b="1" dirty="0">
                <a:latin typeface="Arial"/>
                <a:cs typeface="Arial"/>
              </a:rPr>
              <a:t>Employee</a:t>
            </a:r>
            <a:r>
              <a:rPr sz="2850" b="1" spc="35" dirty="0">
                <a:latin typeface="Arial"/>
                <a:cs typeface="Arial"/>
              </a:rPr>
              <a:t> </a:t>
            </a:r>
            <a:r>
              <a:rPr sz="2850" b="1" spc="285" dirty="0">
                <a:latin typeface="Trebuchet MS"/>
                <a:cs typeface="Trebuchet MS"/>
              </a:rPr>
              <a:t>Selection</a:t>
            </a:r>
            <a:r>
              <a:rPr sz="2850" b="1" spc="165" dirty="0">
                <a:latin typeface="Trebuchet MS"/>
                <a:cs typeface="Trebuchet MS"/>
              </a:rPr>
              <a:t> </a:t>
            </a:r>
            <a:r>
              <a:rPr sz="2850" spc="365" dirty="0">
                <a:latin typeface="Trebuchet MS"/>
                <a:cs typeface="Trebuchet MS"/>
              </a:rPr>
              <a:t>–</a:t>
            </a:r>
            <a:r>
              <a:rPr sz="2850" spc="165" dirty="0">
                <a:latin typeface="Trebuchet MS"/>
                <a:cs typeface="Trebuchet MS"/>
              </a:rPr>
              <a:t> </a:t>
            </a:r>
            <a:r>
              <a:rPr sz="2850" spc="235" dirty="0">
                <a:latin typeface="Trebuchet MS"/>
                <a:cs typeface="Trebuchet MS"/>
              </a:rPr>
              <a:t>an</a:t>
            </a:r>
            <a:r>
              <a:rPr sz="2850" spc="50" dirty="0">
                <a:latin typeface="Trebuchet MS"/>
                <a:cs typeface="Trebuchet MS"/>
              </a:rPr>
              <a:t> </a:t>
            </a:r>
            <a:r>
              <a:rPr sz="2850" spc="145" dirty="0">
                <a:latin typeface="Trebuchet MS"/>
                <a:cs typeface="Trebuchet MS"/>
              </a:rPr>
              <a:t>opportunity</a:t>
            </a:r>
            <a:r>
              <a:rPr sz="2850" spc="55" dirty="0">
                <a:latin typeface="Trebuchet MS"/>
                <a:cs typeface="Trebuchet MS"/>
              </a:rPr>
              <a:t> </a:t>
            </a:r>
            <a:r>
              <a:rPr sz="2850" spc="75" dirty="0">
                <a:latin typeface="Trebuchet MS"/>
                <a:cs typeface="Trebuchet MS"/>
              </a:rPr>
              <a:t>to </a:t>
            </a:r>
            <a:r>
              <a:rPr sz="2850" spc="120" dirty="0">
                <a:latin typeface="Trebuchet MS"/>
                <a:cs typeface="Trebuchet MS"/>
              </a:rPr>
              <a:t>learn</a:t>
            </a:r>
            <a:r>
              <a:rPr sz="2850" spc="60" dirty="0">
                <a:latin typeface="Trebuchet MS"/>
                <a:cs typeface="Trebuchet MS"/>
              </a:rPr>
              <a:t> </a:t>
            </a:r>
            <a:r>
              <a:rPr sz="2850" spc="175" dirty="0">
                <a:latin typeface="Trebuchet MS"/>
                <a:cs typeface="Trebuchet MS"/>
              </a:rPr>
              <a:t>about</a:t>
            </a:r>
            <a:r>
              <a:rPr sz="2850" spc="75" dirty="0">
                <a:latin typeface="Trebuchet MS"/>
                <a:cs typeface="Trebuchet MS"/>
              </a:rPr>
              <a:t> </a:t>
            </a:r>
            <a:r>
              <a:rPr sz="2850" spc="235" dirty="0">
                <a:latin typeface="Trebuchet MS"/>
                <a:cs typeface="Trebuchet MS"/>
              </a:rPr>
              <a:t>an</a:t>
            </a:r>
            <a:r>
              <a:rPr sz="2850" spc="75" dirty="0">
                <a:latin typeface="Trebuchet MS"/>
                <a:cs typeface="Trebuchet MS"/>
              </a:rPr>
              <a:t> </a:t>
            </a:r>
            <a:r>
              <a:rPr sz="2850" spc="120" dirty="0">
                <a:latin typeface="Trebuchet MS"/>
                <a:cs typeface="Trebuchet MS"/>
              </a:rPr>
              <a:t>individual’s</a:t>
            </a:r>
            <a:r>
              <a:rPr sz="2850" spc="90" dirty="0">
                <a:latin typeface="Trebuchet MS"/>
                <a:cs typeface="Trebuchet MS"/>
              </a:rPr>
              <a:t> </a:t>
            </a:r>
            <a:r>
              <a:rPr sz="2850" spc="114" dirty="0">
                <a:latin typeface="Trebuchet MS"/>
                <a:cs typeface="Trebuchet MS"/>
              </a:rPr>
              <a:t>level</a:t>
            </a:r>
            <a:r>
              <a:rPr sz="2850" spc="65" dirty="0">
                <a:latin typeface="Trebuchet MS"/>
                <a:cs typeface="Trebuchet MS"/>
              </a:rPr>
              <a:t> </a:t>
            </a:r>
            <a:r>
              <a:rPr sz="2850" spc="55" dirty="0">
                <a:latin typeface="Trebuchet MS"/>
                <a:cs typeface="Trebuchet MS"/>
              </a:rPr>
              <a:t>of </a:t>
            </a:r>
            <a:r>
              <a:rPr sz="2850" spc="175" dirty="0">
                <a:latin typeface="Trebuchet MS"/>
                <a:cs typeface="Trebuchet MS"/>
              </a:rPr>
              <a:t>moral</a:t>
            </a:r>
            <a:r>
              <a:rPr sz="2850" spc="60" dirty="0">
                <a:latin typeface="Trebuchet MS"/>
                <a:cs typeface="Trebuchet MS"/>
              </a:rPr>
              <a:t> </a:t>
            </a:r>
            <a:r>
              <a:rPr sz="2850" spc="165" dirty="0">
                <a:latin typeface="Trebuchet MS"/>
                <a:cs typeface="Trebuchet MS"/>
              </a:rPr>
              <a:t>development,</a:t>
            </a:r>
            <a:r>
              <a:rPr sz="2850" spc="70" dirty="0">
                <a:latin typeface="Trebuchet MS"/>
                <a:cs typeface="Trebuchet MS"/>
              </a:rPr>
              <a:t> </a:t>
            </a:r>
            <a:r>
              <a:rPr sz="2850" spc="180" dirty="0">
                <a:latin typeface="Trebuchet MS"/>
                <a:cs typeface="Trebuchet MS"/>
              </a:rPr>
              <a:t>personal</a:t>
            </a:r>
            <a:r>
              <a:rPr sz="2850" spc="60" dirty="0">
                <a:latin typeface="Trebuchet MS"/>
                <a:cs typeface="Trebuchet MS"/>
              </a:rPr>
              <a:t> </a:t>
            </a:r>
            <a:r>
              <a:rPr sz="2850" spc="145" dirty="0">
                <a:latin typeface="Trebuchet MS"/>
                <a:cs typeface="Trebuchet MS"/>
              </a:rPr>
              <a:t>values, </a:t>
            </a:r>
            <a:r>
              <a:rPr sz="2850" spc="265" dirty="0">
                <a:latin typeface="Trebuchet MS"/>
                <a:cs typeface="Trebuchet MS"/>
              </a:rPr>
              <a:t>ego</a:t>
            </a:r>
            <a:r>
              <a:rPr sz="2850" spc="60" dirty="0">
                <a:latin typeface="Trebuchet MS"/>
                <a:cs typeface="Trebuchet MS"/>
              </a:rPr>
              <a:t> </a:t>
            </a:r>
            <a:r>
              <a:rPr sz="2850" spc="135" dirty="0">
                <a:latin typeface="Trebuchet MS"/>
                <a:cs typeface="Trebuchet MS"/>
              </a:rPr>
              <a:t>strength,</a:t>
            </a:r>
            <a:r>
              <a:rPr sz="2850" spc="50" dirty="0">
                <a:latin typeface="Trebuchet MS"/>
                <a:cs typeface="Trebuchet MS"/>
              </a:rPr>
              <a:t> </a:t>
            </a:r>
            <a:r>
              <a:rPr sz="2850" spc="225" dirty="0">
                <a:latin typeface="Trebuchet MS"/>
                <a:cs typeface="Trebuchet MS"/>
              </a:rPr>
              <a:t>and</a:t>
            </a:r>
            <a:r>
              <a:rPr sz="2850" spc="70" dirty="0">
                <a:latin typeface="Trebuchet MS"/>
                <a:cs typeface="Trebuchet MS"/>
              </a:rPr>
              <a:t> </a:t>
            </a:r>
            <a:r>
              <a:rPr sz="2850" spc="175" dirty="0">
                <a:latin typeface="Trebuchet MS"/>
                <a:cs typeface="Trebuchet MS"/>
              </a:rPr>
              <a:t>locus</a:t>
            </a:r>
            <a:r>
              <a:rPr sz="2850" spc="60" dirty="0">
                <a:latin typeface="Trebuchet MS"/>
                <a:cs typeface="Trebuchet MS"/>
              </a:rPr>
              <a:t> </a:t>
            </a:r>
            <a:r>
              <a:rPr sz="2850" spc="80" dirty="0">
                <a:latin typeface="Trebuchet MS"/>
                <a:cs typeface="Trebuchet MS"/>
              </a:rPr>
              <a:t>of</a:t>
            </a:r>
            <a:r>
              <a:rPr sz="2850" spc="50" dirty="0">
                <a:latin typeface="Trebuchet MS"/>
                <a:cs typeface="Trebuchet MS"/>
              </a:rPr>
              <a:t> </a:t>
            </a:r>
            <a:r>
              <a:rPr sz="2850" spc="60" dirty="0">
                <a:latin typeface="Trebuchet MS"/>
                <a:cs typeface="Trebuchet MS"/>
              </a:rPr>
              <a:t>control.</a:t>
            </a:r>
            <a:endParaRPr sz="2850">
              <a:latin typeface="Trebuchet MS"/>
              <a:cs typeface="Trebuchet MS"/>
            </a:endParaRPr>
          </a:p>
          <a:p>
            <a:pPr marL="419100" marR="9525">
              <a:lnSpc>
                <a:spcPct val="100400"/>
              </a:lnSpc>
              <a:spcBef>
                <a:spcPts val="580"/>
              </a:spcBef>
            </a:pPr>
            <a:r>
              <a:rPr sz="2850" b="1" spc="340" dirty="0">
                <a:latin typeface="Trebuchet MS"/>
                <a:cs typeface="Trebuchet MS"/>
              </a:rPr>
              <a:t>Code</a:t>
            </a:r>
            <a:r>
              <a:rPr sz="2850" b="1" spc="150" dirty="0">
                <a:latin typeface="Trebuchet MS"/>
                <a:cs typeface="Trebuchet MS"/>
              </a:rPr>
              <a:t> </a:t>
            </a:r>
            <a:r>
              <a:rPr sz="2850" b="1" spc="265" dirty="0">
                <a:latin typeface="Trebuchet MS"/>
                <a:cs typeface="Trebuchet MS"/>
              </a:rPr>
              <a:t>of</a:t>
            </a:r>
            <a:r>
              <a:rPr sz="2850" b="1" spc="145" dirty="0">
                <a:latin typeface="Trebuchet MS"/>
                <a:cs typeface="Trebuchet MS"/>
              </a:rPr>
              <a:t> </a:t>
            </a:r>
            <a:r>
              <a:rPr sz="2850" b="1" spc="280" dirty="0">
                <a:latin typeface="Trebuchet MS"/>
                <a:cs typeface="Trebuchet MS"/>
              </a:rPr>
              <a:t>ethics</a:t>
            </a:r>
            <a:r>
              <a:rPr sz="2850" b="1" spc="195" dirty="0">
                <a:latin typeface="Trebuchet MS"/>
                <a:cs typeface="Trebuchet MS"/>
              </a:rPr>
              <a:t> </a:t>
            </a:r>
            <a:r>
              <a:rPr sz="2850" spc="365" dirty="0">
                <a:latin typeface="Trebuchet MS"/>
                <a:cs typeface="Trebuchet MS"/>
              </a:rPr>
              <a:t>–</a:t>
            </a:r>
            <a:r>
              <a:rPr sz="2850" spc="155" dirty="0">
                <a:latin typeface="Trebuchet MS"/>
                <a:cs typeface="Trebuchet MS"/>
              </a:rPr>
              <a:t> </a:t>
            </a:r>
            <a:r>
              <a:rPr sz="2850" spc="240" dirty="0">
                <a:latin typeface="Trebuchet MS"/>
                <a:cs typeface="Trebuchet MS"/>
              </a:rPr>
              <a:t>a</a:t>
            </a:r>
            <a:r>
              <a:rPr sz="2850" spc="55" dirty="0">
                <a:latin typeface="Trebuchet MS"/>
                <a:cs typeface="Trebuchet MS"/>
              </a:rPr>
              <a:t> </a:t>
            </a:r>
            <a:r>
              <a:rPr sz="2850" spc="125" dirty="0">
                <a:latin typeface="Trebuchet MS"/>
                <a:cs typeface="Trebuchet MS"/>
              </a:rPr>
              <a:t>formal</a:t>
            </a:r>
            <a:r>
              <a:rPr sz="2850" spc="55" dirty="0">
                <a:latin typeface="Trebuchet MS"/>
                <a:cs typeface="Trebuchet MS"/>
              </a:rPr>
              <a:t> </a:t>
            </a:r>
            <a:r>
              <a:rPr sz="2850" spc="180" dirty="0">
                <a:latin typeface="Trebuchet MS"/>
                <a:cs typeface="Trebuchet MS"/>
              </a:rPr>
              <a:t>statement</a:t>
            </a:r>
            <a:r>
              <a:rPr sz="2850" spc="60" dirty="0">
                <a:latin typeface="Trebuchet MS"/>
                <a:cs typeface="Trebuchet MS"/>
              </a:rPr>
              <a:t> </a:t>
            </a:r>
            <a:r>
              <a:rPr sz="2850" spc="55" dirty="0">
                <a:latin typeface="Trebuchet MS"/>
                <a:cs typeface="Trebuchet MS"/>
              </a:rPr>
              <a:t>of </a:t>
            </a:r>
            <a:r>
              <a:rPr sz="2850" spc="235" dirty="0">
                <a:latin typeface="Trebuchet MS"/>
                <a:cs typeface="Trebuchet MS"/>
              </a:rPr>
              <a:t>an</a:t>
            </a:r>
            <a:r>
              <a:rPr sz="2850" spc="85" dirty="0">
                <a:latin typeface="Trebuchet MS"/>
                <a:cs typeface="Trebuchet MS"/>
              </a:rPr>
              <a:t> </a:t>
            </a:r>
            <a:r>
              <a:rPr sz="2850" spc="140" dirty="0">
                <a:latin typeface="Trebuchet MS"/>
                <a:cs typeface="Trebuchet MS"/>
              </a:rPr>
              <a:t>organization’s</a:t>
            </a:r>
            <a:r>
              <a:rPr sz="2850" spc="85" dirty="0">
                <a:latin typeface="Trebuchet MS"/>
                <a:cs typeface="Trebuchet MS"/>
              </a:rPr>
              <a:t> </a:t>
            </a:r>
            <a:r>
              <a:rPr sz="2850" spc="170" dirty="0">
                <a:latin typeface="Trebuchet MS"/>
                <a:cs typeface="Trebuchet MS"/>
              </a:rPr>
              <a:t>primary</a:t>
            </a:r>
            <a:r>
              <a:rPr sz="2850" spc="90" dirty="0">
                <a:latin typeface="Trebuchet MS"/>
                <a:cs typeface="Trebuchet MS"/>
              </a:rPr>
              <a:t> </a:t>
            </a:r>
            <a:r>
              <a:rPr sz="2850" spc="204" dirty="0">
                <a:latin typeface="Trebuchet MS"/>
                <a:cs typeface="Trebuchet MS"/>
              </a:rPr>
              <a:t>values</a:t>
            </a:r>
            <a:r>
              <a:rPr sz="2850" spc="85" dirty="0">
                <a:latin typeface="Trebuchet MS"/>
                <a:cs typeface="Trebuchet MS"/>
              </a:rPr>
              <a:t> </a:t>
            </a:r>
            <a:r>
              <a:rPr sz="2850" spc="200" dirty="0">
                <a:latin typeface="Trebuchet MS"/>
                <a:cs typeface="Trebuchet MS"/>
              </a:rPr>
              <a:t>and </a:t>
            </a:r>
            <a:r>
              <a:rPr sz="2850" spc="140" dirty="0">
                <a:latin typeface="Trebuchet MS"/>
                <a:cs typeface="Trebuchet MS"/>
              </a:rPr>
              <a:t>the</a:t>
            </a:r>
            <a:r>
              <a:rPr sz="2850" spc="60" dirty="0">
                <a:latin typeface="Trebuchet MS"/>
                <a:cs typeface="Trebuchet MS"/>
              </a:rPr>
              <a:t> </a:t>
            </a:r>
            <a:r>
              <a:rPr sz="2850" spc="105" dirty="0">
                <a:latin typeface="Trebuchet MS"/>
                <a:cs typeface="Trebuchet MS"/>
              </a:rPr>
              <a:t>ethical</a:t>
            </a:r>
            <a:r>
              <a:rPr sz="2850" spc="45" dirty="0">
                <a:latin typeface="Trebuchet MS"/>
                <a:cs typeface="Trebuchet MS"/>
              </a:rPr>
              <a:t> </a:t>
            </a:r>
            <a:r>
              <a:rPr sz="2850" spc="155" dirty="0">
                <a:latin typeface="Trebuchet MS"/>
                <a:cs typeface="Trebuchet MS"/>
              </a:rPr>
              <a:t>rules</a:t>
            </a:r>
            <a:r>
              <a:rPr sz="2850" spc="50" dirty="0">
                <a:latin typeface="Trebuchet MS"/>
                <a:cs typeface="Trebuchet MS"/>
              </a:rPr>
              <a:t> </a:t>
            </a:r>
            <a:r>
              <a:rPr sz="2850" dirty="0">
                <a:latin typeface="Trebuchet MS"/>
                <a:cs typeface="Trebuchet MS"/>
              </a:rPr>
              <a:t>it</a:t>
            </a:r>
            <a:r>
              <a:rPr sz="2850" spc="55" dirty="0">
                <a:latin typeface="Trebuchet MS"/>
                <a:cs typeface="Trebuchet MS"/>
              </a:rPr>
              <a:t> </a:t>
            </a:r>
            <a:r>
              <a:rPr sz="2850" spc="185" dirty="0">
                <a:latin typeface="Trebuchet MS"/>
                <a:cs typeface="Trebuchet MS"/>
              </a:rPr>
              <a:t>expects</a:t>
            </a:r>
            <a:r>
              <a:rPr sz="2850" spc="60" dirty="0">
                <a:latin typeface="Trebuchet MS"/>
                <a:cs typeface="Trebuchet MS"/>
              </a:rPr>
              <a:t> </a:t>
            </a:r>
            <a:r>
              <a:rPr sz="2850" spc="70" dirty="0">
                <a:latin typeface="Trebuchet MS"/>
                <a:cs typeface="Trebuchet MS"/>
              </a:rPr>
              <a:t>its </a:t>
            </a:r>
            <a:r>
              <a:rPr sz="2850" spc="225" dirty="0">
                <a:latin typeface="Trebuchet MS"/>
                <a:cs typeface="Trebuchet MS"/>
              </a:rPr>
              <a:t>employees</a:t>
            </a:r>
            <a:r>
              <a:rPr sz="2850" spc="60" dirty="0">
                <a:latin typeface="Trebuchet MS"/>
                <a:cs typeface="Trebuchet MS"/>
              </a:rPr>
              <a:t> </a:t>
            </a:r>
            <a:r>
              <a:rPr sz="2850" spc="100" dirty="0">
                <a:latin typeface="Trebuchet MS"/>
                <a:cs typeface="Trebuchet MS"/>
              </a:rPr>
              <a:t>to</a:t>
            </a:r>
            <a:r>
              <a:rPr sz="2850" spc="70" dirty="0">
                <a:latin typeface="Trebuchet MS"/>
                <a:cs typeface="Trebuchet MS"/>
              </a:rPr>
              <a:t> </a:t>
            </a:r>
            <a:r>
              <a:rPr sz="2850" spc="-10" dirty="0">
                <a:latin typeface="Trebuchet MS"/>
                <a:cs typeface="Trebuchet MS"/>
              </a:rPr>
              <a:t>follow.</a:t>
            </a:r>
            <a:endParaRPr sz="28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5800" y="1630679"/>
            <a:ext cx="7848600" cy="3931920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288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245" dirty="0"/>
              <a:t>EXHIBIT</a:t>
            </a:r>
            <a:r>
              <a:rPr spc="55" dirty="0"/>
              <a:t> </a:t>
            </a:r>
            <a:r>
              <a:rPr spc="235" dirty="0"/>
              <a:t>6-</a:t>
            </a:r>
            <a:r>
              <a:rPr spc="280" dirty="0"/>
              <a:t>7</a:t>
            </a:r>
            <a:r>
              <a:rPr spc="65" dirty="0"/>
              <a:t> </a:t>
            </a:r>
            <a:r>
              <a:rPr spc="430" dirty="0"/>
              <a:t>CODES</a:t>
            </a:r>
            <a:r>
              <a:rPr spc="65" dirty="0"/>
              <a:t> </a:t>
            </a:r>
            <a:r>
              <a:rPr spc="275" dirty="0"/>
              <a:t>OF</a:t>
            </a:r>
            <a:r>
              <a:rPr spc="65" dirty="0"/>
              <a:t> </a:t>
            </a:r>
            <a:r>
              <a:rPr spc="275" dirty="0"/>
              <a:t>ETHICS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spc="-10" dirty="0"/>
              <a:t>6-</a:t>
            </a:r>
            <a:fld id="{81D60167-4931-47E6-BA6A-407CBD079E47}" type="slidenum">
              <a:rPr spc="-25" dirty="0"/>
              <a:t>31</a:t>
            </a:fld>
            <a:endParaRPr spc="-25" dirty="0"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Copyright</a:t>
            </a:r>
            <a:r>
              <a:rPr spc="-15" dirty="0"/>
              <a:t> </a:t>
            </a:r>
            <a:r>
              <a:rPr dirty="0"/>
              <a:t>©</a:t>
            </a:r>
            <a:r>
              <a:rPr spc="-15" dirty="0"/>
              <a:t> </a:t>
            </a:r>
            <a:r>
              <a:rPr dirty="0"/>
              <a:t>2016</a:t>
            </a:r>
            <a:r>
              <a:rPr spc="-5" dirty="0"/>
              <a:t> </a:t>
            </a:r>
            <a:r>
              <a:rPr dirty="0"/>
              <a:t>Pearson</a:t>
            </a:r>
            <a:r>
              <a:rPr spc="-10" dirty="0"/>
              <a:t> </a:t>
            </a:r>
            <a:r>
              <a:rPr dirty="0"/>
              <a:t>Education,</a:t>
            </a:r>
            <a:r>
              <a:rPr spc="-15" dirty="0"/>
              <a:t> </a:t>
            </a:r>
            <a:r>
              <a:rPr spc="-20" dirty="0"/>
              <a:t>Ltd.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063875" marR="5080" indent="-2515870">
              <a:lnSpc>
                <a:spcPct val="100699"/>
              </a:lnSpc>
              <a:spcBef>
                <a:spcPts val="90"/>
              </a:spcBef>
            </a:pPr>
            <a:r>
              <a:rPr sz="3400" spc="245" dirty="0"/>
              <a:t>EXHIBIT</a:t>
            </a:r>
            <a:r>
              <a:rPr sz="3400" spc="85" dirty="0"/>
              <a:t> </a:t>
            </a:r>
            <a:r>
              <a:rPr sz="3400" spc="260" dirty="0"/>
              <a:t>6-</a:t>
            </a:r>
            <a:r>
              <a:rPr sz="3400" spc="210" dirty="0"/>
              <a:t>7</a:t>
            </a:r>
            <a:r>
              <a:rPr sz="3400" spc="85" dirty="0"/>
              <a:t> </a:t>
            </a:r>
            <a:r>
              <a:rPr sz="3400" spc="425" dirty="0"/>
              <a:t>CODES</a:t>
            </a:r>
            <a:r>
              <a:rPr sz="3400" spc="90" dirty="0"/>
              <a:t> </a:t>
            </a:r>
            <a:r>
              <a:rPr sz="3400" spc="280" dirty="0"/>
              <a:t>OF</a:t>
            </a:r>
            <a:r>
              <a:rPr sz="3400" spc="85" dirty="0"/>
              <a:t> </a:t>
            </a:r>
            <a:r>
              <a:rPr sz="3400" spc="270" dirty="0"/>
              <a:t>ETHICS </a:t>
            </a:r>
            <a:r>
              <a:rPr sz="3400" spc="100" dirty="0"/>
              <a:t>(CONT.)</a:t>
            </a:r>
            <a:endParaRPr sz="34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4800" y="1217930"/>
            <a:ext cx="8610600" cy="4267200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spc="-10" dirty="0"/>
              <a:t>6-</a:t>
            </a:r>
            <a:fld id="{81D60167-4931-47E6-BA6A-407CBD079E47}" type="slidenum">
              <a:rPr spc="-25" dirty="0"/>
              <a:t>32</a:t>
            </a:fld>
            <a:endParaRPr spc="-25" dirty="0"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Copyright</a:t>
            </a:r>
            <a:r>
              <a:rPr spc="-15" dirty="0"/>
              <a:t> </a:t>
            </a:r>
            <a:r>
              <a:rPr dirty="0"/>
              <a:t>©</a:t>
            </a:r>
            <a:r>
              <a:rPr spc="-15" dirty="0"/>
              <a:t> </a:t>
            </a:r>
            <a:r>
              <a:rPr dirty="0"/>
              <a:t>2016</a:t>
            </a:r>
            <a:r>
              <a:rPr spc="-5" dirty="0"/>
              <a:t> </a:t>
            </a:r>
            <a:r>
              <a:rPr dirty="0"/>
              <a:t>Pearson</a:t>
            </a:r>
            <a:r>
              <a:rPr spc="-10" dirty="0"/>
              <a:t> </a:t>
            </a:r>
            <a:r>
              <a:rPr dirty="0"/>
              <a:t>Education,</a:t>
            </a:r>
            <a:r>
              <a:rPr spc="-15" dirty="0"/>
              <a:t> </a:t>
            </a:r>
            <a:r>
              <a:rPr spc="-20" dirty="0"/>
              <a:t>Ltd.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49" rIns="0" bIns="0" rtlCol="0">
            <a:spAutoFit/>
          </a:bodyPr>
          <a:lstStyle/>
          <a:p>
            <a:pPr marL="19685" algn="ctr">
              <a:lnSpc>
                <a:spcPct val="100000"/>
              </a:lnSpc>
              <a:spcBef>
                <a:spcPts val="100"/>
              </a:spcBef>
            </a:pPr>
            <a:r>
              <a:rPr sz="2400" spc="165" dirty="0"/>
              <a:t>EXHIBIT</a:t>
            </a:r>
            <a:r>
              <a:rPr sz="2400" spc="50" dirty="0"/>
              <a:t> </a:t>
            </a:r>
            <a:r>
              <a:rPr sz="2400" spc="114" dirty="0"/>
              <a:t>6-</a:t>
            </a:r>
            <a:r>
              <a:rPr sz="2400" spc="200" dirty="0"/>
              <a:t>8</a:t>
            </a:r>
            <a:endParaRPr sz="2400"/>
          </a:p>
          <a:p>
            <a:pPr marL="11430" algn="ctr">
              <a:lnSpc>
                <a:spcPct val="100000"/>
              </a:lnSpc>
              <a:spcBef>
                <a:spcPts val="10"/>
              </a:spcBef>
            </a:pPr>
            <a:r>
              <a:rPr sz="2400" spc="225" dirty="0"/>
              <a:t>A</a:t>
            </a:r>
            <a:r>
              <a:rPr sz="2400" spc="65" dirty="0"/>
              <a:t> </a:t>
            </a:r>
            <a:r>
              <a:rPr sz="2400" spc="254" dirty="0"/>
              <a:t>PROCESS</a:t>
            </a:r>
            <a:r>
              <a:rPr sz="2400" spc="70" dirty="0"/>
              <a:t> </a:t>
            </a:r>
            <a:r>
              <a:rPr sz="2400" spc="215" dirty="0"/>
              <a:t>FOR</a:t>
            </a:r>
            <a:r>
              <a:rPr sz="2400" spc="70" dirty="0"/>
              <a:t> </a:t>
            </a:r>
            <a:r>
              <a:rPr sz="2400" spc="275" dirty="0"/>
              <a:t>ADDRESSING</a:t>
            </a:r>
            <a:r>
              <a:rPr sz="2400" spc="65" dirty="0"/>
              <a:t> </a:t>
            </a:r>
            <a:r>
              <a:rPr sz="2400" spc="160" dirty="0"/>
              <a:t>ETHICAL</a:t>
            </a:r>
            <a:r>
              <a:rPr sz="2400" spc="55" dirty="0"/>
              <a:t> </a:t>
            </a:r>
            <a:r>
              <a:rPr sz="2400" spc="250" dirty="0"/>
              <a:t>DILEMMAS</a:t>
            </a:r>
            <a:endParaRPr sz="24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98268" y="1600200"/>
            <a:ext cx="7659931" cy="3621505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spc="-10" dirty="0"/>
              <a:t>6-</a:t>
            </a:r>
            <a:fld id="{81D60167-4931-47E6-BA6A-407CBD079E47}" type="slidenum">
              <a:rPr spc="-25" dirty="0"/>
              <a:t>33</a:t>
            </a:fld>
            <a:endParaRPr spc="-25" dirty="0"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Copyright</a:t>
            </a:r>
            <a:r>
              <a:rPr spc="-15" dirty="0"/>
              <a:t> </a:t>
            </a:r>
            <a:r>
              <a:rPr dirty="0"/>
              <a:t>©</a:t>
            </a:r>
            <a:r>
              <a:rPr spc="-15" dirty="0"/>
              <a:t> </a:t>
            </a:r>
            <a:r>
              <a:rPr dirty="0"/>
              <a:t>2016</a:t>
            </a:r>
            <a:r>
              <a:rPr spc="-5" dirty="0"/>
              <a:t> </a:t>
            </a:r>
            <a:r>
              <a:rPr dirty="0"/>
              <a:t>Pearson</a:t>
            </a:r>
            <a:r>
              <a:rPr spc="-10" dirty="0"/>
              <a:t> </a:t>
            </a:r>
            <a:r>
              <a:rPr dirty="0"/>
              <a:t>Education,</a:t>
            </a:r>
            <a:r>
              <a:rPr spc="-15" dirty="0"/>
              <a:t> </a:t>
            </a:r>
            <a:r>
              <a:rPr spc="-20" dirty="0"/>
              <a:t>Ltd.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064510" marR="5080" indent="-2985770">
              <a:lnSpc>
                <a:spcPct val="100699"/>
              </a:lnSpc>
              <a:spcBef>
                <a:spcPts val="90"/>
              </a:spcBef>
            </a:pPr>
            <a:r>
              <a:rPr sz="3400" spc="305" dirty="0"/>
              <a:t>ENCOURAGING</a:t>
            </a:r>
            <a:r>
              <a:rPr sz="3400" spc="95" dirty="0"/>
              <a:t> </a:t>
            </a:r>
            <a:r>
              <a:rPr sz="3400" spc="235" dirty="0"/>
              <a:t>ETHICAL</a:t>
            </a:r>
            <a:r>
              <a:rPr sz="3400" spc="75" dirty="0"/>
              <a:t> </a:t>
            </a:r>
            <a:r>
              <a:rPr sz="3400" spc="280" dirty="0"/>
              <a:t>BEHAVIOR </a:t>
            </a:r>
            <a:r>
              <a:rPr sz="3400" spc="100" dirty="0"/>
              <a:t>(CONT.)</a:t>
            </a:r>
            <a:endParaRPr sz="34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3905" y="1764664"/>
            <a:ext cx="95250" cy="231775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877569" y="1635759"/>
            <a:ext cx="7701280" cy="425831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 marR="5080" indent="138430">
              <a:lnSpc>
                <a:spcPct val="99600"/>
              </a:lnSpc>
              <a:spcBef>
                <a:spcPts val="114"/>
              </a:spcBef>
            </a:pPr>
            <a:r>
              <a:rPr sz="3200" spc="5" dirty="0">
                <a:latin typeface="Arial MT"/>
                <a:cs typeface="Arial MT"/>
              </a:rPr>
              <a:t>Le</a:t>
            </a:r>
            <a:r>
              <a:rPr sz="3200" spc="-5" dirty="0">
                <a:latin typeface="Arial MT"/>
                <a:cs typeface="Arial MT"/>
              </a:rPr>
              <a:t>a</a:t>
            </a:r>
            <a:r>
              <a:rPr sz="3200" spc="5" dirty="0">
                <a:latin typeface="Arial MT"/>
                <a:cs typeface="Arial MT"/>
              </a:rPr>
              <a:t>de</a:t>
            </a:r>
            <a:r>
              <a:rPr sz="3200" dirty="0">
                <a:latin typeface="Arial MT"/>
                <a:cs typeface="Arial MT"/>
              </a:rPr>
              <a:t>r</a:t>
            </a:r>
            <a:r>
              <a:rPr sz="3200" spc="5" dirty="0">
                <a:latin typeface="Arial MT"/>
                <a:cs typeface="Arial MT"/>
              </a:rPr>
              <a:t>s</a:t>
            </a:r>
            <a:r>
              <a:rPr sz="3200" spc="-1075" dirty="0">
                <a:latin typeface="Arial MT"/>
                <a:cs typeface="Arial MT"/>
              </a:rPr>
              <a:t>h</a:t>
            </a:r>
            <a:r>
              <a:rPr sz="3200" spc="-705" dirty="0">
                <a:latin typeface="Arial MT"/>
                <a:cs typeface="Arial MT"/>
              </a:rPr>
              <a:t>–</a:t>
            </a:r>
            <a:r>
              <a:rPr sz="3200" spc="-10" dirty="0">
                <a:latin typeface="Arial MT"/>
                <a:cs typeface="Arial MT"/>
              </a:rPr>
              <a:t>i</a:t>
            </a:r>
            <a:r>
              <a:rPr sz="3200" spc="-850" dirty="0">
                <a:latin typeface="Arial MT"/>
                <a:cs typeface="Arial MT"/>
              </a:rPr>
              <a:t>p</a:t>
            </a:r>
            <a:r>
              <a:rPr sz="3200" spc="15" dirty="0">
                <a:latin typeface="Arial MT"/>
                <a:cs typeface="Arial MT"/>
              </a:rPr>
              <a:t>do</a:t>
            </a:r>
            <a:r>
              <a:rPr sz="3200" spc="-10" dirty="0">
                <a:latin typeface="Arial MT"/>
                <a:cs typeface="Arial MT"/>
              </a:rPr>
              <a:t>i</a:t>
            </a:r>
            <a:r>
              <a:rPr sz="3200" spc="15" dirty="0">
                <a:latin typeface="Arial MT"/>
                <a:cs typeface="Arial MT"/>
              </a:rPr>
              <a:t>n</a:t>
            </a:r>
            <a:r>
              <a:rPr sz="3200" spc="10" dirty="0">
                <a:latin typeface="Arial MT"/>
                <a:cs typeface="Arial MT"/>
              </a:rPr>
              <a:t>g</a:t>
            </a:r>
            <a:r>
              <a:rPr sz="3200" spc="-3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business</a:t>
            </a:r>
            <a:r>
              <a:rPr sz="3200" spc="-30" dirty="0">
                <a:latin typeface="Arial MT"/>
                <a:cs typeface="Arial MT"/>
              </a:rPr>
              <a:t> </a:t>
            </a:r>
            <a:r>
              <a:rPr sz="3200" spc="-10" dirty="0">
                <a:latin typeface="Arial MT"/>
                <a:cs typeface="Arial MT"/>
              </a:rPr>
              <a:t>ethically </a:t>
            </a:r>
            <a:r>
              <a:rPr sz="3200" dirty="0">
                <a:latin typeface="Arial MT"/>
                <a:cs typeface="Arial MT"/>
              </a:rPr>
              <a:t>requires</a:t>
            </a:r>
            <a:r>
              <a:rPr sz="3200" spc="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a</a:t>
            </a:r>
            <a:r>
              <a:rPr sz="3200" spc="1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commitment</a:t>
            </a:r>
            <a:r>
              <a:rPr sz="3200" spc="-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from</a:t>
            </a:r>
            <a:r>
              <a:rPr sz="3200" spc="1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top</a:t>
            </a:r>
            <a:r>
              <a:rPr sz="3200" spc="5" dirty="0">
                <a:latin typeface="Arial MT"/>
                <a:cs typeface="Arial MT"/>
              </a:rPr>
              <a:t> </a:t>
            </a:r>
            <a:r>
              <a:rPr sz="3200" spc="-10" dirty="0">
                <a:latin typeface="Arial MT"/>
                <a:cs typeface="Arial MT"/>
              </a:rPr>
              <a:t>managers because:</a:t>
            </a:r>
            <a:endParaRPr sz="3200">
              <a:latin typeface="Arial MT"/>
              <a:cs typeface="Arial MT"/>
            </a:endParaRPr>
          </a:p>
          <a:p>
            <a:pPr marL="411480" marR="1054735" indent="-284480">
              <a:lnSpc>
                <a:spcPct val="100000"/>
              </a:lnSpc>
              <a:spcBef>
                <a:spcPts val="560"/>
              </a:spcBef>
              <a:buChar char="–"/>
              <a:tabLst>
                <a:tab pos="412750" algn="l"/>
              </a:tabLst>
            </a:pPr>
            <a:r>
              <a:rPr sz="2800" dirty="0">
                <a:latin typeface="Arial MT"/>
                <a:cs typeface="Arial MT"/>
              </a:rPr>
              <a:t>they’re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the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ones</a:t>
            </a:r>
            <a:r>
              <a:rPr sz="2800" spc="-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who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uphold</a:t>
            </a:r>
            <a:r>
              <a:rPr sz="2800" spc="-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the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shared 	</a:t>
            </a:r>
            <a:r>
              <a:rPr sz="2800" dirty="0">
                <a:latin typeface="Arial MT"/>
                <a:cs typeface="Arial MT"/>
              </a:rPr>
              <a:t>values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and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set</a:t>
            </a:r>
            <a:r>
              <a:rPr sz="2800" spc="-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the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cultural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tone.</a:t>
            </a:r>
            <a:endParaRPr sz="2800">
              <a:latin typeface="Arial MT"/>
              <a:cs typeface="Arial MT"/>
            </a:endParaRPr>
          </a:p>
          <a:p>
            <a:pPr marL="411480" marR="674370" indent="-284480">
              <a:lnSpc>
                <a:spcPct val="100000"/>
              </a:lnSpc>
              <a:spcBef>
                <a:spcPts val="560"/>
              </a:spcBef>
              <a:buChar char="–"/>
              <a:tabLst>
                <a:tab pos="412750" algn="l"/>
              </a:tabLst>
            </a:pPr>
            <a:r>
              <a:rPr sz="2800" dirty="0">
                <a:latin typeface="Arial MT"/>
                <a:cs typeface="Arial MT"/>
              </a:rPr>
              <a:t>they’re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role</a:t>
            </a:r>
            <a:r>
              <a:rPr sz="2800" spc="-5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models</a:t>
            </a:r>
            <a:r>
              <a:rPr sz="2800" spc="-5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in</a:t>
            </a:r>
            <a:r>
              <a:rPr sz="2800" spc="-5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terms</a:t>
            </a:r>
            <a:r>
              <a:rPr sz="2800" spc="-4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of</a:t>
            </a:r>
            <a:r>
              <a:rPr sz="2800" spc="-5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both</a:t>
            </a:r>
            <a:r>
              <a:rPr sz="2800" spc="-40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words 	</a:t>
            </a:r>
            <a:r>
              <a:rPr sz="2800" dirty="0">
                <a:latin typeface="Arial MT"/>
                <a:cs typeface="Arial MT"/>
              </a:rPr>
              <a:t>and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actions.</a:t>
            </a:r>
            <a:endParaRPr sz="2800">
              <a:latin typeface="Arial MT"/>
              <a:cs typeface="Arial MT"/>
            </a:endParaRPr>
          </a:p>
          <a:p>
            <a:pPr marL="411480" marR="261620" indent="-284480">
              <a:lnSpc>
                <a:spcPct val="100000"/>
              </a:lnSpc>
              <a:spcBef>
                <a:spcPts val="560"/>
              </a:spcBef>
              <a:buChar char="–"/>
              <a:tabLst>
                <a:tab pos="412750" algn="l"/>
              </a:tabLst>
            </a:pPr>
            <a:r>
              <a:rPr sz="2800" dirty="0">
                <a:latin typeface="Arial MT"/>
                <a:cs typeface="Arial MT"/>
              </a:rPr>
              <a:t>what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they</a:t>
            </a:r>
            <a:r>
              <a:rPr sz="2800" spc="-40" dirty="0">
                <a:latin typeface="Arial MT"/>
                <a:cs typeface="Arial MT"/>
              </a:rPr>
              <a:t> </a:t>
            </a:r>
            <a:r>
              <a:rPr sz="2800" i="1" dirty="0">
                <a:latin typeface="Arial"/>
                <a:cs typeface="Arial"/>
              </a:rPr>
              <a:t>do</a:t>
            </a:r>
            <a:r>
              <a:rPr sz="2800" i="1" spc="-45" dirty="0">
                <a:latin typeface="Arial"/>
                <a:cs typeface="Arial"/>
              </a:rPr>
              <a:t> </a:t>
            </a:r>
            <a:r>
              <a:rPr sz="2800" dirty="0">
                <a:latin typeface="Arial MT"/>
                <a:cs typeface="Arial MT"/>
              </a:rPr>
              <a:t>is</a:t>
            </a:r>
            <a:r>
              <a:rPr sz="2800" spc="-5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far</a:t>
            </a:r>
            <a:r>
              <a:rPr sz="2800" spc="-5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more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important</a:t>
            </a:r>
            <a:r>
              <a:rPr sz="2800" spc="-5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than</a:t>
            </a:r>
            <a:r>
              <a:rPr sz="2800" spc="-50" dirty="0">
                <a:latin typeface="Arial MT"/>
                <a:cs typeface="Arial MT"/>
              </a:rPr>
              <a:t> </a:t>
            </a:r>
            <a:r>
              <a:rPr sz="2800" spc="-20" dirty="0">
                <a:latin typeface="Arial MT"/>
                <a:cs typeface="Arial MT"/>
              </a:rPr>
              <a:t>what 	</a:t>
            </a:r>
            <a:r>
              <a:rPr sz="2800" dirty="0">
                <a:latin typeface="Arial MT"/>
                <a:cs typeface="Arial MT"/>
              </a:rPr>
              <a:t>they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i="1" spc="-20" dirty="0">
                <a:latin typeface="Arial"/>
                <a:cs typeface="Arial"/>
              </a:rPr>
              <a:t>say.</a:t>
            </a:r>
            <a:endParaRPr sz="2800">
              <a:latin typeface="Arial"/>
              <a:cs typeface="Arial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spc="-10" dirty="0"/>
              <a:t>6-</a:t>
            </a:r>
            <a:fld id="{81D60167-4931-47E6-BA6A-407CBD079E47}" type="slidenum">
              <a:rPr spc="-25" dirty="0"/>
              <a:t>34</a:t>
            </a:fld>
            <a:endParaRPr spc="-25" dirty="0"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Copyright</a:t>
            </a:r>
            <a:r>
              <a:rPr spc="-15" dirty="0"/>
              <a:t> </a:t>
            </a:r>
            <a:r>
              <a:rPr dirty="0"/>
              <a:t>©</a:t>
            </a:r>
            <a:r>
              <a:rPr spc="-15" dirty="0"/>
              <a:t> </a:t>
            </a:r>
            <a:r>
              <a:rPr dirty="0"/>
              <a:t>2016</a:t>
            </a:r>
            <a:r>
              <a:rPr spc="-5" dirty="0"/>
              <a:t> </a:t>
            </a:r>
            <a:r>
              <a:rPr dirty="0"/>
              <a:t>Pearson</a:t>
            </a:r>
            <a:r>
              <a:rPr spc="-10" dirty="0"/>
              <a:t> </a:t>
            </a:r>
            <a:r>
              <a:rPr dirty="0"/>
              <a:t>Education,</a:t>
            </a:r>
            <a:r>
              <a:rPr spc="-15" dirty="0"/>
              <a:t> </a:t>
            </a:r>
            <a:r>
              <a:rPr spc="-20" dirty="0"/>
              <a:t>Ltd.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064510" marR="5080" indent="-2985770">
              <a:lnSpc>
                <a:spcPct val="100699"/>
              </a:lnSpc>
              <a:spcBef>
                <a:spcPts val="90"/>
              </a:spcBef>
            </a:pPr>
            <a:r>
              <a:rPr sz="3400" spc="305" dirty="0"/>
              <a:t>ENCOURAGING</a:t>
            </a:r>
            <a:r>
              <a:rPr sz="3400" spc="95" dirty="0"/>
              <a:t> </a:t>
            </a:r>
            <a:r>
              <a:rPr sz="3400" spc="235" dirty="0"/>
              <a:t>ETHICAL</a:t>
            </a:r>
            <a:r>
              <a:rPr sz="3400" spc="75" dirty="0"/>
              <a:t> </a:t>
            </a:r>
            <a:r>
              <a:rPr sz="3400" spc="280" dirty="0"/>
              <a:t>BEHAVIOR </a:t>
            </a:r>
            <a:r>
              <a:rPr sz="3400" spc="100" dirty="0"/>
              <a:t>(CONT.)</a:t>
            </a:r>
            <a:endParaRPr sz="34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3905" y="1764664"/>
            <a:ext cx="95250" cy="231775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991869" y="1558833"/>
            <a:ext cx="7498715" cy="4213860"/>
          </a:xfrm>
          <a:prstGeom prst="rect">
            <a:avLst/>
          </a:prstGeom>
        </p:spPr>
        <p:txBody>
          <a:bodyPr vert="horz" wrap="square" lIns="0" tIns="89535" rIns="0" bIns="0" rtlCol="0">
            <a:spAutoFit/>
          </a:bodyPr>
          <a:lstStyle/>
          <a:p>
            <a:pPr marL="36830">
              <a:lnSpc>
                <a:spcPct val="100000"/>
              </a:lnSpc>
              <a:spcBef>
                <a:spcPts val="705"/>
              </a:spcBef>
            </a:pPr>
            <a:r>
              <a:rPr sz="3200" dirty="0">
                <a:latin typeface="Arial MT"/>
                <a:cs typeface="Arial MT"/>
              </a:rPr>
              <a:t>JobGoals and Performance</a:t>
            </a:r>
            <a:r>
              <a:rPr sz="3200" spc="-90" dirty="0">
                <a:latin typeface="Arial MT"/>
                <a:cs typeface="Arial MT"/>
              </a:rPr>
              <a:t> </a:t>
            </a:r>
            <a:r>
              <a:rPr sz="3200" spc="-10" dirty="0">
                <a:latin typeface="Arial MT"/>
                <a:cs typeface="Arial MT"/>
              </a:rPr>
              <a:t>Appraisal</a:t>
            </a:r>
            <a:endParaRPr sz="3200">
              <a:latin typeface="Arial MT"/>
              <a:cs typeface="Arial MT"/>
            </a:endParaRPr>
          </a:p>
          <a:p>
            <a:pPr marL="297180" marR="73660" indent="-284480">
              <a:lnSpc>
                <a:spcPct val="100000"/>
              </a:lnSpc>
              <a:spcBef>
                <a:spcPts val="530"/>
              </a:spcBef>
              <a:buChar char="–"/>
              <a:tabLst>
                <a:tab pos="298450" algn="l"/>
              </a:tabLst>
            </a:pPr>
            <a:r>
              <a:rPr sz="2800" dirty="0">
                <a:latin typeface="Arial MT"/>
                <a:cs typeface="Arial MT"/>
              </a:rPr>
              <a:t>Unrealistic</a:t>
            </a:r>
            <a:r>
              <a:rPr sz="2800" spc="-8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goals</a:t>
            </a:r>
            <a:r>
              <a:rPr sz="2800" spc="-8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provide</a:t>
            </a:r>
            <a:r>
              <a:rPr sz="2800" spc="-8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stress</a:t>
            </a:r>
            <a:r>
              <a:rPr sz="2800" spc="-8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which</a:t>
            </a:r>
            <a:r>
              <a:rPr sz="2800" spc="-90" dirty="0">
                <a:latin typeface="Arial MT"/>
                <a:cs typeface="Arial MT"/>
              </a:rPr>
              <a:t> </a:t>
            </a:r>
            <a:r>
              <a:rPr sz="2800" spc="-25" dirty="0">
                <a:latin typeface="Arial MT"/>
                <a:cs typeface="Arial MT"/>
              </a:rPr>
              <a:t>may 	</a:t>
            </a:r>
            <a:r>
              <a:rPr sz="2800" dirty="0">
                <a:latin typeface="Arial MT"/>
                <a:cs typeface="Arial MT"/>
              </a:rPr>
              <a:t>pressure</a:t>
            </a:r>
            <a:r>
              <a:rPr sz="2800" spc="-8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ethical</a:t>
            </a:r>
            <a:r>
              <a:rPr sz="2800" spc="-8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employees</a:t>
            </a:r>
            <a:r>
              <a:rPr sz="2800" spc="-8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to</a:t>
            </a:r>
            <a:r>
              <a:rPr sz="2800" spc="-8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do</a:t>
            </a:r>
            <a:r>
              <a:rPr sz="2800" spc="-8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whatever</a:t>
            </a:r>
            <a:r>
              <a:rPr sz="2800" spc="-90" dirty="0">
                <a:latin typeface="Arial MT"/>
                <a:cs typeface="Arial MT"/>
              </a:rPr>
              <a:t> </a:t>
            </a:r>
            <a:r>
              <a:rPr sz="2800" spc="-25" dirty="0">
                <a:latin typeface="Arial MT"/>
                <a:cs typeface="Arial MT"/>
              </a:rPr>
              <a:t>is 	</a:t>
            </a:r>
            <a:r>
              <a:rPr sz="2800" dirty="0">
                <a:latin typeface="Arial MT"/>
                <a:cs typeface="Arial MT"/>
              </a:rPr>
              <a:t>necessary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to</a:t>
            </a:r>
            <a:r>
              <a:rPr sz="2800" spc="-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meet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those</a:t>
            </a:r>
            <a:r>
              <a:rPr sz="2800" spc="-65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goals.</a:t>
            </a:r>
            <a:endParaRPr sz="2800">
              <a:latin typeface="Arial MT"/>
              <a:cs typeface="Arial MT"/>
            </a:endParaRPr>
          </a:p>
          <a:p>
            <a:pPr marL="297180" marR="786765" indent="-284480">
              <a:lnSpc>
                <a:spcPct val="100000"/>
              </a:lnSpc>
              <a:spcBef>
                <a:spcPts val="560"/>
              </a:spcBef>
              <a:buChar char="–"/>
              <a:tabLst>
                <a:tab pos="298450" algn="l"/>
              </a:tabLst>
            </a:pPr>
            <a:r>
              <a:rPr sz="2800" dirty="0">
                <a:latin typeface="Arial MT"/>
                <a:cs typeface="Arial MT"/>
              </a:rPr>
              <a:t>If</a:t>
            </a:r>
            <a:r>
              <a:rPr sz="2800" spc="-7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performance</a:t>
            </a:r>
            <a:r>
              <a:rPr sz="2800" spc="-8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appraisals</a:t>
            </a:r>
            <a:r>
              <a:rPr sz="2800" spc="-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focus</a:t>
            </a:r>
            <a:r>
              <a:rPr sz="2800" spc="-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only</a:t>
            </a:r>
            <a:r>
              <a:rPr sz="2800" spc="-85" dirty="0">
                <a:latin typeface="Arial MT"/>
                <a:cs typeface="Arial MT"/>
              </a:rPr>
              <a:t> </a:t>
            </a:r>
            <a:r>
              <a:rPr sz="2800" spc="-25" dirty="0">
                <a:latin typeface="Arial MT"/>
                <a:cs typeface="Arial MT"/>
              </a:rPr>
              <a:t>on 	</a:t>
            </a:r>
            <a:r>
              <a:rPr sz="2800" dirty="0">
                <a:latin typeface="Arial MT"/>
                <a:cs typeface="Arial MT"/>
              </a:rPr>
              <a:t>economic</a:t>
            </a:r>
            <a:r>
              <a:rPr sz="2800" spc="-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goals,</a:t>
            </a:r>
            <a:r>
              <a:rPr sz="2800" spc="-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ends</a:t>
            </a:r>
            <a:r>
              <a:rPr sz="2800" spc="-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will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begin</a:t>
            </a:r>
            <a:r>
              <a:rPr sz="2800" spc="-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to</a:t>
            </a:r>
            <a:r>
              <a:rPr sz="2800" spc="-65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justify 	means.</a:t>
            </a:r>
            <a:endParaRPr sz="2800">
              <a:latin typeface="Arial MT"/>
              <a:cs typeface="Arial MT"/>
            </a:endParaRPr>
          </a:p>
          <a:p>
            <a:pPr marL="297180" indent="-284480">
              <a:lnSpc>
                <a:spcPct val="100000"/>
              </a:lnSpc>
              <a:spcBef>
                <a:spcPts val="560"/>
              </a:spcBef>
              <a:buChar char="–"/>
              <a:tabLst>
                <a:tab pos="297180" algn="l"/>
              </a:tabLst>
            </a:pPr>
            <a:r>
              <a:rPr sz="2800" spc="-110" dirty="0">
                <a:latin typeface="Arial MT"/>
                <a:cs typeface="Arial MT"/>
              </a:rPr>
              <a:t>To</a:t>
            </a:r>
            <a:r>
              <a:rPr sz="2800" spc="-15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encourage</a:t>
            </a:r>
            <a:r>
              <a:rPr sz="2800" spc="-114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ethical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spc="-20" dirty="0">
                <a:latin typeface="Arial MT"/>
                <a:cs typeface="Arial MT"/>
              </a:rPr>
              <a:t>behavior,</a:t>
            </a:r>
            <a:r>
              <a:rPr sz="2800" spc="-13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both</a:t>
            </a:r>
            <a:r>
              <a:rPr sz="2800" spc="-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ends</a:t>
            </a:r>
            <a:r>
              <a:rPr sz="2800" spc="20" dirty="0">
                <a:latin typeface="Arial MT"/>
                <a:cs typeface="Arial MT"/>
              </a:rPr>
              <a:t> </a:t>
            </a:r>
            <a:r>
              <a:rPr sz="2800" i="1" spc="-25" dirty="0">
                <a:latin typeface="Arial"/>
                <a:cs typeface="Arial"/>
              </a:rPr>
              <a:t>and</a:t>
            </a:r>
            <a:endParaRPr sz="2800">
              <a:latin typeface="Arial"/>
              <a:cs typeface="Arial"/>
            </a:endParaRPr>
          </a:p>
          <a:p>
            <a:pPr marL="298450">
              <a:lnSpc>
                <a:spcPct val="100000"/>
              </a:lnSpc>
            </a:pPr>
            <a:r>
              <a:rPr sz="2800" dirty="0">
                <a:latin typeface="Arial MT"/>
                <a:cs typeface="Arial MT"/>
              </a:rPr>
              <a:t>means</a:t>
            </a:r>
            <a:r>
              <a:rPr sz="2800" spc="-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should</a:t>
            </a:r>
            <a:r>
              <a:rPr sz="2800" spc="-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be</a:t>
            </a:r>
            <a:r>
              <a:rPr sz="2800" spc="-65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evaluated.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spc="-10" dirty="0"/>
              <a:t>6-</a:t>
            </a:r>
            <a:fld id="{81D60167-4931-47E6-BA6A-407CBD079E47}" type="slidenum">
              <a:rPr spc="-25" dirty="0"/>
              <a:t>35</a:t>
            </a:fld>
            <a:endParaRPr spc="-25" dirty="0"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Copyright</a:t>
            </a:r>
            <a:r>
              <a:rPr spc="-15" dirty="0"/>
              <a:t> </a:t>
            </a:r>
            <a:r>
              <a:rPr dirty="0"/>
              <a:t>©</a:t>
            </a:r>
            <a:r>
              <a:rPr spc="-15" dirty="0"/>
              <a:t> </a:t>
            </a:r>
            <a:r>
              <a:rPr dirty="0"/>
              <a:t>2016</a:t>
            </a:r>
            <a:r>
              <a:rPr spc="-5" dirty="0"/>
              <a:t> </a:t>
            </a:r>
            <a:r>
              <a:rPr dirty="0"/>
              <a:t>Pearson</a:t>
            </a:r>
            <a:r>
              <a:rPr spc="-10" dirty="0"/>
              <a:t> </a:t>
            </a:r>
            <a:r>
              <a:rPr dirty="0"/>
              <a:t>Education,</a:t>
            </a:r>
            <a:r>
              <a:rPr spc="-15" dirty="0"/>
              <a:t> </a:t>
            </a:r>
            <a:r>
              <a:rPr spc="-20" dirty="0"/>
              <a:t>Ltd.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064510" marR="5080" indent="-2985770">
              <a:lnSpc>
                <a:spcPct val="100699"/>
              </a:lnSpc>
              <a:spcBef>
                <a:spcPts val="90"/>
              </a:spcBef>
            </a:pPr>
            <a:r>
              <a:rPr sz="3400" spc="305" dirty="0"/>
              <a:t>ENCOURAGING</a:t>
            </a:r>
            <a:r>
              <a:rPr sz="3400" spc="95" dirty="0"/>
              <a:t> </a:t>
            </a:r>
            <a:r>
              <a:rPr sz="3400" spc="235" dirty="0"/>
              <a:t>ETHICAL</a:t>
            </a:r>
            <a:r>
              <a:rPr sz="3400" spc="75" dirty="0"/>
              <a:t> </a:t>
            </a:r>
            <a:r>
              <a:rPr sz="3400" spc="280" dirty="0"/>
              <a:t>BEHAVIOR </a:t>
            </a:r>
            <a:r>
              <a:rPr sz="3400" spc="100" dirty="0"/>
              <a:t>(CONT.)</a:t>
            </a:r>
            <a:endParaRPr sz="340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spc="-10" dirty="0"/>
              <a:t>6-</a:t>
            </a:r>
            <a:fld id="{81D60167-4931-47E6-BA6A-407CBD079E47}" type="slidenum">
              <a:rPr spc="-25" dirty="0"/>
              <a:t>36</a:t>
            </a:fld>
            <a:endParaRPr spc="-25" dirty="0"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Copyright</a:t>
            </a:r>
            <a:r>
              <a:rPr spc="-15" dirty="0"/>
              <a:t> </a:t>
            </a:r>
            <a:r>
              <a:rPr dirty="0"/>
              <a:t>©</a:t>
            </a:r>
            <a:r>
              <a:rPr spc="-15" dirty="0"/>
              <a:t> </a:t>
            </a:r>
            <a:r>
              <a:rPr dirty="0"/>
              <a:t>2016</a:t>
            </a:r>
            <a:r>
              <a:rPr spc="-5" dirty="0"/>
              <a:t> </a:t>
            </a:r>
            <a:r>
              <a:rPr dirty="0"/>
              <a:t>Pearson</a:t>
            </a:r>
            <a:r>
              <a:rPr spc="-10" dirty="0"/>
              <a:t> </a:t>
            </a:r>
            <a:r>
              <a:rPr dirty="0"/>
              <a:t>Education,</a:t>
            </a:r>
            <a:r>
              <a:rPr spc="-15" dirty="0"/>
              <a:t> </a:t>
            </a:r>
            <a:r>
              <a:rPr spc="-20" dirty="0"/>
              <a:t>Ltd.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73100" y="2875279"/>
            <a:ext cx="120650" cy="3517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150" spc="-50" dirty="0">
                <a:solidFill>
                  <a:srgbClr val="FF1C1C"/>
                </a:solidFill>
                <a:latin typeface="Arial MT"/>
                <a:cs typeface="Arial MT"/>
              </a:rPr>
              <a:t>•</a:t>
            </a:r>
            <a:endParaRPr sz="215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73100" y="4099559"/>
            <a:ext cx="120650" cy="3517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150" spc="-50" dirty="0">
                <a:solidFill>
                  <a:srgbClr val="FF1C1C"/>
                </a:solidFill>
                <a:latin typeface="Arial MT"/>
                <a:cs typeface="Arial MT"/>
              </a:rPr>
              <a:t>•</a:t>
            </a:r>
            <a:endParaRPr sz="215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73100" y="1634489"/>
            <a:ext cx="7769225" cy="3636010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373380" marR="140335" indent="-360680">
              <a:lnSpc>
                <a:spcPct val="101499"/>
              </a:lnSpc>
              <a:spcBef>
                <a:spcPts val="85"/>
              </a:spcBef>
              <a:buClr>
                <a:srgbClr val="FF1C1C"/>
              </a:buClr>
              <a:buSzPct val="86000"/>
              <a:buChar char="•"/>
              <a:tabLst>
                <a:tab pos="373380" algn="l"/>
              </a:tabLst>
            </a:pPr>
            <a:r>
              <a:rPr sz="2500" dirty="0">
                <a:latin typeface="Arial MT"/>
                <a:cs typeface="Arial MT"/>
              </a:rPr>
              <a:t>Ethics</a:t>
            </a:r>
            <a:r>
              <a:rPr sz="2500" spc="45" dirty="0">
                <a:latin typeface="Arial MT"/>
                <a:cs typeface="Arial MT"/>
              </a:rPr>
              <a:t> </a:t>
            </a:r>
            <a:r>
              <a:rPr sz="2500" dirty="0">
                <a:latin typeface="Arial MT"/>
                <a:cs typeface="Arial MT"/>
              </a:rPr>
              <a:t>Training</a:t>
            </a:r>
            <a:r>
              <a:rPr sz="2500" spc="80" dirty="0">
                <a:latin typeface="Arial MT"/>
                <a:cs typeface="Arial MT"/>
              </a:rPr>
              <a:t> </a:t>
            </a:r>
            <a:r>
              <a:rPr sz="2500" dirty="0">
                <a:latin typeface="Arial MT"/>
                <a:cs typeface="Arial MT"/>
              </a:rPr>
              <a:t>–</a:t>
            </a:r>
            <a:r>
              <a:rPr sz="2500" spc="85" dirty="0">
                <a:latin typeface="Arial MT"/>
                <a:cs typeface="Arial MT"/>
              </a:rPr>
              <a:t> </a:t>
            </a:r>
            <a:r>
              <a:rPr sz="2500" dirty="0">
                <a:latin typeface="Arial MT"/>
                <a:cs typeface="Arial MT"/>
              </a:rPr>
              <a:t>seminars,</a:t>
            </a:r>
            <a:r>
              <a:rPr sz="2500" spc="70" dirty="0">
                <a:latin typeface="Arial MT"/>
                <a:cs typeface="Arial MT"/>
              </a:rPr>
              <a:t> </a:t>
            </a:r>
            <a:r>
              <a:rPr sz="2500" dirty="0">
                <a:latin typeface="Arial MT"/>
                <a:cs typeface="Arial MT"/>
              </a:rPr>
              <a:t>workshops,</a:t>
            </a:r>
            <a:r>
              <a:rPr sz="2500" spc="80" dirty="0">
                <a:latin typeface="Arial MT"/>
                <a:cs typeface="Arial MT"/>
              </a:rPr>
              <a:t> </a:t>
            </a:r>
            <a:r>
              <a:rPr sz="2500" dirty="0">
                <a:latin typeface="Arial MT"/>
                <a:cs typeface="Arial MT"/>
              </a:rPr>
              <a:t>and</a:t>
            </a:r>
            <a:r>
              <a:rPr sz="2500" spc="85" dirty="0">
                <a:latin typeface="Arial MT"/>
                <a:cs typeface="Arial MT"/>
              </a:rPr>
              <a:t> </a:t>
            </a:r>
            <a:r>
              <a:rPr sz="2500" spc="-10" dirty="0">
                <a:latin typeface="Arial MT"/>
                <a:cs typeface="Arial MT"/>
              </a:rPr>
              <a:t>similar </a:t>
            </a:r>
            <a:r>
              <a:rPr sz="2500" dirty="0">
                <a:latin typeface="Arial MT"/>
                <a:cs typeface="Arial MT"/>
              </a:rPr>
              <a:t>ethics</a:t>
            </a:r>
            <a:r>
              <a:rPr sz="2500" spc="90" dirty="0">
                <a:latin typeface="Arial MT"/>
                <a:cs typeface="Arial MT"/>
              </a:rPr>
              <a:t> </a:t>
            </a:r>
            <a:r>
              <a:rPr sz="2500" dirty="0">
                <a:latin typeface="Arial MT"/>
                <a:cs typeface="Arial MT"/>
              </a:rPr>
              <a:t>training</a:t>
            </a:r>
            <a:r>
              <a:rPr sz="2500" spc="90" dirty="0">
                <a:latin typeface="Arial MT"/>
                <a:cs typeface="Arial MT"/>
              </a:rPr>
              <a:t> </a:t>
            </a:r>
            <a:r>
              <a:rPr sz="2500" dirty="0">
                <a:latin typeface="Arial MT"/>
                <a:cs typeface="Arial MT"/>
              </a:rPr>
              <a:t>programs</a:t>
            </a:r>
            <a:r>
              <a:rPr sz="2500" spc="90" dirty="0">
                <a:latin typeface="Arial MT"/>
                <a:cs typeface="Arial MT"/>
              </a:rPr>
              <a:t> </a:t>
            </a:r>
            <a:r>
              <a:rPr sz="2500" dirty="0">
                <a:latin typeface="Arial MT"/>
                <a:cs typeface="Arial MT"/>
              </a:rPr>
              <a:t>to</a:t>
            </a:r>
            <a:r>
              <a:rPr sz="2500" spc="95" dirty="0">
                <a:latin typeface="Arial MT"/>
                <a:cs typeface="Arial MT"/>
              </a:rPr>
              <a:t> </a:t>
            </a:r>
            <a:r>
              <a:rPr sz="2500" dirty="0">
                <a:latin typeface="Arial MT"/>
                <a:cs typeface="Arial MT"/>
              </a:rPr>
              <a:t>encourage</a:t>
            </a:r>
            <a:r>
              <a:rPr sz="2500" spc="100" dirty="0">
                <a:latin typeface="Arial MT"/>
                <a:cs typeface="Arial MT"/>
              </a:rPr>
              <a:t> </a:t>
            </a:r>
            <a:r>
              <a:rPr sz="2500" spc="-10" dirty="0">
                <a:latin typeface="Arial MT"/>
                <a:cs typeface="Arial MT"/>
              </a:rPr>
              <a:t>ethical behavior.</a:t>
            </a:r>
            <a:endParaRPr sz="2500">
              <a:latin typeface="Arial MT"/>
              <a:cs typeface="Arial MT"/>
            </a:endParaRPr>
          </a:p>
          <a:p>
            <a:pPr marL="373380" marR="19050">
              <a:lnSpc>
                <a:spcPct val="101499"/>
              </a:lnSpc>
              <a:spcBef>
                <a:spcPts val="515"/>
              </a:spcBef>
            </a:pPr>
            <a:r>
              <a:rPr sz="2500" dirty="0">
                <a:latin typeface="Arial MT"/>
                <a:cs typeface="Arial MT"/>
              </a:rPr>
              <a:t>Independent</a:t>
            </a:r>
            <a:r>
              <a:rPr sz="2500" spc="80" dirty="0">
                <a:latin typeface="Arial MT"/>
                <a:cs typeface="Arial MT"/>
              </a:rPr>
              <a:t> </a:t>
            </a:r>
            <a:r>
              <a:rPr sz="2500" dirty="0">
                <a:latin typeface="Arial MT"/>
                <a:cs typeface="Arial MT"/>
              </a:rPr>
              <a:t>Social</a:t>
            </a:r>
            <a:r>
              <a:rPr sz="2500" spc="5" dirty="0">
                <a:latin typeface="Arial MT"/>
                <a:cs typeface="Arial MT"/>
              </a:rPr>
              <a:t> </a:t>
            </a:r>
            <a:r>
              <a:rPr sz="2500" dirty="0">
                <a:latin typeface="Arial MT"/>
                <a:cs typeface="Arial MT"/>
              </a:rPr>
              <a:t>Audits</a:t>
            </a:r>
            <a:r>
              <a:rPr sz="2500" spc="95" dirty="0">
                <a:latin typeface="Arial MT"/>
                <a:cs typeface="Arial MT"/>
              </a:rPr>
              <a:t> </a:t>
            </a:r>
            <a:r>
              <a:rPr sz="2500" dirty="0">
                <a:latin typeface="Arial MT"/>
                <a:cs typeface="Arial MT"/>
              </a:rPr>
              <a:t>–</a:t>
            </a:r>
            <a:r>
              <a:rPr sz="2500" spc="85" dirty="0">
                <a:latin typeface="Arial MT"/>
                <a:cs typeface="Arial MT"/>
              </a:rPr>
              <a:t> </a:t>
            </a:r>
            <a:r>
              <a:rPr sz="2500" dirty="0">
                <a:latin typeface="Arial MT"/>
                <a:cs typeface="Arial MT"/>
              </a:rPr>
              <a:t>evaluate</a:t>
            </a:r>
            <a:r>
              <a:rPr sz="2500" spc="80" dirty="0">
                <a:latin typeface="Arial MT"/>
                <a:cs typeface="Arial MT"/>
              </a:rPr>
              <a:t> </a:t>
            </a:r>
            <a:r>
              <a:rPr sz="2500" dirty="0">
                <a:latin typeface="Arial MT"/>
                <a:cs typeface="Arial MT"/>
              </a:rPr>
              <a:t>decisions</a:t>
            </a:r>
            <a:r>
              <a:rPr sz="2500" spc="100" dirty="0">
                <a:latin typeface="Arial MT"/>
                <a:cs typeface="Arial MT"/>
              </a:rPr>
              <a:t> </a:t>
            </a:r>
            <a:r>
              <a:rPr sz="2500" spc="-25" dirty="0">
                <a:latin typeface="Arial MT"/>
                <a:cs typeface="Arial MT"/>
              </a:rPr>
              <a:t>and </a:t>
            </a:r>
            <a:r>
              <a:rPr sz="2500" dirty="0">
                <a:latin typeface="Arial MT"/>
                <a:cs typeface="Arial MT"/>
              </a:rPr>
              <a:t>management</a:t>
            </a:r>
            <a:r>
              <a:rPr sz="2500" spc="80" dirty="0">
                <a:latin typeface="Arial MT"/>
                <a:cs typeface="Arial MT"/>
              </a:rPr>
              <a:t> </a:t>
            </a:r>
            <a:r>
              <a:rPr sz="2500" dirty="0">
                <a:latin typeface="Arial MT"/>
                <a:cs typeface="Arial MT"/>
              </a:rPr>
              <a:t>practices</a:t>
            </a:r>
            <a:r>
              <a:rPr sz="2500" spc="95" dirty="0">
                <a:latin typeface="Arial MT"/>
                <a:cs typeface="Arial MT"/>
              </a:rPr>
              <a:t> </a:t>
            </a:r>
            <a:r>
              <a:rPr sz="2500" dirty="0">
                <a:latin typeface="Arial MT"/>
                <a:cs typeface="Arial MT"/>
              </a:rPr>
              <a:t>in</a:t>
            </a:r>
            <a:r>
              <a:rPr sz="2500" spc="80" dirty="0">
                <a:latin typeface="Arial MT"/>
                <a:cs typeface="Arial MT"/>
              </a:rPr>
              <a:t> </a:t>
            </a:r>
            <a:r>
              <a:rPr sz="2500" dirty="0">
                <a:latin typeface="Arial MT"/>
                <a:cs typeface="Arial MT"/>
              </a:rPr>
              <a:t>terms</a:t>
            </a:r>
            <a:r>
              <a:rPr sz="2500" spc="85" dirty="0">
                <a:latin typeface="Arial MT"/>
                <a:cs typeface="Arial MT"/>
              </a:rPr>
              <a:t> </a:t>
            </a:r>
            <a:r>
              <a:rPr sz="2500" dirty="0">
                <a:latin typeface="Arial MT"/>
                <a:cs typeface="Arial MT"/>
              </a:rPr>
              <a:t>of</a:t>
            </a:r>
            <a:r>
              <a:rPr sz="2500" spc="85" dirty="0">
                <a:latin typeface="Arial MT"/>
                <a:cs typeface="Arial MT"/>
              </a:rPr>
              <a:t> </a:t>
            </a:r>
            <a:r>
              <a:rPr sz="2500" spc="-25" dirty="0">
                <a:latin typeface="Arial MT"/>
                <a:cs typeface="Arial MT"/>
              </a:rPr>
              <a:t>the </a:t>
            </a:r>
            <a:r>
              <a:rPr sz="2500" dirty="0">
                <a:latin typeface="Arial MT"/>
                <a:cs typeface="Arial MT"/>
              </a:rPr>
              <a:t>organization’s</a:t>
            </a:r>
            <a:r>
              <a:rPr sz="2500" spc="65" dirty="0">
                <a:latin typeface="Arial MT"/>
                <a:cs typeface="Arial MT"/>
              </a:rPr>
              <a:t> </a:t>
            </a:r>
            <a:r>
              <a:rPr sz="2500" dirty="0">
                <a:latin typeface="Arial MT"/>
                <a:cs typeface="Arial MT"/>
              </a:rPr>
              <a:t>code</a:t>
            </a:r>
            <a:r>
              <a:rPr sz="2500" spc="95" dirty="0">
                <a:latin typeface="Arial MT"/>
                <a:cs typeface="Arial MT"/>
              </a:rPr>
              <a:t> </a:t>
            </a:r>
            <a:r>
              <a:rPr sz="2500" dirty="0">
                <a:latin typeface="Arial MT"/>
                <a:cs typeface="Arial MT"/>
              </a:rPr>
              <a:t>of</a:t>
            </a:r>
            <a:r>
              <a:rPr sz="2500" spc="80" dirty="0">
                <a:latin typeface="Arial MT"/>
                <a:cs typeface="Arial MT"/>
              </a:rPr>
              <a:t> </a:t>
            </a:r>
            <a:r>
              <a:rPr sz="2500" spc="-10" dirty="0">
                <a:latin typeface="Arial MT"/>
                <a:cs typeface="Arial MT"/>
              </a:rPr>
              <a:t>ethics.</a:t>
            </a:r>
            <a:endParaRPr sz="2500">
              <a:latin typeface="Arial MT"/>
              <a:cs typeface="Arial MT"/>
            </a:endParaRPr>
          </a:p>
          <a:p>
            <a:pPr marL="373380" marR="5080">
              <a:lnSpc>
                <a:spcPct val="101699"/>
              </a:lnSpc>
              <a:spcBef>
                <a:spcPts val="500"/>
              </a:spcBef>
            </a:pPr>
            <a:r>
              <a:rPr sz="2500" dirty="0">
                <a:latin typeface="Arial MT"/>
                <a:cs typeface="Arial MT"/>
              </a:rPr>
              <a:t>Protective</a:t>
            </a:r>
            <a:r>
              <a:rPr sz="2500" spc="110" dirty="0">
                <a:latin typeface="Arial MT"/>
                <a:cs typeface="Arial MT"/>
              </a:rPr>
              <a:t> </a:t>
            </a:r>
            <a:r>
              <a:rPr sz="2500" dirty="0">
                <a:latin typeface="Arial MT"/>
                <a:cs typeface="Arial MT"/>
              </a:rPr>
              <a:t>Mechanisms</a:t>
            </a:r>
            <a:r>
              <a:rPr sz="2500" spc="95" dirty="0">
                <a:latin typeface="Arial MT"/>
                <a:cs typeface="Arial MT"/>
              </a:rPr>
              <a:t> </a:t>
            </a:r>
            <a:r>
              <a:rPr sz="2500" dirty="0">
                <a:latin typeface="Arial MT"/>
                <a:cs typeface="Arial MT"/>
              </a:rPr>
              <a:t>–</a:t>
            </a:r>
            <a:r>
              <a:rPr sz="2500" spc="110" dirty="0">
                <a:latin typeface="Arial MT"/>
                <a:cs typeface="Arial MT"/>
              </a:rPr>
              <a:t> </a:t>
            </a:r>
            <a:r>
              <a:rPr sz="2500" dirty="0">
                <a:latin typeface="Arial MT"/>
                <a:cs typeface="Arial MT"/>
              </a:rPr>
              <a:t>allow</a:t>
            </a:r>
            <a:r>
              <a:rPr sz="2500" spc="105" dirty="0">
                <a:latin typeface="Arial MT"/>
                <a:cs typeface="Arial MT"/>
              </a:rPr>
              <a:t> </a:t>
            </a:r>
            <a:r>
              <a:rPr sz="2500" dirty="0">
                <a:latin typeface="Arial MT"/>
                <a:cs typeface="Arial MT"/>
              </a:rPr>
              <a:t>employees</a:t>
            </a:r>
            <a:r>
              <a:rPr sz="2500" spc="105" dirty="0">
                <a:latin typeface="Arial MT"/>
                <a:cs typeface="Arial MT"/>
              </a:rPr>
              <a:t> </a:t>
            </a:r>
            <a:r>
              <a:rPr sz="2500" spc="-25" dirty="0">
                <a:latin typeface="Arial MT"/>
                <a:cs typeface="Arial MT"/>
              </a:rPr>
              <a:t>who</a:t>
            </a:r>
            <a:r>
              <a:rPr sz="2500" spc="625" dirty="0">
                <a:latin typeface="Arial MT"/>
                <a:cs typeface="Arial MT"/>
              </a:rPr>
              <a:t> </a:t>
            </a:r>
            <a:r>
              <a:rPr sz="2500" dirty="0">
                <a:latin typeface="Arial MT"/>
                <a:cs typeface="Arial MT"/>
              </a:rPr>
              <a:t>face</a:t>
            </a:r>
            <a:r>
              <a:rPr sz="2500" spc="70" dirty="0">
                <a:latin typeface="Arial MT"/>
                <a:cs typeface="Arial MT"/>
              </a:rPr>
              <a:t> </a:t>
            </a:r>
            <a:r>
              <a:rPr sz="2500" dirty="0">
                <a:latin typeface="Arial MT"/>
                <a:cs typeface="Arial MT"/>
              </a:rPr>
              <a:t>ethical</a:t>
            </a:r>
            <a:r>
              <a:rPr sz="2500" spc="70" dirty="0">
                <a:latin typeface="Arial MT"/>
                <a:cs typeface="Arial MT"/>
              </a:rPr>
              <a:t> </a:t>
            </a:r>
            <a:r>
              <a:rPr sz="2500" dirty="0">
                <a:latin typeface="Arial MT"/>
                <a:cs typeface="Arial MT"/>
              </a:rPr>
              <a:t>dilemmas</a:t>
            </a:r>
            <a:r>
              <a:rPr sz="2500" spc="70" dirty="0">
                <a:latin typeface="Arial MT"/>
                <a:cs typeface="Arial MT"/>
              </a:rPr>
              <a:t> </a:t>
            </a:r>
            <a:r>
              <a:rPr sz="2500" dirty="0">
                <a:latin typeface="Arial MT"/>
                <a:cs typeface="Arial MT"/>
              </a:rPr>
              <a:t>to</a:t>
            </a:r>
            <a:r>
              <a:rPr sz="2500" spc="70" dirty="0">
                <a:latin typeface="Arial MT"/>
                <a:cs typeface="Arial MT"/>
              </a:rPr>
              <a:t> </a:t>
            </a:r>
            <a:r>
              <a:rPr sz="2500" dirty="0">
                <a:latin typeface="Arial MT"/>
                <a:cs typeface="Arial MT"/>
              </a:rPr>
              <a:t>do</a:t>
            </a:r>
            <a:r>
              <a:rPr sz="2500" spc="70" dirty="0">
                <a:latin typeface="Arial MT"/>
                <a:cs typeface="Arial MT"/>
              </a:rPr>
              <a:t> </a:t>
            </a:r>
            <a:r>
              <a:rPr sz="2500" dirty="0">
                <a:latin typeface="Arial MT"/>
                <a:cs typeface="Arial MT"/>
              </a:rPr>
              <a:t>what’s</a:t>
            </a:r>
            <a:r>
              <a:rPr sz="2500" spc="50" dirty="0">
                <a:latin typeface="Arial MT"/>
                <a:cs typeface="Arial MT"/>
              </a:rPr>
              <a:t> </a:t>
            </a:r>
            <a:r>
              <a:rPr sz="2500" dirty="0">
                <a:latin typeface="Arial MT"/>
                <a:cs typeface="Arial MT"/>
              </a:rPr>
              <a:t>right</a:t>
            </a:r>
            <a:r>
              <a:rPr sz="2500" spc="70" dirty="0">
                <a:latin typeface="Arial MT"/>
                <a:cs typeface="Arial MT"/>
              </a:rPr>
              <a:t> </a:t>
            </a:r>
            <a:r>
              <a:rPr sz="2500" dirty="0">
                <a:latin typeface="Arial MT"/>
                <a:cs typeface="Arial MT"/>
              </a:rPr>
              <a:t>without</a:t>
            </a:r>
            <a:r>
              <a:rPr sz="2500" spc="70" dirty="0">
                <a:latin typeface="Arial MT"/>
                <a:cs typeface="Arial MT"/>
              </a:rPr>
              <a:t> </a:t>
            </a:r>
            <a:r>
              <a:rPr sz="2500" spc="-20" dirty="0">
                <a:latin typeface="Arial MT"/>
                <a:cs typeface="Arial MT"/>
              </a:rPr>
              <a:t>fear </a:t>
            </a:r>
            <a:r>
              <a:rPr sz="2500" dirty="0">
                <a:latin typeface="Arial MT"/>
                <a:cs typeface="Arial MT"/>
              </a:rPr>
              <a:t>of</a:t>
            </a:r>
            <a:r>
              <a:rPr sz="2500" spc="25" dirty="0">
                <a:latin typeface="Arial MT"/>
                <a:cs typeface="Arial MT"/>
              </a:rPr>
              <a:t> </a:t>
            </a:r>
            <a:r>
              <a:rPr sz="2500" spc="-10" dirty="0">
                <a:latin typeface="Arial MT"/>
                <a:cs typeface="Arial MT"/>
              </a:rPr>
              <a:t>reprimand.</a:t>
            </a:r>
            <a:endParaRPr sz="25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95885" marR="5080" indent="656590">
              <a:lnSpc>
                <a:spcPct val="101200"/>
              </a:lnSpc>
              <a:spcBef>
                <a:spcPts val="80"/>
              </a:spcBef>
            </a:pPr>
            <a:r>
              <a:rPr sz="3350" spc="310" dirty="0"/>
              <a:t>SOCIAL</a:t>
            </a:r>
            <a:r>
              <a:rPr sz="3350" spc="114" dirty="0"/>
              <a:t> </a:t>
            </a:r>
            <a:r>
              <a:rPr sz="3350" spc="265" dirty="0"/>
              <a:t>RESPONSIBILITY</a:t>
            </a:r>
            <a:r>
              <a:rPr sz="3350" spc="110" dirty="0"/>
              <a:t> </a:t>
            </a:r>
            <a:r>
              <a:rPr sz="3350" spc="395" dirty="0"/>
              <a:t>AND </a:t>
            </a:r>
            <a:r>
              <a:rPr sz="3350" spc="290" dirty="0"/>
              <a:t>ETHICS</a:t>
            </a:r>
            <a:r>
              <a:rPr sz="3350" spc="80" dirty="0"/>
              <a:t> </a:t>
            </a:r>
            <a:r>
              <a:rPr sz="3350" spc="380" dirty="0"/>
              <a:t>ISSUES</a:t>
            </a:r>
            <a:r>
              <a:rPr sz="3350" spc="80" dirty="0"/>
              <a:t> </a:t>
            </a:r>
            <a:r>
              <a:rPr sz="3350" spc="220" dirty="0"/>
              <a:t>IN</a:t>
            </a:r>
            <a:r>
              <a:rPr sz="3350" spc="80" dirty="0"/>
              <a:t> </a:t>
            </a:r>
            <a:r>
              <a:rPr sz="3350" spc="225" dirty="0"/>
              <a:t>TODAY’S</a:t>
            </a:r>
            <a:r>
              <a:rPr sz="3350" spc="80" dirty="0"/>
              <a:t> </a:t>
            </a:r>
            <a:r>
              <a:rPr sz="3350" spc="385" dirty="0"/>
              <a:t>WORLD</a:t>
            </a:r>
            <a:endParaRPr sz="335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3905" y="1764664"/>
            <a:ext cx="95250" cy="231775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31750" rIns="0" bIns="0" rtlCol="0">
            <a:spAutoFit/>
          </a:bodyPr>
          <a:lstStyle/>
          <a:p>
            <a:pPr marL="12700" marR="807085" indent="367030">
              <a:lnSpc>
                <a:spcPts val="3810"/>
              </a:lnSpc>
              <a:spcBef>
                <a:spcPts val="250"/>
              </a:spcBef>
            </a:pPr>
            <a:r>
              <a:rPr sz="3200" dirty="0">
                <a:latin typeface="Arial MT"/>
                <a:cs typeface="Arial MT"/>
              </a:rPr>
              <a:t>Managing</a:t>
            </a:r>
            <a:r>
              <a:rPr sz="3200" spc="-14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Ethical Lapses</a:t>
            </a:r>
            <a:r>
              <a:rPr sz="3200" spc="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and</a:t>
            </a:r>
            <a:r>
              <a:rPr sz="3200" spc="5" dirty="0">
                <a:latin typeface="Arial MT"/>
                <a:cs typeface="Arial MT"/>
              </a:rPr>
              <a:t> </a:t>
            </a:r>
            <a:r>
              <a:rPr sz="3200" spc="-10" dirty="0">
                <a:latin typeface="Arial MT"/>
                <a:cs typeface="Arial MT"/>
              </a:rPr>
              <a:t>Social Irresponsibility</a:t>
            </a:r>
            <a:endParaRPr sz="3200">
              <a:latin typeface="Arial MT"/>
              <a:cs typeface="Arial MT"/>
            </a:endParaRPr>
          </a:p>
          <a:p>
            <a:pPr marL="410845" marR="5080" indent="-284480" algn="just">
              <a:lnSpc>
                <a:spcPct val="100000"/>
              </a:lnSpc>
              <a:spcBef>
                <a:spcPts val="360"/>
              </a:spcBef>
              <a:buChar char="–"/>
              <a:tabLst>
                <a:tab pos="412115" algn="l"/>
              </a:tabLst>
            </a:pPr>
            <a:r>
              <a:rPr sz="2400" dirty="0">
                <a:latin typeface="Arial MT"/>
                <a:cs typeface="Arial MT"/>
              </a:rPr>
              <a:t>One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survey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reported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that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among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5,000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employees: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45 	</a:t>
            </a:r>
            <a:r>
              <a:rPr sz="2400" dirty="0">
                <a:latin typeface="Arial MT"/>
                <a:cs typeface="Arial MT"/>
              </a:rPr>
              <a:t>percent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admitted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falling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asleep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at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work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22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percent 	</a:t>
            </a:r>
            <a:r>
              <a:rPr sz="2400" dirty="0">
                <a:latin typeface="Arial MT"/>
                <a:cs typeface="Arial MT"/>
              </a:rPr>
              <a:t>said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they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spread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rumor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about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coworker.</a:t>
            </a:r>
            <a:endParaRPr sz="2400">
              <a:latin typeface="Arial MT"/>
              <a:cs typeface="Arial MT"/>
            </a:endParaRPr>
          </a:p>
          <a:p>
            <a:pPr marL="410845" marR="950594" indent="-284480" algn="just">
              <a:lnSpc>
                <a:spcPct val="100000"/>
              </a:lnSpc>
              <a:spcBef>
                <a:spcPts val="480"/>
              </a:spcBef>
              <a:buChar char="–"/>
              <a:tabLst>
                <a:tab pos="412115" algn="l"/>
              </a:tabLst>
            </a:pPr>
            <a:r>
              <a:rPr sz="2400" dirty="0">
                <a:latin typeface="Arial MT"/>
                <a:cs typeface="Arial MT"/>
              </a:rPr>
              <a:t>Another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showed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that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26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percent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college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and 	</a:t>
            </a:r>
            <a:r>
              <a:rPr sz="2400" dirty="0">
                <a:latin typeface="Arial MT"/>
                <a:cs typeface="Arial MT"/>
              </a:rPr>
              <a:t>university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business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majors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admitted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“serious 	</a:t>
            </a:r>
            <a:r>
              <a:rPr sz="2400" dirty="0">
                <a:latin typeface="Arial MT"/>
                <a:cs typeface="Arial MT"/>
              </a:rPr>
              <a:t>cheating”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on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exams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54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percent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admitted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to 	</a:t>
            </a:r>
            <a:r>
              <a:rPr sz="2400" dirty="0">
                <a:latin typeface="Arial MT"/>
                <a:cs typeface="Arial MT"/>
              </a:rPr>
              <a:t>cheating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on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written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assignments.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spc="-10" dirty="0"/>
              <a:t>6-</a:t>
            </a:r>
            <a:fld id="{81D60167-4931-47E6-BA6A-407CBD079E47}" type="slidenum">
              <a:rPr spc="-25" dirty="0"/>
              <a:t>37</a:t>
            </a:fld>
            <a:endParaRPr spc="-25" dirty="0"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Copyright</a:t>
            </a:r>
            <a:r>
              <a:rPr spc="-15" dirty="0"/>
              <a:t> </a:t>
            </a:r>
            <a:r>
              <a:rPr dirty="0"/>
              <a:t>©</a:t>
            </a:r>
            <a:r>
              <a:rPr spc="-15" dirty="0"/>
              <a:t> </a:t>
            </a:r>
            <a:r>
              <a:rPr dirty="0"/>
              <a:t>2016</a:t>
            </a:r>
            <a:r>
              <a:rPr spc="-5" dirty="0"/>
              <a:t> </a:t>
            </a:r>
            <a:r>
              <a:rPr dirty="0"/>
              <a:t>Pearson</a:t>
            </a:r>
            <a:r>
              <a:rPr spc="-10" dirty="0"/>
              <a:t> </a:t>
            </a:r>
            <a:r>
              <a:rPr dirty="0"/>
              <a:t>Education,</a:t>
            </a:r>
            <a:r>
              <a:rPr spc="-15" dirty="0"/>
              <a:t> </a:t>
            </a:r>
            <a:r>
              <a:rPr spc="-20" dirty="0"/>
              <a:t>Ltd.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20979" marR="5080" indent="-146050">
              <a:lnSpc>
                <a:spcPct val="100000"/>
              </a:lnSpc>
              <a:spcBef>
                <a:spcPts val="90"/>
              </a:spcBef>
            </a:pPr>
            <a:r>
              <a:rPr sz="3250" spc="270" dirty="0"/>
              <a:t>SOCIAL</a:t>
            </a:r>
            <a:r>
              <a:rPr sz="3250" spc="65" dirty="0"/>
              <a:t> </a:t>
            </a:r>
            <a:r>
              <a:rPr sz="3250" spc="235" dirty="0"/>
              <a:t>RESPONSIBILITY</a:t>
            </a:r>
            <a:r>
              <a:rPr sz="3250" spc="75" dirty="0"/>
              <a:t> </a:t>
            </a:r>
            <a:r>
              <a:rPr sz="3250" spc="375" dirty="0"/>
              <a:t>AND</a:t>
            </a:r>
            <a:r>
              <a:rPr sz="3250" spc="75" dirty="0"/>
              <a:t> </a:t>
            </a:r>
            <a:r>
              <a:rPr sz="3250" spc="240" dirty="0"/>
              <a:t>ETHICS </a:t>
            </a:r>
            <a:r>
              <a:rPr sz="3250" spc="340" dirty="0"/>
              <a:t>ISSUES</a:t>
            </a:r>
            <a:r>
              <a:rPr sz="3250" spc="65" dirty="0"/>
              <a:t> </a:t>
            </a:r>
            <a:r>
              <a:rPr sz="3250" spc="190" dirty="0"/>
              <a:t>IN</a:t>
            </a:r>
            <a:r>
              <a:rPr sz="3250" spc="70" dirty="0"/>
              <a:t> </a:t>
            </a:r>
            <a:r>
              <a:rPr sz="3250" spc="190" dirty="0"/>
              <a:t>TODAY’S</a:t>
            </a:r>
            <a:r>
              <a:rPr sz="3250" spc="65" dirty="0"/>
              <a:t> </a:t>
            </a:r>
            <a:r>
              <a:rPr sz="3250" spc="350" dirty="0"/>
              <a:t>WORLD</a:t>
            </a:r>
            <a:r>
              <a:rPr sz="3250" spc="70" dirty="0"/>
              <a:t> </a:t>
            </a:r>
            <a:r>
              <a:rPr sz="3250" spc="85" dirty="0"/>
              <a:t>(CONT.)</a:t>
            </a:r>
            <a:endParaRPr sz="325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95325" y="1745614"/>
            <a:ext cx="79375" cy="193675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25120" marR="17780">
              <a:lnSpc>
                <a:spcPct val="100000"/>
              </a:lnSpc>
              <a:spcBef>
                <a:spcPts val="90"/>
              </a:spcBef>
            </a:pPr>
            <a:r>
              <a:rPr b="1" dirty="0">
                <a:latin typeface="Arial"/>
                <a:cs typeface="Arial"/>
              </a:rPr>
              <a:t>Ethical</a:t>
            </a:r>
            <a:r>
              <a:rPr b="1" spc="10" dirty="0">
                <a:latin typeface="Arial"/>
                <a:cs typeface="Arial"/>
              </a:rPr>
              <a:t> </a:t>
            </a:r>
            <a:r>
              <a:rPr b="1" spc="285" dirty="0">
                <a:latin typeface="Trebuchet MS"/>
                <a:cs typeface="Trebuchet MS"/>
              </a:rPr>
              <a:t>Leadership</a:t>
            </a:r>
            <a:r>
              <a:rPr b="1" spc="65" dirty="0">
                <a:latin typeface="Trebuchet MS"/>
                <a:cs typeface="Trebuchet MS"/>
              </a:rPr>
              <a:t> </a:t>
            </a:r>
            <a:r>
              <a:rPr spc="355" dirty="0"/>
              <a:t>–</a:t>
            </a:r>
            <a:r>
              <a:rPr spc="35" dirty="0"/>
              <a:t> </a:t>
            </a:r>
            <a:r>
              <a:rPr spc="245" dirty="0"/>
              <a:t>managers</a:t>
            </a:r>
            <a:r>
              <a:rPr spc="40" dirty="0"/>
              <a:t> </a:t>
            </a:r>
            <a:r>
              <a:rPr spc="195" dirty="0"/>
              <a:t>must </a:t>
            </a:r>
            <a:r>
              <a:rPr spc="140" dirty="0"/>
              <a:t>provide</a:t>
            </a:r>
            <a:r>
              <a:rPr spc="65" dirty="0"/>
              <a:t> </a:t>
            </a:r>
            <a:r>
              <a:rPr spc="95" dirty="0"/>
              <a:t>ethical</a:t>
            </a:r>
            <a:r>
              <a:rPr spc="75" dirty="0"/>
              <a:t> </a:t>
            </a:r>
            <a:r>
              <a:rPr spc="120" dirty="0"/>
              <a:t>leadership.</a:t>
            </a:r>
            <a:r>
              <a:rPr spc="75" dirty="0"/>
              <a:t> </a:t>
            </a:r>
            <a:r>
              <a:rPr spc="190" dirty="0"/>
              <a:t>What</a:t>
            </a:r>
            <a:r>
              <a:rPr spc="65" dirty="0"/>
              <a:t> </a:t>
            </a:r>
            <a:r>
              <a:rPr spc="235" dirty="0"/>
              <a:t>managers </a:t>
            </a:r>
            <a:r>
              <a:rPr i="1" dirty="0">
                <a:latin typeface="Verdana"/>
                <a:cs typeface="Verdana"/>
              </a:rPr>
              <a:t>do</a:t>
            </a:r>
            <a:r>
              <a:rPr i="1" spc="-70" dirty="0">
                <a:latin typeface="Verdana"/>
                <a:cs typeface="Verdana"/>
              </a:rPr>
              <a:t> </a:t>
            </a:r>
            <a:r>
              <a:rPr spc="254" dirty="0"/>
              <a:t>has</a:t>
            </a:r>
            <a:r>
              <a:rPr spc="45" dirty="0"/>
              <a:t> </a:t>
            </a:r>
            <a:r>
              <a:rPr spc="225" dirty="0"/>
              <a:t>a</a:t>
            </a:r>
            <a:r>
              <a:rPr spc="55" dirty="0"/>
              <a:t> </a:t>
            </a:r>
            <a:r>
              <a:rPr spc="175" dirty="0"/>
              <a:t>strong</a:t>
            </a:r>
            <a:r>
              <a:rPr spc="55" dirty="0"/>
              <a:t> </a:t>
            </a:r>
            <a:r>
              <a:rPr spc="114" dirty="0"/>
              <a:t>influence</a:t>
            </a:r>
            <a:r>
              <a:rPr spc="50" dirty="0"/>
              <a:t> </a:t>
            </a:r>
            <a:r>
              <a:rPr spc="204" dirty="0"/>
              <a:t>on</a:t>
            </a:r>
            <a:r>
              <a:rPr spc="60" dirty="0"/>
              <a:t> </a:t>
            </a:r>
            <a:r>
              <a:rPr spc="155" dirty="0"/>
              <a:t>employees’ </a:t>
            </a:r>
            <a:r>
              <a:rPr spc="165" dirty="0"/>
              <a:t>decisions</a:t>
            </a:r>
            <a:r>
              <a:rPr spc="50" dirty="0"/>
              <a:t> </a:t>
            </a:r>
            <a:r>
              <a:rPr spc="140" dirty="0"/>
              <a:t>whether</a:t>
            </a:r>
            <a:r>
              <a:rPr spc="70" dirty="0"/>
              <a:t> </a:t>
            </a:r>
            <a:r>
              <a:rPr spc="80" dirty="0"/>
              <a:t>to</a:t>
            </a:r>
            <a:r>
              <a:rPr spc="65" dirty="0"/>
              <a:t> </a:t>
            </a:r>
            <a:r>
              <a:rPr spc="210" dirty="0"/>
              <a:t>behave</a:t>
            </a:r>
            <a:r>
              <a:rPr spc="60" dirty="0"/>
              <a:t> </a:t>
            </a:r>
            <a:r>
              <a:rPr spc="-10" dirty="0"/>
              <a:t>ethically.</a:t>
            </a:r>
          </a:p>
          <a:p>
            <a:pPr marL="325120" marR="82550" indent="-288290">
              <a:lnSpc>
                <a:spcPct val="100000"/>
              </a:lnSpc>
              <a:spcBef>
                <a:spcPts val="540"/>
              </a:spcBef>
              <a:buClr>
                <a:srgbClr val="FF1C1C"/>
              </a:buClr>
              <a:buSzPct val="83333"/>
              <a:buFont typeface="Arial MT"/>
              <a:buChar char="•"/>
              <a:tabLst>
                <a:tab pos="325120" algn="l"/>
              </a:tabLst>
            </a:pPr>
            <a:r>
              <a:rPr sz="2700" spc="90" dirty="0"/>
              <a:t>Protection</a:t>
            </a:r>
            <a:r>
              <a:rPr sz="2700" spc="70" dirty="0"/>
              <a:t> </a:t>
            </a:r>
            <a:r>
              <a:rPr sz="2700" spc="65" dirty="0"/>
              <a:t>of</a:t>
            </a:r>
            <a:r>
              <a:rPr sz="2700" spc="55" dirty="0"/>
              <a:t> </a:t>
            </a:r>
            <a:r>
              <a:rPr sz="2700" spc="204" dirty="0"/>
              <a:t>Employees</a:t>
            </a:r>
            <a:r>
              <a:rPr sz="2700" spc="60" dirty="0"/>
              <a:t> </a:t>
            </a:r>
            <a:r>
              <a:rPr sz="2700" spc="250" dirty="0"/>
              <a:t>Who</a:t>
            </a:r>
            <a:r>
              <a:rPr sz="2700" spc="70" dirty="0"/>
              <a:t> </a:t>
            </a:r>
            <a:r>
              <a:rPr sz="2700" spc="180" dirty="0"/>
              <a:t>Raise</a:t>
            </a:r>
            <a:r>
              <a:rPr sz="2700" spc="65" dirty="0"/>
              <a:t> </a:t>
            </a:r>
            <a:r>
              <a:rPr sz="2700" spc="95" dirty="0"/>
              <a:t>Ethical </a:t>
            </a:r>
            <a:r>
              <a:rPr sz="2700" spc="165" dirty="0"/>
              <a:t>Issues:</a:t>
            </a:r>
            <a:endParaRPr sz="2700"/>
          </a:p>
          <a:p>
            <a:pPr marL="659765" marR="1002030" indent="-240029">
              <a:lnSpc>
                <a:spcPct val="100000"/>
              </a:lnSpc>
              <a:spcBef>
                <a:spcPts val="470"/>
              </a:spcBef>
            </a:pPr>
            <a:r>
              <a:rPr sz="3000" baseline="6944" dirty="0">
                <a:latin typeface="Arial MT"/>
                <a:cs typeface="Arial MT"/>
              </a:rPr>
              <a:t>–</a:t>
            </a:r>
            <a:r>
              <a:rPr sz="3000" spc="359" baseline="6944" dirty="0">
                <a:latin typeface="Arial MT"/>
                <a:cs typeface="Arial MT"/>
              </a:rPr>
              <a:t> </a:t>
            </a:r>
            <a:r>
              <a:rPr sz="2350" b="1" spc="240" dirty="0">
                <a:latin typeface="Trebuchet MS"/>
                <a:cs typeface="Trebuchet MS"/>
              </a:rPr>
              <a:t>Whistle-</a:t>
            </a:r>
            <a:r>
              <a:rPr sz="2350" b="1" spc="250" dirty="0">
                <a:latin typeface="Trebuchet MS"/>
                <a:cs typeface="Trebuchet MS"/>
              </a:rPr>
              <a:t>Blower</a:t>
            </a:r>
            <a:r>
              <a:rPr sz="2350" b="1" spc="165" dirty="0">
                <a:latin typeface="Trebuchet MS"/>
                <a:cs typeface="Trebuchet MS"/>
              </a:rPr>
              <a:t> </a:t>
            </a:r>
            <a:r>
              <a:rPr sz="2350" spc="310" dirty="0"/>
              <a:t>–</a:t>
            </a:r>
            <a:r>
              <a:rPr sz="2350" spc="80" dirty="0"/>
              <a:t> </a:t>
            </a:r>
            <a:r>
              <a:rPr sz="2350" spc="120" dirty="0"/>
              <a:t>individuals</a:t>
            </a:r>
            <a:r>
              <a:rPr sz="2350" spc="80" dirty="0"/>
              <a:t> </a:t>
            </a:r>
            <a:r>
              <a:rPr sz="2350" spc="170" dirty="0"/>
              <a:t>who</a:t>
            </a:r>
            <a:r>
              <a:rPr sz="2350" spc="75" dirty="0"/>
              <a:t> </a:t>
            </a:r>
            <a:r>
              <a:rPr sz="2350" spc="120" dirty="0"/>
              <a:t>raise </a:t>
            </a:r>
            <a:r>
              <a:rPr sz="2350" spc="85" dirty="0"/>
              <a:t>ethical</a:t>
            </a:r>
            <a:r>
              <a:rPr sz="2350" spc="40" dirty="0"/>
              <a:t> </a:t>
            </a:r>
            <a:r>
              <a:rPr sz="2350" spc="155" dirty="0"/>
              <a:t>concerns</a:t>
            </a:r>
            <a:r>
              <a:rPr sz="2350" spc="55" dirty="0"/>
              <a:t> </a:t>
            </a:r>
            <a:r>
              <a:rPr sz="2350" spc="110" dirty="0"/>
              <a:t>or</a:t>
            </a:r>
            <a:r>
              <a:rPr sz="2350" spc="45" dirty="0"/>
              <a:t> </a:t>
            </a:r>
            <a:r>
              <a:rPr sz="2350" spc="190" dirty="0"/>
              <a:t>issues</a:t>
            </a:r>
            <a:r>
              <a:rPr sz="2350" spc="50" dirty="0"/>
              <a:t> </a:t>
            </a:r>
            <a:r>
              <a:rPr sz="2350" spc="70" dirty="0"/>
              <a:t>to</a:t>
            </a:r>
            <a:r>
              <a:rPr sz="2350" spc="60" dirty="0"/>
              <a:t> </a:t>
            </a:r>
            <a:r>
              <a:rPr sz="2350" spc="125" dirty="0"/>
              <a:t>others</a:t>
            </a:r>
            <a:endParaRPr sz="235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spc="-10" dirty="0"/>
              <a:t>6-</a:t>
            </a:r>
            <a:fld id="{81D60167-4931-47E6-BA6A-407CBD079E47}" type="slidenum">
              <a:rPr spc="-25" dirty="0"/>
              <a:t>38</a:t>
            </a:fld>
            <a:endParaRPr spc="-25" dirty="0"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Copyright</a:t>
            </a:r>
            <a:r>
              <a:rPr spc="-15" dirty="0"/>
              <a:t> </a:t>
            </a:r>
            <a:r>
              <a:rPr dirty="0"/>
              <a:t>©</a:t>
            </a:r>
            <a:r>
              <a:rPr spc="-15" dirty="0"/>
              <a:t> </a:t>
            </a:r>
            <a:r>
              <a:rPr dirty="0"/>
              <a:t>2016</a:t>
            </a:r>
            <a:r>
              <a:rPr spc="-5" dirty="0"/>
              <a:t> </a:t>
            </a:r>
            <a:r>
              <a:rPr dirty="0"/>
              <a:t>Pearson</a:t>
            </a:r>
            <a:r>
              <a:rPr spc="-10" dirty="0"/>
              <a:t> </a:t>
            </a:r>
            <a:r>
              <a:rPr dirty="0"/>
              <a:t>Education,</a:t>
            </a:r>
            <a:r>
              <a:rPr spc="-15" dirty="0"/>
              <a:t> </a:t>
            </a:r>
            <a:r>
              <a:rPr spc="-20" dirty="0"/>
              <a:t>Ltd.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9600" y="1522730"/>
            <a:ext cx="8001000" cy="4038600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9050" algn="ctr">
              <a:lnSpc>
                <a:spcPct val="100000"/>
              </a:lnSpc>
              <a:spcBef>
                <a:spcPts val="120"/>
              </a:spcBef>
            </a:pPr>
            <a:r>
              <a:rPr sz="3400" spc="245" dirty="0"/>
              <a:t>EXHIBIT</a:t>
            </a:r>
            <a:r>
              <a:rPr sz="3400" spc="100" dirty="0"/>
              <a:t> </a:t>
            </a:r>
            <a:r>
              <a:rPr sz="3400" spc="260" dirty="0"/>
              <a:t>6-</a:t>
            </a:r>
            <a:r>
              <a:rPr sz="3400" spc="155" dirty="0"/>
              <a:t>9</a:t>
            </a:r>
            <a:endParaRPr sz="3400"/>
          </a:p>
          <a:p>
            <a:pPr marL="13970" algn="ctr">
              <a:lnSpc>
                <a:spcPct val="100000"/>
              </a:lnSpc>
              <a:spcBef>
                <a:spcPts val="30"/>
              </a:spcBef>
            </a:pPr>
            <a:r>
              <a:rPr sz="3400" spc="305" dirty="0"/>
              <a:t>BEING</a:t>
            </a:r>
            <a:r>
              <a:rPr sz="3400" spc="70" dirty="0"/>
              <a:t> </a:t>
            </a:r>
            <a:r>
              <a:rPr sz="3400" spc="345" dirty="0"/>
              <a:t>AN</a:t>
            </a:r>
            <a:r>
              <a:rPr sz="3400" spc="70" dirty="0"/>
              <a:t> </a:t>
            </a:r>
            <a:r>
              <a:rPr sz="3400" spc="240" dirty="0"/>
              <a:t>ETHICAL</a:t>
            </a:r>
            <a:r>
              <a:rPr sz="3400" spc="60" dirty="0"/>
              <a:t> </a:t>
            </a:r>
            <a:r>
              <a:rPr sz="3400" spc="340" dirty="0"/>
              <a:t>LEADER</a:t>
            </a:r>
            <a:endParaRPr sz="340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spc="-10" dirty="0"/>
              <a:t>6-</a:t>
            </a:r>
            <a:fld id="{81D60167-4931-47E6-BA6A-407CBD079E47}" type="slidenum">
              <a:rPr spc="-25" dirty="0"/>
              <a:t>39</a:t>
            </a:fld>
            <a:endParaRPr spc="-25" dirty="0"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Copyright</a:t>
            </a:r>
            <a:r>
              <a:rPr spc="-15" dirty="0"/>
              <a:t> </a:t>
            </a:r>
            <a:r>
              <a:rPr dirty="0"/>
              <a:t>©</a:t>
            </a:r>
            <a:r>
              <a:rPr spc="-15" dirty="0"/>
              <a:t> </a:t>
            </a:r>
            <a:r>
              <a:rPr dirty="0"/>
              <a:t>2016</a:t>
            </a:r>
            <a:r>
              <a:rPr spc="-5" dirty="0"/>
              <a:t> </a:t>
            </a:r>
            <a:r>
              <a:rPr dirty="0"/>
              <a:t>Pearson</a:t>
            </a:r>
            <a:r>
              <a:rPr spc="-10" dirty="0"/>
              <a:t> </a:t>
            </a:r>
            <a:r>
              <a:rPr dirty="0"/>
              <a:t>Education,</a:t>
            </a:r>
            <a:r>
              <a:rPr spc="-15" dirty="0"/>
              <a:t> </a:t>
            </a:r>
            <a:r>
              <a:rPr spc="-20" dirty="0"/>
              <a:t>Ltd.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20979" marR="5080" indent="-146050">
              <a:lnSpc>
                <a:spcPct val="100000"/>
              </a:lnSpc>
              <a:spcBef>
                <a:spcPts val="90"/>
              </a:spcBef>
            </a:pPr>
            <a:r>
              <a:rPr sz="3250" spc="270" dirty="0"/>
              <a:t>SOCIAL</a:t>
            </a:r>
            <a:r>
              <a:rPr sz="3250" spc="65" dirty="0"/>
              <a:t> </a:t>
            </a:r>
            <a:r>
              <a:rPr sz="3250" spc="235" dirty="0"/>
              <a:t>RESPONSIBILITY</a:t>
            </a:r>
            <a:r>
              <a:rPr sz="3250" spc="75" dirty="0"/>
              <a:t> </a:t>
            </a:r>
            <a:r>
              <a:rPr sz="3250" spc="375" dirty="0"/>
              <a:t>AND</a:t>
            </a:r>
            <a:r>
              <a:rPr sz="3250" spc="75" dirty="0"/>
              <a:t> </a:t>
            </a:r>
            <a:r>
              <a:rPr sz="3250" spc="240" dirty="0"/>
              <a:t>ETHICS </a:t>
            </a:r>
            <a:r>
              <a:rPr sz="3250" spc="340" dirty="0"/>
              <a:t>ISSUES</a:t>
            </a:r>
            <a:r>
              <a:rPr sz="3250" spc="65" dirty="0"/>
              <a:t> </a:t>
            </a:r>
            <a:r>
              <a:rPr sz="3250" spc="190" dirty="0"/>
              <a:t>IN</a:t>
            </a:r>
            <a:r>
              <a:rPr sz="3250" spc="70" dirty="0"/>
              <a:t> </a:t>
            </a:r>
            <a:r>
              <a:rPr sz="3250" spc="190" dirty="0"/>
              <a:t>TODAY’S</a:t>
            </a:r>
            <a:r>
              <a:rPr sz="3250" spc="65" dirty="0"/>
              <a:t> </a:t>
            </a:r>
            <a:r>
              <a:rPr sz="3250" spc="350" dirty="0"/>
              <a:t>WORLD</a:t>
            </a:r>
            <a:r>
              <a:rPr sz="3250" spc="70" dirty="0"/>
              <a:t> </a:t>
            </a:r>
            <a:r>
              <a:rPr sz="3250" spc="85" dirty="0"/>
              <a:t>(CONT.)</a:t>
            </a:r>
            <a:endParaRPr sz="325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3905" y="1764664"/>
            <a:ext cx="95250" cy="231775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553719" y="1638300"/>
            <a:ext cx="8061959" cy="4058920"/>
          </a:xfrm>
          <a:prstGeom prst="rect">
            <a:avLst/>
          </a:prstGeom>
        </p:spPr>
        <p:txBody>
          <a:bodyPr vert="horz" wrap="square" lIns="0" tIns="77470" rIns="0" bIns="0" rtlCol="0">
            <a:spAutoFit/>
          </a:bodyPr>
          <a:lstStyle/>
          <a:p>
            <a:pPr marL="354965" marR="480059" indent="119380">
              <a:lnSpc>
                <a:spcPts val="3360"/>
              </a:lnSpc>
              <a:spcBef>
                <a:spcPts val="610"/>
              </a:spcBef>
            </a:pPr>
            <a:r>
              <a:rPr sz="3200" b="1" dirty="0">
                <a:latin typeface="Arial"/>
                <a:cs typeface="Arial"/>
              </a:rPr>
              <a:t>Social</a:t>
            </a:r>
            <a:r>
              <a:rPr sz="2800" b="1" dirty="0">
                <a:latin typeface="Arial"/>
                <a:cs typeface="Arial"/>
              </a:rPr>
              <a:t>Entrepreneur</a:t>
            </a:r>
            <a:r>
              <a:rPr sz="2800" b="1" spc="-15" dirty="0">
                <a:latin typeface="Arial"/>
                <a:cs typeface="Arial"/>
              </a:rPr>
              <a:t> </a:t>
            </a:r>
            <a:r>
              <a:rPr sz="2800" dirty="0">
                <a:latin typeface="Arial MT"/>
                <a:cs typeface="Arial MT"/>
              </a:rPr>
              <a:t>–</a:t>
            </a:r>
            <a:r>
              <a:rPr sz="2800" spc="-5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an</a:t>
            </a:r>
            <a:r>
              <a:rPr sz="2800" spc="-4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individual</a:t>
            </a:r>
            <a:r>
              <a:rPr sz="2800" spc="-45" dirty="0">
                <a:latin typeface="Arial MT"/>
                <a:cs typeface="Arial MT"/>
              </a:rPr>
              <a:t> </a:t>
            </a:r>
            <a:r>
              <a:rPr sz="2800" spc="-25" dirty="0">
                <a:latin typeface="Arial MT"/>
                <a:cs typeface="Arial MT"/>
              </a:rPr>
              <a:t>or </a:t>
            </a:r>
            <a:r>
              <a:rPr sz="2800" dirty="0">
                <a:latin typeface="Arial MT"/>
                <a:cs typeface="Arial MT"/>
              </a:rPr>
              <a:t>organization</a:t>
            </a:r>
            <a:r>
              <a:rPr sz="2800" spc="-11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who</a:t>
            </a:r>
            <a:r>
              <a:rPr sz="2800" spc="-10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seeks</a:t>
            </a:r>
            <a:r>
              <a:rPr sz="2800" spc="-10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out</a:t>
            </a:r>
            <a:r>
              <a:rPr sz="2800" spc="-10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opportunities</a:t>
            </a:r>
            <a:r>
              <a:rPr sz="2800" spc="-100" dirty="0">
                <a:latin typeface="Arial MT"/>
                <a:cs typeface="Arial MT"/>
              </a:rPr>
              <a:t> </a:t>
            </a:r>
            <a:r>
              <a:rPr sz="2800" spc="-25" dirty="0">
                <a:latin typeface="Arial MT"/>
                <a:cs typeface="Arial MT"/>
              </a:rPr>
              <a:t>to </a:t>
            </a:r>
            <a:r>
              <a:rPr sz="2800" dirty="0">
                <a:latin typeface="Arial MT"/>
                <a:cs typeface="Arial MT"/>
              </a:rPr>
              <a:t>improve</a:t>
            </a:r>
            <a:r>
              <a:rPr sz="2800" spc="-8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society</a:t>
            </a:r>
            <a:r>
              <a:rPr sz="2800" spc="-8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by</a:t>
            </a:r>
            <a:r>
              <a:rPr sz="2800" spc="-9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using</a:t>
            </a:r>
            <a:r>
              <a:rPr sz="2800" spc="-7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practical,</a:t>
            </a:r>
            <a:r>
              <a:rPr sz="2800" spc="-75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innovative, </a:t>
            </a:r>
            <a:r>
              <a:rPr sz="2800" dirty="0">
                <a:latin typeface="Arial MT"/>
                <a:cs typeface="Arial MT"/>
              </a:rPr>
              <a:t>and</a:t>
            </a:r>
            <a:r>
              <a:rPr sz="2800" spc="-11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sustainable</a:t>
            </a:r>
            <a:r>
              <a:rPr sz="2800" spc="-105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approaches.</a:t>
            </a:r>
            <a:endParaRPr sz="2800">
              <a:latin typeface="Arial MT"/>
              <a:cs typeface="Arial MT"/>
            </a:endParaRPr>
          </a:p>
          <a:p>
            <a:pPr marL="353695" marR="5080" indent="-341630">
              <a:lnSpc>
                <a:spcPct val="100000"/>
              </a:lnSpc>
              <a:spcBef>
                <a:spcPts val="450"/>
              </a:spcBef>
              <a:buFont typeface="Arial MT"/>
              <a:buChar char="•"/>
              <a:tabLst>
                <a:tab pos="354965" algn="l"/>
              </a:tabLst>
            </a:pPr>
            <a:r>
              <a:rPr sz="2800" b="1" dirty="0">
                <a:latin typeface="Arial"/>
                <a:cs typeface="Arial"/>
              </a:rPr>
              <a:t>Corporate</a:t>
            </a:r>
            <a:r>
              <a:rPr sz="2800" b="1" spc="-85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Philanthropy</a:t>
            </a:r>
            <a:r>
              <a:rPr sz="2800" b="1" spc="-85" dirty="0">
                <a:latin typeface="Arial"/>
                <a:cs typeface="Arial"/>
              </a:rPr>
              <a:t> </a:t>
            </a:r>
            <a:r>
              <a:rPr sz="2800" dirty="0">
                <a:latin typeface="Arial MT"/>
                <a:cs typeface="Arial MT"/>
              </a:rPr>
              <a:t>–</a:t>
            </a:r>
            <a:r>
              <a:rPr sz="2800" spc="-8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can</a:t>
            </a:r>
            <a:r>
              <a:rPr sz="2800" spc="-8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be</a:t>
            </a:r>
            <a:r>
              <a:rPr sz="2800" spc="-8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an</a:t>
            </a:r>
            <a:r>
              <a:rPr sz="2800" spc="-85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effective 	</a:t>
            </a:r>
            <a:r>
              <a:rPr sz="2800" dirty="0">
                <a:latin typeface="Arial MT"/>
                <a:cs typeface="Arial MT"/>
              </a:rPr>
              <a:t>way</a:t>
            </a:r>
            <a:r>
              <a:rPr sz="2800" spc="-9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for</a:t>
            </a:r>
            <a:r>
              <a:rPr sz="2800" spc="-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companies</a:t>
            </a:r>
            <a:r>
              <a:rPr sz="2800" spc="-7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to</a:t>
            </a:r>
            <a:r>
              <a:rPr sz="2800" spc="-7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address</a:t>
            </a:r>
            <a:r>
              <a:rPr sz="2800" spc="-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societal</a:t>
            </a:r>
            <a:r>
              <a:rPr sz="2800" spc="-80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problems.</a:t>
            </a:r>
            <a:endParaRPr sz="2800">
              <a:latin typeface="Arial MT"/>
              <a:cs typeface="Arial MT"/>
            </a:endParaRPr>
          </a:p>
          <a:p>
            <a:pPr marL="353695" marR="324485" indent="-341630">
              <a:lnSpc>
                <a:spcPct val="100000"/>
              </a:lnSpc>
              <a:spcBef>
                <a:spcPts val="560"/>
              </a:spcBef>
              <a:buFont typeface="Arial MT"/>
              <a:buChar char="•"/>
              <a:tabLst>
                <a:tab pos="354965" algn="l"/>
              </a:tabLst>
            </a:pPr>
            <a:r>
              <a:rPr sz="2800" b="1" dirty="0">
                <a:latin typeface="Arial"/>
                <a:cs typeface="Arial"/>
              </a:rPr>
              <a:t>Employee</a:t>
            </a:r>
            <a:r>
              <a:rPr sz="2800" b="1" spc="-75" dirty="0">
                <a:latin typeface="Arial"/>
                <a:cs typeface="Arial"/>
              </a:rPr>
              <a:t> </a:t>
            </a:r>
            <a:r>
              <a:rPr sz="2800" b="1" spc="-25" dirty="0">
                <a:latin typeface="Arial"/>
                <a:cs typeface="Arial"/>
              </a:rPr>
              <a:t>Volunteering</a:t>
            </a:r>
            <a:r>
              <a:rPr sz="2800" b="1" spc="-80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Efforts</a:t>
            </a:r>
            <a:r>
              <a:rPr sz="2800" b="1" spc="-40" dirty="0">
                <a:latin typeface="Arial"/>
                <a:cs typeface="Arial"/>
              </a:rPr>
              <a:t> </a:t>
            </a:r>
            <a:r>
              <a:rPr sz="2800" dirty="0">
                <a:latin typeface="Arial MT"/>
                <a:cs typeface="Arial MT"/>
              </a:rPr>
              <a:t>–</a:t>
            </a:r>
            <a:r>
              <a:rPr sz="2800" spc="-7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popular 	</a:t>
            </a:r>
            <a:r>
              <a:rPr sz="2800" dirty="0">
                <a:latin typeface="Arial MT"/>
                <a:cs typeface="Arial MT"/>
              </a:rPr>
              <a:t>way</a:t>
            </a:r>
            <a:r>
              <a:rPr sz="2800" spc="-7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for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businesses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to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be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involved</a:t>
            </a:r>
            <a:r>
              <a:rPr sz="2800" spc="-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in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promoting 	</a:t>
            </a:r>
            <a:r>
              <a:rPr sz="2800" dirty="0">
                <a:latin typeface="Arial MT"/>
                <a:cs typeface="Arial MT"/>
              </a:rPr>
              <a:t>social</a:t>
            </a:r>
            <a:r>
              <a:rPr sz="2800" spc="-85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change.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spc="-10" dirty="0"/>
              <a:t>6-</a:t>
            </a:r>
            <a:fld id="{81D60167-4931-47E6-BA6A-407CBD079E47}" type="slidenum">
              <a:rPr spc="-25" dirty="0"/>
              <a:t>40</a:t>
            </a:fld>
            <a:endParaRPr spc="-25" dirty="0"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Copyright</a:t>
            </a:r>
            <a:r>
              <a:rPr spc="-15" dirty="0"/>
              <a:t> </a:t>
            </a:r>
            <a:r>
              <a:rPr dirty="0"/>
              <a:t>©</a:t>
            </a:r>
            <a:r>
              <a:rPr spc="-15" dirty="0"/>
              <a:t> </a:t>
            </a:r>
            <a:r>
              <a:rPr dirty="0"/>
              <a:t>2016</a:t>
            </a:r>
            <a:r>
              <a:rPr spc="-5" dirty="0"/>
              <a:t> </a:t>
            </a:r>
            <a:r>
              <a:rPr dirty="0"/>
              <a:t>Pearson</a:t>
            </a:r>
            <a:r>
              <a:rPr spc="-10" dirty="0"/>
              <a:t> </a:t>
            </a:r>
            <a:r>
              <a:rPr dirty="0"/>
              <a:t>Education,</a:t>
            </a:r>
            <a:r>
              <a:rPr spc="-15" dirty="0"/>
              <a:t> </a:t>
            </a:r>
            <a:r>
              <a:rPr spc="-20" dirty="0"/>
              <a:t>Ltd.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4159" rIns="0" bIns="0" rtlCol="0">
            <a:spAutoFit/>
          </a:bodyPr>
          <a:lstStyle/>
          <a:p>
            <a:pPr marL="32384">
              <a:lnSpc>
                <a:spcPct val="100000"/>
              </a:lnSpc>
              <a:spcBef>
                <a:spcPts val="100"/>
              </a:spcBef>
            </a:pPr>
            <a:r>
              <a:rPr spc="320" dirty="0"/>
              <a:t>REVIEW</a:t>
            </a:r>
            <a:r>
              <a:rPr spc="75" dirty="0"/>
              <a:t> </a:t>
            </a:r>
            <a:r>
              <a:rPr spc="295" dirty="0"/>
              <a:t>LEARNING</a:t>
            </a:r>
            <a:r>
              <a:rPr spc="60" dirty="0"/>
              <a:t> </a:t>
            </a:r>
            <a:r>
              <a:rPr spc="180" dirty="0"/>
              <a:t>OBJECTIVE</a:t>
            </a:r>
            <a:r>
              <a:rPr spc="75" dirty="0"/>
              <a:t> </a:t>
            </a:r>
            <a:r>
              <a:rPr spc="165" dirty="0"/>
              <a:t>6.1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spc="-10" dirty="0"/>
              <a:t>6-</a:t>
            </a:r>
            <a:fld id="{81D60167-4931-47E6-BA6A-407CBD079E47}" type="slidenum">
              <a:rPr spc="-25" dirty="0"/>
              <a:t>41</a:t>
            </a:fld>
            <a:endParaRPr spc="-25" dirty="0"/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Copyright</a:t>
            </a:r>
            <a:r>
              <a:rPr spc="-15" dirty="0"/>
              <a:t> </a:t>
            </a:r>
            <a:r>
              <a:rPr dirty="0"/>
              <a:t>©</a:t>
            </a:r>
            <a:r>
              <a:rPr spc="-15" dirty="0"/>
              <a:t> </a:t>
            </a:r>
            <a:r>
              <a:rPr dirty="0"/>
              <a:t>2016</a:t>
            </a:r>
            <a:r>
              <a:rPr spc="-5" dirty="0"/>
              <a:t> </a:t>
            </a:r>
            <a:r>
              <a:rPr dirty="0"/>
              <a:t>Pearson</a:t>
            </a:r>
            <a:r>
              <a:rPr spc="-10" dirty="0"/>
              <a:t> </a:t>
            </a:r>
            <a:r>
              <a:rPr dirty="0"/>
              <a:t>Education,</a:t>
            </a:r>
            <a:r>
              <a:rPr spc="-15" dirty="0"/>
              <a:t> </a:t>
            </a:r>
            <a:r>
              <a:rPr spc="-20" dirty="0"/>
              <a:t>Ltd.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73100" y="1651000"/>
            <a:ext cx="125095" cy="3670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250" spc="-50" dirty="0">
                <a:solidFill>
                  <a:srgbClr val="FF1C1C"/>
                </a:solidFill>
                <a:latin typeface="Arial MT"/>
                <a:cs typeface="Arial MT"/>
              </a:rPr>
              <a:t>•</a:t>
            </a:r>
            <a:endParaRPr sz="225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07439" y="1634489"/>
            <a:ext cx="6998970" cy="12439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00600"/>
              </a:lnSpc>
              <a:spcBef>
                <a:spcPts val="90"/>
              </a:spcBef>
            </a:pPr>
            <a:r>
              <a:rPr sz="2650" b="1" dirty="0">
                <a:latin typeface="Arial"/>
                <a:cs typeface="Arial"/>
              </a:rPr>
              <a:t>Discuss</a:t>
            </a:r>
            <a:r>
              <a:rPr sz="2650" b="1" spc="-10" dirty="0">
                <a:latin typeface="Arial"/>
                <a:cs typeface="Arial"/>
              </a:rPr>
              <a:t> </a:t>
            </a:r>
            <a:r>
              <a:rPr sz="2650" b="1" dirty="0">
                <a:latin typeface="Arial"/>
                <a:cs typeface="Arial"/>
              </a:rPr>
              <a:t>what</a:t>
            </a:r>
            <a:r>
              <a:rPr sz="2650" b="1" spc="5" dirty="0">
                <a:latin typeface="Arial"/>
                <a:cs typeface="Arial"/>
              </a:rPr>
              <a:t> </a:t>
            </a:r>
            <a:r>
              <a:rPr sz="2650" b="1" dirty="0">
                <a:latin typeface="Arial"/>
                <a:cs typeface="Arial"/>
              </a:rPr>
              <a:t>it</a:t>
            </a:r>
            <a:r>
              <a:rPr sz="2650" b="1" spc="-5" dirty="0">
                <a:latin typeface="Arial"/>
                <a:cs typeface="Arial"/>
              </a:rPr>
              <a:t> </a:t>
            </a:r>
            <a:r>
              <a:rPr sz="2650" b="1" dirty="0">
                <a:latin typeface="Arial"/>
                <a:cs typeface="Arial"/>
              </a:rPr>
              <a:t>means</a:t>
            </a:r>
            <a:r>
              <a:rPr sz="2650" b="1" spc="5" dirty="0">
                <a:latin typeface="Arial"/>
                <a:cs typeface="Arial"/>
              </a:rPr>
              <a:t> </a:t>
            </a:r>
            <a:r>
              <a:rPr sz="2650" b="1" dirty="0">
                <a:latin typeface="Arial"/>
                <a:cs typeface="Arial"/>
              </a:rPr>
              <a:t>to</a:t>
            </a:r>
            <a:r>
              <a:rPr sz="2650" b="1" spc="-5" dirty="0">
                <a:latin typeface="Arial"/>
                <a:cs typeface="Arial"/>
              </a:rPr>
              <a:t> </a:t>
            </a:r>
            <a:r>
              <a:rPr sz="2650" b="1" dirty="0">
                <a:latin typeface="Arial"/>
                <a:cs typeface="Arial"/>
              </a:rPr>
              <a:t>be</a:t>
            </a:r>
            <a:r>
              <a:rPr sz="2650" b="1" spc="5" dirty="0">
                <a:latin typeface="Arial"/>
                <a:cs typeface="Arial"/>
              </a:rPr>
              <a:t> </a:t>
            </a:r>
            <a:r>
              <a:rPr sz="2650" b="1" spc="-10" dirty="0">
                <a:latin typeface="Arial"/>
                <a:cs typeface="Arial"/>
              </a:rPr>
              <a:t>socially </a:t>
            </a:r>
            <a:r>
              <a:rPr sz="2650" b="1" dirty="0">
                <a:latin typeface="Arial"/>
                <a:cs typeface="Arial"/>
              </a:rPr>
              <a:t>responsible</a:t>
            </a:r>
            <a:r>
              <a:rPr sz="2650" b="1" spc="-15" dirty="0">
                <a:latin typeface="Arial"/>
                <a:cs typeface="Arial"/>
              </a:rPr>
              <a:t> </a:t>
            </a:r>
            <a:r>
              <a:rPr sz="2650" b="1" dirty="0">
                <a:latin typeface="Arial"/>
                <a:cs typeface="Arial"/>
              </a:rPr>
              <a:t>and</a:t>
            </a:r>
            <a:r>
              <a:rPr sz="2650" b="1" spc="-5" dirty="0">
                <a:latin typeface="Arial"/>
                <a:cs typeface="Arial"/>
              </a:rPr>
              <a:t> </a:t>
            </a:r>
            <a:r>
              <a:rPr sz="2650" b="1" dirty="0">
                <a:latin typeface="Arial"/>
                <a:cs typeface="Arial"/>
              </a:rPr>
              <a:t>what</a:t>
            </a:r>
            <a:r>
              <a:rPr sz="2650" b="1" spc="-15" dirty="0">
                <a:latin typeface="Arial"/>
                <a:cs typeface="Arial"/>
              </a:rPr>
              <a:t> </a:t>
            </a:r>
            <a:r>
              <a:rPr sz="2650" b="1" dirty="0">
                <a:latin typeface="Arial"/>
                <a:cs typeface="Arial"/>
              </a:rPr>
              <a:t>factors</a:t>
            </a:r>
            <a:r>
              <a:rPr sz="2650" b="1" spc="-10" dirty="0">
                <a:latin typeface="Arial"/>
                <a:cs typeface="Arial"/>
              </a:rPr>
              <a:t> </a:t>
            </a:r>
            <a:r>
              <a:rPr sz="2650" b="1" dirty="0">
                <a:latin typeface="Arial"/>
                <a:cs typeface="Arial"/>
              </a:rPr>
              <a:t>influence</a:t>
            </a:r>
            <a:r>
              <a:rPr sz="2650" b="1" spc="-15" dirty="0">
                <a:latin typeface="Arial"/>
                <a:cs typeface="Arial"/>
              </a:rPr>
              <a:t> </a:t>
            </a:r>
            <a:r>
              <a:rPr sz="2650" b="1" spc="-20" dirty="0">
                <a:latin typeface="Arial"/>
                <a:cs typeface="Arial"/>
              </a:rPr>
              <a:t>that </a:t>
            </a:r>
            <a:r>
              <a:rPr sz="2650" b="1" spc="-10" dirty="0">
                <a:latin typeface="Arial"/>
                <a:cs typeface="Arial"/>
              </a:rPr>
              <a:t>decision.</a:t>
            </a:r>
            <a:endParaRPr sz="265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07439" y="4128770"/>
            <a:ext cx="172720" cy="3429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050" dirty="0">
                <a:latin typeface="Arial MT"/>
                <a:cs typeface="Arial MT"/>
              </a:rPr>
              <a:t>–</a:t>
            </a:r>
            <a:endParaRPr sz="205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82039" y="2915919"/>
            <a:ext cx="7365365" cy="2356485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472440" marR="239395" indent="-434340">
              <a:lnSpc>
                <a:spcPct val="101400"/>
              </a:lnSpc>
              <a:spcBef>
                <a:spcPts val="75"/>
              </a:spcBef>
              <a:tabLst>
                <a:tab pos="471805" algn="l"/>
              </a:tabLst>
            </a:pPr>
            <a:r>
              <a:rPr sz="3075" baseline="6775" dirty="0">
                <a:latin typeface="Arial MT"/>
                <a:cs typeface="Arial MT"/>
              </a:rPr>
              <a:t>–	</a:t>
            </a:r>
            <a:r>
              <a:rPr sz="2450" dirty="0">
                <a:latin typeface="Arial MT"/>
                <a:cs typeface="Arial MT"/>
              </a:rPr>
              <a:t>Social</a:t>
            </a:r>
            <a:r>
              <a:rPr sz="2450" spc="5" dirty="0">
                <a:latin typeface="Arial MT"/>
                <a:cs typeface="Arial MT"/>
              </a:rPr>
              <a:t> </a:t>
            </a:r>
            <a:r>
              <a:rPr sz="2450" dirty="0">
                <a:latin typeface="Arial MT"/>
                <a:cs typeface="Arial MT"/>
              </a:rPr>
              <a:t>obligation</a:t>
            </a:r>
            <a:r>
              <a:rPr sz="2450" spc="15" dirty="0">
                <a:latin typeface="Arial MT"/>
                <a:cs typeface="Arial MT"/>
              </a:rPr>
              <a:t> </a:t>
            </a:r>
            <a:r>
              <a:rPr sz="2450" dirty="0">
                <a:latin typeface="Arial MT"/>
                <a:cs typeface="Arial MT"/>
              </a:rPr>
              <a:t>–</a:t>
            </a:r>
            <a:r>
              <a:rPr sz="2450" spc="15" dirty="0">
                <a:latin typeface="Arial MT"/>
                <a:cs typeface="Arial MT"/>
              </a:rPr>
              <a:t>  </a:t>
            </a:r>
            <a:r>
              <a:rPr sz="2450" dirty="0">
                <a:latin typeface="Arial MT"/>
                <a:cs typeface="Arial MT"/>
              </a:rPr>
              <a:t>a</a:t>
            </a:r>
            <a:r>
              <a:rPr sz="2450" spc="20" dirty="0">
                <a:latin typeface="Arial MT"/>
                <a:cs typeface="Arial MT"/>
              </a:rPr>
              <a:t> </a:t>
            </a:r>
            <a:r>
              <a:rPr sz="2450" dirty="0">
                <a:latin typeface="Arial MT"/>
                <a:cs typeface="Arial MT"/>
              </a:rPr>
              <a:t>firm</a:t>
            </a:r>
            <a:r>
              <a:rPr sz="2450" spc="35" dirty="0">
                <a:latin typeface="Arial MT"/>
                <a:cs typeface="Arial MT"/>
              </a:rPr>
              <a:t> </a:t>
            </a:r>
            <a:r>
              <a:rPr sz="2450" dirty="0">
                <a:latin typeface="Arial MT"/>
                <a:cs typeface="Arial MT"/>
              </a:rPr>
              <a:t>engages</a:t>
            </a:r>
            <a:r>
              <a:rPr sz="2450" spc="20" dirty="0">
                <a:latin typeface="Arial MT"/>
                <a:cs typeface="Arial MT"/>
              </a:rPr>
              <a:t> </a:t>
            </a:r>
            <a:r>
              <a:rPr sz="2450" dirty="0">
                <a:latin typeface="Arial MT"/>
                <a:cs typeface="Arial MT"/>
              </a:rPr>
              <a:t>in</a:t>
            </a:r>
            <a:r>
              <a:rPr sz="2450" spc="10" dirty="0">
                <a:latin typeface="Arial MT"/>
                <a:cs typeface="Arial MT"/>
              </a:rPr>
              <a:t> </a:t>
            </a:r>
            <a:r>
              <a:rPr sz="2450" spc="-10" dirty="0">
                <a:latin typeface="Arial MT"/>
                <a:cs typeface="Arial MT"/>
              </a:rPr>
              <a:t>social </a:t>
            </a:r>
            <a:r>
              <a:rPr sz="2450" dirty="0">
                <a:latin typeface="Arial MT"/>
                <a:cs typeface="Arial MT"/>
              </a:rPr>
              <a:t>actions</a:t>
            </a:r>
            <a:r>
              <a:rPr sz="2450" spc="20" dirty="0">
                <a:latin typeface="Arial MT"/>
                <a:cs typeface="Arial MT"/>
              </a:rPr>
              <a:t> </a:t>
            </a:r>
            <a:r>
              <a:rPr sz="2450" dirty="0">
                <a:latin typeface="Arial MT"/>
                <a:cs typeface="Arial MT"/>
              </a:rPr>
              <a:t>because</a:t>
            </a:r>
            <a:r>
              <a:rPr sz="2450" spc="20" dirty="0">
                <a:latin typeface="Arial MT"/>
                <a:cs typeface="Arial MT"/>
              </a:rPr>
              <a:t> </a:t>
            </a:r>
            <a:r>
              <a:rPr sz="2450" dirty="0">
                <a:latin typeface="Arial MT"/>
                <a:cs typeface="Arial MT"/>
              </a:rPr>
              <a:t>of</a:t>
            </a:r>
            <a:r>
              <a:rPr sz="2450" spc="30" dirty="0">
                <a:latin typeface="Arial MT"/>
                <a:cs typeface="Arial MT"/>
              </a:rPr>
              <a:t> </a:t>
            </a:r>
            <a:r>
              <a:rPr sz="2450" dirty="0">
                <a:latin typeface="Arial MT"/>
                <a:cs typeface="Arial MT"/>
              </a:rPr>
              <a:t>its</a:t>
            </a:r>
            <a:r>
              <a:rPr sz="2450" spc="40" dirty="0">
                <a:latin typeface="Arial MT"/>
                <a:cs typeface="Arial MT"/>
              </a:rPr>
              <a:t> </a:t>
            </a:r>
            <a:r>
              <a:rPr sz="2450" dirty="0">
                <a:latin typeface="Arial MT"/>
                <a:cs typeface="Arial MT"/>
              </a:rPr>
              <a:t>obligation</a:t>
            </a:r>
            <a:r>
              <a:rPr sz="2450" spc="20" dirty="0">
                <a:latin typeface="Arial MT"/>
                <a:cs typeface="Arial MT"/>
              </a:rPr>
              <a:t> </a:t>
            </a:r>
            <a:r>
              <a:rPr sz="2450" dirty="0">
                <a:latin typeface="Arial MT"/>
                <a:cs typeface="Arial MT"/>
              </a:rPr>
              <a:t>to</a:t>
            </a:r>
            <a:r>
              <a:rPr sz="2450" spc="35" dirty="0">
                <a:latin typeface="Arial MT"/>
                <a:cs typeface="Arial MT"/>
              </a:rPr>
              <a:t> </a:t>
            </a:r>
            <a:r>
              <a:rPr sz="2450" dirty="0">
                <a:latin typeface="Arial MT"/>
                <a:cs typeface="Arial MT"/>
              </a:rPr>
              <a:t>meet</a:t>
            </a:r>
            <a:r>
              <a:rPr sz="2450" spc="40" dirty="0">
                <a:latin typeface="Arial MT"/>
                <a:cs typeface="Arial MT"/>
              </a:rPr>
              <a:t> </a:t>
            </a:r>
            <a:r>
              <a:rPr sz="2450" spc="-10" dirty="0">
                <a:latin typeface="Arial MT"/>
                <a:cs typeface="Arial MT"/>
              </a:rPr>
              <a:t>certain </a:t>
            </a:r>
            <a:r>
              <a:rPr sz="2450" dirty="0">
                <a:latin typeface="Arial MT"/>
                <a:cs typeface="Arial MT"/>
              </a:rPr>
              <a:t>economic</a:t>
            </a:r>
            <a:r>
              <a:rPr sz="2450" spc="15" dirty="0">
                <a:latin typeface="Arial MT"/>
                <a:cs typeface="Arial MT"/>
              </a:rPr>
              <a:t> </a:t>
            </a:r>
            <a:r>
              <a:rPr sz="2450" dirty="0">
                <a:latin typeface="Arial MT"/>
                <a:cs typeface="Arial MT"/>
              </a:rPr>
              <a:t>and</a:t>
            </a:r>
            <a:r>
              <a:rPr sz="2450" spc="25" dirty="0">
                <a:latin typeface="Arial MT"/>
                <a:cs typeface="Arial MT"/>
              </a:rPr>
              <a:t> </a:t>
            </a:r>
            <a:r>
              <a:rPr sz="2450" dirty="0">
                <a:latin typeface="Arial MT"/>
                <a:cs typeface="Arial MT"/>
              </a:rPr>
              <a:t>legal</a:t>
            </a:r>
            <a:r>
              <a:rPr sz="2450" spc="25" dirty="0">
                <a:latin typeface="Arial MT"/>
                <a:cs typeface="Arial MT"/>
              </a:rPr>
              <a:t> </a:t>
            </a:r>
            <a:r>
              <a:rPr sz="2450" spc="-10" dirty="0">
                <a:latin typeface="Arial MT"/>
                <a:cs typeface="Arial MT"/>
              </a:rPr>
              <a:t>responsibilities.</a:t>
            </a:r>
            <a:endParaRPr sz="2450">
              <a:latin typeface="Arial MT"/>
              <a:cs typeface="Arial MT"/>
            </a:endParaRPr>
          </a:p>
          <a:p>
            <a:pPr marL="472440" marR="30480">
              <a:lnSpc>
                <a:spcPct val="101400"/>
              </a:lnSpc>
              <a:spcBef>
                <a:spcPts val="490"/>
              </a:spcBef>
            </a:pPr>
            <a:r>
              <a:rPr sz="2450" dirty="0">
                <a:latin typeface="Arial MT"/>
                <a:cs typeface="Arial MT"/>
              </a:rPr>
              <a:t>Social</a:t>
            </a:r>
            <a:r>
              <a:rPr sz="2450" spc="5" dirty="0">
                <a:latin typeface="Arial MT"/>
                <a:cs typeface="Arial MT"/>
              </a:rPr>
              <a:t> </a:t>
            </a:r>
            <a:r>
              <a:rPr sz="2450" dirty="0">
                <a:latin typeface="Arial MT"/>
                <a:cs typeface="Arial MT"/>
              </a:rPr>
              <a:t>responsiveness</a:t>
            </a:r>
            <a:r>
              <a:rPr sz="2450" spc="25" dirty="0">
                <a:latin typeface="Arial MT"/>
                <a:cs typeface="Arial MT"/>
              </a:rPr>
              <a:t> </a:t>
            </a:r>
            <a:r>
              <a:rPr sz="2450" dirty="0">
                <a:latin typeface="Arial MT"/>
                <a:cs typeface="Arial MT"/>
              </a:rPr>
              <a:t>–</a:t>
            </a:r>
            <a:r>
              <a:rPr sz="2450" spc="15" dirty="0">
                <a:latin typeface="Arial MT"/>
                <a:cs typeface="Arial MT"/>
              </a:rPr>
              <a:t> </a:t>
            </a:r>
            <a:r>
              <a:rPr sz="2450" dirty="0">
                <a:latin typeface="Arial MT"/>
                <a:cs typeface="Arial MT"/>
              </a:rPr>
              <a:t>when</a:t>
            </a:r>
            <a:r>
              <a:rPr sz="2450" spc="30" dirty="0">
                <a:latin typeface="Arial MT"/>
                <a:cs typeface="Arial MT"/>
              </a:rPr>
              <a:t> </a:t>
            </a:r>
            <a:r>
              <a:rPr sz="2450" dirty="0">
                <a:latin typeface="Arial MT"/>
                <a:cs typeface="Arial MT"/>
              </a:rPr>
              <a:t>a</a:t>
            </a:r>
            <a:r>
              <a:rPr sz="2450" spc="20" dirty="0">
                <a:latin typeface="Arial MT"/>
                <a:cs typeface="Arial MT"/>
              </a:rPr>
              <a:t> </a:t>
            </a:r>
            <a:r>
              <a:rPr sz="2450" dirty="0">
                <a:latin typeface="Arial MT"/>
                <a:cs typeface="Arial MT"/>
              </a:rPr>
              <a:t>firm</a:t>
            </a:r>
            <a:r>
              <a:rPr sz="2450" spc="45" dirty="0">
                <a:latin typeface="Arial MT"/>
                <a:cs typeface="Arial MT"/>
              </a:rPr>
              <a:t> </a:t>
            </a:r>
            <a:r>
              <a:rPr sz="2450" dirty="0">
                <a:latin typeface="Arial MT"/>
                <a:cs typeface="Arial MT"/>
              </a:rPr>
              <a:t>engages</a:t>
            </a:r>
            <a:r>
              <a:rPr sz="2450" spc="35" dirty="0">
                <a:latin typeface="Arial MT"/>
                <a:cs typeface="Arial MT"/>
              </a:rPr>
              <a:t> </a:t>
            </a:r>
            <a:r>
              <a:rPr sz="2450" spc="-25" dirty="0">
                <a:latin typeface="Arial MT"/>
                <a:cs typeface="Arial MT"/>
              </a:rPr>
              <a:t>in </a:t>
            </a:r>
            <a:r>
              <a:rPr sz="2450" dirty="0">
                <a:latin typeface="Arial MT"/>
                <a:cs typeface="Arial MT"/>
              </a:rPr>
              <a:t>social</a:t>
            </a:r>
            <a:r>
              <a:rPr sz="2450" spc="20" dirty="0">
                <a:latin typeface="Arial MT"/>
                <a:cs typeface="Arial MT"/>
              </a:rPr>
              <a:t> </a:t>
            </a:r>
            <a:r>
              <a:rPr sz="2450" dirty="0">
                <a:latin typeface="Arial MT"/>
                <a:cs typeface="Arial MT"/>
              </a:rPr>
              <a:t>actions</a:t>
            </a:r>
            <a:r>
              <a:rPr sz="2450" spc="40" dirty="0">
                <a:latin typeface="Arial MT"/>
                <a:cs typeface="Arial MT"/>
              </a:rPr>
              <a:t> </a:t>
            </a:r>
            <a:r>
              <a:rPr sz="2450" dirty="0">
                <a:latin typeface="Arial MT"/>
                <a:cs typeface="Arial MT"/>
              </a:rPr>
              <a:t>in</a:t>
            </a:r>
            <a:r>
              <a:rPr sz="2450" spc="25" dirty="0">
                <a:latin typeface="Arial MT"/>
                <a:cs typeface="Arial MT"/>
              </a:rPr>
              <a:t> </a:t>
            </a:r>
            <a:r>
              <a:rPr sz="2450" dirty="0">
                <a:latin typeface="Arial MT"/>
                <a:cs typeface="Arial MT"/>
              </a:rPr>
              <a:t>response</a:t>
            </a:r>
            <a:r>
              <a:rPr sz="2450" spc="20" dirty="0">
                <a:latin typeface="Arial MT"/>
                <a:cs typeface="Arial MT"/>
              </a:rPr>
              <a:t> </a:t>
            </a:r>
            <a:r>
              <a:rPr sz="2450" dirty="0">
                <a:latin typeface="Arial MT"/>
                <a:cs typeface="Arial MT"/>
              </a:rPr>
              <a:t>to</a:t>
            </a:r>
            <a:r>
              <a:rPr sz="2450" spc="25" dirty="0">
                <a:latin typeface="Arial MT"/>
                <a:cs typeface="Arial MT"/>
              </a:rPr>
              <a:t> </a:t>
            </a:r>
            <a:r>
              <a:rPr sz="2450" dirty="0">
                <a:latin typeface="Arial MT"/>
                <a:cs typeface="Arial MT"/>
              </a:rPr>
              <a:t>some</a:t>
            </a:r>
            <a:r>
              <a:rPr sz="2450" spc="35" dirty="0">
                <a:latin typeface="Arial MT"/>
                <a:cs typeface="Arial MT"/>
              </a:rPr>
              <a:t> </a:t>
            </a:r>
            <a:r>
              <a:rPr sz="2450" dirty="0">
                <a:latin typeface="Arial MT"/>
                <a:cs typeface="Arial MT"/>
              </a:rPr>
              <a:t>popular</a:t>
            </a:r>
            <a:r>
              <a:rPr sz="2450" spc="25" dirty="0">
                <a:latin typeface="Arial MT"/>
                <a:cs typeface="Arial MT"/>
              </a:rPr>
              <a:t> </a:t>
            </a:r>
            <a:r>
              <a:rPr sz="2450" spc="-10" dirty="0">
                <a:latin typeface="Arial MT"/>
                <a:cs typeface="Arial MT"/>
              </a:rPr>
              <a:t>social need.</a:t>
            </a:r>
            <a:endParaRPr sz="24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2889" rIns="0" bIns="0" rtlCol="0">
            <a:spAutoFit/>
          </a:bodyPr>
          <a:lstStyle/>
          <a:p>
            <a:pPr marL="32384">
              <a:lnSpc>
                <a:spcPct val="100000"/>
              </a:lnSpc>
              <a:spcBef>
                <a:spcPts val="100"/>
              </a:spcBef>
            </a:pPr>
            <a:r>
              <a:rPr spc="320" dirty="0"/>
              <a:t>REVIEW</a:t>
            </a:r>
            <a:r>
              <a:rPr spc="75" dirty="0"/>
              <a:t> </a:t>
            </a:r>
            <a:r>
              <a:rPr spc="295" dirty="0"/>
              <a:t>LEARNING</a:t>
            </a:r>
            <a:r>
              <a:rPr spc="60" dirty="0"/>
              <a:t> </a:t>
            </a:r>
            <a:r>
              <a:rPr spc="180" dirty="0"/>
              <a:t>OBJECTIVE</a:t>
            </a:r>
            <a:r>
              <a:rPr spc="75" dirty="0"/>
              <a:t> </a:t>
            </a:r>
            <a:r>
              <a:rPr spc="165" dirty="0"/>
              <a:t>6.3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spc="-10" dirty="0"/>
              <a:t>6-</a:t>
            </a:r>
            <a:fld id="{81D60167-4931-47E6-BA6A-407CBD079E47}" type="slidenum">
              <a:rPr spc="-25" dirty="0"/>
              <a:t>42</a:t>
            </a:fld>
            <a:endParaRPr spc="-25" dirty="0"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Copyright</a:t>
            </a:r>
            <a:r>
              <a:rPr spc="-15" dirty="0"/>
              <a:t> </a:t>
            </a:r>
            <a:r>
              <a:rPr dirty="0"/>
              <a:t>©</a:t>
            </a:r>
            <a:r>
              <a:rPr spc="-15" dirty="0"/>
              <a:t> </a:t>
            </a:r>
            <a:r>
              <a:rPr dirty="0"/>
              <a:t>2016</a:t>
            </a:r>
            <a:r>
              <a:rPr spc="-5" dirty="0"/>
              <a:t> </a:t>
            </a:r>
            <a:r>
              <a:rPr dirty="0"/>
              <a:t>Pearson</a:t>
            </a:r>
            <a:r>
              <a:rPr spc="-10" dirty="0"/>
              <a:t> </a:t>
            </a:r>
            <a:r>
              <a:rPr dirty="0"/>
              <a:t>Education,</a:t>
            </a:r>
            <a:r>
              <a:rPr spc="-15" dirty="0"/>
              <a:t> </a:t>
            </a:r>
            <a:r>
              <a:rPr spc="-20" dirty="0"/>
              <a:t>Ltd.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60400" y="1634489"/>
            <a:ext cx="7603490" cy="36290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445134" marR="17780" indent="-420370">
              <a:lnSpc>
                <a:spcPct val="100600"/>
              </a:lnSpc>
              <a:spcBef>
                <a:spcPts val="90"/>
              </a:spcBef>
              <a:buClr>
                <a:srgbClr val="FF1C1C"/>
              </a:buClr>
              <a:buSzPct val="85454"/>
              <a:buFont typeface="Arial MT"/>
              <a:buChar char="•"/>
              <a:tabLst>
                <a:tab pos="445134" algn="l"/>
              </a:tabLst>
            </a:pPr>
            <a:r>
              <a:rPr sz="2750" b="1" dirty="0">
                <a:latin typeface="Arial"/>
                <a:cs typeface="Arial"/>
              </a:rPr>
              <a:t>Discuss</a:t>
            </a:r>
            <a:r>
              <a:rPr sz="2750" b="1" spc="-5" dirty="0">
                <a:latin typeface="Arial"/>
                <a:cs typeface="Arial"/>
              </a:rPr>
              <a:t> </a:t>
            </a:r>
            <a:r>
              <a:rPr sz="2750" b="1" dirty="0">
                <a:latin typeface="Arial"/>
                <a:cs typeface="Arial"/>
              </a:rPr>
              <a:t>the</a:t>
            </a:r>
            <a:r>
              <a:rPr sz="2750" b="1" spc="-5" dirty="0">
                <a:latin typeface="Arial"/>
                <a:cs typeface="Arial"/>
              </a:rPr>
              <a:t> </a:t>
            </a:r>
            <a:r>
              <a:rPr sz="2750" b="1" dirty="0">
                <a:latin typeface="Arial"/>
                <a:cs typeface="Arial"/>
              </a:rPr>
              <a:t>factors</a:t>
            </a:r>
            <a:r>
              <a:rPr sz="2750" b="1" spc="-15" dirty="0">
                <a:latin typeface="Arial"/>
                <a:cs typeface="Arial"/>
              </a:rPr>
              <a:t> </a:t>
            </a:r>
            <a:r>
              <a:rPr sz="2750" b="1" dirty="0">
                <a:latin typeface="Arial"/>
                <a:cs typeface="Arial"/>
              </a:rPr>
              <a:t>that lead</a:t>
            </a:r>
            <a:r>
              <a:rPr sz="2750" b="1" spc="-10" dirty="0">
                <a:latin typeface="Arial"/>
                <a:cs typeface="Arial"/>
              </a:rPr>
              <a:t> </a:t>
            </a:r>
            <a:r>
              <a:rPr sz="2750" b="1" dirty="0">
                <a:latin typeface="Arial"/>
                <a:cs typeface="Arial"/>
              </a:rPr>
              <a:t>to</a:t>
            </a:r>
            <a:r>
              <a:rPr sz="2750" b="1" spc="-10" dirty="0">
                <a:latin typeface="Arial"/>
                <a:cs typeface="Arial"/>
              </a:rPr>
              <a:t> </a:t>
            </a:r>
            <a:r>
              <a:rPr sz="2750" b="1" dirty="0">
                <a:latin typeface="Arial"/>
                <a:cs typeface="Arial"/>
              </a:rPr>
              <a:t>ethical</a:t>
            </a:r>
            <a:r>
              <a:rPr sz="2750" b="1" spc="-10" dirty="0">
                <a:latin typeface="Arial"/>
                <a:cs typeface="Arial"/>
              </a:rPr>
              <a:t> </a:t>
            </a:r>
            <a:r>
              <a:rPr sz="2750" b="1" spc="-25" dirty="0">
                <a:latin typeface="Arial"/>
                <a:cs typeface="Arial"/>
              </a:rPr>
              <a:t>and </a:t>
            </a:r>
            <a:r>
              <a:rPr sz="2750" b="1" dirty="0">
                <a:latin typeface="Arial"/>
                <a:cs typeface="Arial"/>
              </a:rPr>
              <a:t>unethical</a:t>
            </a:r>
            <a:r>
              <a:rPr sz="2750" b="1" spc="-10" dirty="0">
                <a:latin typeface="Arial"/>
                <a:cs typeface="Arial"/>
              </a:rPr>
              <a:t> behavior.</a:t>
            </a:r>
            <a:endParaRPr sz="2750">
              <a:latin typeface="Arial"/>
              <a:cs typeface="Arial"/>
            </a:endParaRPr>
          </a:p>
          <a:p>
            <a:pPr marL="706120" marR="300990" lvl="1" indent="-260350">
              <a:lnSpc>
                <a:spcPct val="100000"/>
              </a:lnSpc>
              <a:spcBef>
                <a:spcPts val="490"/>
              </a:spcBef>
              <a:buSzPct val="83333"/>
              <a:buChar char="–"/>
              <a:tabLst>
                <a:tab pos="708660" algn="l"/>
              </a:tabLst>
            </a:pPr>
            <a:r>
              <a:rPr sz="2400" dirty="0">
                <a:latin typeface="Arial MT"/>
                <a:cs typeface="Arial MT"/>
              </a:rPr>
              <a:t>Factors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that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affect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ethical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unethical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behavior 	include</a:t>
            </a:r>
            <a:endParaRPr sz="2400">
              <a:latin typeface="Arial MT"/>
              <a:cs typeface="Arial MT"/>
            </a:endParaRPr>
          </a:p>
          <a:p>
            <a:pPr marL="1075690" lvl="2" indent="-209550">
              <a:lnSpc>
                <a:spcPct val="100000"/>
              </a:lnSpc>
              <a:spcBef>
                <a:spcPts val="459"/>
              </a:spcBef>
              <a:buClr>
                <a:srgbClr val="FF1C1C"/>
              </a:buClr>
              <a:buSzPct val="84090"/>
              <a:buChar char="•"/>
              <a:tabLst>
                <a:tab pos="1075690" algn="l"/>
              </a:tabLst>
            </a:pPr>
            <a:r>
              <a:rPr sz="2200" dirty="0">
                <a:latin typeface="Arial MT"/>
                <a:cs typeface="Arial MT"/>
              </a:rPr>
              <a:t>an</a:t>
            </a:r>
            <a:r>
              <a:rPr sz="2200" spc="-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individual’s</a:t>
            </a:r>
            <a:r>
              <a:rPr sz="2200" spc="-1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level of</a:t>
            </a:r>
            <a:r>
              <a:rPr sz="2200" spc="-1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moral </a:t>
            </a:r>
            <a:r>
              <a:rPr sz="2200" spc="-10" dirty="0">
                <a:latin typeface="Arial MT"/>
                <a:cs typeface="Arial MT"/>
              </a:rPr>
              <a:t>development</a:t>
            </a:r>
            <a:endParaRPr sz="2200">
              <a:latin typeface="Arial MT"/>
              <a:cs typeface="Arial MT"/>
            </a:endParaRPr>
          </a:p>
          <a:p>
            <a:pPr marL="1075690" lvl="2" indent="-209550">
              <a:lnSpc>
                <a:spcPct val="100000"/>
              </a:lnSpc>
              <a:spcBef>
                <a:spcPts val="459"/>
              </a:spcBef>
              <a:buClr>
                <a:srgbClr val="FF1C1C"/>
              </a:buClr>
              <a:buSzPct val="84090"/>
              <a:buChar char="•"/>
              <a:tabLst>
                <a:tab pos="1075690" algn="l"/>
              </a:tabLst>
            </a:pPr>
            <a:r>
              <a:rPr sz="2200" dirty="0">
                <a:latin typeface="Arial MT"/>
                <a:cs typeface="Arial MT"/>
              </a:rPr>
              <a:t>individual</a:t>
            </a:r>
            <a:r>
              <a:rPr sz="2200" spc="10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characteristics</a:t>
            </a:r>
            <a:endParaRPr sz="2200">
              <a:latin typeface="Arial MT"/>
              <a:cs typeface="Arial MT"/>
            </a:endParaRPr>
          </a:p>
          <a:p>
            <a:pPr marL="1075690" lvl="2" indent="-209550">
              <a:lnSpc>
                <a:spcPct val="100000"/>
              </a:lnSpc>
              <a:spcBef>
                <a:spcPts val="450"/>
              </a:spcBef>
              <a:buClr>
                <a:srgbClr val="FF1C1C"/>
              </a:buClr>
              <a:buSzPct val="84090"/>
              <a:buChar char="•"/>
              <a:tabLst>
                <a:tab pos="1075690" algn="l"/>
              </a:tabLst>
            </a:pPr>
            <a:r>
              <a:rPr sz="2200" dirty="0">
                <a:latin typeface="Arial MT"/>
                <a:cs typeface="Arial MT"/>
              </a:rPr>
              <a:t>structural</a:t>
            </a:r>
            <a:r>
              <a:rPr sz="2200" spc="10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variables</a:t>
            </a:r>
            <a:endParaRPr sz="2200">
              <a:latin typeface="Arial MT"/>
              <a:cs typeface="Arial MT"/>
            </a:endParaRPr>
          </a:p>
          <a:p>
            <a:pPr marL="1075690" lvl="2" indent="-209550">
              <a:lnSpc>
                <a:spcPct val="100000"/>
              </a:lnSpc>
              <a:spcBef>
                <a:spcPts val="459"/>
              </a:spcBef>
              <a:buClr>
                <a:srgbClr val="FF1C1C"/>
              </a:buClr>
              <a:buSzPct val="84090"/>
              <a:buChar char="•"/>
              <a:tabLst>
                <a:tab pos="1075690" algn="l"/>
              </a:tabLst>
            </a:pPr>
            <a:r>
              <a:rPr sz="2200" dirty="0">
                <a:latin typeface="Arial MT"/>
                <a:cs typeface="Arial MT"/>
              </a:rPr>
              <a:t>organizational</a:t>
            </a:r>
            <a:r>
              <a:rPr sz="2200" spc="5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culture</a:t>
            </a:r>
            <a:endParaRPr sz="2200">
              <a:latin typeface="Arial MT"/>
              <a:cs typeface="Arial MT"/>
            </a:endParaRPr>
          </a:p>
          <a:p>
            <a:pPr marL="1075690" lvl="2" indent="-209550">
              <a:lnSpc>
                <a:spcPct val="100000"/>
              </a:lnSpc>
              <a:spcBef>
                <a:spcPts val="459"/>
              </a:spcBef>
              <a:buClr>
                <a:srgbClr val="FF1C1C"/>
              </a:buClr>
              <a:buSzPct val="84090"/>
              <a:buChar char="•"/>
              <a:tabLst>
                <a:tab pos="1075690" algn="l"/>
              </a:tabLst>
            </a:pPr>
            <a:r>
              <a:rPr sz="2200" dirty="0">
                <a:latin typeface="Arial MT"/>
                <a:cs typeface="Arial MT"/>
              </a:rPr>
              <a:t>issue</a:t>
            </a:r>
            <a:r>
              <a:rPr sz="2200" spc="20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intensity</a:t>
            </a:r>
            <a:endParaRPr sz="2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2889" rIns="0" bIns="0" rtlCol="0">
            <a:spAutoFit/>
          </a:bodyPr>
          <a:lstStyle/>
          <a:p>
            <a:pPr marL="32384">
              <a:lnSpc>
                <a:spcPct val="100000"/>
              </a:lnSpc>
              <a:spcBef>
                <a:spcPts val="100"/>
              </a:spcBef>
            </a:pPr>
            <a:r>
              <a:rPr spc="320" dirty="0"/>
              <a:t>REVIEW</a:t>
            </a:r>
            <a:r>
              <a:rPr spc="75" dirty="0"/>
              <a:t> </a:t>
            </a:r>
            <a:r>
              <a:rPr spc="295" dirty="0"/>
              <a:t>LEARNING</a:t>
            </a:r>
            <a:r>
              <a:rPr spc="60" dirty="0"/>
              <a:t> </a:t>
            </a:r>
            <a:r>
              <a:rPr spc="180" dirty="0"/>
              <a:t>OBJECTIVE</a:t>
            </a:r>
            <a:r>
              <a:rPr spc="75" dirty="0"/>
              <a:t> </a:t>
            </a:r>
            <a:r>
              <a:rPr spc="165" dirty="0"/>
              <a:t>6.4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spc="-10" dirty="0"/>
              <a:t>6-</a:t>
            </a:r>
            <a:fld id="{81D60167-4931-47E6-BA6A-407CBD079E47}" type="slidenum">
              <a:rPr spc="-25" dirty="0"/>
              <a:t>43</a:t>
            </a:fld>
            <a:endParaRPr spc="-25" dirty="0"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Copyright</a:t>
            </a:r>
            <a:r>
              <a:rPr spc="-15" dirty="0"/>
              <a:t> </a:t>
            </a:r>
            <a:r>
              <a:rPr dirty="0"/>
              <a:t>©</a:t>
            </a:r>
            <a:r>
              <a:rPr spc="-15" dirty="0"/>
              <a:t> </a:t>
            </a:r>
            <a:r>
              <a:rPr dirty="0"/>
              <a:t>2016</a:t>
            </a:r>
            <a:r>
              <a:rPr spc="-5" dirty="0"/>
              <a:t> </a:t>
            </a:r>
            <a:r>
              <a:rPr dirty="0"/>
              <a:t>Pearson</a:t>
            </a:r>
            <a:r>
              <a:rPr spc="-10" dirty="0"/>
              <a:t> </a:t>
            </a:r>
            <a:r>
              <a:rPr dirty="0"/>
              <a:t>Education,</a:t>
            </a:r>
            <a:r>
              <a:rPr spc="-15" dirty="0"/>
              <a:t> </a:t>
            </a:r>
            <a:r>
              <a:rPr spc="-20" dirty="0"/>
              <a:t>Ltd.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60400" y="1634490"/>
            <a:ext cx="7807959" cy="32067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82600" marR="2084070" indent="-457200">
              <a:lnSpc>
                <a:spcPct val="100000"/>
              </a:lnSpc>
              <a:spcBef>
                <a:spcPts val="100"/>
              </a:spcBef>
              <a:buClr>
                <a:srgbClr val="FF1C1C"/>
              </a:buClr>
              <a:buSzPct val="83928"/>
              <a:buFont typeface="Arial MT"/>
              <a:buChar char="•"/>
              <a:tabLst>
                <a:tab pos="482600" algn="l"/>
              </a:tabLst>
            </a:pPr>
            <a:r>
              <a:rPr sz="2800" b="1" dirty="0">
                <a:latin typeface="Arial"/>
                <a:cs typeface="Arial"/>
              </a:rPr>
              <a:t>Describe</a:t>
            </a:r>
            <a:r>
              <a:rPr sz="2800" b="1" spc="-75" dirty="0">
                <a:latin typeface="Arial"/>
                <a:cs typeface="Arial"/>
              </a:rPr>
              <a:t> </a:t>
            </a:r>
            <a:r>
              <a:rPr sz="2800" b="1" spc="-25" dirty="0">
                <a:latin typeface="Arial"/>
                <a:cs typeface="Arial"/>
              </a:rPr>
              <a:t>management’s</a:t>
            </a:r>
            <a:r>
              <a:rPr sz="2800" b="1" spc="-125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role</a:t>
            </a:r>
            <a:r>
              <a:rPr sz="2800" b="1" spc="-80" dirty="0">
                <a:latin typeface="Arial"/>
                <a:cs typeface="Arial"/>
              </a:rPr>
              <a:t> </a:t>
            </a:r>
            <a:r>
              <a:rPr sz="2800" b="1" spc="-25" dirty="0">
                <a:latin typeface="Arial"/>
                <a:cs typeface="Arial"/>
              </a:rPr>
              <a:t>in </a:t>
            </a:r>
            <a:r>
              <a:rPr sz="2800" b="1" spc="-10" dirty="0">
                <a:latin typeface="Arial"/>
                <a:cs typeface="Arial"/>
              </a:rPr>
              <a:t>encouraging</a:t>
            </a:r>
            <a:r>
              <a:rPr sz="2800" b="1" spc="-114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ethical</a:t>
            </a:r>
            <a:r>
              <a:rPr sz="2800" b="1" spc="-95" dirty="0">
                <a:latin typeface="Arial"/>
                <a:cs typeface="Arial"/>
              </a:rPr>
              <a:t> </a:t>
            </a:r>
            <a:r>
              <a:rPr sz="2800" b="1" spc="-10" dirty="0">
                <a:latin typeface="Arial"/>
                <a:cs typeface="Arial"/>
              </a:rPr>
              <a:t>behavior.</a:t>
            </a:r>
            <a:endParaRPr sz="2800">
              <a:latin typeface="Arial"/>
              <a:cs typeface="Arial"/>
            </a:endParaRPr>
          </a:p>
          <a:p>
            <a:pPr marL="768350" marR="17780" lvl="1" indent="-285750">
              <a:lnSpc>
                <a:spcPct val="100499"/>
              </a:lnSpc>
              <a:spcBef>
                <a:spcPts val="484"/>
              </a:spcBef>
              <a:buSzPct val="85416"/>
              <a:buChar char="–"/>
              <a:tabLst>
                <a:tab pos="768350" algn="l"/>
              </a:tabLst>
            </a:pP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behavior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managers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is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single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most </a:t>
            </a:r>
            <a:r>
              <a:rPr sz="2400" dirty="0">
                <a:latin typeface="Arial MT"/>
                <a:cs typeface="Arial MT"/>
              </a:rPr>
              <a:t>important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influence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on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individual’s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decision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act </a:t>
            </a:r>
            <a:r>
              <a:rPr sz="2400" dirty="0">
                <a:latin typeface="Arial MT"/>
                <a:cs typeface="Arial MT"/>
              </a:rPr>
              <a:t>ethically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or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unethically.</a:t>
            </a:r>
            <a:endParaRPr sz="2400">
              <a:latin typeface="Arial MT"/>
              <a:cs typeface="Arial MT"/>
            </a:endParaRPr>
          </a:p>
          <a:p>
            <a:pPr marL="768350" marR="327025" lvl="1" indent="-285750">
              <a:lnSpc>
                <a:spcPct val="100499"/>
              </a:lnSpc>
              <a:spcBef>
                <a:spcPts val="475"/>
              </a:spcBef>
              <a:buSzPct val="85416"/>
              <a:buChar char="–"/>
              <a:tabLst>
                <a:tab pos="768350" algn="l"/>
              </a:tabLst>
            </a:pPr>
            <a:r>
              <a:rPr sz="2400" dirty="0">
                <a:latin typeface="Arial MT"/>
                <a:cs typeface="Arial MT"/>
              </a:rPr>
              <a:t>Other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ways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include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employee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selection,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code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of </a:t>
            </a:r>
            <a:r>
              <a:rPr sz="2400" dirty="0">
                <a:latin typeface="Arial MT"/>
                <a:cs typeface="Arial MT"/>
              </a:rPr>
              <a:t>ethics,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using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means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ends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for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goals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and </a:t>
            </a:r>
            <a:r>
              <a:rPr sz="2400" dirty="0">
                <a:latin typeface="Arial MT"/>
                <a:cs typeface="Arial MT"/>
              </a:rPr>
              <a:t>performance</a:t>
            </a:r>
            <a:r>
              <a:rPr sz="2400" spc="-10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appraisal</a:t>
            </a:r>
            <a:r>
              <a:rPr sz="2400" spc="-10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10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ethics</a:t>
            </a:r>
            <a:r>
              <a:rPr sz="2400" spc="-10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training.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2889" rIns="0" bIns="0" rtlCol="0">
            <a:spAutoFit/>
          </a:bodyPr>
          <a:lstStyle/>
          <a:p>
            <a:pPr marL="32384">
              <a:lnSpc>
                <a:spcPct val="100000"/>
              </a:lnSpc>
              <a:spcBef>
                <a:spcPts val="100"/>
              </a:spcBef>
            </a:pPr>
            <a:r>
              <a:rPr spc="320" dirty="0"/>
              <a:t>REVIEW</a:t>
            </a:r>
            <a:r>
              <a:rPr spc="75" dirty="0"/>
              <a:t> </a:t>
            </a:r>
            <a:r>
              <a:rPr spc="295" dirty="0"/>
              <a:t>LEARNING</a:t>
            </a:r>
            <a:r>
              <a:rPr spc="60" dirty="0"/>
              <a:t> </a:t>
            </a:r>
            <a:r>
              <a:rPr spc="180" dirty="0"/>
              <a:t>OBJECTIVE</a:t>
            </a:r>
            <a:r>
              <a:rPr spc="75" dirty="0"/>
              <a:t> </a:t>
            </a:r>
            <a:r>
              <a:rPr spc="165" dirty="0"/>
              <a:t>6.5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spc="-10" dirty="0"/>
              <a:t>6-</a:t>
            </a:r>
            <a:fld id="{81D60167-4931-47E6-BA6A-407CBD079E47}" type="slidenum">
              <a:rPr spc="-25" dirty="0"/>
              <a:t>44</a:t>
            </a:fld>
            <a:endParaRPr spc="-25" dirty="0"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Copyright</a:t>
            </a:r>
            <a:r>
              <a:rPr spc="-15" dirty="0"/>
              <a:t> </a:t>
            </a:r>
            <a:r>
              <a:rPr dirty="0"/>
              <a:t>©</a:t>
            </a:r>
            <a:r>
              <a:rPr spc="-15" dirty="0"/>
              <a:t> </a:t>
            </a:r>
            <a:r>
              <a:rPr dirty="0"/>
              <a:t>2016</a:t>
            </a:r>
            <a:r>
              <a:rPr spc="-5" dirty="0"/>
              <a:t> </a:t>
            </a:r>
            <a:r>
              <a:rPr dirty="0"/>
              <a:t>Pearson</a:t>
            </a:r>
            <a:r>
              <a:rPr spc="-10" dirty="0"/>
              <a:t> </a:t>
            </a:r>
            <a:r>
              <a:rPr dirty="0"/>
              <a:t>Education,</a:t>
            </a:r>
            <a:r>
              <a:rPr spc="-15" dirty="0"/>
              <a:t> </a:t>
            </a:r>
            <a:r>
              <a:rPr spc="-20" dirty="0"/>
              <a:t>Ltd.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60400" y="1634489"/>
            <a:ext cx="7790180" cy="3362325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468630" marR="74930" indent="-443230">
              <a:lnSpc>
                <a:spcPct val="100899"/>
              </a:lnSpc>
              <a:spcBef>
                <a:spcPts val="75"/>
              </a:spcBef>
              <a:buClr>
                <a:srgbClr val="FF1C1C"/>
              </a:buClr>
              <a:buSzPct val="84482"/>
              <a:buFont typeface="Arial MT"/>
              <a:buChar char="•"/>
              <a:tabLst>
                <a:tab pos="468630" algn="l"/>
              </a:tabLst>
            </a:pPr>
            <a:r>
              <a:rPr sz="2900" b="1" dirty="0">
                <a:latin typeface="Arial"/>
                <a:cs typeface="Arial"/>
              </a:rPr>
              <a:t>Discuss</a:t>
            </a:r>
            <a:r>
              <a:rPr sz="2900" b="1" spc="65" dirty="0">
                <a:latin typeface="Arial"/>
                <a:cs typeface="Arial"/>
              </a:rPr>
              <a:t> </a:t>
            </a:r>
            <a:r>
              <a:rPr sz="2900" b="1" dirty="0">
                <a:latin typeface="Arial"/>
                <a:cs typeface="Arial"/>
              </a:rPr>
              <a:t>current</a:t>
            </a:r>
            <a:r>
              <a:rPr sz="2900" b="1" spc="55" dirty="0">
                <a:latin typeface="Arial"/>
                <a:cs typeface="Arial"/>
              </a:rPr>
              <a:t> </a:t>
            </a:r>
            <a:r>
              <a:rPr sz="2900" b="1" dirty="0">
                <a:latin typeface="Arial"/>
                <a:cs typeface="Arial"/>
              </a:rPr>
              <a:t>social</a:t>
            </a:r>
            <a:r>
              <a:rPr sz="2900" b="1" spc="50" dirty="0">
                <a:latin typeface="Arial"/>
                <a:cs typeface="Arial"/>
              </a:rPr>
              <a:t> </a:t>
            </a:r>
            <a:r>
              <a:rPr sz="2900" b="1" dirty="0">
                <a:latin typeface="Arial"/>
                <a:cs typeface="Arial"/>
              </a:rPr>
              <a:t>responsibility</a:t>
            </a:r>
            <a:r>
              <a:rPr sz="2900" b="1" spc="5" dirty="0">
                <a:latin typeface="Arial"/>
                <a:cs typeface="Arial"/>
              </a:rPr>
              <a:t> </a:t>
            </a:r>
            <a:r>
              <a:rPr sz="2900" b="1" spc="-25" dirty="0">
                <a:latin typeface="Arial"/>
                <a:cs typeface="Arial"/>
              </a:rPr>
              <a:t>and </a:t>
            </a:r>
            <a:r>
              <a:rPr sz="2900" b="1" dirty="0">
                <a:latin typeface="Arial"/>
                <a:cs typeface="Arial"/>
              </a:rPr>
              <a:t>ethics</a:t>
            </a:r>
            <a:r>
              <a:rPr sz="2900" b="1" spc="40" dirty="0">
                <a:latin typeface="Arial"/>
                <a:cs typeface="Arial"/>
              </a:rPr>
              <a:t> </a:t>
            </a:r>
            <a:r>
              <a:rPr sz="2900" b="1" spc="-10" dirty="0">
                <a:latin typeface="Arial"/>
                <a:cs typeface="Arial"/>
              </a:rPr>
              <a:t>issues.</a:t>
            </a:r>
            <a:endParaRPr sz="2900">
              <a:latin typeface="Arial"/>
              <a:cs typeface="Arial"/>
            </a:endParaRPr>
          </a:p>
          <a:p>
            <a:pPr marL="745490" marR="232410" lvl="1" indent="-276860">
              <a:lnSpc>
                <a:spcPct val="101499"/>
              </a:lnSpc>
              <a:spcBef>
                <a:spcPts val="495"/>
              </a:spcBef>
              <a:buSzPct val="84000"/>
              <a:buChar char="–"/>
              <a:tabLst>
                <a:tab pos="745490" algn="l"/>
              </a:tabLst>
            </a:pPr>
            <a:r>
              <a:rPr sz="2500" dirty="0">
                <a:latin typeface="Arial MT"/>
                <a:cs typeface="Arial MT"/>
              </a:rPr>
              <a:t>Ethical</a:t>
            </a:r>
            <a:r>
              <a:rPr sz="2500" spc="50" dirty="0">
                <a:latin typeface="Arial MT"/>
                <a:cs typeface="Arial MT"/>
              </a:rPr>
              <a:t> </a:t>
            </a:r>
            <a:r>
              <a:rPr sz="2500" dirty="0">
                <a:latin typeface="Arial MT"/>
                <a:cs typeface="Arial MT"/>
              </a:rPr>
              <a:t>leaders</a:t>
            </a:r>
            <a:r>
              <a:rPr sz="2500" spc="65" dirty="0">
                <a:latin typeface="Arial MT"/>
                <a:cs typeface="Arial MT"/>
              </a:rPr>
              <a:t> </a:t>
            </a:r>
            <a:r>
              <a:rPr sz="2500" dirty="0">
                <a:latin typeface="Arial MT"/>
                <a:cs typeface="Arial MT"/>
              </a:rPr>
              <a:t>also</a:t>
            </a:r>
            <a:r>
              <a:rPr sz="2500" spc="55" dirty="0">
                <a:latin typeface="Arial MT"/>
                <a:cs typeface="Arial MT"/>
              </a:rPr>
              <a:t> </a:t>
            </a:r>
            <a:r>
              <a:rPr sz="2500" dirty="0">
                <a:latin typeface="Arial MT"/>
                <a:cs typeface="Arial MT"/>
              </a:rPr>
              <a:t>are</a:t>
            </a:r>
            <a:r>
              <a:rPr sz="2500" spc="55" dirty="0">
                <a:latin typeface="Arial MT"/>
                <a:cs typeface="Arial MT"/>
              </a:rPr>
              <a:t> </a:t>
            </a:r>
            <a:r>
              <a:rPr sz="2500" dirty="0">
                <a:latin typeface="Arial MT"/>
                <a:cs typeface="Arial MT"/>
              </a:rPr>
              <a:t>honest,</a:t>
            </a:r>
            <a:r>
              <a:rPr sz="2500" spc="65" dirty="0">
                <a:latin typeface="Arial MT"/>
                <a:cs typeface="Arial MT"/>
              </a:rPr>
              <a:t> </a:t>
            </a:r>
            <a:r>
              <a:rPr sz="2500" dirty="0">
                <a:latin typeface="Arial MT"/>
                <a:cs typeface="Arial MT"/>
              </a:rPr>
              <a:t>share</a:t>
            </a:r>
            <a:r>
              <a:rPr sz="2500" spc="55" dirty="0">
                <a:latin typeface="Arial MT"/>
                <a:cs typeface="Arial MT"/>
              </a:rPr>
              <a:t> </a:t>
            </a:r>
            <a:r>
              <a:rPr sz="2500" spc="-10" dirty="0">
                <a:latin typeface="Arial MT"/>
                <a:cs typeface="Arial MT"/>
              </a:rPr>
              <a:t>their </a:t>
            </a:r>
            <a:r>
              <a:rPr sz="2500" dirty="0">
                <a:latin typeface="Arial MT"/>
                <a:cs typeface="Arial MT"/>
              </a:rPr>
              <a:t>values,</a:t>
            </a:r>
            <a:r>
              <a:rPr sz="2500" spc="60" dirty="0">
                <a:latin typeface="Arial MT"/>
                <a:cs typeface="Arial MT"/>
              </a:rPr>
              <a:t> </a:t>
            </a:r>
            <a:r>
              <a:rPr sz="2500" dirty="0">
                <a:latin typeface="Arial MT"/>
                <a:cs typeface="Arial MT"/>
              </a:rPr>
              <a:t>stress</a:t>
            </a:r>
            <a:r>
              <a:rPr sz="2500" spc="50" dirty="0">
                <a:latin typeface="Arial MT"/>
                <a:cs typeface="Arial MT"/>
              </a:rPr>
              <a:t> </a:t>
            </a:r>
            <a:r>
              <a:rPr sz="2500" dirty="0">
                <a:latin typeface="Arial MT"/>
                <a:cs typeface="Arial MT"/>
              </a:rPr>
              <a:t>important</a:t>
            </a:r>
            <a:r>
              <a:rPr sz="2500" spc="55" dirty="0">
                <a:latin typeface="Arial MT"/>
                <a:cs typeface="Arial MT"/>
              </a:rPr>
              <a:t> </a:t>
            </a:r>
            <a:r>
              <a:rPr sz="2500" dirty="0">
                <a:latin typeface="Arial MT"/>
                <a:cs typeface="Arial MT"/>
              </a:rPr>
              <a:t>shared</a:t>
            </a:r>
            <a:r>
              <a:rPr sz="2500" spc="50" dirty="0">
                <a:latin typeface="Arial MT"/>
                <a:cs typeface="Arial MT"/>
              </a:rPr>
              <a:t> </a:t>
            </a:r>
            <a:r>
              <a:rPr sz="2500" dirty="0">
                <a:latin typeface="Arial MT"/>
                <a:cs typeface="Arial MT"/>
              </a:rPr>
              <a:t>values,</a:t>
            </a:r>
            <a:r>
              <a:rPr sz="2500" spc="50" dirty="0">
                <a:latin typeface="Arial MT"/>
                <a:cs typeface="Arial MT"/>
              </a:rPr>
              <a:t> </a:t>
            </a:r>
            <a:r>
              <a:rPr sz="2500" dirty="0">
                <a:latin typeface="Arial MT"/>
                <a:cs typeface="Arial MT"/>
              </a:rPr>
              <a:t>and</a:t>
            </a:r>
            <a:r>
              <a:rPr sz="2500" spc="55" dirty="0">
                <a:latin typeface="Arial MT"/>
                <a:cs typeface="Arial MT"/>
              </a:rPr>
              <a:t> </a:t>
            </a:r>
            <a:r>
              <a:rPr sz="2500" spc="-25" dirty="0">
                <a:latin typeface="Arial MT"/>
                <a:cs typeface="Arial MT"/>
              </a:rPr>
              <a:t>use </a:t>
            </a:r>
            <a:r>
              <a:rPr sz="2500" dirty="0">
                <a:latin typeface="Arial MT"/>
                <a:cs typeface="Arial MT"/>
              </a:rPr>
              <a:t>the</a:t>
            </a:r>
            <a:r>
              <a:rPr sz="2500" spc="25" dirty="0">
                <a:latin typeface="Arial MT"/>
                <a:cs typeface="Arial MT"/>
              </a:rPr>
              <a:t> </a:t>
            </a:r>
            <a:r>
              <a:rPr sz="2500" dirty="0">
                <a:latin typeface="Arial MT"/>
                <a:cs typeface="Arial MT"/>
              </a:rPr>
              <a:t>reward</a:t>
            </a:r>
            <a:r>
              <a:rPr sz="2500" spc="30" dirty="0">
                <a:latin typeface="Arial MT"/>
                <a:cs typeface="Arial MT"/>
              </a:rPr>
              <a:t> </a:t>
            </a:r>
            <a:r>
              <a:rPr sz="2500" dirty="0">
                <a:latin typeface="Arial MT"/>
                <a:cs typeface="Arial MT"/>
              </a:rPr>
              <a:t>system</a:t>
            </a:r>
            <a:r>
              <a:rPr sz="2500" spc="50" dirty="0">
                <a:latin typeface="Arial MT"/>
                <a:cs typeface="Arial MT"/>
              </a:rPr>
              <a:t> </a:t>
            </a:r>
            <a:r>
              <a:rPr sz="2500" spc="-10" dirty="0">
                <a:latin typeface="Arial MT"/>
                <a:cs typeface="Arial MT"/>
              </a:rPr>
              <a:t>appropriately.</a:t>
            </a:r>
            <a:endParaRPr sz="2500">
              <a:latin typeface="Arial MT"/>
              <a:cs typeface="Arial MT"/>
            </a:endParaRPr>
          </a:p>
          <a:p>
            <a:pPr marL="745490" marR="17780" lvl="1" indent="-276860">
              <a:lnSpc>
                <a:spcPct val="101499"/>
              </a:lnSpc>
              <a:spcBef>
                <a:spcPts val="505"/>
              </a:spcBef>
              <a:buSzPct val="84000"/>
              <a:buChar char="–"/>
              <a:tabLst>
                <a:tab pos="745490" algn="l"/>
              </a:tabLst>
            </a:pPr>
            <a:r>
              <a:rPr sz="2500" dirty="0">
                <a:latin typeface="Arial MT"/>
                <a:cs typeface="Arial MT"/>
              </a:rPr>
              <a:t>Managers</a:t>
            </a:r>
            <a:r>
              <a:rPr sz="2500" spc="85" dirty="0">
                <a:latin typeface="Arial MT"/>
                <a:cs typeface="Arial MT"/>
              </a:rPr>
              <a:t> </a:t>
            </a:r>
            <a:r>
              <a:rPr sz="2500" dirty="0">
                <a:latin typeface="Arial MT"/>
                <a:cs typeface="Arial MT"/>
              </a:rPr>
              <a:t>can</a:t>
            </a:r>
            <a:r>
              <a:rPr sz="2500" spc="85" dirty="0">
                <a:latin typeface="Arial MT"/>
                <a:cs typeface="Arial MT"/>
              </a:rPr>
              <a:t> </a:t>
            </a:r>
            <a:r>
              <a:rPr sz="2500" dirty="0">
                <a:latin typeface="Arial MT"/>
                <a:cs typeface="Arial MT"/>
              </a:rPr>
              <a:t>protect</a:t>
            </a:r>
            <a:r>
              <a:rPr sz="2500" spc="75" dirty="0">
                <a:latin typeface="Arial MT"/>
                <a:cs typeface="Arial MT"/>
              </a:rPr>
              <a:t> </a:t>
            </a:r>
            <a:r>
              <a:rPr sz="2500" dirty="0">
                <a:latin typeface="Arial MT"/>
                <a:cs typeface="Arial MT"/>
              </a:rPr>
              <a:t>whistle-</a:t>
            </a:r>
            <a:r>
              <a:rPr sz="2500" spc="-10" dirty="0">
                <a:latin typeface="Arial MT"/>
                <a:cs typeface="Arial MT"/>
              </a:rPr>
              <a:t>blowers </a:t>
            </a:r>
            <a:r>
              <a:rPr sz="2500" dirty="0">
                <a:latin typeface="Arial MT"/>
                <a:cs typeface="Arial MT"/>
              </a:rPr>
              <a:t>(employees</a:t>
            </a:r>
            <a:r>
              <a:rPr sz="2500" spc="65" dirty="0">
                <a:latin typeface="Arial MT"/>
                <a:cs typeface="Arial MT"/>
              </a:rPr>
              <a:t> </a:t>
            </a:r>
            <a:r>
              <a:rPr sz="2500" dirty="0">
                <a:latin typeface="Arial MT"/>
                <a:cs typeface="Arial MT"/>
              </a:rPr>
              <a:t>who</a:t>
            </a:r>
            <a:r>
              <a:rPr sz="2500" spc="55" dirty="0">
                <a:latin typeface="Arial MT"/>
                <a:cs typeface="Arial MT"/>
              </a:rPr>
              <a:t> </a:t>
            </a:r>
            <a:r>
              <a:rPr sz="2500" dirty="0">
                <a:latin typeface="Arial MT"/>
                <a:cs typeface="Arial MT"/>
              </a:rPr>
              <a:t>raise</a:t>
            </a:r>
            <a:r>
              <a:rPr sz="2500" spc="60" dirty="0">
                <a:latin typeface="Arial MT"/>
                <a:cs typeface="Arial MT"/>
              </a:rPr>
              <a:t> </a:t>
            </a:r>
            <a:r>
              <a:rPr sz="2500" dirty="0">
                <a:latin typeface="Arial MT"/>
                <a:cs typeface="Arial MT"/>
              </a:rPr>
              <a:t>ethical</a:t>
            </a:r>
            <a:r>
              <a:rPr sz="2500" spc="65" dirty="0">
                <a:latin typeface="Arial MT"/>
                <a:cs typeface="Arial MT"/>
              </a:rPr>
              <a:t> </a:t>
            </a:r>
            <a:r>
              <a:rPr sz="2500" dirty="0">
                <a:latin typeface="Arial MT"/>
                <a:cs typeface="Arial MT"/>
              </a:rPr>
              <a:t>issues</a:t>
            </a:r>
            <a:r>
              <a:rPr sz="2500" spc="70" dirty="0">
                <a:latin typeface="Arial MT"/>
                <a:cs typeface="Arial MT"/>
              </a:rPr>
              <a:t> </a:t>
            </a:r>
            <a:r>
              <a:rPr sz="2500" dirty="0">
                <a:latin typeface="Arial MT"/>
                <a:cs typeface="Arial MT"/>
              </a:rPr>
              <a:t>or</a:t>
            </a:r>
            <a:r>
              <a:rPr sz="2500" spc="45" dirty="0">
                <a:latin typeface="Arial MT"/>
                <a:cs typeface="Arial MT"/>
              </a:rPr>
              <a:t> </a:t>
            </a:r>
            <a:r>
              <a:rPr sz="2500" spc="-10" dirty="0">
                <a:latin typeface="Arial MT"/>
                <a:cs typeface="Arial MT"/>
              </a:rPr>
              <a:t>concerns) </a:t>
            </a:r>
            <a:r>
              <a:rPr sz="2500" dirty="0">
                <a:latin typeface="Arial MT"/>
                <a:cs typeface="Arial MT"/>
              </a:rPr>
              <a:t>by</a:t>
            </a:r>
            <a:r>
              <a:rPr sz="2500" spc="40" dirty="0">
                <a:latin typeface="Arial MT"/>
                <a:cs typeface="Arial MT"/>
              </a:rPr>
              <a:t> </a:t>
            </a:r>
            <a:r>
              <a:rPr sz="2500" dirty="0">
                <a:latin typeface="Arial MT"/>
                <a:cs typeface="Arial MT"/>
              </a:rPr>
              <a:t>encouraging</a:t>
            </a:r>
            <a:r>
              <a:rPr sz="2500" spc="45" dirty="0">
                <a:latin typeface="Arial MT"/>
                <a:cs typeface="Arial MT"/>
              </a:rPr>
              <a:t> </a:t>
            </a:r>
            <a:r>
              <a:rPr sz="2500" dirty="0">
                <a:latin typeface="Arial MT"/>
                <a:cs typeface="Arial MT"/>
              </a:rPr>
              <a:t>them</a:t>
            </a:r>
            <a:r>
              <a:rPr sz="2500" spc="65" dirty="0">
                <a:latin typeface="Arial MT"/>
                <a:cs typeface="Arial MT"/>
              </a:rPr>
              <a:t> </a:t>
            </a:r>
            <a:r>
              <a:rPr sz="2500" dirty="0">
                <a:latin typeface="Arial MT"/>
                <a:cs typeface="Arial MT"/>
              </a:rPr>
              <a:t>to</a:t>
            </a:r>
            <a:r>
              <a:rPr sz="2500" spc="45" dirty="0">
                <a:latin typeface="Arial MT"/>
                <a:cs typeface="Arial MT"/>
              </a:rPr>
              <a:t> </a:t>
            </a:r>
            <a:r>
              <a:rPr sz="2500" dirty="0">
                <a:latin typeface="Arial MT"/>
                <a:cs typeface="Arial MT"/>
              </a:rPr>
              <a:t>come</a:t>
            </a:r>
            <a:r>
              <a:rPr sz="2500" spc="40" dirty="0">
                <a:latin typeface="Arial MT"/>
                <a:cs typeface="Arial MT"/>
              </a:rPr>
              <a:t> </a:t>
            </a:r>
            <a:r>
              <a:rPr sz="2500" spc="-10" dirty="0">
                <a:latin typeface="Arial MT"/>
                <a:cs typeface="Arial MT"/>
              </a:rPr>
              <a:t>forward.</a:t>
            </a:r>
            <a:endParaRPr sz="25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9496</TotalTime>
  <Words>1934</Words>
  <Application>Microsoft Macintosh PowerPoint</Application>
  <PresentationFormat>On-screen Show (4:3)</PresentationFormat>
  <Paragraphs>225</Paragraphs>
  <Slides>44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51" baseType="lpstr">
      <vt:lpstr>Aptos</vt:lpstr>
      <vt:lpstr>Arial</vt:lpstr>
      <vt:lpstr>Arial MT</vt:lpstr>
      <vt:lpstr>Trebuchet MS</vt:lpstr>
      <vt:lpstr>Verdana</vt:lpstr>
      <vt:lpstr>Wingdings</vt:lpstr>
      <vt:lpstr>Office Theme</vt:lpstr>
      <vt:lpstr>MANAGING SOCIAL RESPONSIBILITY AND ETHICS</vt:lpstr>
      <vt:lpstr>LEARNING OBJECTIVES</vt:lpstr>
      <vt:lpstr>What is Ethics?</vt:lpstr>
      <vt:lpstr>Ethical Question: Case Question </vt:lpstr>
      <vt:lpstr>Scenario: 2 </vt:lpstr>
      <vt:lpstr>A pharmaceutical company sets a very high price for a life-saving drug to recover R&amp;D costs and maximize profit.    Discussion Question 👉 Is this ethically acceptable? </vt:lpstr>
      <vt:lpstr>Engro and its Social Responsibilities</vt:lpstr>
      <vt:lpstr>PowerPoint Presentation</vt:lpstr>
      <vt:lpstr>FROM OBLIGATION TO RESPONSIVENESS TO RESPONSIBILITY</vt:lpstr>
      <vt:lpstr>FROM OBLIGATION TO RESPONSIVENESS TO RESPONSIBILITY</vt:lpstr>
      <vt:lpstr>FROM OBLIGATION TO RESPONSIVENESS TO RESPONSIBILITY (CONT.)</vt:lpstr>
      <vt:lpstr>PowerPoint Presentation</vt:lpstr>
      <vt:lpstr>FROM OBLIGATION TO RESPONSIVENESS TO RESPONSIBILITY (CONT.)</vt:lpstr>
      <vt:lpstr>SHOULD ORGANIZATIONS BE SOCIALLY INVOLVED?</vt:lpstr>
      <vt:lpstr>PowerPoint Presentation</vt:lpstr>
      <vt:lpstr>EXHIBIT 6-1 ARGUMENTS FOR AND AGAINST SOCIAL RESPONSIBILITY</vt:lpstr>
      <vt:lpstr>GREEN MANAGEMENT AND SUSTAINABILITY</vt:lpstr>
      <vt:lpstr>HOW ORGANIZATIONS GO GREEN (CONT.)</vt:lpstr>
      <vt:lpstr>EXHIBIT 6-2 GREEN APPROACHES</vt:lpstr>
      <vt:lpstr>MANAGERS AND ETHICAL BEHAVIOR</vt:lpstr>
      <vt:lpstr>EXHIBIT 6-3 FACTORS THAT DETERMINE ETHICAL AND UNETHICAL BEHAVIOR</vt:lpstr>
      <vt:lpstr>PowerPoint Presentation</vt:lpstr>
      <vt:lpstr>FACTORS THAT DETERMINE ETHICAL AND UNETHICAL BEHAVIOR</vt:lpstr>
      <vt:lpstr>EXHIBIT 6-4 STAGES OF MORAL DEVELOPMENT</vt:lpstr>
      <vt:lpstr>FACTORS THAT DETERMINE ETHICAL AND UNETHICAL BEHAVIOR (CONT.)</vt:lpstr>
      <vt:lpstr>PowerPoint Presentation</vt:lpstr>
      <vt:lpstr>FACTORS THAT DETERMINE ETHICAL AND UNETHICAL BEHAVIOR (CONT.)</vt:lpstr>
      <vt:lpstr>FACTORS THAT DETERMINE ETHICAL AND UNETHICAL BEHAVIOR (CONT.)</vt:lpstr>
      <vt:lpstr>EXHIBIT 6-5 ISSUE INTENSITY</vt:lpstr>
      <vt:lpstr>ENCOURAGING ETHICAL BEHAVIOR</vt:lpstr>
      <vt:lpstr>EXHIBIT 6-7 CODES OF ETHICS</vt:lpstr>
      <vt:lpstr>EXHIBIT 6-7 CODES OF ETHICS (CONT.)</vt:lpstr>
      <vt:lpstr>EXHIBIT 6-8 A PROCESS FOR ADDRESSING ETHICAL DILEMMAS</vt:lpstr>
      <vt:lpstr>ENCOURAGING ETHICAL BEHAVIOR (CONT.)</vt:lpstr>
      <vt:lpstr>ENCOURAGING ETHICAL BEHAVIOR (CONT.)</vt:lpstr>
      <vt:lpstr>ENCOURAGING ETHICAL BEHAVIOR (CONT.)</vt:lpstr>
      <vt:lpstr>SOCIAL RESPONSIBILITY AND ETHICS ISSUES IN TODAY’S WORLD</vt:lpstr>
      <vt:lpstr>SOCIAL RESPONSIBILITY AND ETHICS ISSUES IN TODAY’S WORLD (CONT.)</vt:lpstr>
      <vt:lpstr>EXHIBIT 6-9 BEING AN ETHICAL LEADER</vt:lpstr>
      <vt:lpstr>SOCIAL RESPONSIBILITY AND ETHICS ISSUES IN TODAY’S WORLD (CONT.)</vt:lpstr>
      <vt:lpstr>REVIEW LEARNING OBJECTIVE 6.1</vt:lpstr>
      <vt:lpstr>REVIEW LEARNING OBJECTIVE 6.3</vt:lpstr>
      <vt:lpstr>REVIEW LEARNING OBJECTIVE 6.4</vt:lpstr>
      <vt:lpstr>REVIEW LEARNING OBJECTIVE 6.5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Martha Robinson</dc:creator>
  <cp:lastModifiedBy>Dr Samad Baseer</cp:lastModifiedBy>
  <cp:revision>9</cp:revision>
  <dcterms:created xsi:type="dcterms:W3CDTF">2026-04-30T06:44:48Z</dcterms:created>
  <dcterms:modified xsi:type="dcterms:W3CDTF">2026-05-06T21:01:54Z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2016-06-06T00:00:00Z</vt:filetime>
  </property>
  <property fmtid="{D5CDD505-2E9C-101B-9397-08002B2CF9AE}" pid="4" name="Creator">
    <vt:lpwstr>Impress</vt:lpwstr>
  </property>
  <property fmtid="{D5CDD505-2E9C-101B-9397-08002B2CF9AE}" pid="5" name="Producer">
    <vt:lpwstr>LibreOffice 4.2</vt:lpwstr>
  </property>
  <property fmtid="{D5CDD505-2E9C-101B-9397-08002B2CF9AE}" pid="6" name="LastSaved">
    <vt:filetime>2016-06-06T00:00:00Z</vt:filetime>
  </property>
</Properties>
</file>