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6" r:id="rId3"/>
    <p:sldId id="295" r:id="rId4"/>
    <p:sldId id="297" r:id="rId5"/>
    <p:sldId id="257" r:id="rId6"/>
    <p:sldId id="258" r:id="rId7"/>
    <p:sldId id="300" r:id="rId8"/>
    <p:sldId id="301" r:id="rId9"/>
    <p:sldId id="259" r:id="rId10"/>
    <p:sldId id="260" r:id="rId11"/>
    <p:sldId id="302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9" r:id="rId47"/>
    <p:sldId id="298" r:id="rId4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47166" y="6490080"/>
            <a:ext cx="82550" cy="93345"/>
          </a:xfrm>
          <a:custGeom>
            <a:avLst/>
            <a:gdLst/>
            <a:ahLst/>
            <a:cxnLst/>
            <a:rect l="l" t="t" r="r" b="b"/>
            <a:pathLst>
              <a:path w="82550" h="93345">
                <a:moveTo>
                  <a:pt x="57546" y="5041"/>
                </a:moveTo>
                <a:lnTo>
                  <a:pt x="36360" y="5041"/>
                </a:lnTo>
                <a:lnTo>
                  <a:pt x="43388" y="6251"/>
                </a:lnTo>
                <a:lnTo>
                  <a:pt x="48326" y="10126"/>
                </a:lnTo>
                <a:lnTo>
                  <a:pt x="51240" y="17038"/>
                </a:lnTo>
                <a:lnTo>
                  <a:pt x="52096" y="26276"/>
                </a:lnTo>
                <a:lnTo>
                  <a:pt x="52196" y="39598"/>
                </a:lnTo>
                <a:lnTo>
                  <a:pt x="49314" y="39598"/>
                </a:lnTo>
                <a:lnTo>
                  <a:pt x="47155" y="40678"/>
                </a:lnTo>
                <a:lnTo>
                  <a:pt x="3949" y="55803"/>
                </a:lnTo>
                <a:lnTo>
                  <a:pt x="0" y="63004"/>
                </a:lnTo>
                <a:lnTo>
                  <a:pt x="0" y="71996"/>
                </a:lnTo>
                <a:lnTo>
                  <a:pt x="1235" y="79570"/>
                </a:lnTo>
                <a:lnTo>
                  <a:pt x="5305" y="86401"/>
                </a:lnTo>
                <a:lnTo>
                  <a:pt x="12899" y="91440"/>
                </a:lnTo>
                <a:lnTo>
                  <a:pt x="13339" y="91440"/>
                </a:lnTo>
                <a:lnTo>
                  <a:pt x="24117" y="93243"/>
                </a:lnTo>
                <a:lnTo>
                  <a:pt x="31487" y="92298"/>
                </a:lnTo>
                <a:lnTo>
                  <a:pt x="38557" y="89461"/>
                </a:lnTo>
                <a:lnTo>
                  <a:pt x="45427" y="84735"/>
                </a:lnTo>
                <a:lnTo>
                  <a:pt x="45934" y="84239"/>
                </a:lnTo>
                <a:lnTo>
                  <a:pt x="21234" y="84239"/>
                </a:lnTo>
                <a:lnTo>
                  <a:pt x="19075" y="74879"/>
                </a:lnTo>
                <a:lnTo>
                  <a:pt x="19075" y="68033"/>
                </a:lnTo>
                <a:lnTo>
                  <a:pt x="20859" y="60552"/>
                </a:lnTo>
                <a:lnTo>
                  <a:pt x="26592" y="54586"/>
                </a:lnTo>
                <a:lnTo>
                  <a:pt x="36847" y="49765"/>
                </a:lnTo>
                <a:lnTo>
                  <a:pt x="52196" y="45720"/>
                </a:lnTo>
                <a:lnTo>
                  <a:pt x="69468" y="45720"/>
                </a:lnTo>
                <a:lnTo>
                  <a:pt x="69468" y="27355"/>
                </a:lnTo>
                <a:lnTo>
                  <a:pt x="67394" y="15489"/>
                </a:lnTo>
                <a:lnTo>
                  <a:pt x="61237" y="6929"/>
                </a:lnTo>
                <a:lnTo>
                  <a:pt x="57546" y="5041"/>
                </a:lnTo>
                <a:close/>
              </a:path>
              <a:path w="82550" h="93345">
                <a:moveTo>
                  <a:pt x="69468" y="78117"/>
                </a:moveTo>
                <a:lnTo>
                  <a:pt x="52196" y="78117"/>
                </a:lnTo>
                <a:lnTo>
                  <a:pt x="52736" y="83159"/>
                </a:lnTo>
                <a:lnTo>
                  <a:pt x="52852" y="84239"/>
                </a:lnTo>
                <a:lnTo>
                  <a:pt x="52967" y="85318"/>
                </a:lnTo>
                <a:lnTo>
                  <a:pt x="53083" y="86401"/>
                </a:lnTo>
                <a:lnTo>
                  <a:pt x="53160" y="87122"/>
                </a:lnTo>
                <a:lnTo>
                  <a:pt x="53276" y="88201"/>
                </a:lnTo>
                <a:lnTo>
                  <a:pt x="57238" y="92163"/>
                </a:lnTo>
                <a:lnTo>
                  <a:pt x="72351" y="92163"/>
                </a:lnTo>
                <a:lnTo>
                  <a:pt x="75590" y="91440"/>
                </a:lnTo>
                <a:lnTo>
                  <a:pt x="80632" y="89281"/>
                </a:lnTo>
                <a:lnTo>
                  <a:pt x="81356" y="89281"/>
                </a:lnTo>
                <a:lnTo>
                  <a:pt x="82435" y="87122"/>
                </a:lnTo>
                <a:lnTo>
                  <a:pt x="81360" y="86401"/>
                </a:lnTo>
                <a:lnTo>
                  <a:pt x="81356" y="85318"/>
                </a:lnTo>
                <a:lnTo>
                  <a:pt x="74510" y="85318"/>
                </a:lnTo>
                <a:lnTo>
                  <a:pt x="72351" y="84239"/>
                </a:lnTo>
                <a:lnTo>
                  <a:pt x="70548" y="83159"/>
                </a:lnTo>
                <a:lnTo>
                  <a:pt x="69468" y="80276"/>
                </a:lnTo>
                <a:lnTo>
                  <a:pt x="69468" y="78117"/>
                </a:lnTo>
                <a:close/>
              </a:path>
              <a:path w="82550" h="93345">
                <a:moveTo>
                  <a:pt x="69468" y="45720"/>
                </a:moveTo>
                <a:lnTo>
                  <a:pt x="52196" y="45720"/>
                </a:lnTo>
                <a:lnTo>
                  <a:pt x="52196" y="71996"/>
                </a:lnTo>
                <a:lnTo>
                  <a:pt x="49314" y="74879"/>
                </a:lnTo>
                <a:lnTo>
                  <a:pt x="42113" y="84239"/>
                </a:lnTo>
                <a:lnTo>
                  <a:pt x="45934" y="84239"/>
                </a:lnTo>
                <a:lnTo>
                  <a:pt x="52196" y="78117"/>
                </a:lnTo>
                <a:lnTo>
                  <a:pt x="69468" y="78117"/>
                </a:lnTo>
                <a:lnTo>
                  <a:pt x="69468" y="45720"/>
                </a:lnTo>
                <a:close/>
              </a:path>
              <a:path w="82550" h="93345">
                <a:moveTo>
                  <a:pt x="37071" y="0"/>
                </a:moveTo>
                <a:lnTo>
                  <a:pt x="22806" y="1743"/>
                </a:lnTo>
                <a:lnTo>
                  <a:pt x="23418" y="1743"/>
                </a:lnTo>
                <a:lnTo>
                  <a:pt x="12817" y="6075"/>
                </a:lnTo>
                <a:lnTo>
                  <a:pt x="5531" y="12606"/>
                </a:lnTo>
                <a:lnTo>
                  <a:pt x="2870" y="20523"/>
                </a:lnTo>
                <a:lnTo>
                  <a:pt x="2870" y="26276"/>
                </a:lnTo>
                <a:lnTo>
                  <a:pt x="7188" y="31318"/>
                </a:lnTo>
                <a:lnTo>
                  <a:pt x="12230" y="31318"/>
                </a:lnTo>
                <a:lnTo>
                  <a:pt x="15112" y="32397"/>
                </a:lnTo>
                <a:lnTo>
                  <a:pt x="19075" y="30594"/>
                </a:lnTo>
                <a:lnTo>
                  <a:pt x="26276" y="23393"/>
                </a:lnTo>
                <a:lnTo>
                  <a:pt x="25196" y="17284"/>
                </a:lnTo>
                <a:lnTo>
                  <a:pt x="20184" y="10126"/>
                </a:lnTo>
                <a:lnTo>
                  <a:pt x="23037" y="7200"/>
                </a:lnTo>
                <a:lnTo>
                  <a:pt x="29159" y="5041"/>
                </a:lnTo>
                <a:lnTo>
                  <a:pt x="57546" y="5041"/>
                </a:lnTo>
                <a:lnTo>
                  <a:pt x="51097" y="1743"/>
                </a:lnTo>
                <a:lnTo>
                  <a:pt x="3707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4757" y="6489001"/>
            <a:ext cx="89535" cy="94615"/>
          </a:xfrm>
          <a:custGeom>
            <a:avLst/>
            <a:gdLst/>
            <a:ahLst/>
            <a:cxnLst/>
            <a:rect l="l" t="t" r="r" b="b"/>
            <a:pathLst>
              <a:path w="89534" h="94615">
                <a:moveTo>
                  <a:pt x="44284" y="0"/>
                </a:moveTo>
                <a:lnTo>
                  <a:pt x="27035" y="3785"/>
                </a:lnTo>
                <a:lnTo>
                  <a:pt x="12960" y="14085"/>
                </a:lnTo>
                <a:lnTo>
                  <a:pt x="3476" y="29312"/>
                </a:lnTo>
                <a:lnTo>
                  <a:pt x="0" y="47879"/>
                </a:lnTo>
                <a:lnTo>
                  <a:pt x="3376" y="66221"/>
                </a:lnTo>
                <a:lnTo>
                  <a:pt x="12693" y="80954"/>
                </a:lnTo>
                <a:lnTo>
                  <a:pt x="26735" y="90761"/>
                </a:lnTo>
                <a:lnTo>
                  <a:pt x="44284" y="94322"/>
                </a:lnTo>
                <a:lnTo>
                  <a:pt x="60579" y="90997"/>
                </a:lnTo>
                <a:lnTo>
                  <a:pt x="63187" y="89281"/>
                </a:lnTo>
                <a:lnTo>
                  <a:pt x="45364" y="89281"/>
                </a:lnTo>
                <a:lnTo>
                  <a:pt x="34077" y="86760"/>
                </a:lnTo>
                <a:lnTo>
                  <a:pt x="26100" y="79109"/>
                </a:lnTo>
                <a:lnTo>
                  <a:pt x="21485" y="66526"/>
                </a:lnTo>
                <a:lnTo>
                  <a:pt x="21373" y="66221"/>
                </a:lnTo>
                <a:lnTo>
                  <a:pt x="19799" y="47879"/>
                </a:lnTo>
                <a:lnTo>
                  <a:pt x="22038" y="25390"/>
                </a:lnTo>
                <a:lnTo>
                  <a:pt x="27720" y="12420"/>
                </a:lnTo>
                <a:lnTo>
                  <a:pt x="35294" y="6470"/>
                </a:lnTo>
                <a:lnTo>
                  <a:pt x="43205" y="5041"/>
                </a:lnTo>
                <a:lnTo>
                  <a:pt x="63731" y="5041"/>
                </a:lnTo>
                <a:lnTo>
                  <a:pt x="61969" y="3785"/>
                </a:lnTo>
                <a:lnTo>
                  <a:pt x="44284" y="0"/>
                </a:lnTo>
                <a:close/>
              </a:path>
              <a:path w="89534" h="94615">
                <a:moveTo>
                  <a:pt x="63731" y="5041"/>
                </a:moveTo>
                <a:lnTo>
                  <a:pt x="43205" y="5041"/>
                </a:lnTo>
                <a:lnTo>
                  <a:pt x="54447" y="7736"/>
                </a:lnTo>
                <a:lnTo>
                  <a:pt x="62687" y="15797"/>
                </a:lnTo>
                <a:lnTo>
                  <a:pt x="67629" y="28857"/>
                </a:lnTo>
                <a:lnTo>
                  <a:pt x="67766" y="29312"/>
                </a:lnTo>
                <a:lnTo>
                  <a:pt x="69381" y="46799"/>
                </a:lnTo>
                <a:lnTo>
                  <a:pt x="69481" y="47879"/>
                </a:lnTo>
                <a:lnTo>
                  <a:pt x="67930" y="66221"/>
                </a:lnTo>
                <a:lnTo>
                  <a:pt x="63361" y="79109"/>
                </a:lnTo>
                <a:lnTo>
                  <a:pt x="55813" y="86760"/>
                </a:lnTo>
                <a:lnTo>
                  <a:pt x="45364" y="89281"/>
                </a:lnTo>
                <a:lnTo>
                  <a:pt x="63187" y="89281"/>
                </a:lnTo>
                <a:lnTo>
                  <a:pt x="75017" y="81495"/>
                </a:lnTo>
                <a:lnTo>
                  <a:pt x="85338" y="66526"/>
                </a:lnTo>
                <a:lnTo>
                  <a:pt x="89281" y="46799"/>
                </a:lnTo>
                <a:lnTo>
                  <a:pt x="85882" y="29312"/>
                </a:lnTo>
                <a:lnTo>
                  <a:pt x="85793" y="28857"/>
                </a:lnTo>
                <a:lnTo>
                  <a:pt x="76318" y="14085"/>
                </a:lnTo>
                <a:lnTo>
                  <a:pt x="76231" y="13950"/>
                </a:lnTo>
                <a:lnTo>
                  <a:pt x="63731" y="5041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0963" y="6453720"/>
            <a:ext cx="185420" cy="130175"/>
          </a:xfrm>
          <a:custGeom>
            <a:avLst/>
            <a:gdLst/>
            <a:ahLst/>
            <a:cxnLst/>
            <a:rect l="l" t="t" r="r" b="b"/>
            <a:pathLst>
              <a:path w="185419" h="130175">
                <a:moveTo>
                  <a:pt x="106553" y="37439"/>
                </a:moveTo>
                <a:lnTo>
                  <a:pt x="101600" y="18834"/>
                </a:lnTo>
                <a:lnTo>
                  <a:pt x="88811" y="7391"/>
                </a:lnTo>
                <a:lnTo>
                  <a:pt x="85001" y="6121"/>
                </a:lnTo>
                <a:lnTo>
                  <a:pt x="84594" y="5994"/>
                </a:lnTo>
                <a:lnTo>
                  <a:pt x="84594" y="37439"/>
                </a:lnTo>
                <a:lnTo>
                  <a:pt x="83439" y="50850"/>
                </a:lnTo>
                <a:lnTo>
                  <a:pt x="83375" y="51638"/>
                </a:lnTo>
                <a:lnTo>
                  <a:pt x="78651" y="62153"/>
                </a:lnTo>
                <a:lnTo>
                  <a:pt x="68795" y="68681"/>
                </a:lnTo>
                <a:lnTo>
                  <a:pt x="52197" y="70916"/>
                </a:lnTo>
                <a:lnTo>
                  <a:pt x="38150" y="70916"/>
                </a:lnTo>
                <a:lnTo>
                  <a:pt x="38150" y="6121"/>
                </a:lnTo>
                <a:lnTo>
                  <a:pt x="53276" y="6121"/>
                </a:lnTo>
                <a:lnTo>
                  <a:pt x="69710" y="8890"/>
                </a:lnTo>
                <a:lnTo>
                  <a:pt x="79184" y="16116"/>
                </a:lnTo>
                <a:lnTo>
                  <a:pt x="83540" y="26174"/>
                </a:lnTo>
                <a:lnTo>
                  <a:pt x="84594" y="37439"/>
                </a:lnTo>
                <a:lnTo>
                  <a:pt x="84594" y="5994"/>
                </a:lnTo>
                <a:lnTo>
                  <a:pt x="78473" y="3962"/>
                </a:lnTo>
                <a:lnTo>
                  <a:pt x="71310" y="1600"/>
                </a:lnTo>
                <a:lnTo>
                  <a:pt x="52197" y="0"/>
                </a:lnTo>
                <a:lnTo>
                  <a:pt x="1079" y="0"/>
                </a:lnTo>
                <a:lnTo>
                  <a:pt x="0" y="1079"/>
                </a:lnTo>
                <a:lnTo>
                  <a:pt x="0" y="3962"/>
                </a:lnTo>
                <a:lnTo>
                  <a:pt x="1079" y="5041"/>
                </a:lnTo>
                <a:lnTo>
                  <a:pt x="6121" y="6121"/>
                </a:lnTo>
                <a:lnTo>
                  <a:pt x="17995" y="3962"/>
                </a:lnTo>
                <a:lnTo>
                  <a:pt x="17995" y="117716"/>
                </a:lnTo>
                <a:lnTo>
                  <a:pt x="15113" y="122758"/>
                </a:lnTo>
                <a:lnTo>
                  <a:pt x="1079" y="123482"/>
                </a:lnTo>
                <a:lnTo>
                  <a:pt x="0" y="123482"/>
                </a:lnTo>
                <a:lnTo>
                  <a:pt x="0" y="127800"/>
                </a:lnTo>
                <a:lnTo>
                  <a:pt x="1079" y="128524"/>
                </a:lnTo>
                <a:lnTo>
                  <a:pt x="57238" y="128524"/>
                </a:lnTo>
                <a:lnTo>
                  <a:pt x="57238" y="123482"/>
                </a:lnTo>
                <a:lnTo>
                  <a:pt x="56515" y="123482"/>
                </a:lnTo>
                <a:lnTo>
                  <a:pt x="41402" y="122758"/>
                </a:lnTo>
                <a:lnTo>
                  <a:pt x="38150" y="118440"/>
                </a:lnTo>
                <a:lnTo>
                  <a:pt x="38150" y="77038"/>
                </a:lnTo>
                <a:lnTo>
                  <a:pt x="51473" y="77038"/>
                </a:lnTo>
                <a:lnTo>
                  <a:pt x="64998" y="76250"/>
                </a:lnTo>
                <a:lnTo>
                  <a:pt x="76847" y="73888"/>
                </a:lnTo>
                <a:lnTo>
                  <a:pt x="84556" y="70916"/>
                </a:lnTo>
                <a:lnTo>
                  <a:pt x="86804" y="70053"/>
                </a:lnTo>
                <a:lnTo>
                  <a:pt x="94678" y="64795"/>
                </a:lnTo>
                <a:lnTo>
                  <a:pt x="100787" y="57899"/>
                </a:lnTo>
                <a:lnTo>
                  <a:pt x="104394" y="50850"/>
                </a:lnTo>
                <a:lnTo>
                  <a:pt x="106108" y="43954"/>
                </a:lnTo>
                <a:lnTo>
                  <a:pt x="106553" y="37439"/>
                </a:lnTo>
                <a:close/>
              </a:path>
              <a:path w="185419" h="130175">
                <a:moveTo>
                  <a:pt x="185089" y="67652"/>
                </a:moveTo>
                <a:lnTo>
                  <a:pt x="165950" y="39357"/>
                </a:lnTo>
                <a:lnTo>
                  <a:pt x="165950" y="70916"/>
                </a:lnTo>
                <a:lnTo>
                  <a:pt x="125996" y="70916"/>
                </a:lnTo>
                <a:lnTo>
                  <a:pt x="128346" y="57937"/>
                </a:lnTo>
                <a:lnTo>
                  <a:pt x="132651" y="48336"/>
                </a:lnTo>
                <a:lnTo>
                  <a:pt x="138734" y="42481"/>
                </a:lnTo>
                <a:lnTo>
                  <a:pt x="138404" y="42481"/>
                </a:lnTo>
                <a:lnTo>
                  <a:pt x="146875" y="40322"/>
                </a:lnTo>
                <a:lnTo>
                  <a:pt x="152996" y="40322"/>
                </a:lnTo>
                <a:lnTo>
                  <a:pt x="165950" y="70916"/>
                </a:lnTo>
                <a:lnTo>
                  <a:pt x="165950" y="39357"/>
                </a:lnTo>
                <a:lnTo>
                  <a:pt x="164020" y="38303"/>
                </a:lnTo>
                <a:lnTo>
                  <a:pt x="156540" y="36068"/>
                </a:lnTo>
                <a:lnTo>
                  <a:pt x="147955" y="35280"/>
                </a:lnTo>
                <a:lnTo>
                  <a:pt x="131597" y="39090"/>
                </a:lnTo>
                <a:lnTo>
                  <a:pt x="118071" y="49504"/>
                </a:lnTo>
                <a:lnTo>
                  <a:pt x="108864" y="65049"/>
                </a:lnTo>
                <a:lnTo>
                  <a:pt x="105473" y="84239"/>
                </a:lnTo>
                <a:lnTo>
                  <a:pt x="108712" y="102412"/>
                </a:lnTo>
                <a:lnTo>
                  <a:pt x="117665" y="116776"/>
                </a:lnTo>
                <a:lnTo>
                  <a:pt x="131140" y="126212"/>
                </a:lnTo>
                <a:lnTo>
                  <a:pt x="147955" y="129603"/>
                </a:lnTo>
                <a:lnTo>
                  <a:pt x="161899" y="127584"/>
                </a:lnTo>
                <a:lnTo>
                  <a:pt x="172300" y="122364"/>
                </a:lnTo>
                <a:lnTo>
                  <a:pt x="174129" y="120599"/>
                </a:lnTo>
                <a:lnTo>
                  <a:pt x="179793" y="115176"/>
                </a:lnTo>
                <a:lnTo>
                  <a:pt x="185039" y="107276"/>
                </a:lnTo>
                <a:lnTo>
                  <a:pt x="185039" y="105473"/>
                </a:lnTo>
                <a:lnTo>
                  <a:pt x="184315" y="105473"/>
                </a:lnTo>
                <a:lnTo>
                  <a:pt x="184315" y="104394"/>
                </a:lnTo>
                <a:lnTo>
                  <a:pt x="182156" y="104394"/>
                </a:lnTo>
                <a:lnTo>
                  <a:pt x="181076" y="105473"/>
                </a:lnTo>
                <a:lnTo>
                  <a:pt x="175348" y="111645"/>
                </a:lnTo>
                <a:lnTo>
                  <a:pt x="169595" y="116420"/>
                </a:lnTo>
                <a:lnTo>
                  <a:pt x="163093" y="119507"/>
                </a:lnTo>
                <a:lnTo>
                  <a:pt x="155155" y="120599"/>
                </a:lnTo>
                <a:lnTo>
                  <a:pt x="144348" y="118579"/>
                </a:lnTo>
                <a:lnTo>
                  <a:pt x="134632" y="112014"/>
                </a:lnTo>
                <a:lnTo>
                  <a:pt x="127609" y="100101"/>
                </a:lnTo>
                <a:lnTo>
                  <a:pt x="124917" y="82080"/>
                </a:lnTo>
                <a:lnTo>
                  <a:pt x="124917" y="77038"/>
                </a:lnTo>
                <a:lnTo>
                  <a:pt x="185039" y="77038"/>
                </a:lnTo>
                <a:lnTo>
                  <a:pt x="185077" y="70916"/>
                </a:lnTo>
                <a:lnTo>
                  <a:pt x="185089" y="67652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37882" y="6489001"/>
            <a:ext cx="137160" cy="94615"/>
          </a:xfrm>
          <a:custGeom>
            <a:avLst/>
            <a:gdLst/>
            <a:ahLst/>
            <a:cxnLst/>
            <a:rect l="l" t="t" r="r" b="b"/>
            <a:pathLst>
              <a:path w="137159" h="94615">
                <a:moveTo>
                  <a:pt x="67322" y="8280"/>
                </a:moveTo>
                <a:lnTo>
                  <a:pt x="63360" y="1079"/>
                </a:lnTo>
                <a:lnTo>
                  <a:pt x="52197" y="1079"/>
                </a:lnTo>
                <a:lnTo>
                  <a:pt x="44945" y="2159"/>
                </a:lnTo>
                <a:lnTo>
                  <a:pt x="45415" y="2159"/>
                </a:lnTo>
                <a:lnTo>
                  <a:pt x="39319" y="5130"/>
                </a:lnTo>
                <a:lnTo>
                  <a:pt x="33159" y="10502"/>
                </a:lnTo>
                <a:lnTo>
                  <a:pt x="27000" y="18364"/>
                </a:lnTo>
                <a:lnTo>
                  <a:pt x="27000" y="3238"/>
                </a:lnTo>
                <a:lnTo>
                  <a:pt x="25920" y="2159"/>
                </a:lnTo>
                <a:lnTo>
                  <a:pt x="1079" y="2159"/>
                </a:lnTo>
                <a:lnTo>
                  <a:pt x="0" y="3238"/>
                </a:lnTo>
                <a:lnTo>
                  <a:pt x="0" y="6121"/>
                </a:lnTo>
                <a:lnTo>
                  <a:pt x="1079" y="7200"/>
                </a:lnTo>
                <a:lnTo>
                  <a:pt x="8991" y="8280"/>
                </a:lnTo>
                <a:lnTo>
                  <a:pt x="9715" y="11163"/>
                </a:lnTo>
                <a:lnTo>
                  <a:pt x="9715" y="86398"/>
                </a:lnTo>
                <a:lnTo>
                  <a:pt x="8991" y="88201"/>
                </a:lnTo>
                <a:lnTo>
                  <a:pt x="1803" y="88201"/>
                </a:lnTo>
                <a:lnTo>
                  <a:pt x="0" y="89281"/>
                </a:lnTo>
                <a:lnTo>
                  <a:pt x="0" y="92519"/>
                </a:lnTo>
                <a:lnTo>
                  <a:pt x="1079" y="93243"/>
                </a:lnTo>
                <a:lnTo>
                  <a:pt x="39954" y="93243"/>
                </a:lnTo>
                <a:lnTo>
                  <a:pt x="39954" y="89281"/>
                </a:lnTo>
                <a:lnTo>
                  <a:pt x="39243" y="89281"/>
                </a:lnTo>
                <a:lnTo>
                  <a:pt x="30238" y="88201"/>
                </a:lnTo>
                <a:lnTo>
                  <a:pt x="28079" y="87477"/>
                </a:lnTo>
                <a:lnTo>
                  <a:pt x="28079" y="27355"/>
                </a:lnTo>
                <a:lnTo>
                  <a:pt x="33540" y="18364"/>
                </a:lnTo>
                <a:lnTo>
                  <a:pt x="34201" y="17284"/>
                </a:lnTo>
                <a:lnTo>
                  <a:pt x="38163" y="12242"/>
                </a:lnTo>
                <a:lnTo>
                  <a:pt x="45808" y="10502"/>
                </a:lnTo>
                <a:lnTo>
                  <a:pt x="45986" y="10502"/>
                </a:lnTo>
                <a:lnTo>
                  <a:pt x="44996" y="11163"/>
                </a:lnTo>
                <a:lnTo>
                  <a:pt x="44996" y="21602"/>
                </a:lnTo>
                <a:lnTo>
                  <a:pt x="50038" y="25552"/>
                </a:lnTo>
                <a:lnTo>
                  <a:pt x="63360" y="25552"/>
                </a:lnTo>
                <a:lnTo>
                  <a:pt x="67322" y="21602"/>
                </a:lnTo>
                <a:lnTo>
                  <a:pt x="67322" y="10502"/>
                </a:lnTo>
                <a:lnTo>
                  <a:pt x="67322" y="8280"/>
                </a:lnTo>
                <a:close/>
              </a:path>
              <a:path w="137159" h="94615">
                <a:moveTo>
                  <a:pt x="136791" y="64084"/>
                </a:moveTo>
                <a:lnTo>
                  <a:pt x="109435" y="36715"/>
                </a:lnTo>
                <a:lnTo>
                  <a:pt x="108356" y="36715"/>
                </a:lnTo>
                <a:lnTo>
                  <a:pt x="98234" y="33324"/>
                </a:lnTo>
                <a:lnTo>
                  <a:pt x="91427" y="29565"/>
                </a:lnTo>
                <a:lnTo>
                  <a:pt x="87591" y="25336"/>
                </a:lnTo>
                <a:lnTo>
                  <a:pt x="86398" y="20523"/>
                </a:lnTo>
                <a:lnTo>
                  <a:pt x="86398" y="11163"/>
                </a:lnTo>
                <a:lnTo>
                  <a:pt x="92519" y="5041"/>
                </a:lnTo>
                <a:lnTo>
                  <a:pt x="102603" y="5041"/>
                </a:lnTo>
                <a:lnTo>
                  <a:pt x="128524" y="29565"/>
                </a:lnTo>
                <a:lnTo>
                  <a:pt x="128524" y="30594"/>
                </a:lnTo>
                <a:lnTo>
                  <a:pt x="131762" y="30594"/>
                </a:lnTo>
                <a:lnTo>
                  <a:pt x="132791" y="29565"/>
                </a:lnTo>
                <a:lnTo>
                  <a:pt x="132842" y="0"/>
                </a:lnTo>
                <a:lnTo>
                  <a:pt x="129603" y="0"/>
                </a:lnTo>
                <a:lnTo>
                  <a:pt x="129603" y="1079"/>
                </a:lnTo>
                <a:lnTo>
                  <a:pt x="128524" y="1079"/>
                </a:lnTo>
                <a:lnTo>
                  <a:pt x="125641" y="5041"/>
                </a:lnTo>
                <a:lnTo>
                  <a:pt x="120599" y="3238"/>
                </a:lnTo>
                <a:lnTo>
                  <a:pt x="113398" y="0"/>
                </a:lnTo>
                <a:lnTo>
                  <a:pt x="105473" y="0"/>
                </a:lnTo>
                <a:lnTo>
                  <a:pt x="92976" y="2171"/>
                </a:lnTo>
                <a:lnTo>
                  <a:pt x="83058" y="8153"/>
                </a:lnTo>
                <a:lnTo>
                  <a:pt x="76517" y="17170"/>
                </a:lnTo>
                <a:lnTo>
                  <a:pt x="74155" y="28435"/>
                </a:lnTo>
                <a:lnTo>
                  <a:pt x="76009" y="38823"/>
                </a:lnTo>
                <a:lnTo>
                  <a:pt x="81483" y="46177"/>
                </a:lnTo>
                <a:lnTo>
                  <a:pt x="90398" y="51231"/>
                </a:lnTo>
                <a:lnTo>
                  <a:pt x="102603" y="54724"/>
                </a:lnTo>
                <a:lnTo>
                  <a:pt x="113334" y="58572"/>
                </a:lnTo>
                <a:lnTo>
                  <a:pt x="120459" y="62826"/>
                </a:lnTo>
                <a:lnTo>
                  <a:pt x="124409" y="67881"/>
                </a:lnTo>
                <a:lnTo>
                  <a:pt x="125641" y="74155"/>
                </a:lnTo>
                <a:lnTo>
                  <a:pt x="125641" y="84239"/>
                </a:lnTo>
                <a:lnTo>
                  <a:pt x="115557" y="89281"/>
                </a:lnTo>
                <a:lnTo>
                  <a:pt x="108356" y="89281"/>
                </a:lnTo>
                <a:lnTo>
                  <a:pt x="100291" y="88201"/>
                </a:lnTo>
                <a:lnTo>
                  <a:pt x="99961" y="88201"/>
                </a:lnTo>
                <a:lnTo>
                  <a:pt x="92875" y="83972"/>
                </a:lnTo>
                <a:lnTo>
                  <a:pt x="85877" y="75615"/>
                </a:lnTo>
                <a:lnTo>
                  <a:pt x="77393" y="61912"/>
                </a:lnTo>
                <a:lnTo>
                  <a:pt x="77393" y="60833"/>
                </a:lnTo>
                <a:lnTo>
                  <a:pt x="74155" y="60833"/>
                </a:lnTo>
                <a:lnTo>
                  <a:pt x="73444" y="61912"/>
                </a:lnTo>
                <a:lnTo>
                  <a:pt x="73444" y="94322"/>
                </a:lnTo>
                <a:lnTo>
                  <a:pt x="77393" y="94322"/>
                </a:lnTo>
                <a:lnTo>
                  <a:pt x="77393" y="93243"/>
                </a:lnTo>
                <a:lnTo>
                  <a:pt x="83515" y="88201"/>
                </a:lnTo>
                <a:lnTo>
                  <a:pt x="89281" y="92519"/>
                </a:lnTo>
                <a:lnTo>
                  <a:pt x="99352" y="94322"/>
                </a:lnTo>
                <a:lnTo>
                  <a:pt x="115557" y="94322"/>
                </a:lnTo>
                <a:lnTo>
                  <a:pt x="123482" y="91440"/>
                </a:lnTo>
                <a:lnTo>
                  <a:pt x="125628" y="89281"/>
                </a:lnTo>
                <a:lnTo>
                  <a:pt x="134632" y="80276"/>
                </a:lnTo>
                <a:lnTo>
                  <a:pt x="136791" y="73075"/>
                </a:lnTo>
                <a:lnTo>
                  <a:pt x="136791" y="64084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78356" y="6490080"/>
            <a:ext cx="95885" cy="92710"/>
          </a:xfrm>
          <a:custGeom>
            <a:avLst/>
            <a:gdLst/>
            <a:ahLst/>
            <a:cxnLst/>
            <a:rect l="l" t="t" r="r" b="b"/>
            <a:pathLst>
              <a:path w="95884" h="92709">
                <a:moveTo>
                  <a:pt x="36004" y="87122"/>
                </a:moveTo>
                <a:lnTo>
                  <a:pt x="0" y="87122"/>
                </a:lnTo>
                <a:lnTo>
                  <a:pt x="0" y="91440"/>
                </a:lnTo>
                <a:lnTo>
                  <a:pt x="723" y="92163"/>
                </a:lnTo>
                <a:lnTo>
                  <a:pt x="36004" y="92163"/>
                </a:lnTo>
                <a:lnTo>
                  <a:pt x="37084" y="91440"/>
                </a:lnTo>
                <a:lnTo>
                  <a:pt x="37084" y="88201"/>
                </a:lnTo>
                <a:lnTo>
                  <a:pt x="36004" y="87122"/>
                </a:lnTo>
                <a:close/>
              </a:path>
              <a:path w="95884" h="92709">
                <a:moveTo>
                  <a:pt x="94322" y="87122"/>
                </a:moveTo>
                <a:lnTo>
                  <a:pt x="58318" y="87122"/>
                </a:lnTo>
                <a:lnTo>
                  <a:pt x="57238" y="88201"/>
                </a:lnTo>
                <a:lnTo>
                  <a:pt x="57238" y="91440"/>
                </a:lnTo>
                <a:lnTo>
                  <a:pt x="58318" y="92163"/>
                </a:lnTo>
                <a:lnTo>
                  <a:pt x="94322" y="92163"/>
                </a:lnTo>
                <a:lnTo>
                  <a:pt x="95402" y="91440"/>
                </a:lnTo>
                <a:lnTo>
                  <a:pt x="95402" y="88201"/>
                </a:lnTo>
                <a:lnTo>
                  <a:pt x="94322" y="87122"/>
                </a:lnTo>
                <a:close/>
              </a:path>
              <a:path w="95884" h="92709">
                <a:moveTo>
                  <a:pt x="25920" y="0"/>
                </a:moveTo>
                <a:lnTo>
                  <a:pt x="1803" y="1079"/>
                </a:lnTo>
                <a:lnTo>
                  <a:pt x="723" y="1079"/>
                </a:lnTo>
                <a:lnTo>
                  <a:pt x="0" y="2159"/>
                </a:lnTo>
                <a:lnTo>
                  <a:pt x="0" y="5041"/>
                </a:lnTo>
                <a:lnTo>
                  <a:pt x="723" y="6121"/>
                </a:lnTo>
                <a:lnTo>
                  <a:pt x="9004" y="7200"/>
                </a:lnTo>
                <a:lnTo>
                  <a:pt x="10083" y="10083"/>
                </a:lnTo>
                <a:lnTo>
                  <a:pt x="10083" y="85318"/>
                </a:lnTo>
                <a:lnTo>
                  <a:pt x="9004" y="87122"/>
                </a:lnTo>
                <a:lnTo>
                  <a:pt x="29159" y="87122"/>
                </a:lnTo>
                <a:lnTo>
                  <a:pt x="28079" y="85318"/>
                </a:lnTo>
                <a:lnTo>
                  <a:pt x="28079" y="30594"/>
                </a:lnTo>
                <a:lnTo>
                  <a:pt x="29883" y="25565"/>
                </a:lnTo>
                <a:lnTo>
                  <a:pt x="32042" y="22313"/>
                </a:lnTo>
                <a:lnTo>
                  <a:pt x="35153" y="18364"/>
                </a:lnTo>
                <a:lnTo>
                  <a:pt x="28079" y="18364"/>
                </a:lnTo>
                <a:lnTo>
                  <a:pt x="28079" y="2159"/>
                </a:lnTo>
                <a:lnTo>
                  <a:pt x="25920" y="0"/>
                </a:lnTo>
                <a:close/>
              </a:path>
              <a:path w="95884" h="92709">
                <a:moveTo>
                  <a:pt x="79444" y="10083"/>
                </a:moveTo>
                <a:lnTo>
                  <a:pt x="50037" y="10083"/>
                </a:lnTo>
                <a:lnTo>
                  <a:pt x="57734" y="11293"/>
                </a:lnTo>
                <a:lnTo>
                  <a:pt x="62731" y="15168"/>
                </a:lnTo>
                <a:lnTo>
                  <a:pt x="65432" y="22079"/>
                </a:lnTo>
                <a:lnTo>
                  <a:pt x="66243" y="32397"/>
                </a:lnTo>
                <a:lnTo>
                  <a:pt x="66243" y="85318"/>
                </a:lnTo>
                <a:lnTo>
                  <a:pt x="65163" y="87122"/>
                </a:lnTo>
                <a:lnTo>
                  <a:pt x="85318" y="87122"/>
                </a:lnTo>
                <a:lnTo>
                  <a:pt x="84239" y="85318"/>
                </a:lnTo>
                <a:lnTo>
                  <a:pt x="84239" y="27355"/>
                </a:lnTo>
                <a:lnTo>
                  <a:pt x="82597" y="15794"/>
                </a:lnTo>
                <a:lnTo>
                  <a:pt x="79444" y="10083"/>
                </a:lnTo>
                <a:close/>
              </a:path>
              <a:path w="95884" h="92709">
                <a:moveTo>
                  <a:pt x="60121" y="0"/>
                </a:moveTo>
                <a:lnTo>
                  <a:pt x="44485" y="2869"/>
                </a:lnTo>
                <a:lnTo>
                  <a:pt x="34651" y="9182"/>
                </a:lnTo>
                <a:lnTo>
                  <a:pt x="29542" y="15494"/>
                </a:lnTo>
                <a:lnTo>
                  <a:pt x="28079" y="18364"/>
                </a:lnTo>
                <a:lnTo>
                  <a:pt x="35153" y="18364"/>
                </a:lnTo>
                <a:lnTo>
                  <a:pt x="36004" y="17284"/>
                </a:lnTo>
                <a:lnTo>
                  <a:pt x="42125" y="10083"/>
                </a:lnTo>
                <a:lnTo>
                  <a:pt x="79444" y="10083"/>
                </a:lnTo>
                <a:lnTo>
                  <a:pt x="77852" y="7200"/>
                </a:lnTo>
                <a:lnTo>
                  <a:pt x="70271" y="1845"/>
                </a:lnTo>
                <a:lnTo>
                  <a:pt x="60121" y="0"/>
                </a:lnTo>
                <a:close/>
              </a:path>
            </a:pathLst>
          </a:custGeom>
          <a:solidFill>
            <a:srgbClr val="3D39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57473" y="6378642"/>
            <a:ext cx="252095" cy="278765"/>
          </a:xfrm>
          <a:custGeom>
            <a:avLst/>
            <a:gdLst/>
            <a:ahLst/>
            <a:cxnLst/>
            <a:rect l="l" t="t" r="r" b="b"/>
            <a:pathLst>
              <a:path w="252095" h="278765">
                <a:moveTo>
                  <a:pt x="114401" y="0"/>
                </a:moveTo>
                <a:lnTo>
                  <a:pt x="74092" y="12480"/>
                </a:lnTo>
                <a:lnTo>
                  <a:pt x="38847" y="39147"/>
                </a:lnTo>
                <a:lnTo>
                  <a:pt x="11968" y="80120"/>
                </a:lnTo>
                <a:lnTo>
                  <a:pt x="0" y="127191"/>
                </a:lnTo>
                <a:lnTo>
                  <a:pt x="2609" y="179969"/>
                </a:lnTo>
                <a:lnTo>
                  <a:pt x="20877" y="228901"/>
                </a:lnTo>
                <a:lnTo>
                  <a:pt x="55885" y="264435"/>
                </a:lnTo>
                <a:lnTo>
                  <a:pt x="102465" y="278306"/>
                </a:lnTo>
                <a:lnTo>
                  <a:pt x="150700" y="271185"/>
                </a:lnTo>
                <a:lnTo>
                  <a:pt x="194549" y="245301"/>
                </a:lnTo>
                <a:lnTo>
                  <a:pt x="227970" y="202878"/>
                </a:lnTo>
                <a:lnTo>
                  <a:pt x="246242" y="157463"/>
                </a:lnTo>
                <a:lnTo>
                  <a:pt x="251747" y="114158"/>
                </a:lnTo>
                <a:lnTo>
                  <a:pt x="245020" y="74984"/>
                </a:lnTo>
                <a:lnTo>
                  <a:pt x="226595" y="41963"/>
                </a:lnTo>
                <a:lnTo>
                  <a:pt x="197007" y="17115"/>
                </a:lnTo>
                <a:lnTo>
                  <a:pt x="156474" y="1585"/>
                </a:lnTo>
                <a:lnTo>
                  <a:pt x="114401" y="0"/>
                </a:lnTo>
                <a:close/>
              </a:path>
            </a:pathLst>
          </a:custGeom>
          <a:solidFill>
            <a:srgbClr val="097F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325" y="6427444"/>
            <a:ext cx="167487" cy="1893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75590"/>
            <a:ext cx="82550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7EA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8052434" cy="3333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62180" y="6413913"/>
            <a:ext cx="3300806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83691"/>
            <a:ext cx="358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Fifteenth</a:t>
            </a:r>
            <a:r>
              <a:rPr sz="2000" spc="-30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Edition,</a:t>
            </a:r>
            <a:r>
              <a:rPr sz="2000" spc="-35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7EA2"/>
                </a:solidFill>
                <a:latin typeface="Arial MT"/>
                <a:cs typeface="Arial MT"/>
              </a:rPr>
              <a:t>Global</a:t>
            </a:r>
            <a:r>
              <a:rPr sz="2000" spc="-40" dirty="0">
                <a:solidFill>
                  <a:srgbClr val="007EA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7EA2"/>
                </a:solidFill>
                <a:latin typeface="Arial MT"/>
                <a:cs typeface="Arial MT"/>
              </a:rPr>
              <a:t>Edition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9300" y="2692692"/>
            <a:ext cx="3115310" cy="114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Chapter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10</a:t>
            </a:r>
            <a:endParaRPr sz="3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2200" spc="-10" dirty="0">
                <a:latin typeface="Arial MT"/>
                <a:cs typeface="Arial MT"/>
              </a:rPr>
              <a:t>Entrepreneurial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Ventures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16520"/>
            <a:ext cx="3809517" cy="48903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5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5AAF78-96F6-1B9A-4244-C127999B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75590"/>
            <a:ext cx="8255000" cy="1046440"/>
          </a:xfrm>
        </p:spPr>
        <p:txBody>
          <a:bodyPr/>
          <a:lstStyle/>
          <a:p>
            <a:r>
              <a:rPr lang="en-US" dirty="0"/>
              <a:t>Entrepreneurial Ventures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D1600E-9D8B-7019-A238-7F76C09F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0424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4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5514-2199-F83D-AC35-A29BD9E7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75590"/>
            <a:ext cx="8255000" cy="1046440"/>
          </a:xfrm>
        </p:spPr>
        <p:txBody>
          <a:bodyPr/>
          <a:lstStyle/>
          <a:p>
            <a:r>
              <a:rPr lang="en-US" dirty="0"/>
              <a:t>Entrepreneurial Ventures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BC8269-9F5A-F002-613C-FF6CFB13D5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5318" y="890146"/>
            <a:ext cx="3978275" cy="3978275"/>
          </a:xfrm>
          <a:prstGeom prst="rect">
            <a:avLst/>
          </a:prstGeom>
        </p:spPr>
      </p:pic>
      <p:pic>
        <p:nvPicPr>
          <p:cNvPr id="7" name="Content Placeholder 6" descr="The Export Manufacturing Industry in Pakistan">
            <a:extLst>
              <a:ext uri="{FF2B5EF4-FFF2-40B4-BE49-F238E27FC236}">
                <a16:creationId xmlns:a16="http://schemas.microsoft.com/office/drawing/2014/main" id="{89156892-73A9-15B5-68E3-6A202B6B6A4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/>
          <a:stretch>
            <a:fillRect/>
          </a:stretch>
        </p:blipFill>
        <p:spPr>
          <a:xfrm>
            <a:off x="4572000" y="698810"/>
            <a:ext cx="3978275" cy="2700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E2D87-FA12-7924-4EE7-FB6859F3D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629" y="3657600"/>
            <a:ext cx="4229016" cy="281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51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229F67-7014-11B2-920D-F37A6235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DBCDA-CFF3-D217-DD69-BC81209E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658"/>
            <a:ext cx="8941923" cy="64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7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Learning</a:t>
            </a:r>
            <a:r>
              <a:rPr spc="-12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8181340" cy="3333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88340" lvl="1" indent="-67564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AutoNum type="arabicPeriod"/>
              <a:tabLst>
                <a:tab pos="688340" algn="l"/>
              </a:tabLst>
            </a:pPr>
            <a:r>
              <a:rPr sz="2400" b="1" dirty="0">
                <a:latin typeface="Arial"/>
                <a:cs typeface="Arial"/>
              </a:rPr>
              <a:t>Define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entrepreneurship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explain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important.</a:t>
            </a:r>
            <a:endParaRPr sz="2400">
              <a:latin typeface="Arial MT"/>
              <a:cs typeface="Arial MT"/>
            </a:endParaRPr>
          </a:p>
          <a:p>
            <a:pPr marL="661670" marR="51435" lvl="1" indent="-64960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661670" algn="l"/>
                <a:tab pos="687705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ventures.</a:t>
            </a:r>
            <a:endParaRPr sz="2400">
              <a:latin typeface="Arial MT"/>
              <a:cs typeface="Arial MT"/>
            </a:endParaRPr>
          </a:p>
          <a:p>
            <a:pPr marL="661670" marR="473075" lvl="1" indent="-64960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661670" algn="l"/>
                <a:tab pos="687705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choice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appropriate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structure.</a:t>
            </a:r>
            <a:endParaRPr sz="2400">
              <a:latin typeface="Arial MT"/>
              <a:cs typeface="Arial MT"/>
            </a:endParaRPr>
          </a:p>
          <a:p>
            <a:pPr marL="688340" lvl="1" indent="-67564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AutoNum type="arabicPeriod"/>
              <a:tabLst>
                <a:tab pos="688340" algn="l"/>
              </a:tabLst>
            </a:pP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organizations.</a:t>
            </a:r>
            <a:endParaRPr sz="2400">
              <a:latin typeface="Arial MT"/>
              <a:cs typeface="Arial MT"/>
            </a:endParaRPr>
          </a:p>
          <a:p>
            <a:pPr marL="661670" marR="270510" lvl="1" indent="-64960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661670" algn="l"/>
                <a:tab pos="687705" algn="l"/>
              </a:tabLst>
            </a:pPr>
            <a:r>
              <a:rPr sz="2400" b="1" dirty="0">
                <a:solidFill>
                  <a:srgbClr val="007EA2"/>
                </a:solidFill>
                <a:latin typeface="Arial"/>
                <a:cs typeface="Arial"/>
              </a:rPr>
              <a:t>	</a:t>
            </a: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exit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Entrepreneurship?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795259" cy="204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766445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Entrepreneurship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new 	</a:t>
            </a:r>
            <a:r>
              <a:rPr sz="2400" spc="-10" dirty="0">
                <a:latin typeface="Arial MT"/>
                <a:cs typeface="Arial MT"/>
              </a:rPr>
              <a:t>businesses,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opportunities</a:t>
            </a:r>
            <a:endParaRPr sz="2400">
              <a:latin typeface="Arial MT"/>
              <a:cs typeface="Arial MT"/>
            </a:endParaRPr>
          </a:p>
          <a:p>
            <a:pPr marL="267335" marR="508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10" dirty="0">
                <a:latin typeface="Arial"/>
                <a:cs typeface="Arial"/>
              </a:rPr>
              <a:t>Entrepreneurial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ventures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pursue 	opportunities,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characterized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innovative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practices,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profitability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8124CF-FE06-AEB0-C4E8-4F38005D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Discussion??? Would this Work?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5B569-E296-724F-8CC0-C65F67893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47800"/>
            <a:ext cx="7861300" cy="1846659"/>
          </a:xfrm>
        </p:spPr>
        <p:txBody>
          <a:bodyPr/>
          <a:lstStyle/>
          <a:p>
            <a:r>
              <a:rPr lang="en-US" dirty="0"/>
              <a:t>“An AI-powered </a:t>
            </a:r>
            <a:r>
              <a:rPr lang="en-US" dirty="0" err="1"/>
              <a:t>AgriTech</a:t>
            </a:r>
            <a:r>
              <a:rPr lang="en-US" dirty="0"/>
              <a:t> startup in Peshawar helping farmers improve productivity, access markets, and increase income through digital technology.”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Home | Pakistan Poverty Alleviation Fund">
            <a:extLst>
              <a:ext uri="{FF2B5EF4-FFF2-40B4-BE49-F238E27FC236}">
                <a16:creationId xmlns:a16="http://schemas.microsoft.com/office/drawing/2014/main" id="{44EBB148-9D58-F0F9-41EC-2EF849E4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0"/>
            <a:ext cx="9144000" cy="30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6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A09A-F2A5-8F5C-4DC3-6BD0D8E8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 Discussion??? Would this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DC3B4-1FD2-9C58-619A-9CC5996EC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8052434" cy="5724644"/>
          </a:xfrm>
        </p:spPr>
        <p:txBody>
          <a:bodyPr/>
          <a:lstStyle/>
          <a:p>
            <a:r>
              <a:rPr lang="en-US" sz="3200" b="1" dirty="0"/>
              <a:t>Traditional Handicraft E-Commerce Brand Ideas</a:t>
            </a:r>
          </a:p>
          <a:p>
            <a:r>
              <a:rPr lang="en-US" sz="3200" dirty="0"/>
              <a:t>An online platform selling: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/>
              <a:t>Peshawari chappals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/>
              <a:t>Handcrafted shawls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/>
              <a:t>Carpets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/>
              <a:t>Traditional caps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/>
              <a:t>Tribal artwork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600" dirty="0"/>
          </a:p>
          <a:p>
            <a:r>
              <a:rPr lang="en-US" sz="3600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11EFE-AE6F-2B65-81F8-B5895FD35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63" y="1600200"/>
            <a:ext cx="3085737" cy="2056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B8B83B-422E-FF4D-70F1-9231AE32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831" y="4024348"/>
            <a:ext cx="2971800" cy="223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1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Small</a:t>
            </a:r>
            <a:r>
              <a:rPr spc="-125" dirty="0"/>
              <a:t> </a:t>
            </a:r>
            <a:r>
              <a:rPr dirty="0"/>
              <a:t>Business</a:t>
            </a:r>
            <a:r>
              <a:rPr spc="-170" dirty="0"/>
              <a:t> </a:t>
            </a:r>
            <a:r>
              <a:rPr spc="-40" dirty="0"/>
              <a:t>Versus</a:t>
            </a:r>
            <a:r>
              <a:rPr spc="-130" dirty="0"/>
              <a:t> </a:t>
            </a:r>
            <a:r>
              <a:rPr spc="-10" dirty="0"/>
              <a:t>Entrepreneurship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194945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/>
              <a:t>A</a:t>
            </a:r>
            <a:r>
              <a:rPr sz="2400" spc="-170" dirty="0"/>
              <a:t> </a:t>
            </a:r>
            <a:r>
              <a:rPr sz="2400" dirty="0"/>
              <a:t>small</a:t>
            </a:r>
            <a:r>
              <a:rPr sz="2400" spc="-70" dirty="0"/>
              <a:t> </a:t>
            </a:r>
            <a:r>
              <a:rPr sz="2400" dirty="0"/>
              <a:t>business</a:t>
            </a:r>
            <a:r>
              <a:rPr sz="2400" spc="-45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dirty="0"/>
              <a:t>an</a:t>
            </a:r>
            <a:r>
              <a:rPr sz="2400" spc="-50" dirty="0"/>
              <a:t> </a:t>
            </a:r>
            <a:r>
              <a:rPr sz="2400" spc="-10" dirty="0"/>
              <a:t>organization</a:t>
            </a:r>
            <a:r>
              <a:rPr sz="2400" spc="-45" dirty="0"/>
              <a:t> </a:t>
            </a:r>
            <a:r>
              <a:rPr sz="2400" dirty="0"/>
              <a:t>that</a:t>
            </a:r>
            <a:r>
              <a:rPr sz="2400" spc="-35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spc="-10" dirty="0"/>
              <a:t>independently 	</a:t>
            </a:r>
            <a:r>
              <a:rPr sz="2400" dirty="0"/>
              <a:t>owned,</a:t>
            </a:r>
            <a:r>
              <a:rPr sz="2400" spc="-105" dirty="0"/>
              <a:t> </a:t>
            </a:r>
            <a:r>
              <a:rPr sz="2400" dirty="0"/>
              <a:t>operated,</a:t>
            </a:r>
            <a:r>
              <a:rPr sz="2400" spc="-95" dirty="0"/>
              <a:t> </a:t>
            </a:r>
            <a:r>
              <a:rPr sz="2400" dirty="0"/>
              <a:t>and</a:t>
            </a:r>
            <a:r>
              <a:rPr sz="2400" spc="-105" dirty="0"/>
              <a:t> </a:t>
            </a:r>
            <a:r>
              <a:rPr sz="2400" spc="-10" dirty="0"/>
              <a:t>financed.</a:t>
            </a:r>
            <a:endParaRPr sz="2400"/>
          </a:p>
          <a:p>
            <a:pPr marL="269240" marR="5080" indent="-257175">
              <a:lnSpc>
                <a:spcPct val="100000"/>
              </a:lnSpc>
              <a:spcBef>
                <a:spcPts val="1500"/>
              </a:spcBef>
              <a:buChar char="•"/>
              <a:tabLst>
                <a:tab pos="269240" algn="l"/>
                <a:tab pos="353695" algn="l"/>
              </a:tabLst>
            </a:pPr>
            <a:r>
              <a:rPr sz="3600" baseline="3472" dirty="0">
                <a:solidFill>
                  <a:srgbClr val="007EA2"/>
                </a:solidFill>
              </a:rPr>
              <a:t>	</a:t>
            </a:r>
            <a:r>
              <a:rPr sz="2400" dirty="0"/>
              <a:t>Small</a:t>
            </a:r>
            <a:r>
              <a:rPr sz="2400" spc="-80" dirty="0"/>
              <a:t> </a:t>
            </a:r>
            <a:r>
              <a:rPr sz="2400" dirty="0"/>
              <a:t>business</a:t>
            </a:r>
            <a:r>
              <a:rPr sz="2400" spc="-75" dirty="0"/>
              <a:t> </a:t>
            </a:r>
            <a:r>
              <a:rPr sz="2400" dirty="0"/>
              <a:t>owners</a:t>
            </a:r>
            <a:r>
              <a:rPr sz="2400" spc="-65" dirty="0"/>
              <a:t> </a:t>
            </a:r>
            <a:r>
              <a:rPr sz="2400" dirty="0"/>
              <a:t>see</a:t>
            </a:r>
            <a:r>
              <a:rPr sz="2400" spc="-75" dirty="0"/>
              <a:t> </a:t>
            </a:r>
            <a:r>
              <a:rPr sz="2400" dirty="0"/>
              <a:t>risk</a:t>
            </a:r>
            <a:r>
              <a:rPr sz="2400" spc="-65" dirty="0"/>
              <a:t> </a:t>
            </a:r>
            <a:r>
              <a:rPr sz="2400" dirty="0"/>
              <a:t>where</a:t>
            </a:r>
            <a:r>
              <a:rPr sz="2400" spc="-70" dirty="0"/>
              <a:t> </a:t>
            </a:r>
            <a:r>
              <a:rPr sz="2400" spc="-10" dirty="0"/>
              <a:t>entrepreneurs</a:t>
            </a:r>
            <a:r>
              <a:rPr sz="2400" spc="-70" dirty="0"/>
              <a:t> </a:t>
            </a:r>
            <a:r>
              <a:rPr sz="2400" spc="-25" dirty="0"/>
              <a:t>see </a:t>
            </a:r>
            <a:r>
              <a:rPr sz="2400" spc="-10" dirty="0"/>
              <a:t>opportunity.</a:t>
            </a:r>
            <a:endParaRPr sz="2400"/>
          </a:p>
          <a:p>
            <a:pPr marL="267335" marR="81661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spc="-10" dirty="0"/>
              <a:t>Entrepreneurs</a:t>
            </a:r>
            <a:r>
              <a:rPr sz="2400" spc="-65" dirty="0"/>
              <a:t> </a:t>
            </a:r>
            <a:r>
              <a:rPr sz="2400" dirty="0"/>
              <a:t>want</a:t>
            </a:r>
            <a:r>
              <a:rPr sz="2400" spc="-55" dirty="0"/>
              <a:t> </a:t>
            </a:r>
            <a:r>
              <a:rPr sz="2400" dirty="0"/>
              <a:t>to</a:t>
            </a:r>
            <a:r>
              <a:rPr sz="2400" spc="-65" dirty="0"/>
              <a:t> </a:t>
            </a:r>
            <a:r>
              <a:rPr sz="2400" dirty="0"/>
              <a:t>change</a:t>
            </a:r>
            <a:r>
              <a:rPr sz="2400" spc="-65" dirty="0"/>
              <a:t> </a:t>
            </a:r>
            <a:r>
              <a:rPr sz="2400" dirty="0"/>
              <a:t>the</a:t>
            </a:r>
            <a:r>
              <a:rPr sz="2400" spc="-70" dirty="0"/>
              <a:t> </a:t>
            </a:r>
            <a:r>
              <a:rPr sz="2400" dirty="0"/>
              <a:t>world</a:t>
            </a:r>
            <a:r>
              <a:rPr sz="2400" spc="-65" dirty="0"/>
              <a:t> </a:t>
            </a:r>
            <a:r>
              <a:rPr sz="2400" dirty="0"/>
              <a:t>and</a:t>
            </a:r>
            <a:r>
              <a:rPr sz="2400" spc="-60" dirty="0"/>
              <a:t> </a:t>
            </a:r>
            <a:r>
              <a:rPr sz="2400" dirty="0"/>
              <a:t>have</a:t>
            </a:r>
            <a:r>
              <a:rPr sz="2400" spc="-65" dirty="0"/>
              <a:t> </a:t>
            </a:r>
            <a:r>
              <a:rPr sz="2400" spc="-50" dirty="0"/>
              <a:t>a 	</a:t>
            </a:r>
            <a:r>
              <a:rPr sz="2400" dirty="0"/>
              <a:t>passion</a:t>
            </a:r>
            <a:r>
              <a:rPr sz="2400" spc="-90" dirty="0"/>
              <a:t> </a:t>
            </a:r>
            <a:r>
              <a:rPr sz="2400" dirty="0"/>
              <a:t>that</a:t>
            </a:r>
            <a:r>
              <a:rPr sz="2400" spc="-85" dirty="0"/>
              <a:t> </a:t>
            </a:r>
            <a:r>
              <a:rPr sz="2400" dirty="0"/>
              <a:t>goes</a:t>
            </a:r>
            <a:r>
              <a:rPr sz="2400" spc="-85" dirty="0"/>
              <a:t> </a:t>
            </a:r>
            <a:r>
              <a:rPr sz="2400" dirty="0"/>
              <a:t>beyond</a:t>
            </a:r>
            <a:r>
              <a:rPr sz="2400" spc="-90" dirty="0"/>
              <a:t> </a:t>
            </a:r>
            <a:r>
              <a:rPr sz="2400" spc="-10" dirty="0"/>
              <a:t>profits.</a:t>
            </a:r>
            <a:endParaRPr sz="2400"/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/>
              <a:t>Small</a:t>
            </a:r>
            <a:r>
              <a:rPr sz="2400" spc="-65" dirty="0"/>
              <a:t> </a:t>
            </a:r>
            <a:r>
              <a:rPr sz="2400" dirty="0"/>
              <a:t>business</a:t>
            </a:r>
            <a:r>
              <a:rPr sz="2400" spc="-65" dirty="0"/>
              <a:t> </a:t>
            </a:r>
            <a:r>
              <a:rPr sz="2400" dirty="0"/>
              <a:t>owners</a:t>
            </a:r>
            <a:r>
              <a:rPr sz="2400" spc="-70" dirty="0"/>
              <a:t> </a:t>
            </a:r>
            <a:r>
              <a:rPr sz="2400" dirty="0"/>
              <a:t>want</a:t>
            </a:r>
            <a:r>
              <a:rPr sz="2400" spc="-55" dirty="0"/>
              <a:t> </a:t>
            </a:r>
            <a:r>
              <a:rPr sz="2400" dirty="0"/>
              <a:t>to</a:t>
            </a:r>
            <a:r>
              <a:rPr sz="2400" spc="-70" dirty="0"/>
              <a:t> </a:t>
            </a:r>
            <a:r>
              <a:rPr sz="2400" dirty="0"/>
              <a:t>make</a:t>
            </a:r>
            <a:r>
              <a:rPr sz="2400" spc="-65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spc="-10" dirty="0"/>
              <a:t>living.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Entrepreneurship</a:t>
            </a:r>
            <a:r>
              <a:rPr spc="-135" dirty="0"/>
              <a:t> </a:t>
            </a:r>
            <a:r>
              <a:rPr spc="-40" dirty="0"/>
              <a:t>Versus</a:t>
            </a:r>
            <a:r>
              <a:rPr spc="-80" dirty="0"/>
              <a:t> </a:t>
            </a:r>
            <a:r>
              <a:rPr spc="-25" dirty="0"/>
              <a:t>Self-</a:t>
            </a:r>
            <a:r>
              <a:rPr spc="-10" dirty="0"/>
              <a:t>Employment?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397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20" dirty="0">
                <a:latin typeface="Arial"/>
                <a:cs typeface="Arial"/>
              </a:rPr>
              <a:t>Self-</a:t>
            </a:r>
            <a:r>
              <a:rPr sz="2400" b="1" dirty="0">
                <a:latin typeface="Arial"/>
                <a:cs typeface="Arial"/>
              </a:rPr>
              <a:t>employment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profession,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farm.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3F2A-8509-90D1-6CE7-B42F8CB3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Small Business Versus Entrepreneurship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B5085-4A39-BC25-2459-A26AB510F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053985"/>
            <a:ext cx="8052434" cy="4431983"/>
          </a:xfrm>
        </p:spPr>
        <p:txBody>
          <a:bodyPr/>
          <a:lstStyle/>
          <a:p>
            <a:r>
              <a:rPr lang="en-US" b="1" dirty="0"/>
              <a:t>Example: Local Shoe Shop vs Online Footwear Startup</a:t>
            </a:r>
          </a:p>
          <a:p>
            <a:r>
              <a:rPr lang="en-US" b="1" dirty="0"/>
              <a:t>Small Business Example</a:t>
            </a:r>
          </a:p>
          <a:p>
            <a:r>
              <a:rPr lang="en-US" b="1" dirty="0"/>
              <a:t>Local Shoe Shop in Peshawar</a:t>
            </a:r>
          </a:p>
          <a:p>
            <a:r>
              <a:rPr lang="en-US" dirty="0"/>
              <a:t>Sells shoes in one local market </a:t>
            </a:r>
          </a:p>
          <a:p>
            <a:r>
              <a:rPr lang="en-US" dirty="0"/>
              <a:t>Limited customers </a:t>
            </a:r>
          </a:p>
          <a:p>
            <a:r>
              <a:rPr lang="en-US" dirty="0"/>
              <a:t>Traditional selling method </a:t>
            </a:r>
          </a:p>
          <a:p>
            <a:r>
              <a:rPr lang="en-US" dirty="0"/>
              <a:t>Goal is stable monthly income </a:t>
            </a:r>
          </a:p>
          <a:p>
            <a:r>
              <a:rPr lang="en-US" b="1" dirty="0"/>
              <a:t>Characteristics</a:t>
            </a:r>
          </a:p>
          <a:p>
            <a:r>
              <a:rPr lang="en-US" dirty="0"/>
              <a:t>Small investment </a:t>
            </a:r>
          </a:p>
          <a:p>
            <a:r>
              <a:rPr lang="en-US" dirty="0"/>
              <a:t>Limited expansion </a:t>
            </a:r>
          </a:p>
          <a:p>
            <a:r>
              <a:rPr lang="en-US" dirty="0"/>
              <a:t>Local operations 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5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20" dirty="0"/>
              <a:t>Entrepreneurship</a:t>
            </a:r>
            <a:r>
              <a:rPr spc="-70" dirty="0"/>
              <a:t> </a:t>
            </a:r>
            <a:r>
              <a:rPr spc="-10" dirty="0"/>
              <a:t>Important?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4279900" cy="2259593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spc="-10" dirty="0">
                <a:latin typeface="Arial MT"/>
                <a:cs typeface="Arial MT"/>
              </a:rPr>
              <a:t>Innovation</a:t>
            </a:r>
            <a:endParaRPr sz="2400" dirty="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growth</a:t>
            </a:r>
            <a:endParaRPr sz="2400" dirty="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Job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creation</a:t>
            </a:r>
            <a:endParaRPr sz="2400" dirty="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Global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entrepreneurship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Entrepreneurial</a:t>
            </a:r>
            <a:r>
              <a:rPr spc="-6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6592570" cy="261683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AutoNum type="arabicPeriod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Explore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</a:t>
            </a:r>
            <a:endParaRPr sz="2400">
              <a:latin typeface="Arial MT"/>
              <a:cs typeface="Arial MT"/>
            </a:endParaRPr>
          </a:p>
          <a:p>
            <a:pPr marL="349885" marR="5080" indent="-33782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AutoNum type="arabicPeriod"/>
              <a:tabLst>
                <a:tab pos="406400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competitive 	advantages</a:t>
            </a:r>
            <a:endParaRPr sz="24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</a:t>
            </a:r>
            <a:endParaRPr sz="2400">
              <a:latin typeface="Arial MT"/>
              <a:cs typeface="Arial MT"/>
            </a:endParaRPr>
          </a:p>
          <a:p>
            <a:pPr marL="350520" indent="-337820">
              <a:lnSpc>
                <a:spcPct val="100000"/>
              </a:lnSpc>
              <a:spcBef>
                <a:spcPts val="1505"/>
              </a:spcBef>
              <a:buClr>
                <a:srgbClr val="007EA2"/>
              </a:buClr>
              <a:buAutoNum type="arabicPeriod"/>
              <a:tabLst>
                <a:tab pos="350520" algn="l"/>
              </a:tabLst>
            </a:pP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spc="-20" dirty="0"/>
              <a:t>Entrepreneurs</a:t>
            </a:r>
            <a:r>
              <a:rPr spc="-60" dirty="0"/>
              <a:t> </a:t>
            </a:r>
            <a:r>
              <a:rPr spc="-25" dirty="0"/>
              <a:t>Do?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640320" cy="252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exactly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Generally, 	</a:t>
            </a:r>
            <a:r>
              <a:rPr sz="2400" spc="-20" dirty="0">
                <a:latin typeface="Arial MT"/>
                <a:cs typeface="Arial MT"/>
              </a:rPr>
              <a:t>they: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something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Search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exploit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change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feasibility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Launch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15" dirty="0"/>
              <a:t> </a:t>
            </a:r>
            <a:r>
              <a:rPr dirty="0"/>
              <a:t>Hybrid</a:t>
            </a:r>
            <a:r>
              <a:rPr spc="-75" dirty="0"/>
              <a:t> </a:t>
            </a:r>
            <a:r>
              <a:rPr dirty="0"/>
              <a:t>Path</a:t>
            </a:r>
            <a:r>
              <a:rPr spc="-5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Entrepreneurship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115934" cy="256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74295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half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new-</a:t>
            </a:r>
            <a:r>
              <a:rPr sz="2400" dirty="0">
                <a:latin typeface="Arial MT"/>
                <a:cs typeface="Arial MT"/>
              </a:rPr>
              <a:t>venture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start-</a:t>
            </a:r>
            <a:r>
              <a:rPr sz="2400" dirty="0">
                <a:latin typeface="Arial MT"/>
                <a:cs typeface="Arial MT"/>
              </a:rPr>
              <a:t>ups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four 	</a:t>
            </a:r>
            <a:r>
              <a:rPr sz="2400" spc="-10" dirty="0">
                <a:latin typeface="Arial MT"/>
                <a:cs typeface="Arial MT"/>
              </a:rPr>
              <a:t>years.</a:t>
            </a:r>
            <a:endParaRPr sz="2400">
              <a:latin typeface="Arial MT"/>
              <a:cs typeface="Arial MT"/>
            </a:endParaRPr>
          </a:p>
          <a:p>
            <a:pPr marL="267335" marR="219075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odds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your 	</a:t>
            </a:r>
            <a:r>
              <a:rPr sz="2400" dirty="0">
                <a:latin typeface="Arial MT"/>
                <a:cs typeface="Arial MT"/>
              </a:rPr>
              <a:t>day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job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side.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Lets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pressure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living.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survival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500" y="180619"/>
            <a:ext cx="7630159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Identifying</a:t>
            </a:r>
            <a:r>
              <a:rPr spc="-155" dirty="0"/>
              <a:t> </a:t>
            </a:r>
            <a:r>
              <a:rPr spc="-10" dirty="0"/>
              <a:t>Environmental</a:t>
            </a:r>
            <a:r>
              <a:rPr spc="-160" dirty="0"/>
              <a:t> </a:t>
            </a:r>
            <a:r>
              <a:rPr spc="-10" dirty="0"/>
              <a:t>Opportunities </a:t>
            </a:r>
            <a:r>
              <a:rPr dirty="0"/>
              <a:t>and</a:t>
            </a:r>
            <a:r>
              <a:rPr spc="5" dirty="0"/>
              <a:t> </a:t>
            </a:r>
            <a:r>
              <a:rPr spc="-20" dirty="0"/>
              <a:t>Competitive</a:t>
            </a:r>
            <a:r>
              <a:rPr spc="-175" dirty="0"/>
              <a:t> </a:t>
            </a:r>
            <a:r>
              <a:rPr spc="-10" dirty="0"/>
              <a:t>Advantage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435008"/>
            <a:ext cx="4885690" cy="35629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Sources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opportunity: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unexpected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incongruous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need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Industry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structures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Demographics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Changes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perception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knowledge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Researching</a:t>
            </a:r>
            <a:r>
              <a:rPr sz="3200" spc="-95" dirty="0"/>
              <a:t> </a:t>
            </a:r>
            <a:r>
              <a:rPr sz="3200" dirty="0"/>
              <a:t>the</a:t>
            </a:r>
            <a:r>
              <a:rPr sz="3200" spc="-145" dirty="0"/>
              <a:t> </a:t>
            </a:r>
            <a:r>
              <a:rPr sz="3200" spc="-45" dirty="0"/>
              <a:t>Venture’s</a:t>
            </a:r>
            <a:r>
              <a:rPr sz="3200" spc="-100" dirty="0"/>
              <a:t> </a:t>
            </a:r>
            <a:r>
              <a:rPr sz="3200" spc="-10" dirty="0"/>
              <a:t>Feasibility—Ideas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896225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sources,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look 	for: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48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Limitations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currently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available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48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approaches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48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Advances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breakthroughs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48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Unfilled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niches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48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changes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Exhibit</a:t>
            </a:r>
            <a:r>
              <a:rPr spc="-114" dirty="0"/>
              <a:t> </a:t>
            </a:r>
            <a:r>
              <a:rPr dirty="0"/>
              <a:t>10.1</a:t>
            </a:r>
            <a:r>
              <a:rPr spc="-114" dirty="0"/>
              <a:t> </a:t>
            </a:r>
            <a:r>
              <a:rPr dirty="0"/>
              <a:t>Evaluating</a:t>
            </a:r>
            <a:r>
              <a:rPr spc="-105" dirty="0"/>
              <a:t> </a:t>
            </a:r>
            <a:r>
              <a:rPr dirty="0"/>
              <a:t>Potential</a:t>
            </a:r>
            <a:r>
              <a:rPr spc="-110" dirty="0"/>
              <a:t> </a:t>
            </a:r>
            <a:r>
              <a:rPr spc="-10" dirty="0"/>
              <a:t>Ideas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914399"/>
            <a:ext cx="8229600" cy="389255"/>
          </a:xfrm>
          <a:custGeom>
            <a:avLst/>
            <a:gdLst/>
            <a:ahLst/>
            <a:cxnLst/>
            <a:rect l="l" t="t" r="r" b="b"/>
            <a:pathLst>
              <a:path w="8229600" h="389255">
                <a:moveTo>
                  <a:pt x="8229244" y="0"/>
                </a:moveTo>
                <a:lnTo>
                  <a:pt x="4442396" y="0"/>
                </a:lnTo>
                <a:lnTo>
                  <a:pt x="0" y="0"/>
                </a:lnTo>
                <a:lnTo>
                  <a:pt x="0" y="389166"/>
                </a:lnTo>
                <a:lnTo>
                  <a:pt x="4442396" y="389166"/>
                </a:lnTo>
                <a:lnTo>
                  <a:pt x="8229244" y="389166"/>
                </a:lnTo>
                <a:lnTo>
                  <a:pt x="8229244" y="0"/>
                </a:lnTo>
                <a:close/>
              </a:path>
            </a:pathLst>
          </a:custGeom>
          <a:solidFill>
            <a:srgbClr val="007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930859"/>
            <a:ext cx="68414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452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Personal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Considerations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Marketplace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Considerations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303565"/>
            <a:ext cx="8229600" cy="1311910"/>
          </a:xfrm>
          <a:custGeom>
            <a:avLst/>
            <a:gdLst/>
            <a:ahLst/>
            <a:cxnLst/>
            <a:rect l="l" t="t" r="r" b="b"/>
            <a:pathLst>
              <a:path w="8229600" h="1311910">
                <a:moveTo>
                  <a:pt x="8229244" y="0"/>
                </a:moveTo>
                <a:lnTo>
                  <a:pt x="4442396" y="0"/>
                </a:lnTo>
                <a:lnTo>
                  <a:pt x="0" y="0"/>
                </a:lnTo>
                <a:lnTo>
                  <a:pt x="0" y="543953"/>
                </a:lnTo>
                <a:lnTo>
                  <a:pt x="0" y="1311833"/>
                </a:lnTo>
                <a:lnTo>
                  <a:pt x="4442396" y="1311833"/>
                </a:lnTo>
                <a:lnTo>
                  <a:pt x="4442396" y="543953"/>
                </a:lnTo>
                <a:lnTo>
                  <a:pt x="8229244" y="543953"/>
                </a:lnTo>
                <a:lnTo>
                  <a:pt x="8229244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320736"/>
            <a:ext cx="3697604" cy="78295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44"/>
              </a:spcBef>
            </a:pPr>
            <a:r>
              <a:rPr sz="1400" dirty="0">
                <a:latin typeface="Arial MT"/>
                <a:cs typeface="Arial MT"/>
              </a:rPr>
              <a:t>Do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capabilities 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what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you’ve selected?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ready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be an </a:t>
            </a:r>
            <a:r>
              <a:rPr sz="1400" spc="-10" dirty="0">
                <a:latin typeface="Arial MT"/>
                <a:cs typeface="Arial MT"/>
              </a:rPr>
              <a:t>entrepreneur?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99596" y="1847519"/>
            <a:ext cx="3787140" cy="768350"/>
          </a:xfrm>
          <a:custGeom>
            <a:avLst/>
            <a:gdLst/>
            <a:ahLst/>
            <a:cxnLst/>
            <a:rect l="l" t="t" r="r" b="b"/>
            <a:pathLst>
              <a:path w="3787140" h="768350">
                <a:moveTo>
                  <a:pt x="3786847" y="0"/>
                </a:moveTo>
                <a:lnTo>
                  <a:pt x="0" y="0"/>
                </a:lnTo>
                <a:lnTo>
                  <a:pt x="0" y="767880"/>
                </a:lnTo>
                <a:lnTo>
                  <a:pt x="3786847" y="767880"/>
                </a:lnTo>
                <a:lnTo>
                  <a:pt x="3786847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78336" y="1320736"/>
            <a:ext cx="3581400" cy="1182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336550">
              <a:lnSpc>
                <a:spcPts val="1570"/>
              </a:lnSpc>
              <a:spcBef>
                <a:spcPts val="244"/>
              </a:spcBef>
            </a:pPr>
            <a:r>
              <a:rPr sz="1400" dirty="0">
                <a:latin typeface="Arial MT"/>
                <a:cs typeface="Arial MT"/>
              </a:rPr>
              <a:t>Who are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 potential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customers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 </a:t>
            </a:r>
            <a:r>
              <a:rPr sz="1400" spc="-20" dirty="0">
                <a:latin typeface="Arial MT"/>
                <a:cs typeface="Arial MT"/>
              </a:rPr>
              <a:t>your </a:t>
            </a:r>
            <a:r>
              <a:rPr sz="1400" dirty="0">
                <a:latin typeface="Arial MT"/>
                <a:cs typeface="Arial MT"/>
              </a:rPr>
              <a:t>idea: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who,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where,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many?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93700"/>
              </a:lnSpc>
              <a:spcBef>
                <a:spcPts val="1100"/>
              </a:spcBef>
            </a:pPr>
            <a:r>
              <a:rPr sz="1400" dirty="0">
                <a:latin typeface="Arial MT"/>
                <a:cs typeface="Arial MT"/>
              </a:rPr>
              <a:t>What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similar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 unique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product features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does </a:t>
            </a:r>
            <a:r>
              <a:rPr sz="1400" dirty="0">
                <a:latin typeface="Arial MT"/>
                <a:cs typeface="Arial MT"/>
              </a:rPr>
              <a:t>your proposed idea have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compared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</a:t>
            </a:r>
            <a:r>
              <a:rPr sz="1400" spc="-10" dirty="0">
                <a:latin typeface="Arial MT"/>
                <a:cs typeface="Arial MT"/>
              </a:rPr>
              <a:t>what’s </a:t>
            </a:r>
            <a:r>
              <a:rPr sz="1400" dirty="0">
                <a:latin typeface="Arial MT"/>
                <a:cs typeface="Arial MT"/>
              </a:rPr>
              <a:t>currently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market?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" y="2615399"/>
            <a:ext cx="8229600" cy="1311910"/>
          </a:xfrm>
          <a:custGeom>
            <a:avLst/>
            <a:gdLst/>
            <a:ahLst/>
            <a:cxnLst/>
            <a:rect l="l" t="t" r="r" b="b"/>
            <a:pathLst>
              <a:path w="8229600" h="1311910">
                <a:moveTo>
                  <a:pt x="8229244" y="0"/>
                </a:moveTo>
                <a:lnTo>
                  <a:pt x="4442396" y="0"/>
                </a:lnTo>
                <a:lnTo>
                  <a:pt x="0" y="0"/>
                </a:lnTo>
                <a:lnTo>
                  <a:pt x="0" y="543966"/>
                </a:lnTo>
                <a:lnTo>
                  <a:pt x="0" y="1311833"/>
                </a:lnTo>
                <a:lnTo>
                  <a:pt x="4442396" y="1311833"/>
                </a:lnTo>
                <a:lnTo>
                  <a:pt x="4442396" y="543966"/>
                </a:lnTo>
                <a:lnTo>
                  <a:pt x="8229244" y="543966"/>
                </a:lnTo>
                <a:lnTo>
                  <a:pt x="8229244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940" y="2632582"/>
            <a:ext cx="4061460" cy="78295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24130">
              <a:lnSpc>
                <a:spcPts val="1570"/>
              </a:lnSpc>
              <a:spcBef>
                <a:spcPts val="244"/>
              </a:spcBef>
            </a:pP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prepared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emotionally 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deal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the </a:t>
            </a:r>
            <a:r>
              <a:rPr sz="1400" dirty="0">
                <a:latin typeface="Arial MT"/>
                <a:cs typeface="Arial MT"/>
              </a:rPr>
              <a:t>stresses and challenges of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entrepreneur?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prepared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deal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rejection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failure?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99596" y="3159366"/>
            <a:ext cx="3787140" cy="768350"/>
          </a:xfrm>
          <a:custGeom>
            <a:avLst/>
            <a:gdLst/>
            <a:ahLst/>
            <a:cxnLst/>
            <a:rect l="l" t="t" r="r" b="b"/>
            <a:pathLst>
              <a:path w="3787140" h="768350">
                <a:moveTo>
                  <a:pt x="3786847" y="0"/>
                </a:moveTo>
                <a:lnTo>
                  <a:pt x="0" y="0"/>
                </a:lnTo>
                <a:lnTo>
                  <a:pt x="0" y="767867"/>
                </a:lnTo>
                <a:lnTo>
                  <a:pt x="3786847" y="767867"/>
                </a:lnTo>
                <a:lnTo>
                  <a:pt x="3786847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78336" y="2632582"/>
            <a:ext cx="3574415" cy="11823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424815">
              <a:lnSpc>
                <a:spcPts val="1570"/>
              </a:lnSpc>
              <a:spcBef>
                <a:spcPts val="244"/>
              </a:spcBef>
            </a:pP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where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will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potential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customers </a:t>
            </a:r>
            <a:r>
              <a:rPr sz="1400" dirty="0">
                <a:latin typeface="Arial MT"/>
                <a:cs typeface="Arial MT"/>
              </a:rPr>
              <a:t>purchase your </a:t>
            </a:r>
            <a:r>
              <a:rPr sz="1400" spc="-10" dirty="0">
                <a:latin typeface="Arial MT"/>
                <a:cs typeface="Arial MT"/>
              </a:rPr>
              <a:t>product?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93700"/>
              </a:lnSpc>
              <a:spcBef>
                <a:spcPts val="1100"/>
              </a:spcBef>
            </a:pP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considered pricing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issues </a:t>
            </a:r>
            <a:r>
              <a:rPr sz="1400" spc="-25" dirty="0">
                <a:latin typeface="Arial MT"/>
                <a:cs typeface="Arial MT"/>
              </a:rPr>
              <a:t>and </a:t>
            </a:r>
            <a:r>
              <a:rPr sz="1400" dirty="0">
                <a:latin typeface="Arial MT"/>
                <a:cs typeface="Arial MT"/>
              </a:rPr>
              <a:t>whether the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price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you’ll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able to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charge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will </a:t>
            </a:r>
            <a:r>
              <a:rPr sz="1400" dirty="0">
                <a:latin typeface="Arial MT"/>
                <a:cs typeface="Arial MT"/>
              </a:rPr>
              <a:t>allow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venture to survive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</a:t>
            </a:r>
            <a:r>
              <a:rPr sz="1400" spc="-10" dirty="0">
                <a:latin typeface="Arial MT"/>
                <a:cs typeface="Arial MT"/>
              </a:rPr>
              <a:t>prosper?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" y="3927233"/>
            <a:ext cx="4442460" cy="768350"/>
          </a:xfrm>
          <a:custGeom>
            <a:avLst/>
            <a:gdLst/>
            <a:ahLst/>
            <a:cxnLst/>
            <a:rect l="l" t="t" r="r" b="b"/>
            <a:pathLst>
              <a:path w="4442460" h="768350">
                <a:moveTo>
                  <a:pt x="4442396" y="0"/>
                </a:moveTo>
                <a:lnTo>
                  <a:pt x="0" y="0"/>
                </a:lnTo>
                <a:lnTo>
                  <a:pt x="0" y="767880"/>
                </a:lnTo>
                <a:lnTo>
                  <a:pt x="4442396" y="767880"/>
                </a:lnTo>
                <a:lnTo>
                  <a:pt x="4442396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5940" y="3944416"/>
            <a:ext cx="2267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ready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work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hard?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99596" y="3927233"/>
            <a:ext cx="3787140" cy="768350"/>
          </a:xfrm>
          <a:custGeom>
            <a:avLst/>
            <a:gdLst/>
            <a:ahLst/>
            <a:cxnLst/>
            <a:rect l="l" t="t" r="r" b="b"/>
            <a:pathLst>
              <a:path w="3787140" h="768350">
                <a:moveTo>
                  <a:pt x="3786847" y="0"/>
                </a:moveTo>
                <a:lnTo>
                  <a:pt x="0" y="0"/>
                </a:lnTo>
                <a:lnTo>
                  <a:pt x="0" y="767880"/>
                </a:lnTo>
                <a:lnTo>
                  <a:pt x="3786847" y="767880"/>
                </a:lnTo>
                <a:lnTo>
                  <a:pt x="3786847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78336" y="3944416"/>
            <a:ext cx="3356610" cy="63817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ts val="1570"/>
              </a:lnSpc>
              <a:spcBef>
                <a:spcPts val="244"/>
              </a:spcBef>
            </a:pP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considered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to </a:t>
            </a:r>
            <a:r>
              <a:rPr sz="1400" dirty="0">
                <a:latin typeface="Arial MT"/>
                <a:cs typeface="Arial MT"/>
              </a:rPr>
              <a:t>promote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advertise your </a:t>
            </a:r>
            <a:r>
              <a:rPr sz="1400" spc="-10" dirty="0">
                <a:latin typeface="Arial MT"/>
                <a:cs typeface="Arial MT"/>
              </a:rPr>
              <a:t>proposed </a:t>
            </a:r>
            <a:r>
              <a:rPr sz="1400" dirty="0">
                <a:latin typeface="Arial MT"/>
                <a:cs typeface="Arial MT"/>
              </a:rPr>
              <a:t>entrepreneurial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venture?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200" y="4695113"/>
            <a:ext cx="8229600" cy="1424940"/>
          </a:xfrm>
          <a:custGeom>
            <a:avLst/>
            <a:gdLst/>
            <a:ahLst/>
            <a:cxnLst/>
            <a:rect l="l" t="t" r="r" b="b"/>
            <a:pathLst>
              <a:path w="8229600" h="1424939">
                <a:moveTo>
                  <a:pt x="8229244" y="0"/>
                </a:moveTo>
                <a:lnTo>
                  <a:pt x="4442396" y="0"/>
                </a:lnTo>
                <a:lnTo>
                  <a:pt x="0" y="0"/>
                </a:lnTo>
                <a:lnTo>
                  <a:pt x="0" y="491401"/>
                </a:lnTo>
                <a:lnTo>
                  <a:pt x="0" y="880567"/>
                </a:lnTo>
                <a:lnTo>
                  <a:pt x="0" y="1424520"/>
                </a:lnTo>
                <a:lnTo>
                  <a:pt x="4442396" y="1424520"/>
                </a:lnTo>
                <a:lnTo>
                  <a:pt x="4442396" y="880567"/>
                </a:lnTo>
                <a:lnTo>
                  <a:pt x="8229244" y="880567"/>
                </a:lnTo>
                <a:lnTo>
                  <a:pt x="8229244" y="491401"/>
                </a:lnTo>
                <a:lnTo>
                  <a:pt x="8229244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4711585"/>
            <a:ext cx="4197985" cy="13195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16890">
              <a:lnSpc>
                <a:spcPts val="1580"/>
              </a:lnSpc>
              <a:spcBef>
                <a:spcPts val="235"/>
              </a:spcBef>
            </a:pPr>
            <a:r>
              <a:rPr sz="1400" dirty="0">
                <a:latin typeface="Arial MT"/>
                <a:cs typeface="Arial MT"/>
              </a:rPr>
              <a:t>Do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 have a realistic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picture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venture’s potential?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educated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yourself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about financing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issues?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ts val="1570"/>
              </a:lnSpc>
              <a:spcBef>
                <a:spcPts val="1535"/>
              </a:spcBef>
            </a:pP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willing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prepared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continual</a:t>
            </a:r>
            <a:r>
              <a:rPr sz="1400" spc="-10" dirty="0">
                <a:latin typeface="Arial MT"/>
                <a:cs typeface="Arial MT"/>
              </a:rPr>
              <a:t> financial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other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types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analyses?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99596" y="5575680"/>
            <a:ext cx="3787140" cy="544195"/>
          </a:xfrm>
          <a:custGeom>
            <a:avLst/>
            <a:gdLst/>
            <a:ahLst/>
            <a:cxnLst/>
            <a:rect l="l" t="t" r="r" b="b"/>
            <a:pathLst>
              <a:path w="3787140" h="544195">
                <a:moveTo>
                  <a:pt x="3786847" y="0"/>
                </a:moveTo>
                <a:lnTo>
                  <a:pt x="0" y="0"/>
                </a:lnTo>
                <a:lnTo>
                  <a:pt x="0" y="543953"/>
                </a:lnTo>
                <a:lnTo>
                  <a:pt x="3786847" y="543953"/>
                </a:lnTo>
                <a:lnTo>
                  <a:pt x="3786847" y="0"/>
                </a:lnTo>
                <a:close/>
              </a:path>
            </a:pathLst>
          </a:custGeom>
          <a:solidFill>
            <a:srgbClr val="D3E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Feasibility</a:t>
            </a:r>
            <a:r>
              <a:rPr spc="-175" dirty="0"/>
              <a:t> </a:t>
            </a:r>
            <a:r>
              <a:rPr spc="-20" dirty="0"/>
              <a:t>Study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003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Feasibility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study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various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aspects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proposed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entrepreneurial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determine 	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feasibility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7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Researching</a:t>
            </a:r>
            <a:r>
              <a:rPr sz="2800" spc="-90" dirty="0"/>
              <a:t> </a:t>
            </a:r>
            <a:r>
              <a:rPr sz="2800" dirty="0"/>
              <a:t>the</a:t>
            </a:r>
            <a:r>
              <a:rPr sz="2800" spc="-135" dirty="0"/>
              <a:t> </a:t>
            </a:r>
            <a:r>
              <a:rPr sz="2800" spc="-45" dirty="0"/>
              <a:t>Venture’s</a:t>
            </a:r>
            <a:r>
              <a:rPr sz="2800" spc="-95" dirty="0"/>
              <a:t> </a:t>
            </a:r>
            <a:r>
              <a:rPr sz="2800" spc="-10" dirty="0"/>
              <a:t>Feasibility—Competitors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7851775" cy="3333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Potential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include:</a:t>
            </a:r>
            <a:endParaRPr sz="2400">
              <a:latin typeface="Arial MT"/>
              <a:cs typeface="Arial MT"/>
            </a:endParaRPr>
          </a:p>
          <a:p>
            <a:pPr marL="753745" marR="227329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competitors 	offering?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products’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strengths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weaknesses?</a:t>
            </a:r>
            <a:endParaRPr sz="2400">
              <a:latin typeface="Arial MT"/>
              <a:cs typeface="Arial MT"/>
            </a:endParaRPr>
          </a:p>
          <a:p>
            <a:pPr marL="753745" marR="1231265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handle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marketing,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pricing,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spc="-10" dirty="0">
                <a:latin typeface="Arial MT"/>
                <a:cs typeface="Arial MT"/>
              </a:rPr>
              <a:t>distribution?</a:t>
            </a:r>
            <a:endParaRPr sz="2400">
              <a:latin typeface="Arial MT"/>
              <a:cs typeface="Arial MT"/>
            </a:endParaRPr>
          </a:p>
          <a:p>
            <a:pPr marL="753745" marR="65786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attempt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 	competitors?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7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Researching</a:t>
            </a:r>
            <a:r>
              <a:rPr sz="2800" spc="-90" dirty="0"/>
              <a:t> </a:t>
            </a:r>
            <a:r>
              <a:rPr sz="2800" dirty="0"/>
              <a:t>the</a:t>
            </a:r>
            <a:r>
              <a:rPr sz="2800" spc="-135" dirty="0"/>
              <a:t> </a:t>
            </a:r>
            <a:r>
              <a:rPr sz="2800" spc="-45" dirty="0"/>
              <a:t>Venture’s</a:t>
            </a:r>
            <a:r>
              <a:rPr sz="2800" spc="-95" dirty="0"/>
              <a:t> </a:t>
            </a:r>
            <a:r>
              <a:rPr sz="2800" spc="-10" dirty="0"/>
              <a:t>Feasibility—Financing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10" dirty="0">
                <a:latin typeface="Arial"/>
                <a:cs typeface="Arial"/>
              </a:rPr>
              <a:t>Venture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capitalists</a:t>
            </a:r>
            <a:r>
              <a:rPr sz="2400" dirty="0"/>
              <a:t>:</a:t>
            </a:r>
            <a:r>
              <a:rPr sz="2400" spc="-110" dirty="0"/>
              <a:t> </a:t>
            </a:r>
            <a:r>
              <a:rPr sz="2400" dirty="0"/>
              <a:t>external</a:t>
            </a:r>
            <a:r>
              <a:rPr sz="2400" spc="-120" dirty="0"/>
              <a:t> </a:t>
            </a:r>
            <a:r>
              <a:rPr sz="2400" dirty="0"/>
              <a:t>equity</a:t>
            </a:r>
            <a:r>
              <a:rPr sz="2400" spc="-114" dirty="0"/>
              <a:t> </a:t>
            </a:r>
            <a:r>
              <a:rPr sz="2400" dirty="0"/>
              <a:t>financing</a:t>
            </a:r>
            <a:r>
              <a:rPr sz="2400" spc="-114" dirty="0"/>
              <a:t> </a:t>
            </a:r>
            <a:r>
              <a:rPr sz="2400" dirty="0"/>
              <a:t>provided</a:t>
            </a:r>
            <a:r>
              <a:rPr sz="2400" spc="-120" dirty="0"/>
              <a:t> </a:t>
            </a:r>
            <a:r>
              <a:rPr sz="2400" spc="-25" dirty="0"/>
              <a:t>by 	</a:t>
            </a:r>
            <a:r>
              <a:rPr sz="2400" spc="-10" dirty="0"/>
              <a:t>professionally</a:t>
            </a:r>
            <a:r>
              <a:rPr sz="2400" spc="-85" dirty="0"/>
              <a:t> </a:t>
            </a:r>
            <a:r>
              <a:rPr sz="2400" dirty="0"/>
              <a:t>managed</a:t>
            </a:r>
            <a:r>
              <a:rPr sz="2400" spc="-75" dirty="0"/>
              <a:t> </a:t>
            </a:r>
            <a:r>
              <a:rPr sz="2400" dirty="0"/>
              <a:t>pools</a:t>
            </a:r>
            <a:r>
              <a:rPr sz="2400" spc="-80" dirty="0"/>
              <a:t> </a:t>
            </a:r>
            <a:r>
              <a:rPr sz="2400" dirty="0"/>
              <a:t>of</a:t>
            </a:r>
            <a:r>
              <a:rPr sz="2400" spc="-85" dirty="0"/>
              <a:t> </a:t>
            </a:r>
            <a:r>
              <a:rPr sz="2400" dirty="0"/>
              <a:t>investor</a:t>
            </a:r>
            <a:r>
              <a:rPr sz="2400" spc="-80" dirty="0"/>
              <a:t> </a:t>
            </a:r>
            <a:r>
              <a:rPr sz="2400" spc="-10" dirty="0"/>
              <a:t>money</a:t>
            </a:r>
            <a:endParaRPr sz="2400">
              <a:latin typeface="Arial"/>
              <a:cs typeface="Arial"/>
            </a:endParaRPr>
          </a:p>
          <a:p>
            <a:pPr marL="267335" marR="19050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Angel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investors</a:t>
            </a:r>
            <a:r>
              <a:rPr sz="2400" dirty="0"/>
              <a:t>:</a:t>
            </a:r>
            <a:r>
              <a:rPr sz="2400" spc="-60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dirty="0"/>
              <a:t>private</a:t>
            </a:r>
            <a:r>
              <a:rPr sz="2400" spc="-65" dirty="0"/>
              <a:t> </a:t>
            </a:r>
            <a:r>
              <a:rPr sz="2400" dirty="0"/>
              <a:t>investor</a:t>
            </a:r>
            <a:r>
              <a:rPr sz="2400" spc="-50" dirty="0"/>
              <a:t> </a:t>
            </a:r>
            <a:r>
              <a:rPr sz="2400" dirty="0"/>
              <a:t>(or</a:t>
            </a:r>
            <a:r>
              <a:rPr sz="2400" spc="-55" dirty="0"/>
              <a:t> </a:t>
            </a:r>
            <a:r>
              <a:rPr sz="2400" dirty="0"/>
              <a:t>group</a:t>
            </a:r>
            <a:r>
              <a:rPr sz="2400" spc="-65" dirty="0"/>
              <a:t> </a:t>
            </a:r>
            <a:r>
              <a:rPr sz="2400" dirty="0"/>
              <a:t>of</a:t>
            </a:r>
            <a:r>
              <a:rPr sz="2400" spc="-65" dirty="0"/>
              <a:t> </a:t>
            </a:r>
            <a:r>
              <a:rPr sz="2400" spc="-10" dirty="0"/>
              <a:t>private 	</a:t>
            </a:r>
            <a:r>
              <a:rPr sz="2400" dirty="0"/>
              <a:t>investors)</a:t>
            </a:r>
            <a:r>
              <a:rPr sz="2400" spc="-90" dirty="0"/>
              <a:t> </a:t>
            </a:r>
            <a:r>
              <a:rPr sz="2400" dirty="0"/>
              <a:t>who</a:t>
            </a:r>
            <a:r>
              <a:rPr sz="2400" spc="-90" dirty="0"/>
              <a:t> </a:t>
            </a:r>
            <a:r>
              <a:rPr sz="2400" dirty="0"/>
              <a:t>offers</a:t>
            </a:r>
            <a:r>
              <a:rPr sz="2400" spc="-85" dirty="0"/>
              <a:t> </a:t>
            </a:r>
            <a:r>
              <a:rPr sz="2400" dirty="0"/>
              <a:t>financial</a:t>
            </a:r>
            <a:r>
              <a:rPr sz="2400" spc="-95" dirty="0"/>
              <a:t> </a:t>
            </a:r>
            <a:r>
              <a:rPr sz="2400" dirty="0"/>
              <a:t>backing</a:t>
            </a:r>
            <a:r>
              <a:rPr sz="2400" spc="-95" dirty="0"/>
              <a:t> </a:t>
            </a:r>
            <a:r>
              <a:rPr sz="2400" dirty="0"/>
              <a:t>to</a:t>
            </a:r>
            <a:r>
              <a:rPr sz="2400" spc="-95" dirty="0"/>
              <a:t> </a:t>
            </a:r>
            <a:r>
              <a:rPr sz="2400" spc="-25" dirty="0"/>
              <a:t>an 	</a:t>
            </a:r>
            <a:r>
              <a:rPr sz="2400" spc="-10" dirty="0"/>
              <a:t>entrepreneurial</a:t>
            </a:r>
            <a:r>
              <a:rPr sz="2400" spc="-50" dirty="0"/>
              <a:t> </a:t>
            </a:r>
            <a:r>
              <a:rPr sz="2400" dirty="0"/>
              <a:t>venture</a:t>
            </a:r>
            <a:r>
              <a:rPr sz="2400" spc="-60" dirty="0"/>
              <a:t> </a:t>
            </a:r>
            <a:r>
              <a:rPr sz="2400" dirty="0"/>
              <a:t>in</a:t>
            </a:r>
            <a:r>
              <a:rPr sz="2400" spc="-60" dirty="0"/>
              <a:t> </a:t>
            </a:r>
            <a:r>
              <a:rPr sz="2400" dirty="0"/>
              <a:t>return</a:t>
            </a:r>
            <a:r>
              <a:rPr sz="2400" spc="-60" dirty="0"/>
              <a:t> </a:t>
            </a:r>
            <a:r>
              <a:rPr sz="2400" dirty="0"/>
              <a:t>for</a:t>
            </a:r>
            <a:r>
              <a:rPr sz="2400" spc="-50" dirty="0"/>
              <a:t> </a:t>
            </a:r>
            <a:r>
              <a:rPr sz="2400" dirty="0"/>
              <a:t>equity</a:t>
            </a:r>
            <a:r>
              <a:rPr sz="2400" spc="-55" dirty="0"/>
              <a:t> </a:t>
            </a:r>
            <a:r>
              <a:rPr sz="2400" dirty="0"/>
              <a:t>in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venture</a:t>
            </a:r>
            <a:endParaRPr sz="2400">
              <a:latin typeface="Arial"/>
              <a:cs typeface="Arial"/>
            </a:endParaRPr>
          </a:p>
          <a:p>
            <a:pPr marL="267335" marR="30099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Initial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public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offering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(IP</a:t>
            </a:r>
            <a:r>
              <a:rPr sz="2400" b="1" spc="-3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O)</a:t>
            </a:r>
            <a:r>
              <a:rPr sz="2400" dirty="0"/>
              <a:t>: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first</a:t>
            </a:r>
            <a:r>
              <a:rPr sz="2400" spc="-25" dirty="0"/>
              <a:t> </a:t>
            </a:r>
            <a:r>
              <a:rPr sz="2400" dirty="0"/>
              <a:t>public</a:t>
            </a:r>
            <a:r>
              <a:rPr sz="2400" spc="-15" dirty="0"/>
              <a:t> </a:t>
            </a:r>
            <a:r>
              <a:rPr sz="2400" spc="-10" dirty="0"/>
              <a:t>registration 	</a:t>
            </a:r>
            <a:r>
              <a:rPr sz="2400" dirty="0"/>
              <a:t>and</a:t>
            </a:r>
            <a:r>
              <a:rPr sz="2400" spc="-60" dirty="0"/>
              <a:t> </a:t>
            </a:r>
            <a:r>
              <a:rPr sz="2400" dirty="0"/>
              <a:t>sale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5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spc="-10" dirty="0"/>
              <a:t>company’s</a:t>
            </a:r>
            <a:r>
              <a:rPr sz="2400" spc="-50" dirty="0"/>
              <a:t> </a:t>
            </a:r>
            <a:r>
              <a:rPr sz="2400" spc="-10" dirty="0"/>
              <a:t>stock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Developing</a:t>
            </a:r>
            <a:r>
              <a:rPr spc="-8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Business</a:t>
            </a:r>
            <a:r>
              <a:rPr spc="-90" dirty="0"/>
              <a:t> </a:t>
            </a:r>
            <a:r>
              <a:rPr spc="-20" dirty="0"/>
              <a:t>Plan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482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Business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plan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document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summarizes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opportunity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articulates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identified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opportunity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seized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exploited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Business</a:t>
            </a:r>
            <a:r>
              <a:rPr spc="-45" dirty="0"/>
              <a:t> </a:t>
            </a:r>
            <a:r>
              <a:rPr spc="-25" dirty="0"/>
              <a:t>Plan—Major</a:t>
            </a:r>
            <a:r>
              <a:rPr spc="-260" dirty="0"/>
              <a:t> </a:t>
            </a:r>
            <a:r>
              <a:rPr spc="-10" dirty="0"/>
              <a:t>Areas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4323715" cy="336296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Executive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summary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opportunity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Description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Financial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projections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Supporting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Legal</a:t>
            </a:r>
            <a:r>
              <a:rPr spc="-75" dirty="0"/>
              <a:t> </a:t>
            </a:r>
            <a:r>
              <a:rPr dirty="0"/>
              <a:t>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Organization</a:t>
            </a:r>
            <a:r>
              <a:rPr spc="-30" dirty="0"/>
              <a:t> </a:t>
            </a:r>
            <a:r>
              <a:rPr sz="1800" b="0" dirty="0">
                <a:latin typeface="Times New Roman"/>
                <a:cs typeface="Times New Roman"/>
              </a:rPr>
              <a:t>(1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06105" cy="241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9017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Sole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proprietorship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maintains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personally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liable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debts</a:t>
            </a:r>
            <a:endParaRPr sz="2400">
              <a:latin typeface="Arial MT"/>
              <a:cs typeface="Arial MT"/>
            </a:endParaRPr>
          </a:p>
          <a:p>
            <a:pPr marL="267335" marR="508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General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partnership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	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risk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Legal</a:t>
            </a:r>
            <a:r>
              <a:rPr spc="-75" dirty="0"/>
              <a:t> </a:t>
            </a:r>
            <a:r>
              <a:rPr dirty="0"/>
              <a:t>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Organization</a:t>
            </a:r>
            <a:r>
              <a:rPr spc="-30" dirty="0"/>
              <a:t> </a:t>
            </a:r>
            <a:r>
              <a:rPr sz="1800" b="0" dirty="0">
                <a:latin typeface="Times New Roman"/>
                <a:cs typeface="Times New Roman"/>
              </a:rPr>
              <a:t>(2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27813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Limited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liability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partnership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(LL</a:t>
            </a:r>
            <a:r>
              <a:rPr sz="2400" b="1" spc="-3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P)</a:t>
            </a:r>
            <a:r>
              <a:rPr sz="2400" dirty="0"/>
              <a:t>:</a:t>
            </a:r>
            <a:r>
              <a:rPr sz="2400" spc="-20" dirty="0"/>
              <a:t> </a:t>
            </a:r>
            <a:r>
              <a:rPr sz="2400" dirty="0"/>
              <a:t>a</a:t>
            </a:r>
            <a:r>
              <a:rPr sz="2400" spc="-35" dirty="0"/>
              <a:t> </a:t>
            </a:r>
            <a:r>
              <a:rPr sz="2400" dirty="0"/>
              <a:t>form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spc="-10" dirty="0"/>
              <a:t>legal 	organization</a:t>
            </a:r>
            <a:r>
              <a:rPr sz="2400" spc="-95" dirty="0"/>
              <a:t> </a:t>
            </a:r>
            <a:r>
              <a:rPr sz="2400" dirty="0"/>
              <a:t>consisting</a:t>
            </a:r>
            <a:r>
              <a:rPr sz="2400" spc="-95" dirty="0"/>
              <a:t> </a:t>
            </a:r>
            <a:r>
              <a:rPr sz="2400" dirty="0"/>
              <a:t>of</a:t>
            </a:r>
            <a:r>
              <a:rPr sz="2400" spc="-80" dirty="0"/>
              <a:t> </a:t>
            </a:r>
            <a:r>
              <a:rPr sz="2400" dirty="0"/>
              <a:t>general</a:t>
            </a:r>
            <a:r>
              <a:rPr sz="2400" spc="-90" dirty="0"/>
              <a:t> </a:t>
            </a:r>
            <a:r>
              <a:rPr sz="2400" dirty="0"/>
              <a:t>partner(s)</a:t>
            </a:r>
            <a:r>
              <a:rPr sz="2400" spc="-80" dirty="0"/>
              <a:t> </a:t>
            </a:r>
            <a:r>
              <a:rPr sz="2400" dirty="0"/>
              <a:t>and</a:t>
            </a:r>
            <a:r>
              <a:rPr sz="2400" spc="-90" dirty="0"/>
              <a:t> </a:t>
            </a:r>
            <a:r>
              <a:rPr sz="2400" spc="-10" dirty="0"/>
              <a:t>limited 	</a:t>
            </a:r>
            <a:r>
              <a:rPr sz="2400" dirty="0"/>
              <a:t>liability</a:t>
            </a:r>
            <a:r>
              <a:rPr sz="2400" spc="-110" dirty="0"/>
              <a:t> </a:t>
            </a:r>
            <a:r>
              <a:rPr sz="2400" spc="-10" dirty="0"/>
              <a:t>partner(s)</a:t>
            </a:r>
            <a:endParaRPr sz="2400">
              <a:latin typeface="Arial"/>
              <a:cs typeface="Arial"/>
            </a:endParaRPr>
          </a:p>
          <a:p>
            <a:pPr marL="267335" marR="508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Corporation</a:t>
            </a:r>
            <a:r>
              <a:rPr sz="2400" dirty="0"/>
              <a:t>:</a:t>
            </a:r>
            <a:r>
              <a:rPr sz="2400" spc="-60" dirty="0"/>
              <a:t> </a:t>
            </a:r>
            <a:r>
              <a:rPr sz="2400" dirty="0"/>
              <a:t>a</a:t>
            </a:r>
            <a:r>
              <a:rPr sz="2400" spc="-70" dirty="0"/>
              <a:t> </a:t>
            </a:r>
            <a:r>
              <a:rPr sz="2400" dirty="0"/>
              <a:t>legal</a:t>
            </a:r>
            <a:r>
              <a:rPr sz="2400" spc="-75" dirty="0"/>
              <a:t> </a:t>
            </a:r>
            <a:r>
              <a:rPr sz="2400" dirty="0"/>
              <a:t>business</a:t>
            </a:r>
            <a:r>
              <a:rPr sz="2400" spc="-65" dirty="0"/>
              <a:t> </a:t>
            </a:r>
            <a:r>
              <a:rPr sz="2400" dirty="0"/>
              <a:t>entity</a:t>
            </a:r>
            <a:r>
              <a:rPr sz="2400" spc="-70" dirty="0"/>
              <a:t> </a:t>
            </a:r>
            <a:r>
              <a:rPr sz="2400" dirty="0"/>
              <a:t>that</a:t>
            </a:r>
            <a:r>
              <a:rPr sz="2400" spc="-65" dirty="0"/>
              <a:t> </a:t>
            </a:r>
            <a:r>
              <a:rPr sz="2400" dirty="0"/>
              <a:t>is</a:t>
            </a:r>
            <a:r>
              <a:rPr sz="2400" spc="-65" dirty="0"/>
              <a:t> </a:t>
            </a:r>
            <a:r>
              <a:rPr sz="2400" dirty="0"/>
              <a:t>separate</a:t>
            </a:r>
            <a:r>
              <a:rPr sz="2400" spc="-65" dirty="0"/>
              <a:t> </a:t>
            </a:r>
            <a:r>
              <a:rPr sz="2400" spc="-20" dirty="0"/>
              <a:t>from 	</a:t>
            </a:r>
            <a:r>
              <a:rPr sz="2400" dirty="0"/>
              <a:t>its</a:t>
            </a:r>
            <a:r>
              <a:rPr sz="2400" spc="-55" dirty="0"/>
              <a:t> </a:t>
            </a:r>
            <a:r>
              <a:rPr sz="2400" dirty="0"/>
              <a:t>owners</a:t>
            </a:r>
            <a:r>
              <a:rPr sz="2400" spc="-60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spc="-10" dirty="0"/>
              <a:t>managers</a:t>
            </a:r>
            <a:endParaRPr sz="2400">
              <a:latin typeface="Arial"/>
              <a:cs typeface="Arial"/>
            </a:endParaRPr>
          </a:p>
          <a:p>
            <a:pPr marL="267335" marR="611505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Closely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held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corporation</a:t>
            </a:r>
            <a:r>
              <a:rPr sz="2400" dirty="0"/>
              <a:t>:</a:t>
            </a:r>
            <a:r>
              <a:rPr sz="2400" spc="-55" dirty="0"/>
              <a:t> </a:t>
            </a:r>
            <a:r>
              <a:rPr sz="2400" dirty="0"/>
              <a:t>a</a:t>
            </a:r>
            <a:r>
              <a:rPr sz="2400" spc="-75" dirty="0"/>
              <a:t> </a:t>
            </a:r>
            <a:r>
              <a:rPr sz="2400" dirty="0"/>
              <a:t>corporation</a:t>
            </a:r>
            <a:r>
              <a:rPr sz="2400" spc="-65" dirty="0"/>
              <a:t> </a:t>
            </a:r>
            <a:r>
              <a:rPr sz="2400" dirty="0"/>
              <a:t>owned</a:t>
            </a:r>
            <a:r>
              <a:rPr sz="2400" spc="-70" dirty="0"/>
              <a:t> </a:t>
            </a:r>
            <a:r>
              <a:rPr sz="2400" dirty="0"/>
              <a:t>by</a:t>
            </a:r>
            <a:r>
              <a:rPr sz="2400" spc="-70" dirty="0"/>
              <a:t> </a:t>
            </a:r>
            <a:r>
              <a:rPr sz="2400" spc="-50" dirty="0"/>
              <a:t>a 	</a:t>
            </a:r>
            <a:r>
              <a:rPr sz="2400" dirty="0"/>
              <a:t>limited</a:t>
            </a:r>
            <a:r>
              <a:rPr sz="2400" spc="-75" dirty="0"/>
              <a:t> </a:t>
            </a:r>
            <a:r>
              <a:rPr sz="2400" dirty="0"/>
              <a:t>number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people</a:t>
            </a:r>
            <a:r>
              <a:rPr sz="2400" spc="-60" dirty="0"/>
              <a:t> </a:t>
            </a:r>
            <a:r>
              <a:rPr sz="2400" dirty="0"/>
              <a:t>who</a:t>
            </a:r>
            <a:r>
              <a:rPr sz="2400" spc="-65" dirty="0"/>
              <a:t> </a:t>
            </a:r>
            <a:r>
              <a:rPr sz="2400" dirty="0"/>
              <a:t>do</a:t>
            </a:r>
            <a:r>
              <a:rPr sz="2400" spc="-75" dirty="0"/>
              <a:t> </a:t>
            </a:r>
            <a:r>
              <a:rPr sz="2400" dirty="0"/>
              <a:t>not</a:t>
            </a:r>
            <a:r>
              <a:rPr sz="2400" spc="-65" dirty="0"/>
              <a:t> </a:t>
            </a:r>
            <a:r>
              <a:rPr sz="2400" dirty="0"/>
              <a:t>trade</a:t>
            </a:r>
            <a:r>
              <a:rPr sz="2400" spc="-65" dirty="0"/>
              <a:t> </a:t>
            </a: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-10" dirty="0"/>
              <a:t>stock 	publicly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Legal</a:t>
            </a:r>
            <a:r>
              <a:rPr spc="-75" dirty="0"/>
              <a:t> </a:t>
            </a:r>
            <a:r>
              <a:rPr dirty="0"/>
              <a:t>Forms</a:t>
            </a:r>
            <a:r>
              <a:rPr spc="-8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Organization</a:t>
            </a:r>
            <a:r>
              <a:rPr spc="-30" dirty="0"/>
              <a:t> </a:t>
            </a:r>
            <a:r>
              <a:rPr sz="1800" b="0" dirty="0">
                <a:latin typeface="Times New Roman"/>
                <a:cs typeface="Times New Roman"/>
              </a:rPr>
              <a:t>(3</a:t>
            </a:r>
            <a:r>
              <a:rPr sz="1800" b="0" spc="-3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5373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17145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corporation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specialized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corporation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has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regular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characteristics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corporation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unique 	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taxed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partnership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	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criteria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met</a:t>
            </a:r>
            <a:endParaRPr sz="2400">
              <a:latin typeface="Arial MT"/>
              <a:cs typeface="Arial MT"/>
            </a:endParaRPr>
          </a:p>
          <a:p>
            <a:pPr marL="267335" marR="398145" indent="-255270">
              <a:lnSpc>
                <a:spcPct val="100000"/>
              </a:lnSpc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Limited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liability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company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(LL</a:t>
            </a:r>
            <a:r>
              <a:rPr sz="2400" b="1" spc="-3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C)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legal 	organization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hybrid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partnership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spc="-10" dirty="0">
                <a:latin typeface="Arial MT"/>
                <a:cs typeface="Arial MT"/>
              </a:rPr>
              <a:t>corporation</a:t>
            </a:r>
            <a:endParaRPr sz="2400">
              <a:latin typeface="Arial MT"/>
              <a:cs typeface="Arial MT"/>
            </a:endParaRPr>
          </a:p>
          <a:p>
            <a:pPr marL="267335" marR="5080" indent="-255270">
              <a:lnSpc>
                <a:spcPct val="100000"/>
              </a:lnSpc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Operating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agreement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document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outlines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provisions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LL</a:t>
            </a:r>
            <a:r>
              <a:rPr sz="2400" spc="-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conduct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500" y="180619"/>
            <a:ext cx="6856730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Exhibit</a:t>
            </a:r>
            <a:r>
              <a:rPr spc="-70" dirty="0"/>
              <a:t> </a:t>
            </a:r>
            <a:r>
              <a:rPr dirty="0"/>
              <a:t>10.2</a:t>
            </a:r>
            <a:r>
              <a:rPr spc="-70" dirty="0"/>
              <a:t> </a:t>
            </a:r>
            <a:r>
              <a:rPr dirty="0"/>
              <a:t>Legal</a:t>
            </a:r>
            <a:r>
              <a:rPr spc="-70" dirty="0"/>
              <a:t> </a:t>
            </a:r>
            <a:r>
              <a:rPr dirty="0"/>
              <a:t>Forms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Business </a:t>
            </a:r>
            <a:r>
              <a:rPr dirty="0"/>
              <a:t>Ownership</a:t>
            </a:r>
            <a:r>
              <a:rPr spc="-110" dirty="0"/>
              <a:t> </a:t>
            </a:r>
            <a:r>
              <a:rPr sz="1800" b="0" dirty="0">
                <a:latin typeface="Times New Roman"/>
                <a:cs typeface="Times New Roman"/>
              </a:rPr>
              <a:t>(1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7200" y="1386725"/>
          <a:ext cx="8232137" cy="457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6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40970" marR="93980">
                        <a:lnSpc>
                          <a:spcPct val="93400"/>
                        </a:lnSpc>
                        <a:spcBef>
                          <a:spcPts val="34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Ownership requireme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nts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</a:t>
                      </a:r>
                      <a:r>
                        <a:rPr sz="12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Liability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Advantages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Drawbacks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007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marL="9144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Sole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One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Low start-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up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Unlimited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9144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proprietorship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owner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losses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“pass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costs,</a:t>
                      </a:r>
                      <a:r>
                        <a:rPr sz="14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freedom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liability,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through”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from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most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finances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risk,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owner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are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regulations,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miss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out on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many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taxed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owner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direct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business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tax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rate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control,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all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deductions,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total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profits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go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responsibility,</a:t>
                      </a:r>
                      <a:r>
                        <a:rPr sz="14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may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owner,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easy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55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exit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business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55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raise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financing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91440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General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14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Ease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600"/>
                        </a:lnSpc>
                        <a:spcBef>
                          <a:spcPts val="234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Unlimited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partnership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470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more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losses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“pass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formation,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liability,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divided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owners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through”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pooled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talent,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authority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partners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are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pooled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decisions,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potential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taxed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resources,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conflict,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rate;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somewhat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continuity of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transfer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easier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ownership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profit-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loss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financing,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some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allocations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tax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benefits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55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8546" y="173063"/>
            <a:ext cx="6856095" cy="10604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4070"/>
              </a:lnSpc>
              <a:spcBef>
                <a:spcPts val="204"/>
              </a:spcBef>
            </a:pPr>
            <a:r>
              <a:rPr dirty="0"/>
              <a:t>Exhibit</a:t>
            </a:r>
            <a:r>
              <a:rPr spc="-70" dirty="0"/>
              <a:t> </a:t>
            </a:r>
            <a:r>
              <a:rPr dirty="0"/>
              <a:t>10.2</a:t>
            </a:r>
            <a:r>
              <a:rPr spc="-70" dirty="0"/>
              <a:t> </a:t>
            </a:r>
            <a:r>
              <a:rPr dirty="0"/>
              <a:t>Legal</a:t>
            </a:r>
            <a:r>
              <a:rPr spc="-60" dirty="0"/>
              <a:t> </a:t>
            </a:r>
            <a:r>
              <a:rPr dirty="0"/>
              <a:t>Forms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Business </a:t>
            </a:r>
            <a:r>
              <a:rPr dirty="0"/>
              <a:t>Ownership</a:t>
            </a:r>
            <a:r>
              <a:rPr spc="-125" dirty="0"/>
              <a:t> </a:t>
            </a:r>
            <a:r>
              <a:rPr sz="1800" b="0" dirty="0">
                <a:latin typeface="Times New Roman"/>
                <a:cs typeface="Times New Roman"/>
              </a:rPr>
              <a:t>(2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5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7200" y="1402194"/>
          <a:ext cx="8228964" cy="4464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007EA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6680" marR="374650">
                        <a:lnSpc>
                          <a:spcPts val="1580"/>
                        </a:lnSpc>
                        <a:spcBef>
                          <a:spcPts val="365"/>
                        </a:spcBef>
                        <a:tabLst>
                          <a:tab pos="1477645" algn="l"/>
                        </a:tabLst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Ownershp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007E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Liability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Drawbacks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007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more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Good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way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605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complexity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owners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losses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“pass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although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acquire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capital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of forming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can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be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partnership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through”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0"/>
                        </a:lnSpc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one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from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high,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(LLP)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partners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can’t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manage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w/o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taxed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5"/>
                        </a:lnSpc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must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losing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rate;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retain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protection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profit-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loss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liability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allocations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marL="9144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Dividend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liability,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6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Expensive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up,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9144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Corporation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taxed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transferable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closely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regulated,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shareholders,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corporate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ownership,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double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taxation,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limits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personal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continuous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extensive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record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types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stock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shareholder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existence,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easier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keeping,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charter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voting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levels,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losses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restrictions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arrangement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5"/>
                        </a:lnSpc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and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475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resources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47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deductions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550"/>
                        </a:lnSpc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corporate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473" y="6378642"/>
            <a:ext cx="916305" cy="278765"/>
            <a:chOff x="457473" y="6378642"/>
            <a:chExt cx="916305" cy="278765"/>
          </a:xfrm>
        </p:grpSpPr>
        <p:sp>
          <p:nvSpPr>
            <p:cNvPr id="3" name="object 3"/>
            <p:cNvSpPr/>
            <p:nvPr/>
          </p:nvSpPr>
          <p:spPr>
            <a:xfrm>
              <a:off x="750963" y="6453720"/>
              <a:ext cx="622935" cy="130175"/>
            </a:xfrm>
            <a:custGeom>
              <a:avLst/>
              <a:gdLst/>
              <a:ahLst/>
              <a:cxnLst/>
              <a:rect l="l" t="t" r="r" b="b"/>
              <a:pathLst>
                <a:path w="622935" h="130175">
                  <a:moveTo>
                    <a:pt x="106553" y="37439"/>
                  </a:moveTo>
                  <a:lnTo>
                    <a:pt x="101600" y="18834"/>
                  </a:lnTo>
                  <a:lnTo>
                    <a:pt x="88811" y="7391"/>
                  </a:lnTo>
                  <a:lnTo>
                    <a:pt x="85001" y="6121"/>
                  </a:lnTo>
                  <a:lnTo>
                    <a:pt x="84594" y="5994"/>
                  </a:lnTo>
                  <a:lnTo>
                    <a:pt x="84594" y="37439"/>
                  </a:lnTo>
                  <a:lnTo>
                    <a:pt x="83439" y="50850"/>
                  </a:lnTo>
                  <a:lnTo>
                    <a:pt x="83375" y="51638"/>
                  </a:lnTo>
                  <a:lnTo>
                    <a:pt x="78651" y="62153"/>
                  </a:lnTo>
                  <a:lnTo>
                    <a:pt x="68795" y="68681"/>
                  </a:lnTo>
                  <a:lnTo>
                    <a:pt x="52197" y="70916"/>
                  </a:lnTo>
                  <a:lnTo>
                    <a:pt x="38150" y="70916"/>
                  </a:lnTo>
                  <a:lnTo>
                    <a:pt x="38150" y="6121"/>
                  </a:lnTo>
                  <a:lnTo>
                    <a:pt x="53276" y="6121"/>
                  </a:lnTo>
                  <a:lnTo>
                    <a:pt x="69710" y="8890"/>
                  </a:lnTo>
                  <a:lnTo>
                    <a:pt x="79184" y="16116"/>
                  </a:lnTo>
                  <a:lnTo>
                    <a:pt x="83540" y="26174"/>
                  </a:lnTo>
                  <a:lnTo>
                    <a:pt x="84594" y="37439"/>
                  </a:lnTo>
                  <a:lnTo>
                    <a:pt x="84594" y="5994"/>
                  </a:lnTo>
                  <a:lnTo>
                    <a:pt x="78473" y="3962"/>
                  </a:lnTo>
                  <a:lnTo>
                    <a:pt x="71310" y="1600"/>
                  </a:lnTo>
                  <a:lnTo>
                    <a:pt x="52197" y="0"/>
                  </a:lnTo>
                  <a:lnTo>
                    <a:pt x="1079" y="0"/>
                  </a:lnTo>
                  <a:lnTo>
                    <a:pt x="0" y="1079"/>
                  </a:lnTo>
                  <a:lnTo>
                    <a:pt x="0" y="3962"/>
                  </a:lnTo>
                  <a:lnTo>
                    <a:pt x="1079" y="5041"/>
                  </a:lnTo>
                  <a:lnTo>
                    <a:pt x="6121" y="6121"/>
                  </a:lnTo>
                  <a:lnTo>
                    <a:pt x="17995" y="3962"/>
                  </a:lnTo>
                  <a:lnTo>
                    <a:pt x="17995" y="117716"/>
                  </a:lnTo>
                  <a:lnTo>
                    <a:pt x="15113" y="122758"/>
                  </a:lnTo>
                  <a:lnTo>
                    <a:pt x="1079" y="123482"/>
                  </a:lnTo>
                  <a:lnTo>
                    <a:pt x="0" y="123482"/>
                  </a:lnTo>
                  <a:lnTo>
                    <a:pt x="0" y="127800"/>
                  </a:lnTo>
                  <a:lnTo>
                    <a:pt x="1079" y="128524"/>
                  </a:lnTo>
                  <a:lnTo>
                    <a:pt x="57238" y="128524"/>
                  </a:lnTo>
                  <a:lnTo>
                    <a:pt x="57238" y="123482"/>
                  </a:lnTo>
                  <a:lnTo>
                    <a:pt x="56515" y="123482"/>
                  </a:lnTo>
                  <a:lnTo>
                    <a:pt x="41402" y="122758"/>
                  </a:lnTo>
                  <a:lnTo>
                    <a:pt x="38150" y="118440"/>
                  </a:lnTo>
                  <a:lnTo>
                    <a:pt x="38150" y="77038"/>
                  </a:lnTo>
                  <a:lnTo>
                    <a:pt x="51473" y="77038"/>
                  </a:lnTo>
                  <a:lnTo>
                    <a:pt x="64998" y="76250"/>
                  </a:lnTo>
                  <a:lnTo>
                    <a:pt x="76847" y="73888"/>
                  </a:lnTo>
                  <a:lnTo>
                    <a:pt x="84556" y="70916"/>
                  </a:lnTo>
                  <a:lnTo>
                    <a:pt x="86804" y="70053"/>
                  </a:lnTo>
                  <a:lnTo>
                    <a:pt x="94678" y="64795"/>
                  </a:lnTo>
                  <a:lnTo>
                    <a:pt x="100787" y="57899"/>
                  </a:lnTo>
                  <a:lnTo>
                    <a:pt x="104394" y="50850"/>
                  </a:lnTo>
                  <a:lnTo>
                    <a:pt x="106108" y="43954"/>
                  </a:lnTo>
                  <a:lnTo>
                    <a:pt x="106553" y="37439"/>
                  </a:lnTo>
                  <a:close/>
                </a:path>
                <a:path w="622935" h="130175">
                  <a:moveTo>
                    <a:pt x="185089" y="67652"/>
                  </a:moveTo>
                  <a:lnTo>
                    <a:pt x="165950" y="39357"/>
                  </a:lnTo>
                  <a:lnTo>
                    <a:pt x="165950" y="70916"/>
                  </a:lnTo>
                  <a:lnTo>
                    <a:pt x="125996" y="70916"/>
                  </a:lnTo>
                  <a:lnTo>
                    <a:pt x="128346" y="57937"/>
                  </a:lnTo>
                  <a:lnTo>
                    <a:pt x="132651" y="48336"/>
                  </a:lnTo>
                  <a:lnTo>
                    <a:pt x="138734" y="42481"/>
                  </a:lnTo>
                  <a:lnTo>
                    <a:pt x="138404" y="42481"/>
                  </a:lnTo>
                  <a:lnTo>
                    <a:pt x="146875" y="40322"/>
                  </a:lnTo>
                  <a:lnTo>
                    <a:pt x="152996" y="40322"/>
                  </a:lnTo>
                  <a:lnTo>
                    <a:pt x="165950" y="70916"/>
                  </a:lnTo>
                  <a:lnTo>
                    <a:pt x="165950" y="39357"/>
                  </a:lnTo>
                  <a:lnTo>
                    <a:pt x="164020" y="38303"/>
                  </a:lnTo>
                  <a:lnTo>
                    <a:pt x="156540" y="36068"/>
                  </a:lnTo>
                  <a:lnTo>
                    <a:pt x="147955" y="35280"/>
                  </a:lnTo>
                  <a:lnTo>
                    <a:pt x="131597" y="39090"/>
                  </a:lnTo>
                  <a:lnTo>
                    <a:pt x="118071" y="49504"/>
                  </a:lnTo>
                  <a:lnTo>
                    <a:pt x="108864" y="65049"/>
                  </a:lnTo>
                  <a:lnTo>
                    <a:pt x="105473" y="84239"/>
                  </a:lnTo>
                  <a:lnTo>
                    <a:pt x="108712" y="102412"/>
                  </a:lnTo>
                  <a:lnTo>
                    <a:pt x="117665" y="116776"/>
                  </a:lnTo>
                  <a:lnTo>
                    <a:pt x="131140" y="126212"/>
                  </a:lnTo>
                  <a:lnTo>
                    <a:pt x="147955" y="129603"/>
                  </a:lnTo>
                  <a:lnTo>
                    <a:pt x="161899" y="127584"/>
                  </a:lnTo>
                  <a:lnTo>
                    <a:pt x="172300" y="122364"/>
                  </a:lnTo>
                  <a:lnTo>
                    <a:pt x="174129" y="120599"/>
                  </a:lnTo>
                  <a:lnTo>
                    <a:pt x="179793" y="115176"/>
                  </a:lnTo>
                  <a:lnTo>
                    <a:pt x="185039" y="107276"/>
                  </a:lnTo>
                  <a:lnTo>
                    <a:pt x="185039" y="105473"/>
                  </a:lnTo>
                  <a:lnTo>
                    <a:pt x="184315" y="105473"/>
                  </a:lnTo>
                  <a:lnTo>
                    <a:pt x="184315" y="104394"/>
                  </a:lnTo>
                  <a:lnTo>
                    <a:pt x="182156" y="104394"/>
                  </a:lnTo>
                  <a:lnTo>
                    <a:pt x="181076" y="105473"/>
                  </a:lnTo>
                  <a:lnTo>
                    <a:pt x="175348" y="111645"/>
                  </a:lnTo>
                  <a:lnTo>
                    <a:pt x="169595" y="116420"/>
                  </a:lnTo>
                  <a:lnTo>
                    <a:pt x="163093" y="119507"/>
                  </a:lnTo>
                  <a:lnTo>
                    <a:pt x="155155" y="120599"/>
                  </a:lnTo>
                  <a:lnTo>
                    <a:pt x="144348" y="118579"/>
                  </a:lnTo>
                  <a:lnTo>
                    <a:pt x="134632" y="112014"/>
                  </a:lnTo>
                  <a:lnTo>
                    <a:pt x="127609" y="100101"/>
                  </a:lnTo>
                  <a:lnTo>
                    <a:pt x="124917" y="82080"/>
                  </a:lnTo>
                  <a:lnTo>
                    <a:pt x="124917" y="77038"/>
                  </a:lnTo>
                  <a:lnTo>
                    <a:pt x="185039" y="77038"/>
                  </a:lnTo>
                  <a:lnTo>
                    <a:pt x="185077" y="70916"/>
                  </a:lnTo>
                  <a:lnTo>
                    <a:pt x="185089" y="67652"/>
                  </a:lnTo>
                  <a:close/>
                </a:path>
                <a:path w="622935" h="130175">
                  <a:moveTo>
                    <a:pt x="278638" y="123482"/>
                  </a:moveTo>
                  <a:lnTo>
                    <a:pt x="277558" y="122770"/>
                  </a:lnTo>
                  <a:lnTo>
                    <a:pt x="277558" y="121678"/>
                  </a:lnTo>
                  <a:lnTo>
                    <a:pt x="270713" y="121678"/>
                  </a:lnTo>
                  <a:lnTo>
                    <a:pt x="268554" y="120599"/>
                  </a:lnTo>
                  <a:lnTo>
                    <a:pt x="266750" y="119519"/>
                  </a:lnTo>
                  <a:lnTo>
                    <a:pt x="265671" y="116636"/>
                  </a:lnTo>
                  <a:lnTo>
                    <a:pt x="265671" y="114477"/>
                  </a:lnTo>
                  <a:lnTo>
                    <a:pt x="265671" y="82080"/>
                  </a:lnTo>
                  <a:lnTo>
                    <a:pt x="265671" y="63715"/>
                  </a:lnTo>
                  <a:lnTo>
                    <a:pt x="263588" y="51854"/>
                  </a:lnTo>
                  <a:lnTo>
                    <a:pt x="257429" y="43294"/>
                  </a:lnTo>
                  <a:lnTo>
                    <a:pt x="253746" y="41402"/>
                  </a:lnTo>
                  <a:lnTo>
                    <a:pt x="247294" y="38112"/>
                  </a:lnTo>
                  <a:lnTo>
                    <a:pt x="233273" y="36360"/>
                  </a:lnTo>
                  <a:lnTo>
                    <a:pt x="218998" y="38112"/>
                  </a:lnTo>
                  <a:lnTo>
                    <a:pt x="219608" y="38112"/>
                  </a:lnTo>
                  <a:lnTo>
                    <a:pt x="209016" y="42443"/>
                  </a:lnTo>
                  <a:lnTo>
                    <a:pt x="201726" y="48971"/>
                  </a:lnTo>
                  <a:lnTo>
                    <a:pt x="199072" y="56883"/>
                  </a:lnTo>
                  <a:lnTo>
                    <a:pt x="199072" y="62636"/>
                  </a:lnTo>
                  <a:lnTo>
                    <a:pt x="203390" y="67678"/>
                  </a:lnTo>
                  <a:lnTo>
                    <a:pt x="208432" y="67678"/>
                  </a:lnTo>
                  <a:lnTo>
                    <a:pt x="211315" y="68757"/>
                  </a:lnTo>
                  <a:lnTo>
                    <a:pt x="215277" y="66954"/>
                  </a:lnTo>
                  <a:lnTo>
                    <a:pt x="222478" y="59753"/>
                  </a:lnTo>
                  <a:lnTo>
                    <a:pt x="221399" y="53644"/>
                  </a:lnTo>
                  <a:lnTo>
                    <a:pt x="216382" y="46494"/>
                  </a:lnTo>
                  <a:lnTo>
                    <a:pt x="219240" y="43561"/>
                  </a:lnTo>
                  <a:lnTo>
                    <a:pt x="225361" y="41402"/>
                  </a:lnTo>
                  <a:lnTo>
                    <a:pt x="232562" y="41402"/>
                  </a:lnTo>
                  <a:lnTo>
                    <a:pt x="248399" y="75958"/>
                  </a:lnTo>
                  <a:lnTo>
                    <a:pt x="248399" y="82080"/>
                  </a:lnTo>
                  <a:lnTo>
                    <a:pt x="248399" y="108356"/>
                  </a:lnTo>
                  <a:lnTo>
                    <a:pt x="245516" y="111239"/>
                  </a:lnTo>
                  <a:lnTo>
                    <a:pt x="238315" y="120599"/>
                  </a:lnTo>
                  <a:lnTo>
                    <a:pt x="217436" y="120599"/>
                  </a:lnTo>
                  <a:lnTo>
                    <a:pt x="215277" y="111239"/>
                  </a:lnTo>
                  <a:lnTo>
                    <a:pt x="215277" y="104394"/>
                  </a:lnTo>
                  <a:lnTo>
                    <a:pt x="217055" y="96913"/>
                  </a:lnTo>
                  <a:lnTo>
                    <a:pt x="222783" y="90957"/>
                  </a:lnTo>
                  <a:lnTo>
                    <a:pt x="233045" y="86131"/>
                  </a:lnTo>
                  <a:lnTo>
                    <a:pt x="248399" y="82080"/>
                  </a:lnTo>
                  <a:lnTo>
                    <a:pt x="248399" y="75958"/>
                  </a:lnTo>
                  <a:lnTo>
                    <a:pt x="245516" y="75958"/>
                  </a:lnTo>
                  <a:lnTo>
                    <a:pt x="243357" y="77038"/>
                  </a:lnTo>
                  <a:lnTo>
                    <a:pt x="238315" y="78117"/>
                  </a:lnTo>
                  <a:lnTo>
                    <a:pt x="200152" y="92163"/>
                  </a:lnTo>
                  <a:lnTo>
                    <a:pt x="196202" y="99364"/>
                  </a:lnTo>
                  <a:lnTo>
                    <a:pt x="196202" y="108356"/>
                  </a:lnTo>
                  <a:lnTo>
                    <a:pt x="197434" y="115938"/>
                  </a:lnTo>
                  <a:lnTo>
                    <a:pt x="201498" y="122770"/>
                  </a:lnTo>
                  <a:lnTo>
                    <a:pt x="209092" y="127800"/>
                  </a:lnTo>
                  <a:lnTo>
                    <a:pt x="209537" y="127800"/>
                  </a:lnTo>
                  <a:lnTo>
                    <a:pt x="220319" y="129603"/>
                  </a:lnTo>
                  <a:lnTo>
                    <a:pt x="227685" y="128663"/>
                  </a:lnTo>
                  <a:lnTo>
                    <a:pt x="234759" y="125831"/>
                  </a:lnTo>
                  <a:lnTo>
                    <a:pt x="241617" y="121107"/>
                  </a:lnTo>
                  <a:lnTo>
                    <a:pt x="242125" y="120599"/>
                  </a:lnTo>
                  <a:lnTo>
                    <a:pt x="248399" y="114477"/>
                  </a:lnTo>
                  <a:lnTo>
                    <a:pt x="248932" y="119519"/>
                  </a:lnTo>
                  <a:lnTo>
                    <a:pt x="249047" y="120599"/>
                  </a:lnTo>
                  <a:lnTo>
                    <a:pt x="249161" y="121678"/>
                  </a:lnTo>
                  <a:lnTo>
                    <a:pt x="249275" y="122770"/>
                  </a:lnTo>
                  <a:lnTo>
                    <a:pt x="249351" y="123482"/>
                  </a:lnTo>
                  <a:lnTo>
                    <a:pt x="249478" y="124561"/>
                  </a:lnTo>
                  <a:lnTo>
                    <a:pt x="253441" y="128524"/>
                  </a:lnTo>
                  <a:lnTo>
                    <a:pt x="268554" y="128524"/>
                  </a:lnTo>
                  <a:lnTo>
                    <a:pt x="271792" y="127800"/>
                  </a:lnTo>
                  <a:lnTo>
                    <a:pt x="276834" y="125641"/>
                  </a:lnTo>
                  <a:lnTo>
                    <a:pt x="277558" y="125641"/>
                  </a:lnTo>
                  <a:lnTo>
                    <a:pt x="278638" y="123482"/>
                  </a:lnTo>
                  <a:close/>
                </a:path>
                <a:path w="622935" h="130175">
                  <a:moveTo>
                    <a:pt x="354241" y="43561"/>
                  </a:moveTo>
                  <a:lnTo>
                    <a:pt x="350278" y="36360"/>
                  </a:lnTo>
                  <a:lnTo>
                    <a:pt x="339115" y="36360"/>
                  </a:lnTo>
                  <a:lnTo>
                    <a:pt x="331863" y="37439"/>
                  </a:lnTo>
                  <a:lnTo>
                    <a:pt x="332333" y="37439"/>
                  </a:lnTo>
                  <a:lnTo>
                    <a:pt x="326237" y="40411"/>
                  </a:lnTo>
                  <a:lnTo>
                    <a:pt x="320078" y="45783"/>
                  </a:lnTo>
                  <a:lnTo>
                    <a:pt x="313918" y="53644"/>
                  </a:lnTo>
                  <a:lnTo>
                    <a:pt x="313918" y="38519"/>
                  </a:lnTo>
                  <a:lnTo>
                    <a:pt x="312839" y="37439"/>
                  </a:lnTo>
                  <a:lnTo>
                    <a:pt x="287997" y="37439"/>
                  </a:lnTo>
                  <a:lnTo>
                    <a:pt x="286918" y="38519"/>
                  </a:lnTo>
                  <a:lnTo>
                    <a:pt x="286918" y="41402"/>
                  </a:lnTo>
                  <a:lnTo>
                    <a:pt x="287997" y="42481"/>
                  </a:lnTo>
                  <a:lnTo>
                    <a:pt x="295910" y="43561"/>
                  </a:lnTo>
                  <a:lnTo>
                    <a:pt x="296633" y="46443"/>
                  </a:lnTo>
                  <a:lnTo>
                    <a:pt x="296633" y="121678"/>
                  </a:lnTo>
                  <a:lnTo>
                    <a:pt x="295910" y="123482"/>
                  </a:lnTo>
                  <a:lnTo>
                    <a:pt x="288721" y="123482"/>
                  </a:lnTo>
                  <a:lnTo>
                    <a:pt x="286918" y="124561"/>
                  </a:lnTo>
                  <a:lnTo>
                    <a:pt x="286918" y="127800"/>
                  </a:lnTo>
                  <a:lnTo>
                    <a:pt x="287997" y="128524"/>
                  </a:lnTo>
                  <a:lnTo>
                    <a:pt x="326872" y="128524"/>
                  </a:lnTo>
                  <a:lnTo>
                    <a:pt x="326872" y="124561"/>
                  </a:lnTo>
                  <a:lnTo>
                    <a:pt x="326161" y="124561"/>
                  </a:lnTo>
                  <a:lnTo>
                    <a:pt x="317157" y="123482"/>
                  </a:lnTo>
                  <a:lnTo>
                    <a:pt x="314998" y="122758"/>
                  </a:lnTo>
                  <a:lnTo>
                    <a:pt x="314998" y="62636"/>
                  </a:lnTo>
                  <a:lnTo>
                    <a:pt x="320459" y="53644"/>
                  </a:lnTo>
                  <a:lnTo>
                    <a:pt x="321119" y="52565"/>
                  </a:lnTo>
                  <a:lnTo>
                    <a:pt x="325081" y="47523"/>
                  </a:lnTo>
                  <a:lnTo>
                    <a:pt x="332727" y="45783"/>
                  </a:lnTo>
                  <a:lnTo>
                    <a:pt x="332905" y="45783"/>
                  </a:lnTo>
                  <a:lnTo>
                    <a:pt x="331914" y="46443"/>
                  </a:lnTo>
                  <a:lnTo>
                    <a:pt x="331914" y="56883"/>
                  </a:lnTo>
                  <a:lnTo>
                    <a:pt x="336956" y="60833"/>
                  </a:lnTo>
                  <a:lnTo>
                    <a:pt x="350278" y="60833"/>
                  </a:lnTo>
                  <a:lnTo>
                    <a:pt x="354241" y="56883"/>
                  </a:lnTo>
                  <a:lnTo>
                    <a:pt x="354241" y="45783"/>
                  </a:lnTo>
                  <a:lnTo>
                    <a:pt x="354241" y="43561"/>
                  </a:lnTo>
                  <a:close/>
                </a:path>
                <a:path w="622935" h="130175">
                  <a:moveTo>
                    <a:pt x="423710" y="99364"/>
                  </a:moveTo>
                  <a:lnTo>
                    <a:pt x="396354" y="71996"/>
                  </a:lnTo>
                  <a:lnTo>
                    <a:pt x="395274" y="71996"/>
                  </a:lnTo>
                  <a:lnTo>
                    <a:pt x="385152" y="68605"/>
                  </a:lnTo>
                  <a:lnTo>
                    <a:pt x="378345" y="64846"/>
                  </a:lnTo>
                  <a:lnTo>
                    <a:pt x="374510" y="60617"/>
                  </a:lnTo>
                  <a:lnTo>
                    <a:pt x="373316" y="55803"/>
                  </a:lnTo>
                  <a:lnTo>
                    <a:pt x="373316" y="46443"/>
                  </a:lnTo>
                  <a:lnTo>
                    <a:pt x="379437" y="40322"/>
                  </a:lnTo>
                  <a:lnTo>
                    <a:pt x="389521" y="40322"/>
                  </a:lnTo>
                  <a:lnTo>
                    <a:pt x="415442" y="64846"/>
                  </a:lnTo>
                  <a:lnTo>
                    <a:pt x="415442" y="65874"/>
                  </a:lnTo>
                  <a:lnTo>
                    <a:pt x="418680" y="65874"/>
                  </a:lnTo>
                  <a:lnTo>
                    <a:pt x="419709" y="64846"/>
                  </a:lnTo>
                  <a:lnTo>
                    <a:pt x="419760" y="35280"/>
                  </a:lnTo>
                  <a:lnTo>
                    <a:pt x="416521" y="35280"/>
                  </a:lnTo>
                  <a:lnTo>
                    <a:pt x="416521" y="36360"/>
                  </a:lnTo>
                  <a:lnTo>
                    <a:pt x="415442" y="36360"/>
                  </a:lnTo>
                  <a:lnTo>
                    <a:pt x="412559" y="40322"/>
                  </a:lnTo>
                  <a:lnTo>
                    <a:pt x="407517" y="38519"/>
                  </a:lnTo>
                  <a:lnTo>
                    <a:pt x="400316" y="35280"/>
                  </a:lnTo>
                  <a:lnTo>
                    <a:pt x="392391" y="35280"/>
                  </a:lnTo>
                  <a:lnTo>
                    <a:pt x="379895" y="37452"/>
                  </a:lnTo>
                  <a:lnTo>
                    <a:pt x="369976" y="43434"/>
                  </a:lnTo>
                  <a:lnTo>
                    <a:pt x="363435" y="52451"/>
                  </a:lnTo>
                  <a:lnTo>
                    <a:pt x="361073" y="63715"/>
                  </a:lnTo>
                  <a:lnTo>
                    <a:pt x="362927" y="74104"/>
                  </a:lnTo>
                  <a:lnTo>
                    <a:pt x="368401" y="81457"/>
                  </a:lnTo>
                  <a:lnTo>
                    <a:pt x="377317" y="86512"/>
                  </a:lnTo>
                  <a:lnTo>
                    <a:pt x="389521" y="90004"/>
                  </a:lnTo>
                  <a:lnTo>
                    <a:pt x="400253" y="93853"/>
                  </a:lnTo>
                  <a:lnTo>
                    <a:pt x="407377" y="98107"/>
                  </a:lnTo>
                  <a:lnTo>
                    <a:pt x="411327" y="103162"/>
                  </a:lnTo>
                  <a:lnTo>
                    <a:pt x="412559" y="109435"/>
                  </a:lnTo>
                  <a:lnTo>
                    <a:pt x="412559" y="119519"/>
                  </a:lnTo>
                  <a:lnTo>
                    <a:pt x="402475" y="124561"/>
                  </a:lnTo>
                  <a:lnTo>
                    <a:pt x="395274" y="124561"/>
                  </a:lnTo>
                  <a:lnTo>
                    <a:pt x="387210" y="123482"/>
                  </a:lnTo>
                  <a:lnTo>
                    <a:pt x="386880" y="123482"/>
                  </a:lnTo>
                  <a:lnTo>
                    <a:pt x="379793" y="119253"/>
                  </a:lnTo>
                  <a:lnTo>
                    <a:pt x="372795" y="110896"/>
                  </a:lnTo>
                  <a:lnTo>
                    <a:pt x="364312" y="97193"/>
                  </a:lnTo>
                  <a:lnTo>
                    <a:pt x="364312" y="96113"/>
                  </a:lnTo>
                  <a:lnTo>
                    <a:pt x="361073" y="96113"/>
                  </a:lnTo>
                  <a:lnTo>
                    <a:pt x="360362" y="97193"/>
                  </a:lnTo>
                  <a:lnTo>
                    <a:pt x="360362" y="129603"/>
                  </a:lnTo>
                  <a:lnTo>
                    <a:pt x="364312" y="129603"/>
                  </a:lnTo>
                  <a:lnTo>
                    <a:pt x="364312" y="128524"/>
                  </a:lnTo>
                  <a:lnTo>
                    <a:pt x="370433" y="123482"/>
                  </a:lnTo>
                  <a:lnTo>
                    <a:pt x="376199" y="127800"/>
                  </a:lnTo>
                  <a:lnTo>
                    <a:pt x="386270" y="129603"/>
                  </a:lnTo>
                  <a:lnTo>
                    <a:pt x="402475" y="129603"/>
                  </a:lnTo>
                  <a:lnTo>
                    <a:pt x="410400" y="126720"/>
                  </a:lnTo>
                  <a:lnTo>
                    <a:pt x="412546" y="124561"/>
                  </a:lnTo>
                  <a:lnTo>
                    <a:pt x="421551" y="115557"/>
                  </a:lnTo>
                  <a:lnTo>
                    <a:pt x="423710" y="108356"/>
                  </a:lnTo>
                  <a:lnTo>
                    <a:pt x="423710" y="99364"/>
                  </a:lnTo>
                  <a:close/>
                </a:path>
                <a:path w="622935" h="130175">
                  <a:moveTo>
                    <a:pt x="523074" y="82080"/>
                  </a:moveTo>
                  <a:lnTo>
                    <a:pt x="519671" y="64604"/>
                  </a:lnTo>
                  <a:lnTo>
                    <a:pt x="519582" y="64147"/>
                  </a:lnTo>
                  <a:lnTo>
                    <a:pt x="510108" y="49377"/>
                  </a:lnTo>
                  <a:lnTo>
                    <a:pt x="510019" y="49237"/>
                  </a:lnTo>
                  <a:lnTo>
                    <a:pt x="503275" y="44437"/>
                  </a:lnTo>
                  <a:lnTo>
                    <a:pt x="503275" y="83159"/>
                  </a:lnTo>
                  <a:lnTo>
                    <a:pt x="501713" y="101511"/>
                  </a:lnTo>
                  <a:lnTo>
                    <a:pt x="497154" y="114401"/>
                  </a:lnTo>
                  <a:lnTo>
                    <a:pt x="489597" y="122047"/>
                  </a:lnTo>
                  <a:lnTo>
                    <a:pt x="479158" y="124561"/>
                  </a:lnTo>
                  <a:lnTo>
                    <a:pt x="467868" y="122047"/>
                  </a:lnTo>
                  <a:lnTo>
                    <a:pt x="459892" y="114401"/>
                  </a:lnTo>
                  <a:lnTo>
                    <a:pt x="455269" y="101815"/>
                  </a:lnTo>
                  <a:lnTo>
                    <a:pt x="455155" y="101511"/>
                  </a:lnTo>
                  <a:lnTo>
                    <a:pt x="455828" y="60680"/>
                  </a:lnTo>
                  <a:lnTo>
                    <a:pt x="476999" y="40322"/>
                  </a:lnTo>
                  <a:lnTo>
                    <a:pt x="488238" y="43027"/>
                  </a:lnTo>
                  <a:lnTo>
                    <a:pt x="496481" y="51079"/>
                  </a:lnTo>
                  <a:lnTo>
                    <a:pt x="501421" y="64147"/>
                  </a:lnTo>
                  <a:lnTo>
                    <a:pt x="501548" y="64604"/>
                  </a:lnTo>
                  <a:lnTo>
                    <a:pt x="503174" y="82080"/>
                  </a:lnTo>
                  <a:lnTo>
                    <a:pt x="503275" y="83159"/>
                  </a:lnTo>
                  <a:lnTo>
                    <a:pt x="503275" y="44437"/>
                  </a:lnTo>
                  <a:lnTo>
                    <a:pt x="497522" y="40322"/>
                  </a:lnTo>
                  <a:lnTo>
                    <a:pt x="495757" y="39077"/>
                  </a:lnTo>
                  <a:lnTo>
                    <a:pt x="478078" y="35280"/>
                  </a:lnTo>
                  <a:lnTo>
                    <a:pt x="460819" y="39077"/>
                  </a:lnTo>
                  <a:lnTo>
                    <a:pt x="446747" y="49377"/>
                  </a:lnTo>
                  <a:lnTo>
                    <a:pt x="437261" y="64604"/>
                  </a:lnTo>
                  <a:lnTo>
                    <a:pt x="433793" y="83159"/>
                  </a:lnTo>
                  <a:lnTo>
                    <a:pt x="437159" y="101511"/>
                  </a:lnTo>
                  <a:lnTo>
                    <a:pt x="446481" y="116243"/>
                  </a:lnTo>
                  <a:lnTo>
                    <a:pt x="460527" y="126047"/>
                  </a:lnTo>
                  <a:lnTo>
                    <a:pt x="478078" y="129603"/>
                  </a:lnTo>
                  <a:lnTo>
                    <a:pt x="494372" y="126288"/>
                  </a:lnTo>
                  <a:lnTo>
                    <a:pt x="496976" y="124561"/>
                  </a:lnTo>
                  <a:lnTo>
                    <a:pt x="508800" y="116776"/>
                  </a:lnTo>
                  <a:lnTo>
                    <a:pt x="519125" y="101815"/>
                  </a:lnTo>
                  <a:lnTo>
                    <a:pt x="523074" y="82080"/>
                  </a:lnTo>
                  <a:close/>
                </a:path>
                <a:path w="622935" h="130175">
                  <a:moveTo>
                    <a:pt x="622795" y="124561"/>
                  </a:moveTo>
                  <a:lnTo>
                    <a:pt x="621715" y="123482"/>
                  </a:lnTo>
                  <a:lnTo>
                    <a:pt x="612711" y="123482"/>
                  </a:lnTo>
                  <a:lnTo>
                    <a:pt x="611632" y="121678"/>
                  </a:lnTo>
                  <a:lnTo>
                    <a:pt x="611632" y="63715"/>
                  </a:lnTo>
                  <a:lnTo>
                    <a:pt x="609981" y="52158"/>
                  </a:lnTo>
                  <a:lnTo>
                    <a:pt x="606831" y="46443"/>
                  </a:lnTo>
                  <a:lnTo>
                    <a:pt x="605243" y="43561"/>
                  </a:lnTo>
                  <a:lnTo>
                    <a:pt x="597662" y="38214"/>
                  </a:lnTo>
                  <a:lnTo>
                    <a:pt x="587514" y="36360"/>
                  </a:lnTo>
                  <a:lnTo>
                    <a:pt x="571868" y="39230"/>
                  </a:lnTo>
                  <a:lnTo>
                    <a:pt x="562038" y="45542"/>
                  </a:lnTo>
                  <a:lnTo>
                    <a:pt x="556933" y="51866"/>
                  </a:lnTo>
                  <a:lnTo>
                    <a:pt x="555472" y="54724"/>
                  </a:lnTo>
                  <a:lnTo>
                    <a:pt x="555472" y="38519"/>
                  </a:lnTo>
                  <a:lnTo>
                    <a:pt x="553313" y="36360"/>
                  </a:lnTo>
                  <a:lnTo>
                    <a:pt x="529196" y="37439"/>
                  </a:lnTo>
                  <a:lnTo>
                    <a:pt x="528116" y="37439"/>
                  </a:lnTo>
                  <a:lnTo>
                    <a:pt x="527392" y="38519"/>
                  </a:lnTo>
                  <a:lnTo>
                    <a:pt x="527392" y="41402"/>
                  </a:lnTo>
                  <a:lnTo>
                    <a:pt x="528116" y="42481"/>
                  </a:lnTo>
                  <a:lnTo>
                    <a:pt x="536397" y="43561"/>
                  </a:lnTo>
                  <a:lnTo>
                    <a:pt x="537476" y="46443"/>
                  </a:lnTo>
                  <a:lnTo>
                    <a:pt x="537476" y="121678"/>
                  </a:lnTo>
                  <a:lnTo>
                    <a:pt x="536397" y="123482"/>
                  </a:lnTo>
                  <a:lnTo>
                    <a:pt x="527392" y="123482"/>
                  </a:lnTo>
                  <a:lnTo>
                    <a:pt x="527392" y="127800"/>
                  </a:lnTo>
                  <a:lnTo>
                    <a:pt x="528116" y="128524"/>
                  </a:lnTo>
                  <a:lnTo>
                    <a:pt x="563397" y="128524"/>
                  </a:lnTo>
                  <a:lnTo>
                    <a:pt x="564476" y="127800"/>
                  </a:lnTo>
                  <a:lnTo>
                    <a:pt x="564476" y="124561"/>
                  </a:lnTo>
                  <a:lnTo>
                    <a:pt x="563397" y="123482"/>
                  </a:lnTo>
                  <a:lnTo>
                    <a:pt x="556552" y="123482"/>
                  </a:lnTo>
                  <a:lnTo>
                    <a:pt x="555472" y="121678"/>
                  </a:lnTo>
                  <a:lnTo>
                    <a:pt x="555472" y="66954"/>
                  </a:lnTo>
                  <a:lnTo>
                    <a:pt x="557276" y="61925"/>
                  </a:lnTo>
                  <a:lnTo>
                    <a:pt x="559435" y="58674"/>
                  </a:lnTo>
                  <a:lnTo>
                    <a:pt x="562546" y="54724"/>
                  </a:lnTo>
                  <a:lnTo>
                    <a:pt x="563397" y="53644"/>
                  </a:lnTo>
                  <a:lnTo>
                    <a:pt x="569518" y="46443"/>
                  </a:lnTo>
                  <a:lnTo>
                    <a:pt x="577430" y="46443"/>
                  </a:lnTo>
                  <a:lnTo>
                    <a:pt x="585127" y="47663"/>
                  </a:lnTo>
                  <a:lnTo>
                    <a:pt x="590118" y="51536"/>
                  </a:lnTo>
                  <a:lnTo>
                    <a:pt x="592823" y="58445"/>
                  </a:lnTo>
                  <a:lnTo>
                    <a:pt x="593636" y="68757"/>
                  </a:lnTo>
                  <a:lnTo>
                    <a:pt x="593636" y="121678"/>
                  </a:lnTo>
                  <a:lnTo>
                    <a:pt x="592556" y="123482"/>
                  </a:lnTo>
                  <a:lnTo>
                    <a:pt x="585711" y="123482"/>
                  </a:lnTo>
                  <a:lnTo>
                    <a:pt x="584631" y="124561"/>
                  </a:lnTo>
                  <a:lnTo>
                    <a:pt x="584631" y="127800"/>
                  </a:lnTo>
                  <a:lnTo>
                    <a:pt x="585711" y="128524"/>
                  </a:lnTo>
                  <a:lnTo>
                    <a:pt x="621715" y="128524"/>
                  </a:lnTo>
                  <a:lnTo>
                    <a:pt x="622795" y="127800"/>
                  </a:lnTo>
                  <a:lnTo>
                    <a:pt x="622795" y="124561"/>
                  </a:lnTo>
                  <a:close/>
                </a:path>
              </a:pathLst>
            </a:custGeom>
            <a:solidFill>
              <a:srgbClr val="3D3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473" y="6378642"/>
              <a:ext cx="252095" cy="278765"/>
            </a:xfrm>
            <a:custGeom>
              <a:avLst/>
              <a:gdLst/>
              <a:ahLst/>
              <a:cxnLst/>
              <a:rect l="l" t="t" r="r" b="b"/>
              <a:pathLst>
                <a:path w="252095" h="278765">
                  <a:moveTo>
                    <a:pt x="114401" y="0"/>
                  </a:moveTo>
                  <a:lnTo>
                    <a:pt x="74092" y="12480"/>
                  </a:lnTo>
                  <a:lnTo>
                    <a:pt x="38847" y="39147"/>
                  </a:lnTo>
                  <a:lnTo>
                    <a:pt x="11968" y="80120"/>
                  </a:lnTo>
                  <a:lnTo>
                    <a:pt x="0" y="127191"/>
                  </a:lnTo>
                  <a:lnTo>
                    <a:pt x="2609" y="179969"/>
                  </a:lnTo>
                  <a:lnTo>
                    <a:pt x="20877" y="228901"/>
                  </a:lnTo>
                  <a:lnTo>
                    <a:pt x="55885" y="264435"/>
                  </a:lnTo>
                  <a:lnTo>
                    <a:pt x="102465" y="278306"/>
                  </a:lnTo>
                  <a:lnTo>
                    <a:pt x="150700" y="271185"/>
                  </a:lnTo>
                  <a:lnTo>
                    <a:pt x="194549" y="245301"/>
                  </a:lnTo>
                  <a:lnTo>
                    <a:pt x="227970" y="202878"/>
                  </a:lnTo>
                  <a:lnTo>
                    <a:pt x="246242" y="157463"/>
                  </a:lnTo>
                  <a:lnTo>
                    <a:pt x="251747" y="114158"/>
                  </a:lnTo>
                  <a:lnTo>
                    <a:pt x="245020" y="74984"/>
                  </a:lnTo>
                  <a:lnTo>
                    <a:pt x="226595" y="41963"/>
                  </a:lnTo>
                  <a:lnTo>
                    <a:pt x="197007" y="17115"/>
                  </a:lnTo>
                  <a:lnTo>
                    <a:pt x="156474" y="1585"/>
                  </a:lnTo>
                  <a:lnTo>
                    <a:pt x="114401" y="0"/>
                  </a:lnTo>
                  <a:close/>
                </a:path>
              </a:pathLst>
            </a:custGeom>
            <a:solidFill>
              <a:srgbClr val="097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325" y="6427444"/>
              <a:ext cx="167487" cy="18935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73659" y="173063"/>
            <a:ext cx="6856730" cy="10604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4070"/>
              </a:lnSpc>
              <a:spcBef>
                <a:spcPts val="204"/>
              </a:spcBef>
            </a:pPr>
            <a:r>
              <a:rPr dirty="0"/>
              <a:t>Exhibit</a:t>
            </a:r>
            <a:r>
              <a:rPr spc="-70" dirty="0"/>
              <a:t> </a:t>
            </a:r>
            <a:r>
              <a:rPr dirty="0"/>
              <a:t>10.2</a:t>
            </a:r>
            <a:r>
              <a:rPr spc="-70" dirty="0"/>
              <a:t> </a:t>
            </a:r>
            <a:r>
              <a:rPr dirty="0"/>
              <a:t>Legal</a:t>
            </a:r>
            <a:r>
              <a:rPr spc="-70" dirty="0"/>
              <a:t> </a:t>
            </a:r>
            <a:r>
              <a:rPr dirty="0"/>
              <a:t>Forms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Business </a:t>
            </a:r>
            <a:r>
              <a:rPr dirty="0"/>
              <a:t>Ownership</a:t>
            </a:r>
            <a:r>
              <a:rPr spc="-75" dirty="0"/>
              <a:t> </a:t>
            </a:r>
            <a:r>
              <a:rPr sz="1800" b="0" dirty="0">
                <a:latin typeface="Times New Roman"/>
                <a:cs typeface="Times New Roman"/>
              </a:rPr>
              <a:t>(3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Times New Roman"/>
                <a:cs typeface="Times New Roman"/>
              </a:rPr>
              <a:t>of</a:t>
            </a:r>
            <a:r>
              <a:rPr sz="1800" b="0" spc="-4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Times New Roman"/>
                <a:cs typeface="Times New Roman"/>
              </a:rPr>
              <a:t>3)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7200" y="1321193"/>
          <a:ext cx="8229599" cy="4669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17475" marR="114300">
                        <a:lnSpc>
                          <a:spcPts val="1570"/>
                        </a:lnSpc>
                        <a:spcBef>
                          <a:spcPts val="3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Ownership requirements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357505">
                        <a:lnSpc>
                          <a:spcPts val="1570"/>
                        </a:lnSpc>
                        <a:spcBef>
                          <a:spcPts val="3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Liability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solidFill>
                      <a:srgbClr val="007EA2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Drawbacks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solidFill>
                      <a:srgbClr val="007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1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corporation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7475" marR="147320">
                        <a:lnSpc>
                          <a:spcPct val="936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75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shareholders,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limits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types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stock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voting arrangement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86995">
                        <a:lnSpc>
                          <a:spcPct val="936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losses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“pass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through”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partners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taxed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at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rate;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profit-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loss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allocations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196850">
                        <a:lnSpc>
                          <a:spcPct val="935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Easy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to set</a:t>
                      </a:r>
                      <a:r>
                        <a:rPr sz="1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up,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liability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benefits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partnership,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can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have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tax-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exempt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entity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as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shareholder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00330">
                        <a:lnSpc>
                          <a:spcPct val="934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Must meet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certain requirements,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limit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future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financing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options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785">
                <a:tc>
                  <a:txBody>
                    <a:bodyPr/>
                    <a:lstStyle/>
                    <a:p>
                      <a:pPr marL="91440" marR="447675">
                        <a:lnSpc>
                          <a:spcPct val="93600"/>
                        </a:lnSpc>
                        <a:spcBef>
                          <a:spcPts val="34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 liability company (LLC)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7475" marR="143510">
                        <a:lnSpc>
                          <a:spcPct val="93700"/>
                        </a:lnSpc>
                        <a:spcBef>
                          <a:spcPts val="34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Unlimited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“members,” flexible membership arrangements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voting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rights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86995">
                        <a:lnSpc>
                          <a:spcPct val="936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Income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losses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“pass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through”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partners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taxed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at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personal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rate;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flexibility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profit-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loss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allocations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partners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Limited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98425">
                        <a:lnSpc>
                          <a:spcPct val="936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Greater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flexibility,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constrained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by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regulations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C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corporations,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taxed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as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partnership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corporation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D3E9E3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09855">
                        <a:lnSpc>
                          <a:spcPct val="936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Cost of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switching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one form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this can be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high,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need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legal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financial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advice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forming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operation agreement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solidFill>
                      <a:srgbClr val="D3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Organizational</a:t>
            </a:r>
            <a:r>
              <a:rPr spc="-70" dirty="0"/>
              <a:t> </a:t>
            </a:r>
            <a:r>
              <a:rPr dirty="0"/>
              <a:t>Design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031355" cy="341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entrepreneurial 	</a:t>
            </a:r>
            <a:r>
              <a:rPr sz="2400" dirty="0">
                <a:latin typeface="Arial MT"/>
                <a:cs typeface="Arial MT"/>
              </a:rPr>
              <a:t>decisions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revolve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around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six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elements: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specialization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spc="-10" dirty="0">
                <a:latin typeface="Arial MT"/>
                <a:cs typeface="Arial MT"/>
              </a:rPr>
              <a:t>departmentalization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chain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command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span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control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centralization/decentralization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formalization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Human</a:t>
            </a:r>
            <a:r>
              <a:rPr spc="-145" dirty="0"/>
              <a:t> </a:t>
            </a:r>
            <a:r>
              <a:rPr dirty="0"/>
              <a:t>Resource</a:t>
            </a:r>
            <a:r>
              <a:rPr spc="-1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3243580" cy="113792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recruitment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retention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Personality</a:t>
            </a:r>
            <a:r>
              <a:rPr sz="3200" spc="-60" dirty="0"/>
              <a:t> </a:t>
            </a:r>
            <a:r>
              <a:rPr sz="3200" dirty="0"/>
              <a:t>Characteristics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60" dirty="0"/>
              <a:t> </a:t>
            </a:r>
            <a:r>
              <a:rPr sz="3200" spc="-10" dirty="0"/>
              <a:t>Entrepreneurs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016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Proactive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personality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personality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describes 	</a:t>
            </a:r>
            <a:r>
              <a:rPr sz="2400" dirty="0">
                <a:latin typeface="Arial MT"/>
                <a:cs typeface="Arial MT"/>
              </a:rPr>
              <a:t>individuals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influence 	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Motivating</a:t>
            </a:r>
            <a:r>
              <a:rPr sz="3200" spc="-75" dirty="0"/>
              <a:t> </a:t>
            </a:r>
            <a:r>
              <a:rPr sz="3200" dirty="0"/>
              <a:t>Employees</a:t>
            </a:r>
            <a:r>
              <a:rPr sz="3200" spc="-125" dirty="0"/>
              <a:t> </a:t>
            </a:r>
            <a:r>
              <a:rPr sz="3200" dirty="0"/>
              <a:t>Through</a:t>
            </a:r>
            <a:r>
              <a:rPr sz="3200" spc="-80" dirty="0"/>
              <a:t> </a:t>
            </a:r>
            <a:r>
              <a:rPr sz="3200" spc="-10" dirty="0"/>
              <a:t>Empowerment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06830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Char char="•"/>
              <a:tabLst>
                <a:tab pos="269240" algn="l"/>
              </a:tabLst>
            </a:pP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empowerment—</a:t>
            </a:r>
            <a:r>
              <a:rPr sz="2400" dirty="0">
                <a:latin typeface="Arial MT"/>
                <a:cs typeface="Arial MT"/>
              </a:rPr>
              <a:t>giving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	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solve 	</a:t>
            </a:r>
            <a:r>
              <a:rPr sz="2400" spc="-25" dirty="0">
                <a:latin typeface="Arial MT"/>
                <a:cs typeface="Arial MT"/>
              </a:rPr>
              <a:t>problems—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motivational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spc="-25" dirty="0"/>
              <a:t>Entrepreneur</a:t>
            </a:r>
            <a:r>
              <a:rPr spc="-11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spc="-10" dirty="0"/>
              <a:t>Leader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4411980" cy="113792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Leading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Leading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employee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teams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Exhibit</a:t>
            </a:r>
            <a:r>
              <a:rPr spc="-80" dirty="0"/>
              <a:t> </a:t>
            </a:r>
            <a:r>
              <a:rPr dirty="0"/>
              <a:t>10.3</a:t>
            </a:r>
            <a:r>
              <a:rPr spc="-85" dirty="0"/>
              <a:t> </a:t>
            </a:r>
            <a:r>
              <a:rPr spc="-10" dirty="0"/>
              <a:t>Strengths</a:t>
            </a:r>
            <a:r>
              <a:rPr spc="-9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10" dirty="0"/>
              <a:t>Entrepreneurs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504" y="768502"/>
            <a:ext cx="8245475" cy="540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4945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rial"/>
                <a:cs typeface="Arial"/>
              </a:rPr>
              <a:t>Risk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high-</a:t>
            </a:r>
            <a:r>
              <a:rPr sz="2200" dirty="0">
                <a:latin typeface="Arial MT"/>
                <a:cs typeface="Arial MT"/>
              </a:rPr>
              <a:t>risk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situations;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mitigating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risk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rather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than </a:t>
            </a:r>
            <a:r>
              <a:rPr sz="2200" dirty="0">
                <a:latin typeface="Arial MT"/>
                <a:cs typeface="Arial MT"/>
              </a:rPr>
              <a:t>seeking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it</a:t>
            </a:r>
            <a:endParaRPr sz="2200">
              <a:latin typeface="Arial MT"/>
              <a:cs typeface="Arial MT"/>
            </a:endParaRPr>
          </a:p>
          <a:p>
            <a:pPr marL="12700" marR="631825">
              <a:lnSpc>
                <a:spcPct val="100000"/>
              </a:lnSpc>
              <a:spcBef>
                <a:spcPts val="595"/>
              </a:spcBef>
            </a:pPr>
            <a:r>
              <a:rPr sz="2200" b="1" spc="-10" dirty="0">
                <a:latin typeface="Arial"/>
                <a:cs typeface="Arial"/>
              </a:rPr>
              <a:t>Knowledge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Strives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acquire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in-</a:t>
            </a:r>
            <a:r>
              <a:rPr sz="2200" dirty="0">
                <a:latin typeface="Arial MT"/>
                <a:cs typeface="Arial MT"/>
              </a:rPr>
              <a:t>depth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information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about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spc="-10" dirty="0">
                <a:latin typeface="Arial MT"/>
                <a:cs typeface="Arial MT"/>
              </a:rPr>
              <a:t>industry</a:t>
            </a:r>
            <a:endParaRPr sz="2200">
              <a:latin typeface="Arial MT"/>
              <a:cs typeface="Arial MT"/>
            </a:endParaRPr>
          </a:p>
          <a:p>
            <a:pPr marL="12700" marR="100965">
              <a:lnSpc>
                <a:spcPct val="122700"/>
              </a:lnSpc>
            </a:pPr>
            <a:r>
              <a:rPr sz="2200" b="1" spc="-10" dirty="0">
                <a:latin typeface="Arial"/>
                <a:cs typeface="Arial"/>
              </a:rPr>
              <a:t>Independence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every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aspect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his/her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organization </a:t>
            </a:r>
            <a:r>
              <a:rPr sz="2200" b="1" spc="-10" dirty="0">
                <a:latin typeface="Arial"/>
                <a:cs typeface="Arial"/>
              </a:rPr>
              <a:t>Confidence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Believes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oneself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his/her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ability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succeed </a:t>
            </a:r>
            <a:r>
              <a:rPr sz="2200" b="1" dirty="0">
                <a:latin typeface="Arial"/>
                <a:cs typeface="Arial"/>
              </a:rPr>
              <a:t>Delegation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Unafraid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assign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others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b="1" spc="-10" dirty="0">
                <a:latin typeface="Arial"/>
                <a:cs typeface="Arial"/>
              </a:rPr>
              <a:t>Determination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Strong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work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ethic;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undeterred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failure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b="1" spc="-20" dirty="0">
                <a:latin typeface="Arial"/>
                <a:cs typeface="Arial"/>
              </a:rPr>
              <a:t>Relationships</a:t>
            </a:r>
            <a:r>
              <a:rPr sz="2200" spc="-20" dirty="0">
                <a:latin typeface="Arial MT"/>
                <a:cs typeface="Arial MT"/>
              </a:rPr>
              <a:t>: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mutually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beneficial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relationships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200" b="1" dirty="0">
                <a:latin typeface="Arial"/>
                <a:cs typeface="Arial"/>
              </a:rPr>
              <a:t>Selling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Speaks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boldly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behalf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organization;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influence others</a:t>
            </a:r>
            <a:endParaRPr sz="2200">
              <a:latin typeface="Arial MT"/>
              <a:cs typeface="Arial MT"/>
            </a:endParaRPr>
          </a:p>
          <a:p>
            <a:pPr marL="12700" marR="148590">
              <a:lnSpc>
                <a:spcPct val="100000"/>
              </a:lnSpc>
              <a:spcBef>
                <a:spcPts val="605"/>
              </a:spcBef>
            </a:pPr>
            <a:r>
              <a:rPr sz="2200" b="1" dirty="0">
                <a:latin typeface="Arial"/>
                <a:cs typeface="Arial"/>
              </a:rPr>
              <a:t>Profitability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clear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goals;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measures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progress;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good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judge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spc="-10" dirty="0">
                <a:latin typeface="Arial MT"/>
                <a:cs typeface="Arial MT"/>
              </a:rPr>
              <a:t>opportunities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b="1" dirty="0">
                <a:latin typeface="Arial"/>
                <a:cs typeface="Arial"/>
              </a:rPr>
              <a:t>Disruption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Constantly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new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ideas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services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Venture</a:t>
            </a:r>
            <a:r>
              <a:rPr spc="-110" dirty="0"/>
              <a:t> </a:t>
            </a:r>
            <a:r>
              <a:rPr dirty="0"/>
              <a:t>Stages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Leadership</a:t>
            </a:r>
            <a:r>
              <a:rPr spc="-114" dirty="0"/>
              <a:t> </a:t>
            </a:r>
            <a:r>
              <a:rPr spc="-10" dirty="0"/>
              <a:t>Needs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197215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20" dirty="0">
                <a:latin typeface="Arial"/>
                <a:cs typeface="Arial"/>
              </a:rPr>
              <a:t>Start-</a:t>
            </a:r>
            <a:r>
              <a:rPr sz="2400" b="1" dirty="0">
                <a:latin typeface="Arial"/>
                <a:cs typeface="Arial"/>
              </a:rPr>
              <a:t>up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stage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heart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business.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informal,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flexible,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ambiguous.</a:t>
            </a:r>
            <a:endParaRPr sz="2400">
              <a:latin typeface="Arial MT"/>
              <a:cs typeface="Arial MT"/>
            </a:endParaRPr>
          </a:p>
          <a:p>
            <a:pPr marL="267335" marR="522605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spc="-10" dirty="0">
                <a:latin typeface="Arial"/>
                <a:cs typeface="Arial"/>
              </a:rPr>
              <a:t>Transition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stage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informal 	organization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structured.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spc="-10" dirty="0">
                <a:latin typeface="Arial MT"/>
                <a:cs typeface="Arial MT"/>
              </a:rPr>
              <a:t>entrepreneur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delegate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stage.</a:t>
            </a:r>
            <a:endParaRPr sz="2400">
              <a:latin typeface="Arial MT"/>
              <a:cs typeface="Arial MT"/>
            </a:endParaRPr>
          </a:p>
          <a:p>
            <a:pPr marL="267335" marR="59690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Scaling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stage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uniqueness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entrepreneurship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	</a:t>
            </a:r>
            <a:r>
              <a:rPr sz="2400" dirty="0">
                <a:latin typeface="Arial MT"/>
                <a:cs typeface="Arial MT"/>
              </a:rPr>
              <a:t>gone,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concepts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become 	generalizable.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Potential</a:t>
            </a:r>
            <a:r>
              <a:rPr spc="-215" dirty="0"/>
              <a:t> </a:t>
            </a:r>
            <a:r>
              <a:rPr dirty="0"/>
              <a:t>Control</a:t>
            </a:r>
            <a:r>
              <a:rPr spc="-155" dirty="0"/>
              <a:t> </a:t>
            </a:r>
            <a:r>
              <a:rPr dirty="0"/>
              <a:t>Problems</a:t>
            </a:r>
            <a:r>
              <a:rPr spc="-140" dirty="0"/>
              <a:t> </a:t>
            </a:r>
            <a:r>
              <a:rPr spc="-10" dirty="0"/>
              <a:t>and</a:t>
            </a:r>
            <a:r>
              <a:rPr spc="-204" dirty="0"/>
              <a:t> </a:t>
            </a:r>
            <a:r>
              <a:rPr spc="-10" dirty="0"/>
              <a:t>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8208645" cy="45059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areas:</a:t>
            </a:r>
            <a:endParaRPr sz="2400">
              <a:latin typeface="Arial MT"/>
              <a:cs typeface="Arial MT"/>
            </a:endParaRPr>
          </a:p>
          <a:p>
            <a:pPr marL="753745" marR="1433195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Keep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close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eye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numbers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Monitor 	</a:t>
            </a:r>
            <a:r>
              <a:rPr sz="2400" dirty="0">
                <a:latin typeface="Arial MT"/>
                <a:cs typeface="Arial MT"/>
              </a:rPr>
              <a:t>expenses,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cash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flow,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inventory,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marL="753745" marR="28321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Monitor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competition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intelligence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	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long-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success.</a:t>
            </a:r>
            <a:endParaRPr sz="2400">
              <a:latin typeface="Arial MT"/>
              <a:cs typeface="Arial MT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Maintain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regular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contact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customers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sure 	</a:t>
            </a:r>
            <a:r>
              <a:rPr sz="2400" dirty="0">
                <a:latin typeface="Arial MT"/>
                <a:cs typeface="Arial MT"/>
              </a:rPr>
              <a:t>your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customers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still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satisfied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product.</a:t>
            </a:r>
            <a:endParaRPr sz="2400">
              <a:latin typeface="Arial MT"/>
              <a:cs typeface="Arial MT"/>
            </a:endParaRPr>
          </a:p>
          <a:p>
            <a:pPr marL="753745" marR="3175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Monitor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employee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performance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employees 	</a:t>
            </a:r>
            <a:r>
              <a:rPr sz="2400" dirty="0">
                <a:latin typeface="Arial MT"/>
                <a:cs typeface="Arial MT"/>
              </a:rPr>
              <a:t>continuing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expected.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training?</a:t>
            </a:r>
            <a:endParaRPr sz="2400">
              <a:latin typeface="Arial MT"/>
              <a:cs typeface="Arial MT"/>
            </a:endParaRPr>
          </a:p>
          <a:p>
            <a:pPr marL="753745" marR="1955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Arial MT"/>
              <a:buChar char="–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Monitor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employee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workloads: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people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trying 	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much?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Exiting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45" dirty="0"/>
              <a:t>Venture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372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Harvesting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exiting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entrepreneur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hopes 	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capitalize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financially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Five</a:t>
            </a:r>
            <a:r>
              <a:rPr spc="-50" dirty="0"/>
              <a:t> </a:t>
            </a:r>
            <a:r>
              <a:rPr dirty="0"/>
              <a:t>Exit</a:t>
            </a:r>
            <a:r>
              <a:rPr spc="-5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3786504" cy="280733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AutoNum type="arabicPeriod"/>
              <a:tabLst>
                <a:tab pos="354330" algn="l"/>
              </a:tabLst>
            </a:pPr>
            <a:r>
              <a:rPr sz="2400" dirty="0">
                <a:latin typeface="Arial MT"/>
                <a:cs typeface="Arial MT"/>
              </a:rPr>
              <a:t>Merger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acquisition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AutoNum type="arabicPeriod"/>
              <a:tabLst>
                <a:tab pos="354330" algn="l"/>
              </a:tabLst>
            </a:pP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friendly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buyer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354330" algn="l"/>
              </a:tabLst>
            </a:pPr>
            <a:r>
              <a:rPr sz="2400" dirty="0">
                <a:latin typeface="Arial MT"/>
                <a:cs typeface="Arial MT"/>
              </a:rPr>
              <a:t>Initiate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 IP</a:t>
            </a:r>
            <a:r>
              <a:rPr sz="2400" spc="-3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O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505"/>
              </a:spcBef>
              <a:buClr>
                <a:srgbClr val="007EA2"/>
              </a:buClr>
              <a:buAutoNum type="arabicPeriod"/>
              <a:tabLst>
                <a:tab pos="354330" algn="l"/>
              </a:tabLst>
            </a:pPr>
            <a:r>
              <a:rPr sz="2400" dirty="0">
                <a:latin typeface="Arial MT"/>
                <a:cs typeface="Arial MT"/>
              </a:rPr>
              <a:t>Treat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cow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AutoNum type="arabicPeriod"/>
              <a:tabLst>
                <a:tab pos="354330" algn="l"/>
              </a:tabLst>
            </a:pPr>
            <a:r>
              <a:rPr sz="2400" spc="-10" dirty="0">
                <a:latin typeface="Arial MT"/>
                <a:cs typeface="Arial MT"/>
              </a:rPr>
              <a:t>Liquidation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Business</a:t>
            </a:r>
            <a:r>
              <a:rPr spc="-190" dirty="0"/>
              <a:t> </a:t>
            </a:r>
            <a:r>
              <a:rPr spc="-30" dirty="0"/>
              <a:t>Valuation</a:t>
            </a:r>
            <a:r>
              <a:rPr spc="-13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63686"/>
            <a:ext cx="3088640" cy="16941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6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Asset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valuations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495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dirty="0">
                <a:latin typeface="Arial MT"/>
                <a:cs typeface="Arial MT"/>
              </a:rPr>
              <a:t>Earnings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valuations</a:t>
            </a:r>
            <a:endParaRPr sz="2400">
              <a:latin typeface="Arial MT"/>
              <a:cs typeface="Arial MT"/>
            </a:endParaRPr>
          </a:p>
          <a:p>
            <a:pPr marL="267970" indent="-255270">
              <a:lnSpc>
                <a:spcPct val="100000"/>
              </a:lnSpc>
              <a:spcBef>
                <a:spcPts val="1500"/>
              </a:spcBef>
              <a:buClr>
                <a:srgbClr val="007EA2"/>
              </a:buClr>
              <a:buChar char="•"/>
              <a:tabLst>
                <a:tab pos="267970" algn="l"/>
              </a:tabLst>
            </a:pPr>
            <a:r>
              <a:rPr sz="2400" spc="-25" dirty="0">
                <a:latin typeface="Arial MT"/>
                <a:cs typeface="Arial MT"/>
              </a:rPr>
              <a:t>Cash-</a:t>
            </a:r>
            <a:r>
              <a:rPr sz="2400" dirty="0">
                <a:latin typeface="Arial MT"/>
                <a:cs typeface="Arial MT"/>
              </a:rPr>
              <a:t>flow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valuations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65" dirty="0"/>
              <a:t> </a:t>
            </a:r>
            <a:r>
              <a:rPr sz="3600" spc="-20" dirty="0"/>
              <a:t>10</a:t>
            </a:r>
            <a:r>
              <a:rPr spc="-20" dirty="0"/>
              <a:t>.1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10195" cy="310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116205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Define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entrepreneurship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why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it’s 	</a:t>
            </a:r>
            <a:r>
              <a:rPr sz="2400" b="1" spc="-10" dirty="0">
                <a:latin typeface="Arial"/>
                <a:cs typeface="Arial"/>
              </a:rPr>
              <a:t>important.</a:t>
            </a:r>
            <a:endParaRPr sz="2400">
              <a:latin typeface="Arial"/>
              <a:cs typeface="Arial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Entrepreneurial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characterized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	</a:t>
            </a:r>
            <a:r>
              <a:rPr sz="2400" dirty="0">
                <a:latin typeface="Arial MT"/>
                <a:cs typeface="Arial MT"/>
              </a:rPr>
              <a:t>innovative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practices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growth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profitability 	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753745" marR="10287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Entrepreneurship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brings 	</a:t>
            </a: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innovative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start-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firms,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jobs.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65" dirty="0"/>
              <a:t> </a:t>
            </a:r>
            <a:r>
              <a:rPr sz="3600" spc="-20" dirty="0"/>
              <a:t>10</a:t>
            </a:r>
            <a:r>
              <a:rPr spc="-20" dirty="0"/>
              <a:t>.2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236584" cy="325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what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entrepreneurs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planning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process 	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new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ventures.</a:t>
            </a:r>
            <a:endParaRPr sz="2400">
              <a:latin typeface="Arial"/>
              <a:cs typeface="Arial"/>
            </a:endParaRPr>
          </a:p>
          <a:p>
            <a:pPr marL="753745" marR="175006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Entrepreneurs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environmental 	opportunities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competitive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advantage</a:t>
            </a:r>
            <a:endParaRPr sz="2400">
              <a:latin typeface="Arial MT"/>
              <a:cs typeface="Arial MT"/>
            </a:endParaRPr>
          </a:p>
          <a:p>
            <a:pPr marL="753745" marR="12369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venture’s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feasibility,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first 	</a:t>
            </a:r>
            <a:r>
              <a:rPr sz="2400" dirty="0">
                <a:latin typeface="Arial MT"/>
                <a:cs typeface="Arial MT"/>
              </a:rPr>
              <a:t>generating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evaluating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ideas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Feasibility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study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plan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65" dirty="0"/>
              <a:t> </a:t>
            </a:r>
            <a:r>
              <a:rPr sz="3600" spc="-20" dirty="0"/>
              <a:t>10</a:t>
            </a:r>
            <a:r>
              <a:rPr spc="-20" dirty="0"/>
              <a:t>.3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8044180" cy="421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285115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six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legal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forms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organization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the 	</a:t>
            </a:r>
            <a:r>
              <a:rPr sz="2400" b="1" dirty="0">
                <a:latin typeface="Arial"/>
                <a:cs typeface="Arial"/>
              </a:rPr>
              <a:t>choice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appropriate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organizational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structure.</a:t>
            </a:r>
            <a:endParaRPr sz="2400">
              <a:latin typeface="Arial"/>
              <a:cs typeface="Arial"/>
            </a:endParaRPr>
          </a:p>
          <a:p>
            <a:pPr marL="753745" marR="50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5650" algn="l"/>
              </a:tabLst>
            </a:pPr>
            <a:r>
              <a:rPr sz="2400" spc="-10" dirty="0">
                <a:latin typeface="Arial MT"/>
                <a:cs typeface="Arial MT"/>
              </a:rPr>
              <a:t>Two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affect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how 	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organize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taxes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liability: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Sole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proprietorship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partnership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liability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partnership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(LL</a:t>
            </a:r>
            <a:r>
              <a:rPr sz="2400" spc="-3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P)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spc="-10" dirty="0">
                <a:latin typeface="Arial MT"/>
                <a:cs typeface="Arial MT"/>
              </a:rPr>
              <a:t>Corporation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corporation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liability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corporation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(LL</a:t>
            </a:r>
            <a:r>
              <a:rPr sz="2400" spc="-3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65" dirty="0"/>
              <a:t> </a:t>
            </a:r>
            <a:r>
              <a:rPr sz="3600" spc="-20" dirty="0"/>
              <a:t>10</a:t>
            </a:r>
            <a:r>
              <a:rPr spc="-20" dirty="0"/>
              <a:t>.4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977808"/>
            <a:ext cx="7237095" cy="3121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700"/>
              </a:spcBef>
              <a:buClr>
                <a:srgbClr val="007EA2"/>
              </a:buClr>
              <a:buFont typeface="Arial MT"/>
              <a:buChar char="•"/>
              <a:tabLst>
                <a:tab pos="267970" algn="l"/>
              </a:tabLst>
            </a:pPr>
            <a:r>
              <a:rPr sz="2400" b="1" dirty="0">
                <a:latin typeface="Arial"/>
                <a:cs typeface="Arial"/>
              </a:rPr>
              <a:t>Describe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how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entrepreneurs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lead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organizations.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Personality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traits: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motivation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spc="-10" dirty="0">
                <a:latin typeface="Arial MT"/>
                <a:cs typeface="Arial MT"/>
              </a:rPr>
              <a:t>Abundance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self-</a:t>
            </a:r>
            <a:r>
              <a:rPr sz="2400" spc="-10" dirty="0">
                <a:latin typeface="Arial MT"/>
                <a:cs typeface="Arial MT"/>
              </a:rPr>
              <a:t>confidence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Ability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term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level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Proactive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personality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14" dirty="0"/>
              <a:t> </a:t>
            </a:r>
            <a:r>
              <a:rPr dirty="0"/>
              <a:t>Learning</a:t>
            </a:r>
            <a:r>
              <a:rPr spc="-110" dirty="0"/>
              <a:t> </a:t>
            </a:r>
            <a:r>
              <a:rPr dirty="0"/>
              <a:t>Objective</a:t>
            </a:r>
            <a:r>
              <a:rPr spc="-65" dirty="0"/>
              <a:t> </a:t>
            </a:r>
            <a:r>
              <a:rPr sz="3600" spc="-20" dirty="0"/>
              <a:t>10</a:t>
            </a:r>
            <a:r>
              <a:rPr spc="-20" dirty="0"/>
              <a:t>.5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Copyright</a:t>
            </a:r>
            <a:r>
              <a:rPr spc="-45" dirty="0"/>
              <a:t> </a:t>
            </a:r>
            <a:r>
              <a:rPr dirty="0"/>
              <a:t>©</a:t>
            </a:r>
            <a:r>
              <a:rPr spc="-40" dirty="0"/>
              <a:t> </a:t>
            </a:r>
            <a:r>
              <a:rPr dirty="0"/>
              <a:t>2021</a:t>
            </a:r>
            <a:r>
              <a:rPr spc="-3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</a:t>
            </a:r>
            <a:r>
              <a:rPr spc="-40" dirty="0"/>
              <a:t> </a:t>
            </a:r>
            <a:r>
              <a:rPr spc="-20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053985"/>
            <a:ext cx="7999730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buClr>
                <a:srgbClr val="007EA2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b="1" dirty="0">
                <a:latin typeface="Arial"/>
                <a:cs typeface="Arial"/>
              </a:rPr>
              <a:t>Explain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how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managers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control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organizations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exit 	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venture.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Managing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growth: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Planning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growth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Organizing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growth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spc="-10" dirty="0">
                <a:latin typeface="Arial MT"/>
                <a:cs typeface="Arial MT"/>
              </a:rPr>
              <a:t>Controlling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growth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Managing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downturns</a:t>
            </a:r>
            <a:endParaRPr sz="2400">
              <a:latin typeface="Arial MT"/>
              <a:cs typeface="Arial MT"/>
            </a:endParaRPr>
          </a:p>
          <a:p>
            <a:pPr marL="754380" lvl="1" indent="-284480">
              <a:lnSpc>
                <a:spcPct val="100000"/>
              </a:lnSpc>
              <a:spcBef>
                <a:spcPts val="610"/>
              </a:spcBef>
              <a:buClr>
                <a:srgbClr val="007EA2"/>
              </a:buClr>
              <a:buChar char="–"/>
              <a:tabLst>
                <a:tab pos="754380" algn="l"/>
              </a:tabLst>
            </a:pPr>
            <a:r>
              <a:rPr sz="2400" dirty="0">
                <a:latin typeface="Arial MT"/>
                <a:cs typeface="Arial MT"/>
              </a:rPr>
              <a:t>Exiting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venture: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spc="-10" dirty="0">
                <a:latin typeface="Arial MT"/>
                <a:cs typeface="Arial MT"/>
              </a:rPr>
              <a:t>Harvesting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600"/>
              </a:spcBef>
              <a:buClr>
                <a:srgbClr val="007EA2"/>
              </a:buClr>
              <a:buFont typeface="Wingdings"/>
              <a:buChar char=""/>
              <a:tabLst>
                <a:tab pos="1155065" algn="l"/>
              </a:tabLst>
            </a:pPr>
            <a:r>
              <a:rPr sz="2400" spc="-25" dirty="0">
                <a:latin typeface="Arial MT"/>
                <a:cs typeface="Arial MT"/>
              </a:rPr>
              <a:t>Valuation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CAC6-F8FB-EA86-F17A-0523F5FC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75590"/>
            <a:ext cx="8255000" cy="1046440"/>
          </a:xfrm>
        </p:spPr>
        <p:txBody>
          <a:bodyPr/>
          <a:lstStyle/>
          <a:p>
            <a:r>
              <a:rPr lang="en-US" dirty="0"/>
              <a:t>Conclusion ….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0C9C0-69C0-6590-66FB-8B04E83E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8255000" cy="3518015"/>
          </a:xfrm>
        </p:spPr>
        <p:txBody>
          <a:bodyPr/>
          <a:lstStyle/>
          <a:p>
            <a:r>
              <a:rPr lang="en-US" dirty="0"/>
              <a:t>Despite economic and structural challenges, Pakistan has strong entrepreneurial potential due to its youth population, growing digital economy, and industrial capabilities.</a:t>
            </a:r>
          </a:p>
        </p:txBody>
      </p:sp>
    </p:spTree>
    <p:extLst>
      <p:ext uri="{BB962C8B-B14F-4D97-AF65-F5344CB8AC3E}">
        <p14:creationId xmlns:p14="http://schemas.microsoft.com/office/powerpoint/2010/main" val="734956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0072-C8B8-FC0B-B030-B97CCD33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Digital Pakistan is our Goal.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7E750-2433-092A-EEC2-EAD64C738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8ED75-051D-EB95-CE6E-542788570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7801659" cy="556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2572</Words>
  <Application>Microsoft Office PowerPoint</Application>
  <PresentationFormat>On-screen Show (4:3)</PresentationFormat>
  <Paragraphs>422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Arial MT</vt:lpstr>
      <vt:lpstr>Times New Roman</vt:lpstr>
      <vt:lpstr>Verdana</vt:lpstr>
      <vt:lpstr>Wingdings</vt:lpstr>
      <vt:lpstr>Office Theme</vt:lpstr>
      <vt:lpstr>Management</vt:lpstr>
      <vt:lpstr>Entrepreneurial Ventures </vt:lpstr>
      <vt:lpstr>Entrepreneurial Ventures </vt:lpstr>
      <vt:lpstr>PowerPoint Presentation</vt:lpstr>
      <vt:lpstr>Learning Objectives</vt:lpstr>
      <vt:lpstr>What is Entrepreneurship?</vt:lpstr>
      <vt:lpstr>Class Discussion??? Would this Work?</vt:lpstr>
      <vt:lpstr>Class Discussion??? Would this Work?</vt:lpstr>
      <vt:lpstr>Small Business Versus Entrepreneurship</vt:lpstr>
      <vt:lpstr>Entrepreneurship Versus Self-Employment?</vt:lpstr>
      <vt:lpstr>Small Business Versus Entrepreneurship</vt:lpstr>
      <vt:lpstr>Why is Entrepreneurship Important?</vt:lpstr>
      <vt:lpstr>The Entrepreneurial Process</vt:lpstr>
      <vt:lpstr>What Do Entrepreneurs Do?</vt:lpstr>
      <vt:lpstr>A Hybrid Path to Entrepreneurship</vt:lpstr>
      <vt:lpstr>Identifying Environmental Opportunities and Competitive Advantage</vt:lpstr>
      <vt:lpstr>Researching the Venture’s Feasibility—Ideas</vt:lpstr>
      <vt:lpstr>Exhibit 10.1 Evaluating Potential Ideas</vt:lpstr>
      <vt:lpstr>Feasibility Study</vt:lpstr>
      <vt:lpstr>Researching the Venture’s Feasibility—Competitors</vt:lpstr>
      <vt:lpstr>Researching the Venture’s Feasibility—Financing</vt:lpstr>
      <vt:lpstr>Developing a Business Plan</vt:lpstr>
      <vt:lpstr>Business Plan—Major Areas</vt:lpstr>
      <vt:lpstr>Legal Forms of Organization (1 of 3)</vt:lpstr>
      <vt:lpstr>Legal Forms of Organization (2 of 3)</vt:lpstr>
      <vt:lpstr>Legal Forms of Organization (3 of 3)</vt:lpstr>
      <vt:lpstr>Exhibit 10.2 Legal Forms of Business Ownership (1 of 3)</vt:lpstr>
      <vt:lpstr>Exhibit 10.2 Legal Forms of Business Ownership (2 of 3)</vt:lpstr>
      <vt:lpstr>Exhibit 10.2 Legal Forms of Business Ownership (3 of 3)</vt:lpstr>
      <vt:lpstr>Organizational Design and Structure</vt:lpstr>
      <vt:lpstr>Human Resource Management</vt:lpstr>
      <vt:lpstr>Personality Characteristics of Entrepreneurs</vt:lpstr>
      <vt:lpstr>Motivating Employees Through Empowerment</vt:lpstr>
      <vt:lpstr>The Entrepreneur as Leader</vt:lpstr>
      <vt:lpstr>Exhibit 10.3 Strengths of Entrepreneurs</vt:lpstr>
      <vt:lpstr>Venture Stages and Leadership Needs</vt:lpstr>
      <vt:lpstr>Potential Control Problems and Actions</vt:lpstr>
      <vt:lpstr>Exiting the Venture</vt:lpstr>
      <vt:lpstr>Five Exit Options</vt:lpstr>
      <vt:lpstr>Business Valuation Methods</vt:lpstr>
      <vt:lpstr>Review Learning Objective 10.1</vt:lpstr>
      <vt:lpstr>Review Learning Objective 10.2</vt:lpstr>
      <vt:lpstr>Review Learning Objective 10.3</vt:lpstr>
      <vt:lpstr>Review Learning Objective 10.4</vt:lpstr>
      <vt:lpstr>Review Learning Objective 10.5</vt:lpstr>
      <vt:lpstr>Conclusion …. </vt:lpstr>
      <vt:lpstr> Digital Pakistan is our Goal.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Management, Fifteenth Edition, Chapter 10, Entrepreneurial Ventures</dc:title>
  <dc:creator>Stephen P. Robbins and Mary Coulter</dc:creator>
  <cp:keywords>Management</cp:keywords>
  <cp:lastModifiedBy>Dr Samad Baseer</cp:lastModifiedBy>
  <cp:revision>3</cp:revision>
  <dcterms:created xsi:type="dcterms:W3CDTF">2026-05-20T19:58:49Z</dcterms:created>
  <dcterms:modified xsi:type="dcterms:W3CDTF">2026-05-20T21:47:00Z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2023-05-07T00:00:00Z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7.2</vt:lpwstr>
  </property>
  <property fmtid="{D5CDD505-2E9C-101B-9397-08002B2CF9AE}" pid="6" name="LastSaved">
    <vt:filetime>2023-05-07T00:00:00Z</vt:filetime>
  </property>
</Properties>
</file>