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73" r:id="rId6"/>
    <p:sldId id="274" r:id="rId7"/>
    <p:sldId id="302" r:id="rId8"/>
    <p:sldId id="275" r:id="rId9"/>
    <p:sldId id="303" r:id="rId10"/>
    <p:sldId id="304" r:id="rId11"/>
    <p:sldId id="276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9" r:id="rId23"/>
    <p:sldId id="292" r:id="rId24"/>
    <p:sldId id="293" r:id="rId25"/>
    <p:sldId id="296" r:id="rId26"/>
    <p:sldId id="298" r:id="rId27"/>
    <p:sldId id="299" r:id="rId28"/>
    <p:sldId id="300" r:id="rId29"/>
    <p:sldId id="301" r:id="rId30"/>
    <p:sldId id="305" r:id="rId3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37AC48-C458-46A0-B4C0-AB0DFE353F7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26051F-EDF8-4843-B859-5F87BDDC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38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6051F-EDF8-4843-B859-5F87BDDC4D6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068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07EA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9525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50" dirty="0"/>
              <a:t> </a:t>
            </a:r>
            <a:r>
              <a:rPr dirty="0"/>
              <a:t>Education</a:t>
            </a:r>
            <a:r>
              <a:rPr spc="-50" dirty="0"/>
              <a:t> </a:t>
            </a:r>
            <a:r>
              <a:rPr spc="-20" dirty="0"/>
              <a:t>Ltd.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07EA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9525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50" dirty="0"/>
              <a:t> </a:t>
            </a:r>
            <a:r>
              <a:rPr dirty="0"/>
              <a:t>Education</a:t>
            </a:r>
            <a:r>
              <a:rPr spc="-50" dirty="0"/>
              <a:t> </a:t>
            </a:r>
            <a:r>
              <a:rPr spc="-20" dirty="0"/>
              <a:t>Ltd.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07EA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9525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50" dirty="0"/>
              <a:t> </a:t>
            </a:r>
            <a:r>
              <a:rPr dirty="0"/>
              <a:t>Education</a:t>
            </a:r>
            <a:r>
              <a:rPr spc="-50" dirty="0"/>
              <a:t> </a:t>
            </a:r>
            <a:r>
              <a:rPr spc="-20" dirty="0"/>
              <a:t>Ltd.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07EA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9525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50" dirty="0"/>
              <a:t> </a:t>
            </a:r>
            <a:r>
              <a:rPr dirty="0"/>
              <a:t>Education</a:t>
            </a:r>
            <a:r>
              <a:rPr spc="-50" dirty="0"/>
              <a:t> </a:t>
            </a:r>
            <a:r>
              <a:rPr spc="-20" dirty="0"/>
              <a:t>Ltd.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9525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50" dirty="0"/>
              <a:t> </a:t>
            </a:r>
            <a:r>
              <a:rPr dirty="0"/>
              <a:t>Education</a:t>
            </a:r>
            <a:r>
              <a:rPr spc="-5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47166" y="6490080"/>
            <a:ext cx="82550" cy="93345"/>
          </a:xfrm>
          <a:custGeom>
            <a:avLst/>
            <a:gdLst/>
            <a:ahLst/>
            <a:cxnLst/>
            <a:rect l="l" t="t" r="r" b="b"/>
            <a:pathLst>
              <a:path w="82550" h="93345">
                <a:moveTo>
                  <a:pt x="57546" y="5041"/>
                </a:moveTo>
                <a:lnTo>
                  <a:pt x="36360" y="5041"/>
                </a:lnTo>
                <a:lnTo>
                  <a:pt x="43388" y="6251"/>
                </a:lnTo>
                <a:lnTo>
                  <a:pt x="48326" y="10126"/>
                </a:lnTo>
                <a:lnTo>
                  <a:pt x="51240" y="17038"/>
                </a:lnTo>
                <a:lnTo>
                  <a:pt x="52096" y="26276"/>
                </a:lnTo>
                <a:lnTo>
                  <a:pt x="52196" y="39598"/>
                </a:lnTo>
                <a:lnTo>
                  <a:pt x="49314" y="39598"/>
                </a:lnTo>
                <a:lnTo>
                  <a:pt x="47155" y="40678"/>
                </a:lnTo>
                <a:lnTo>
                  <a:pt x="3949" y="55803"/>
                </a:lnTo>
                <a:lnTo>
                  <a:pt x="0" y="63004"/>
                </a:lnTo>
                <a:lnTo>
                  <a:pt x="0" y="71996"/>
                </a:lnTo>
                <a:lnTo>
                  <a:pt x="1235" y="79570"/>
                </a:lnTo>
                <a:lnTo>
                  <a:pt x="5305" y="86401"/>
                </a:lnTo>
                <a:lnTo>
                  <a:pt x="12899" y="91440"/>
                </a:lnTo>
                <a:lnTo>
                  <a:pt x="13339" y="91440"/>
                </a:lnTo>
                <a:lnTo>
                  <a:pt x="24117" y="93243"/>
                </a:lnTo>
                <a:lnTo>
                  <a:pt x="31487" y="92298"/>
                </a:lnTo>
                <a:lnTo>
                  <a:pt x="38557" y="89461"/>
                </a:lnTo>
                <a:lnTo>
                  <a:pt x="45427" y="84735"/>
                </a:lnTo>
                <a:lnTo>
                  <a:pt x="45934" y="84239"/>
                </a:lnTo>
                <a:lnTo>
                  <a:pt x="21234" y="84239"/>
                </a:lnTo>
                <a:lnTo>
                  <a:pt x="19075" y="74879"/>
                </a:lnTo>
                <a:lnTo>
                  <a:pt x="19075" y="68033"/>
                </a:lnTo>
                <a:lnTo>
                  <a:pt x="20859" y="60552"/>
                </a:lnTo>
                <a:lnTo>
                  <a:pt x="26592" y="54586"/>
                </a:lnTo>
                <a:lnTo>
                  <a:pt x="36847" y="49765"/>
                </a:lnTo>
                <a:lnTo>
                  <a:pt x="52196" y="45720"/>
                </a:lnTo>
                <a:lnTo>
                  <a:pt x="69468" y="45720"/>
                </a:lnTo>
                <a:lnTo>
                  <a:pt x="69468" y="27355"/>
                </a:lnTo>
                <a:lnTo>
                  <a:pt x="67394" y="15489"/>
                </a:lnTo>
                <a:lnTo>
                  <a:pt x="61237" y="6929"/>
                </a:lnTo>
                <a:lnTo>
                  <a:pt x="57546" y="5041"/>
                </a:lnTo>
                <a:close/>
              </a:path>
              <a:path w="82550" h="93345">
                <a:moveTo>
                  <a:pt x="69468" y="78117"/>
                </a:moveTo>
                <a:lnTo>
                  <a:pt x="52196" y="78117"/>
                </a:lnTo>
                <a:lnTo>
                  <a:pt x="52736" y="83159"/>
                </a:lnTo>
                <a:lnTo>
                  <a:pt x="52852" y="84239"/>
                </a:lnTo>
                <a:lnTo>
                  <a:pt x="52967" y="85318"/>
                </a:lnTo>
                <a:lnTo>
                  <a:pt x="53083" y="86401"/>
                </a:lnTo>
                <a:lnTo>
                  <a:pt x="53160" y="87122"/>
                </a:lnTo>
                <a:lnTo>
                  <a:pt x="53276" y="88201"/>
                </a:lnTo>
                <a:lnTo>
                  <a:pt x="57238" y="92163"/>
                </a:lnTo>
                <a:lnTo>
                  <a:pt x="72351" y="92163"/>
                </a:lnTo>
                <a:lnTo>
                  <a:pt x="75590" y="91440"/>
                </a:lnTo>
                <a:lnTo>
                  <a:pt x="80632" y="89281"/>
                </a:lnTo>
                <a:lnTo>
                  <a:pt x="81356" y="89281"/>
                </a:lnTo>
                <a:lnTo>
                  <a:pt x="82435" y="87122"/>
                </a:lnTo>
                <a:lnTo>
                  <a:pt x="81360" y="86401"/>
                </a:lnTo>
                <a:lnTo>
                  <a:pt x="81356" y="85318"/>
                </a:lnTo>
                <a:lnTo>
                  <a:pt x="74510" y="85318"/>
                </a:lnTo>
                <a:lnTo>
                  <a:pt x="72351" y="84239"/>
                </a:lnTo>
                <a:lnTo>
                  <a:pt x="70548" y="83159"/>
                </a:lnTo>
                <a:lnTo>
                  <a:pt x="69468" y="80276"/>
                </a:lnTo>
                <a:lnTo>
                  <a:pt x="69468" y="78117"/>
                </a:lnTo>
                <a:close/>
              </a:path>
              <a:path w="82550" h="93345">
                <a:moveTo>
                  <a:pt x="69468" y="45720"/>
                </a:moveTo>
                <a:lnTo>
                  <a:pt x="52196" y="45720"/>
                </a:lnTo>
                <a:lnTo>
                  <a:pt x="52196" y="71996"/>
                </a:lnTo>
                <a:lnTo>
                  <a:pt x="49314" y="74879"/>
                </a:lnTo>
                <a:lnTo>
                  <a:pt x="42113" y="84239"/>
                </a:lnTo>
                <a:lnTo>
                  <a:pt x="45934" y="84239"/>
                </a:lnTo>
                <a:lnTo>
                  <a:pt x="52196" y="78117"/>
                </a:lnTo>
                <a:lnTo>
                  <a:pt x="69468" y="78117"/>
                </a:lnTo>
                <a:lnTo>
                  <a:pt x="69468" y="45720"/>
                </a:lnTo>
                <a:close/>
              </a:path>
              <a:path w="82550" h="93345">
                <a:moveTo>
                  <a:pt x="37071" y="0"/>
                </a:moveTo>
                <a:lnTo>
                  <a:pt x="22806" y="1743"/>
                </a:lnTo>
                <a:lnTo>
                  <a:pt x="23418" y="1743"/>
                </a:lnTo>
                <a:lnTo>
                  <a:pt x="12817" y="6075"/>
                </a:lnTo>
                <a:lnTo>
                  <a:pt x="5531" y="12606"/>
                </a:lnTo>
                <a:lnTo>
                  <a:pt x="2870" y="20523"/>
                </a:lnTo>
                <a:lnTo>
                  <a:pt x="2870" y="26276"/>
                </a:lnTo>
                <a:lnTo>
                  <a:pt x="7188" y="31318"/>
                </a:lnTo>
                <a:lnTo>
                  <a:pt x="12230" y="31318"/>
                </a:lnTo>
                <a:lnTo>
                  <a:pt x="15112" y="32397"/>
                </a:lnTo>
                <a:lnTo>
                  <a:pt x="19075" y="30594"/>
                </a:lnTo>
                <a:lnTo>
                  <a:pt x="26276" y="23393"/>
                </a:lnTo>
                <a:lnTo>
                  <a:pt x="25196" y="17284"/>
                </a:lnTo>
                <a:lnTo>
                  <a:pt x="20184" y="10126"/>
                </a:lnTo>
                <a:lnTo>
                  <a:pt x="23037" y="7200"/>
                </a:lnTo>
                <a:lnTo>
                  <a:pt x="29159" y="5041"/>
                </a:lnTo>
                <a:lnTo>
                  <a:pt x="57546" y="5041"/>
                </a:lnTo>
                <a:lnTo>
                  <a:pt x="51097" y="1743"/>
                </a:lnTo>
                <a:lnTo>
                  <a:pt x="37071" y="0"/>
                </a:lnTo>
                <a:close/>
              </a:path>
            </a:pathLst>
          </a:custGeom>
          <a:solidFill>
            <a:srgbClr val="3D3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84757" y="6489001"/>
            <a:ext cx="89535" cy="94615"/>
          </a:xfrm>
          <a:custGeom>
            <a:avLst/>
            <a:gdLst/>
            <a:ahLst/>
            <a:cxnLst/>
            <a:rect l="l" t="t" r="r" b="b"/>
            <a:pathLst>
              <a:path w="89534" h="94615">
                <a:moveTo>
                  <a:pt x="44284" y="0"/>
                </a:moveTo>
                <a:lnTo>
                  <a:pt x="27035" y="3785"/>
                </a:lnTo>
                <a:lnTo>
                  <a:pt x="12960" y="14085"/>
                </a:lnTo>
                <a:lnTo>
                  <a:pt x="3476" y="29312"/>
                </a:lnTo>
                <a:lnTo>
                  <a:pt x="0" y="47879"/>
                </a:lnTo>
                <a:lnTo>
                  <a:pt x="3376" y="66221"/>
                </a:lnTo>
                <a:lnTo>
                  <a:pt x="12693" y="80954"/>
                </a:lnTo>
                <a:lnTo>
                  <a:pt x="26735" y="90761"/>
                </a:lnTo>
                <a:lnTo>
                  <a:pt x="44284" y="94322"/>
                </a:lnTo>
                <a:lnTo>
                  <a:pt x="60579" y="90997"/>
                </a:lnTo>
                <a:lnTo>
                  <a:pt x="63187" y="89281"/>
                </a:lnTo>
                <a:lnTo>
                  <a:pt x="45364" y="89281"/>
                </a:lnTo>
                <a:lnTo>
                  <a:pt x="34077" y="86760"/>
                </a:lnTo>
                <a:lnTo>
                  <a:pt x="26100" y="79109"/>
                </a:lnTo>
                <a:lnTo>
                  <a:pt x="21485" y="66526"/>
                </a:lnTo>
                <a:lnTo>
                  <a:pt x="21373" y="66221"/>
                </a:lnTo>
                <a:lnTo>
                  <a:pt x="19799" y="47879"/>
                </a:lnTo>
                <a:lnTo>
                  <a:pt x="22038" y="25390"/>
                </a:lnTo>
                <a:lnTo>
                  <a:pt x="27720" y="12420"/>
                </a:lnTo>
                <a:lnTo>
                  <a:pt x="35294" y="6470"/>
                </a:lnTo>
                <a:lnTo>
                  <a:pt x="43205" y="5041"/>
                </a:lnTo>
                <a:lnTo>
                  <a:pt x="63731" y="5041"/>
                </a:lnTo>
                <a:lnTo>
                  <a:pt x="61969" y="3785"/>
                </a:lnTo>
                <a:lnTo>
                  <a:pt x="44284" y="0"/>
                </a:lnTo>
                <a:close/>
              </a:path>
              <a:path w="89534" h="94615">
                <a:moveTo>
                  <a:pt x="63731" y="5041"/>
                </a:moveTo>
                <a:lnTo>
                  <a:pt x="43205" y="5041"/>
                </a:lnTo>
                <a:lnTo>
                  <a:pt x="54447" y="7736"/>
                </a:lnTo>
                <a:lnTo>
                  <a:pt x="62687" y="15797"/>
                </a:lnTo>
                <a:lnTo>
                  <a:pt x="67629" y="28857"/>
                </a:lnTo>
                <a:lnTo>
                  <a:pt x="67766" y="29312"/>
                </a:lnTo>
                <a:lnTo>
                  <a:pt x="69381" y="46799"/>
                </a:lnTo>
                <a:lnTo>
                  <a:pt x="69481" y="47879"/>
                </a:lnTo>
                <a:lnTo>
                  <a:pt x="67930" y="66221"/>
                </a:lnTo>
                <a:lnTo>
                  <a:pt x="63361" y="79109"/>
                </a:lnTo>
                <a:lnTo>
                  <a:pt x="55813" y="86760"/>
                </a:lnTo>
                <a:lnTo>
                  <a:pt x="45364" y="89281"/>
                </a:lnTo>
                <a:lnTo>
                  <a:pt x="63187" y="89281"/>
                </a:lnTo>
                <a:lnTo>
                  <a:pt x="75017" y="81495"/>
                </a:lnTo>
                <a:lnTo>
                  <a:pt x="85338" y="66526"/>
                </a:lnTo>
                <a:lnTo>
                  <a:pt x="89281" y="46799"/>
                </a:lnTo>
                <a:lnTo>
                  <a:pt x="85882" y="29312"/>
                </a:lnTo>
                <a:lnTo>
                  <a:pt x="85793" y="28857"/>
                </a:lnTo>
                <a:lnTo>
                  <a:pt x="76318" y="14085"/>
                </a:lnTo>
                <a:lnTo>
                  <a:pt x="76231" y="13950"/>
                </a:lnTo>
                <a:lnTo>
                  <a:pt x="63731" y="5041"/>
                </a:lnTo>
                <a:close/>
              </a:path>
            </a:pathLst>
          </a:custGeom>
          <a:solidFill>
            <a:srgbClr val="3D3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50963" y="6453720"/>
            <a:ext cx="185420" cy="130175"/>
          </a:xfrm>
          <a:custGeom>
            <a:avLst/>
            <a:gdLst/>
            <a:ahLst/>
            <a:cxnLst/>
            <a:rect l="l" t="t" r="r" b="b"/>
            <a:pathLst>
              <a:path w="185419" h="130175">
                <a:moveTo>
                  <a:pt x="106553" y="37439"/>
                </a:moveTo>
                <a:lnTo>
                  <a:pt x="101600" y="18834"/>
                </a:lnTo>
                <a:lnTo>
                  <a:pt x="88811" y="7391"/>
                </a:lnTo>
                <a:lnTo>
                  <a:pt x="85001" y="6121"/>
                </a:lnTo>
                <a:lnTo>
                  <a:pt x="84594" y="5994"/>
                </a:lnTo>
                <a:lnTo>
                  <a:pt x="84594" y="37439"/>
                </a:lnTo>
                <a:lnTo>
                  <a:pt x="83439" y="50850"/>
                </a:lnTo>
                <a:lnTo>
                  <a:pt x="83375" y="51638"/>
                </a:lnTo>
                <a:lnTo>
                  <a:pt x="78651" y="62153"/>
                </a:lnTo>
                <a:lnTo>
                  <a:pt x="68795" y="68681"/>
                </a:lnTo>
                <a:lnTo>
                  <a:pt x="52197" y="70916"/>
                </a:lnTo>
                <a:lnTo>
                  <a:pt x="38150" y="70916"/>
                </a:lnTo>
                <a:lnTo>
                  <a:pt x="38150" y="6121"/>
                </a:lnTo>
                <a:lnTo>
                  <a:pt x="53276" y="6121"/>
                </a:lnTo>
                <a:lnTo>
                  <a:pt x="69710" y="8890"/>
                </a:lnTo>
                <a:lnTo>
                  <a:pt x="79184" y="16116"/>
                </a:lnTo>
                <a:lnTo>
                  <a:pt x="83540" y="26174"/>
                </a:lnTo>
                <a:lnTo>
                  <a:pt x="84594" y="37439"/>
                </a:lnTo>
                <a:lnTo>
                  <a:pt x="84594" y="5994"/>
                </a:lnTo>
                <a:lnTo>
                  <a:pt x="78473" y="3962"/>
                </a:lnTo>
                <a:lnTo>
                  <a:pt x="71310" y="1600"/>
                </a:lnTo>
                <a:lnTo>
                  <a:pt x="52197" y="0"/>
                </a:lnTo>
                <a:lnTo>
                  <a:pt x="1079" y="0"/>
                </a:lnTo>
                <a:lnTo>
                  <a:pt x="0" y="1079"/>
                </a:lnTo>
                <a:lnTo>
                  <a:pt x="0" y="3962"/>
                </a:lnTo>
                <a:lnTo>
                  <a:pt x="1079" y="5041"/>
                </a:lnTo>
                <a:lnTo>
                  <a:pt x="6121" y="6121"/>
                </a:lnTo>
                <a:lnTo>
                  <a:pt x="17995" y="3962"/>
                </a:lnTo>
                <a:lnTo>
                  <a:pt x="17995" y="117716"/>
                </a:lnTo>
                <a:lnTo>
                  <a:pt x="15113" y="122758"/>
                </a:lnTo>
                <a:lnTo>
                  <a:pt x="1079" y="123482"/>
                </a:lnTo>
                <a:lnTo>
                  <a:pt x="0" y="123482"/>
                </a:lnTo>
                <a:lnTo>
                  <a:pt x="0" y="127800"/>
                </a:lnTo>
                <a:lnTo>
                  <a:pt x="1079" y="128524"/>
                </a:lnTo>
                <a:lnTo>
                  <a:pt x="57238" y="128524"/>
                </a:lnTo>
                <a:lnTo>
                  <a:pt x="57238" y="123482"/>
                </a:lnTo>
                <a:lnTo>
                  <a:pt x="56515" y="123482"/>
                </a:lnTo>
                <a:lnTo>
                  <a:pt x="41402" y="122758"/>
                </a:lnTo>
                <a:lnTo>
                  <a:pt x="38150" y="118440"/>
                </a:lnTo>
                <a:lnTo>
                  <a:pt x="38150" y="77038"/>
                </a:lnTo>
                <a:lnTo>
                  <a:pt x="51473" y="77038"/>
                </a:lnTo>
                <a:lnTo>
                  <a:pt x="64998" y="76250"/>
                </a:lnTo>
                <a:lnTo>
                  <a:pt x="76847" y="73888"/>
                </a:lnTo>
                <a:lnTo>
                  <a:pt x="84556" y="70916"/>
                </a:lnTo>
                <a:lnTo>
                  <a:pt x="86804" y="70053"/>
                </a:lnTo>
                <a:lnTo>
                  <a:pt x="94678" y="64795"/>
                </a:lnTo>
                <a:lnTo>
                  <a:pt x="100787" y="57899"/>
                </a:lnTo>
                <a:lnTo>
                  <a:pt x="104394" y="50850"/>
                </a:lnTo>
                <a:lnTo>
                  <a:pt x="106108" y="43954"/>
                </a:lnTo>
                <a:lnTo>
                  <a:pt x="106553" y="37439"/>
                </a:lnTo>
                <a:close/>
              </a:path>
              <a:path w="185419" h="130175">
                <a:moveTo>
                  <a:pt x="185089" y="67652"/>
                </a:moveTo>
                <a:lnTo>
                  <a:pt x="165950" y="39357"/>
                </a:lnTo>
                <a:lnTo>
                  <a:pt x="165950" y="70916"/>
                </a:lnTo>
                <a:lnTo>
                  <a:pt x="125996" y="70916"/>
                </a:lnTo>
                <a:lnTo>
                  <a:pt x="128346" y="57937"/>
                </a:lnTo>
                <a:lnTo>
                  <a:pt x="132651" y="48336"/>
                </a:lnTo>
                <a:lnTo>
                  <a:pt x="138734" y="42481"/>
                </a:lnTo>
                <a:lnTo>
                  <a:pt x="138404" y="42481"/>
                </a:lnTo>
                <a:lnTo>
                  <a:pt x="146875" y="40322"/>
                </a:lnTo>
                <a:lnTo>
                  <a:pt x="152996" y="40322"/>
                </a:lnTo>
                <a:lnTo>
                  <a:pt x="165950" y="70916"/>
                </a:lnTo>
                <a:lnTo>
                  <a:pt x="165950" y="39357"/>
                </a:lnTo>
                <a:lnTo>
                  <a:pt x="164020" y="38303"/>
                </a:lnTo>
                <a:lnTo>
                  <a:pt x="156540" y="36068"/>
                </a:lnTo>
                <a:lnTo>
                  <a:pt x="147955" y="35280"/>
                </a:lnTo>
                <a:lnTo>
                  <a:pt x="131597" y="39090"/>
                </a:lnTo>
                <a:lnTo>
                  <a:pt x="118071" y="49504"/>
                </a:lnTo>
                <a:lnTo>
                  <a:pt x="108864" y="65049"/>
                </a:lnTo>
                <a:lnTo>
                  <a:pt x="105473" y="84239"/>
                </a:lnTo>
                <a:lnTo>
                  <a:pt x="108712" y="102412"/>
                </a:lnTo>
                <a:lnTo>
                  <a:pt x="117665" y="116776"/>
                </a:lnTo>
                <a:lnTo>
                  <a:pt x="131140" y="126212"/>
                </a:lnTo>
                <a:lnTo>
                  <a:pt x="147955" y="129603"/>
                </a:lnTo>
                <a:lnTo>
                  <a:pt x="161899" y="127584"/>
                </a:lnTo>
                <a:lnTo>
                  <a:pt x="172300" y="122364"/>
                </a:lnTo>
                <a:lnTo>
                  <a:pt x="174129" y="120599"/>
                </a:lnTo>
                <a:lnTo>
                  <a:pt x="179793" y="115176"/>
                </a:lnTo>
                <a:lnTo>
                  <a:pt x="185039" y="107276"/>
                </a:lnTo>
                <a:lnTo>
                  <a:pt x="185039" y="105473"/>
                </a:lnTo>
                <a:lnTo>
                  <a:pt x="184315" y="105473"/>
                </a:lnTo>
                <a:lnTo>
                  <a:pt x="184315" y="104394"/>
                </a:lnTo>
                <a:lnTo>
                  <a:pt x="182156" y="104394"/>
                </a:lnTo>
                <a:lnTo>
                  <a:pt x="181076" y="105473"/>
                </a:lnTo>
                <a:lnTo>
                  <a:pt x="175348" y="111645"/>
                </a:lnTo>
                <a:lnTo>
                  <a:pt x="169595" y="116420"/>
                </a:lnTo>
                <a:lnTo>
                  <a:pt x="163093" y="119507"/>
                </a:lnTo>
                <a:lnTo>
                  <a:pt x="155155" y="120599"/>
                </a:lnTo>
                <a:lnTo>
                  <a:pt x="144348" y="118579"/>
                </a:lnTo>
                <a:lnTo>
                  <a:pt x="134632" y="112014"/>
                </a:lnTo>
                <a:lnTo>
                  <a:pt x="127609" y="100101"/>
                </a:lnTo>
                <a:lnTo>
                  <a:pt x="124917" y="82080"/>
                </a:lnTo>
                <a:lnTo>
                  <a:pt x="124917" y="77038"/>
                </a:lnTo>
                <a:lnTo>
                  <a:pt x="185039" y="77038"/>
                </a:lnTo>
                <a:lnTo>
                  <a:pt x="185077" y="70916"/>
                </a:lnTo>
                <a:lnTo>
                  <a:pt x="185089" y="67652"/>
                </a:lnTo>
                <a:close/>
              </a:path>
            </a:pathLst>
          </a:custGeom>
          <a:solidFill>
            <a:srgbClr val="3D3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37882" y="6489001"/>
            <a:ext cx="137160" cy="94615"/>
          </a:xfrm>
          <a:custGeom>
            <a:avLst/>
            <a:gdLst/>
            <a:ahLst/>
            <a:cxnLst/>
            <a:rect l="l" t="t" r="r" b="b"/>
            <a:pathLst>
              <a:path w="137159" h="94615">
                <a:moveTo>
                  <a:pt x="67322" y="8280"/>
                </a:moveTo>
                <a:lnTo>
                  <a:pt x="63360" y="1079"/>
                </a:lnTo>
                <a:lnTo>
                  <a:pt x="52197" y="1079"/>
                </a:lnTo>
                <a:lnTo>
                  <a:pt x="44945" y="2159"/>
                </a:lnTo>
                <a:lnTo>
                  <a:pt x="45415" y="2159"/>
                </a:lnTo>
                <a:lnTo>
                  <a:pt x="39319" y="5130"/>
                </a:lnTo>
                <a:lnTo>
                  <a:pt x="33159" y="10502"/>
                </a:lnTo>
                <a:lnTo>
                  <a:pt x="27000" y="18364"/>
                </a:lnTo>
                <a:lnTo>
                  <a:pt x="27000" y="3238"/>
                </a:lnTo>
                <a:lnTo>
                  <a:pt x="25920" y="2159"/>
                </a:lnTo>
                <a:lnTo>
                  <a:pt x="1079" y="2159"/>
                </a:lnTo>
                <a:lnTo>
                  <a:pt x="0" y="3238"/>
                </a:lnTo>
                <a:lnTo>
                  <a:pt x="0" y="6121"/>
                </a:lnTo>
                <a:lnTo>
                  <a:pt x="1079" y="7200"/>
                </a:lnTo>
                <a:lnTo>
                  <a:pt x="8991" y="8280"/>
                </a:lnTo>
                <a:lnTo>
                  <a:pt x="9715" y="11163"/>
                </a:lnTo>
                <a:lnTo>
                  <a:pt x="9715" y="86398"/>
                </a:lnTo>
                <a:lnTo>
                  <a:pt x="8991" y="88201"/>
                </a:lnTo>
                <a:lnTo>
                  <a:pt x="1803" y="88201"/>
                </a:lnTo>
                <a:lnTo>
                  <a:pt x="0" y="89281"/>
                </a:lnTo>
                <a:lnTo>
                  <a:pt x="0" y="92519"/>
                </a:lnTo>
                <a:lnTo>
                  <a:pt x="1079" y="93243"/>
                </a:lnTo>
                <a:lnTo>
                  <a:pt x="39954" y="93243"/>
                </a:lnTo>
                <a:lnTo>
                  <a:pt x="39954" y="89281"/>
                </a:lnTo>
                <a:lnTo>
                  <a:pt x="39243" y="89281"/>
                </a:lnTo>
                <a:lnTo>
                  <a:pt x="30238" y="88201"/>
                </a:lnTo>
                <a:lnTo>
                  <a:pt x="28079" y="87477"/>
                </a:lnTo>
                <a:lnTo>
                  <a:pt x="28079" y="27355"/>
                </a:lnTo>
                <a:lnTo>
                  <a:pt x="33540" y="18364"/>
                </a:lnTo>
                <a:lnTo>
                  <a:pt x="34201" y="17284"/>
                </a:lnTo>
                <a:lnTo>
                  <a:pt x="38163" y="12242"/>
                </a:lnTo>
                <a:lnTo>
                  <a:pt x="45808" y="10502"/>
                </a:lnTo>
                <a:lnTo>
                  <a:pt x="45986" y="10502"/>
                </a:lnTo>
                <a:lnTo>
                  <a:pt x="44996" y="11163"/>
                </a:lnTo>
                <a:lnTo>
                  <a:pt x="44996" y="21602"/>
                </a:lnTo>
                <a:lnTo>
                  <a:pt x="50038" y="25552"/>
                </a:lnTo>
                <a:lnTo>
                  <a:pt x="63360" y="25552"/>
                </a:lnTo>
                <a:lnTo>
                  <a:pt x="67322" y="21602"/>
                </a:lnTo>
                <a:lnTo>
                  <a:pt x="67322" y="10502"/>
                </a:lnTo>
                <a:lnTo>
                  <a:pt x="67322" y="8280"/>
                </a:lnTo>
                <a:close/>
              </a:path>
              <a:path w="137159" h="94615">
                <a:moveTo>
                  <a:pt x="136791" y="64084"/>
                </a:moveTo>
                <a:lnTo>
                  <a:pt x="109435" y="36715"/>
                </a:lnTo>
                <a:lnTo>
                  <a:pt x="108356" y="36715"/>
                </a:lnTo>
                <a:lnTo>
                  <a:pt x="98234" y="33324"/>
                </a:lnTo>
                <a:lnTo>
                  <a:pt x="91427" y="29565"/>
                </a:lnTo>
                <a:lnTo>
                  <a:pt x="87591" y="25336"/>
                </a:lnTo>
                <a:lnTo>
                  <a:pt x="86398" y="20523"/>
                </a:lnTo>
                <a:lnTo>
                  <a:pt x="86398" y="11163"/>
                </a:lnTo>
                <a:lnTo>
                  <a:pt x="92519" y="5041"/>
                </a:lnTo>
                <a:lnTo>
                  <a:pt x="102603" y="5041"/>
                </a:lnTo>
                <a:lnTo>
                  <a:pt x="128524" y="29565"/>
                </a:lnTo>
                <a:lnTo>
                  <a:pt x="128524" y="30594"/>
                </a:lnTo>
                <a:lnTo>
                  <a:pt x="131762" y="30594"/>
                </a:lnTo>
                <a:lnTo>
                  <a:pt x="132791" y="29565"/>
                </a:lnTo>
                <a:lnTo>
                  <a:pt x="132842" y="0"/>
                </a:lnTo>
                <a:lnTo>
                  <a:pt x="129603" y="0"/>
                </a:lnTo>
                <a:lnTo>
                  <a:pt x="129603" y="1079"/>
                </a:lnTo>
                <a:lnTo>
                  <a:pt x="128524" y="1079"/>
                </a:lnTo>
                <a:lnTo>
                  <a:pt x="125641" y="5041"/>
                </a:lnTo>
                <a:lnTo>
                  <a:pt x="120599" y="3238"/>
                </a:lnTo>
                <a:lnTo>
                  <a:pt x="113398" y="0"/>
                </a:lnTo>
                <a:lnTo>
                  <a:pt x="105473" y="0"/>
                </a:lnTo>
                <a:lnTo>
                  <a:pt x="92976" y="2171"/>
                </a:lnTo>
                <a:lnTo>
                  <a:pt x="83058" y="8153"/>
                </a:lnTo>
                <a:lnTo>
                  <a:pt x="76517" y="17170"/>
                </a:lnTo>
                <a:lnTo>
                  <a:pt x="74155" y="28435"/>
                </a:lnTo>
                <a:lnTo>
                  <a:pt x="76009" y="38823"/>
                </a:lnTo>
                <a:lnTo>
                  <a:pt x="81483" y="46177"/>
                </a:lnTo>
                <a:lnTo>
                  <a:pt x="90398" y="51231"/>
                </a:lnTo>
                <a:lnTo>
                  <a:pt x="102603" y="54724"/>
                </a:lnTo>
                <a:lnTo>
                  <a:pt x="113334" y="58572"/>
                </a:lnTo>
                <a:lnTo>
                  <a:pt x="120459" y="62826"/>
                </a:lnTo>
                <a:lnTo>
                  <a:pt x="124409" y="67881"/>
                </a:lnTo>
                <a:lnTo>
                  <a:pt x="125641" y="74155"/>
                </a:lnTo>
                <a:lnTo>
                  <a:pt x="125641" y="84239"/>
                </a:lnTo>
                <a:lnTo>
                  <a:pt x="115557" y="89281"/>
                </a:lnTo>
                <a:lnTo>
                  <a:pt x="108356" y="89281"/>
                </a:lnTo>
                <a:lnTo>
                  <a:pt x="100291" y="88201"/>
                </a:lnTo>
                <a:lnTo>
                  <a:pt x="99961" y="88201"/>
                </a:lnTo>
                <a:lnTo>
                  <a:pt x="92875" y="83972"/>
                </a:lnTo>
                <a:lnTo>
                  <a:pt x="85877" y="75615"/>
                </a:lnTo>
                <a:lnTo>
                  <a:pt x="77393" y="61912"/>
                </a:lnTo>
                <a:lnTo>
                  <a:pt x="77393" y="60833"/>
                </a:lnTo>
                <a:lnTo>
                  <a:pt x="74155" y="60833"/>
                </a:lnTo>
                <a:lnTo>
                  <a:pt x="73444" y="61912"/>
                </a:lnTo>
                <a:lnTo>
                  <a:pt x="73444" y="94322"/>
                </a:lnTo>
                <a:lnTo>
                  <a:pt x="77393" y="94322"/>
                </a:lnTo>
                <a:lnTo>
                  <a:pt x="77393" y="93243"/>
                </a:lnTo>
                <a:lnTo>
                  <a:pt x="83515" y="88201"/>
                </a:lnTo>
                <a:lnTo>
                  <a:pt x="89281" y="92519"/>
                </a:lnTo>
                <a:lnTo>
                  <a:pt x="99352" y="94322"/>
                </a:lnTo>
                <a:lnTo>
                  <a:pt x="115557" y="94322"/>
                </a:lnTo>
                <a:lnTo>
                  <a:pt x="123482" y="91440"/>
                </a:lnTo>
                <a:lnTo>
                  <a:pt x="125628" y="89281"/>
                </a:lnTo>
                <a:lnTo>
                  <a:pt x="134632" y="80276"/>
                </a:lnTo>
                <a:lnTo>
                  <a:pt x="136791" y="73075"/>
                </a:lnTo>
                <a:lnTo>
                  <a:pt x="136791" y="64084"/>
                </a:lnTo>
                <a:close/>
              </a:path>
            </a:pathLst>
          </a:custGeom>
          <a:solidFill>
            <a:srgbClr val="3D3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78356" y="6490080"/>
            <a:ext cx="95885" cy="92710"/>
          </a:xfrm>
          <a:custGeom>
            <a:avLst/>
            <a:gdLst/>
            <a:ahLst/>
            <a:cxnLst/>
            <a:rect l="l" t="t" r="r" b="b"/>
            <a:pathLst>
              <a:path w="95884" h="92709">
                <a:moveTo>
                  <a:pt x="36004" y="87122"/>
                </a:moveTo>
                <a:lnTo>
                  <a:pt x="0" y="87122"/>
                </a:lnTo>
                <a:lnTo>
                  <a:pt x="0" y="91440"/>
                </a:lnTo>
                <a:lnTo>
                  <a:pt x="723" y="92163"/>
                </a:lnTo>
                <a:lnTo>
                  <a:pt x="36004" y="92163"/>
                </a:lnTo>
                <a:lnTo>
                  <a:pt x="37084" y="91440"/>
                </a:lnTo>
                <a:lnTo>
                  <a:pt x="37084" y="88201"/>
                </a:lnTo>
                <a:lnTo>
                  <a:pt x="36004" y="87122"/>
                </a:lnTo>
                <a:close/>
              </a:path>
              <a:path w="95884" h="92709">
                <a:moveTo>
                  <a:pt x="94322" y="87122"/>
                </a:moveTo>
                <a:lnTo>
                  <a:pt x="58318" y="87122"/>
                </a:lnTo>
                <a:lnTo>
                  <a:pt x="57238" y="88201"/>
                </a:lnTo>
                <a:lnTo>
                  <a:pt x="57238" y="91440"/>
                </a:lnTo>
                <a:lnTo>
                  <a:pt x="58318" y="92163"/>
                </a:lnTo>
                <a:lnTo>
                  <a:pt x="94322" y="92163"/>
                </a:lnTo>
                <a:lnTo>
                  <a:pt x="95402" y="91440"/>
                </a:lnTo>
                <a:lnTo>
                  <a:pt x="95402" y="88201"/>
                </a:lnTo>
                <a:lnTo>
                  <a:pt x="94322" y="87122"/>
                </a:lnTo>
                <a:close/>
              </a:path>
              <a:path w="95884" h="92709">
                <a:moveTo>
                  <a:pt x="25920" y="0"/>
                </a:moveTo>
                <a:lnTo>
                  <a:pt x="1803" y="1079"/>
                </a:lnTo>
                <a:lnTo>
                  <a:pt x="723" y="1079"/>
                </a:lnTo>
                <a:lnTo>
                  <a:pt x="0" y="2159"/>
                </a:lnTo>
                <a:lnTo>
                  <a:pt x="0" y="5041"/>
                </a:lnTo>
                <a:lnTo>
                  <a:pt x="723" y="6121"/>
                </a:lnTo>
                <a:lnTo>
                  <a:pt x="9004" y="7200"/>
                </a:lnTo>
                <a:lnTo>
                  <a:pt x="10083" y="10083"/>
                </a:lnTo>
                <a:lnTo>
                  <a:pt x="10083" y="85318"/>
                </a:lnTo>
                <a:lnTo>
                  <a:pt x="9004" y="87122"/>
                </a:lnTo>
                <a:lnTo>
                  <a:pt x="29159" y="87122"/>
                </a:lnTo>
                <a:lnTo>
                  <a:pt x="28079" y="85318"/>
                </a:lnTo>
                <a:lnTo>
                  <a:pt x="28079" y="30594"/>
                </a:lnTo>
                <a:lnTo>
                  <a:pt x="29883" y="25565"/>
                </a:lnTo>
                <a:lnTo>
                  <a:pt x="32042" y="22313"/>
                </a:lnTo>
                <a:lnTo>
                  <a:pt x="35153" y="18364"/>
                </a:lnTo>
                <a:lnTo>
                  <a:pt x="28079" y="18364"/>
                </a:lnTo>
                <a:lnTo>
                  <a:pt x="28079" y="2159"/>
                </a:lnTo>
                <a:lnTo>
                  <a:pt x="25920" y="0"/>
                </a:lnTo>
                <a:close/>
              </a:path>
              <a:path w="95884" h="92709">
                <a:moveTo>
                  <a:pt x="79444" y="10083"/>
                </a:moveTo>
                <a:lnTo>
                  <a:pt x="50037" y="10083"/>
                </a:lnTo>
                <a:lnTo>
                  <a:pt x="57734" y="11293"/>
                </a:lnTo>
                <a:lnTo>
                  <a:pt x="62731" y="15168"/>
                </a:lnTo>
                <a:lnTo>
                  <a:pt x="65432" y="22079"/>
                </a:lnTo>
                <a:lnTo>
                  <a:pt x="66243" y="32397"/>
                </a:lnTo>
                <a:lnTo>
                  <a:pt x="66243" y="85318"/>
                </a:lnTo>
                <a:lnTo>
                  <a:pt x="65163" y="87122"/>
                </a:lnTo>
                <a:lnTo>
                  <a:pt x="85318" y="87122"/>
                </a:lnTo>
                <a:lnTo>
                  <a:pt x="84239" y="85318"/>
                </a:lnTo>
                <a:lnTo>
                  <a:pt x="84239" y="27355"/>
                </a:lnTo>
                <a:lnTo>
                  <a:pt x="82597" y="15794"/>
                </a:lnTo>
                <a:lnTo>
                  <a:pt x="79444" y="10083"/>
                </a:lnTo>
                <a:close/>
              </a:path>
              <a:path w="95884" h="92709">
                <a:moveTo>
                  <a:pt x="60121" y="0"/>
                </a:moveTo>
                <a:lnTo>
                  <a:pt x="44485" y="2869"/>
                </a:lnTo>
                <a:lnTo>
                  <a:pt x="34651" y="9182"/>
                </a:lnTo>
                <a:lnTo>
                  <a:pt x="29542" y="15494"/>
                </a:lnTo>
                <a:lnTo>
                  <a:pt x="28079" y="18364"/>
                </a:lnTo>
                <a:lnTo>
                  <a:pt x="35153" y="18364"/>
                </a:lnTo>
                <a:lnTo>
                  <a:pt x="36004" y="17284"/>
                </a:lnTo>
                <a:lnTo>
                  <a:pt x="42125" y="10083"/>
                </a:lnTo>
                <a:lnTo>
                  <a:pt x="79444" y="10083"/>
                </a:lnTo>
                <a:lnTo>
                  <a:pt x="77852" y="7200"/>
                </a:lnTo>
                <a:lnTo>
                  <a:pt x="70271" y="1845"/>
                </a:lnTo>
                <a:lnTo>
                  <a:pt x="60121" y="0"/>
                </a:lnTo>
                <a:close/>
              </a:path>
            </a:pathLst>
          </a:custGeom>
          <a:solidFill>
            <a:srgbClr val="3D3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57473" y="6378642"/>
            <a:ext cx="252095" cy="278765"/>
          </a:xfrm>
          <a:custGeom>
            <a:avLst/>
            <a:gdLst/>
            <a:ahLst/>
            <a:cxnLst/>
            <a:rect l="l" t="t" r="r" b="b"/>
            <a:pathLst>
              <a:path w="252095" h="278765">
                <a:moveTo>
                  <a:pt x="114401" y="0"/>
                </a:moveTo>
                <a:lnTo>
                  <a:pt x="74092" y="12480"/>
                </a:lnTo>
                <a:lnTo>
                  <a:pt x="38847" y="39147"/>
                </a:lnTo>
                <a:lnTo>
                  <a:pt x="11968" y="80120"/>
                </a:lnTo>
                <a:lnTo>
                  <a:pt x="0" y="127191"/>
                </a:lnTo>
                <a:lnTo>
                  <a:pt x="2609" y="179969"/>
                </a:lnTo>
                <a:lnTo>
                  <a:pt x="20877" y="228901"/>
                </a:lnTo>
                <a:lnTo>
                  <a:pt x="55885" y="264435"/>
                </a:lnTo>
                <a:lnTo>
                  <a:pt x="102465" y="278306"/>
                </a:lnTo>
                <a:lnTo>
                  <a:pt x="150700" y="271185"/>
                </a:lnTo>
                <a:lnTo>
                  <a:pt x="194549" y="245301"/>
                </a:lnTo>
                <a:lnTo>
                  <a:pt x="227970" y="202878"/>
                </a:lnTo>
                <a:lnTo>
                  <a:pt x="246242" y="157463"/>
                </a:lnTo>
                <a:lnTo>
                  <a:pt x="251747" y="114158"/>
                </a:lnTo>
                <a:lnTo>
                  <a:pt x="245020" y="74984"/>
                </a:lnTo>
                <a:lnTo>
                  <a:pt x="226595" y="41963"/>
                </a:lnTo>
                <a:lnTo>
                  <a:pt x="197007" y="17115"/>
                </a:lnTo>
                <a:lnTo>
                  <a:pt x="156474" y="1585"/>
                </a:lnTo>
                <a:lnTo>
                  <a:pt x="114401" y="0"/>
                </a:lnTo>
                <a:close/>
              </a:path>
            </a:pathLst>
          </a:custGeom>
          <a:solidFill>
            <a:srgbClr val="097F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9325" y="6427444"/>
            <a:ext cx="167487" cy="18935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3504" y="178104"/>
            <a:ext cx="8236991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07EA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447825"/>
            <a:ext cx="8150225" cy="2776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62180" y="6411399"/>
            <a:ext cx="3304159" cy="2133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9525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50" dirty="0"/>
              <a:t> </a:t>
            </a:r>
            <a:r>
              <a:rPr dirty="0"/>
              <a:t>Education</a:t>
            </a:r>
            <a:r>
              <a:rPr spc="-50" dirty="0"/>
              <a:t> </a:t>
            </a:r>
            <a:r>
              <a:rPr spc="-20" dirty="0"/>
              <a:t>Ltd.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883691"/>
            <a:ext cx="358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7EA2"/>
                </a:solidFill>
                <a:latin typeface="Arial MT"/>
                <a:cs typeface="Arial MT"/>
              </a:rPr>
              <a:t>Fifteenth</a:t>
            </a:r>
            <a:r>
              <a:rPr sz="2000" spc="-30" dirty="0">
                <a:solidFill>
                  <a:srgbClr val="007EA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7EA2"/>
                </a:solidFill>
                <a:latin typeface="Arial MT"/>
                <a:cs typeface="Arial MT"/>
              </a:rPr>
              <a:t>Edition,</a:t>
            </a:r>
            <a:r>
              <a:rPr sz="2000" spc="-35" dirty="0">
                <a:solidFill>
                  <a:srgbClr val="007EA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7EA2"/>
                </a:solidFill>
                <a:latin typeface="Arial MT"/>
                <a:cs typeface="Arial MT"/>
              </a:rPr>
              <a:t>Global</a:t>
            </a:r>
            <a:r>
              <a:rPr sz="2000" spc="-40" dirty="0">
                <a:solidFill>
                  <a:srgbClr val="007EA2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7EA2"/>
                </a:solidFill>
                <a:latin typeface="Arial MT"/>
                <a:cs typeface="Arial MT"/>
              </a:rPr>
              <a:t>Edition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59300" y="2692692"/>
            <a:ext cx="2663825" cy="1503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Arial MT"/>
                <a:cs typeface="Arial MT"/>
              </a:rPr>
              <a:t>Chapter</a:t>
            </a:r>
            <a:r>
              <a:rPr sz="3000" spc="-50" dirty="0">
                <a:latin typeface="Arial MT"/>
                <a:cs typeface="Arial MT"/>
              </a:rPr>
              <a:t> 4</a:t>
            </a:r>
            <a:endParaRPr sz="3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2755"/>
              </a:spcBef>
            </a:pPr>
            <a:r>
              <a:rPr sz="2200" dirty="0">
                <a:latin typeface="Arial MT"/>
                <a:cs typeface="Arial MT"/>
              </a:rPr>
              <a:t>Managing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Global Environment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316520"/>
            <a:ext cx="3809517" cy="489035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50" dirty="0"/>
              <a:t> </a:t>
            </a:r>
            <a:r>
              <a:rPr dirty="0"/>
              <a:t>Education</a:t>
            </a:r>
            <a:r>
              <a:rPr spc="-50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/>
              <a:t>Learning</a:t>
            </a:r>
            <a:r>
              <a:rPr spc="-120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7621" y="990625"/>
            <a:ext cx="8179434" cy="463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5620" marR="86360" lvl="1" indent="-50292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15620" algn="l"/>
                <a:tab pos="519430" algn="l"/>
              </a:tabLst>
            </a:pPr>
            <a:r>
              <a:rPr sz="2400" b="1" dirty="0">
                <a:solidFill>
                  <a:srgbClr val="007EA2"/>
                </a:solidFill>
                <a:latin typeface="Arial"/>
                <a:cs typeface="Arial"/>
              </a:rPr>
              <a:t>	</a:t>
            </a:r>
            <a:r>
              <a:rPr sz="2400" b="1" dirty="0">
                <a:latin typeface="Arial"/>
                <a:cs typeface="Arial"/>
              </a:rPr>
              <a:t>Define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globalization,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nationalism,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parochialism;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contrast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ethnocentric,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polycentric,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geocentric attitudes.</a:t>
            </a:r>
            <a:endParaRPr sz="2400" dirty="0">
              <a:latin typeface="Arial MT"/>
              <a:cs typeface="Arial MT"/>
            </a:endParaRPr>
          </a:p>
          <a:p>
            <a:pPr marL="519430" lvl="1" indent="-50673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AutoNum type="arabicPeriod"/>
              <a:tabLst>
                <a:tab pos="519430" algn="l"/>
              </a:tabLst>
            </a:pPr>
            <a:r>
              <a:rPr sz="2400" b="1" dirty="0">
                <a:latin typeface="Arial"/>
                <a:cs typeface="Arial"/>
              </a:rPr>
              <a:t>Describe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history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globalization.</a:t>
            </a:r>
            <a:endParaRPr sz="2400" dirty="0">
              <a:latin typeface="Arial MT"/>
              <a:cs typeface="Arial MT"/>
            </a:endParaRPr>
          </a:p>
          <a:p>
            <a:pPr marL="519430" lvl="1" indent="-50673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AutoNum type="arabicPeriod"/>
              <a:tabLst>
                <a:tab pos="519430" algn="l"/>
              </a:tabLst>
            </a:pPr>
            <a:r>
              <a:rPr sz="2400" b="1" dirty="0">
                <a:latin typeface="Arial"/>
                <a:cs typeface="Arial"/>
              </a:rPr>
              <a:t>Summarize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against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globalization.</a:t>
            </a:r>
            <a:endParaRPr sz="2400" dirty="0">
              <a:latin typeface="Arial MT"/>
              <a:cs typeface="Arial MT"/>
            </a:endParaRPr>
          </a:p>
          <a:p>
            <a:pPr marL="519430" lvl="1" indent="-50673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AutoNum type="arabicPeriod"/>
              <a:tabLst>
                <a:tab pos="519430" algn="l"/>
              </a:tabLst>
            </a:pPr>
            <a:r>
              <a:rPr sz="2400" b="1" dirty="0">
                <a:latin typeface="Arial"/>
                <a:cs typeface="Arial"/>
              </a:rPr>
              <a:t>Explain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international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organizations.</a:t>
            </a:r>
            <a:endParaRPr sz="2400" dirty="0">
              <a:latin typeface="Arial MT"/>
              <a:cs typeface="Arial MT"/>
            </a:endParaRPr>
          </a:p>
          <a:p>
            <a:pPr marL="515620" marR="387985" lvl="1" indent="-502920">
              <a:lnSpc>
                <a:spcPct val="100000"/>
              </a:lnSpc>
              <a:spcBef>
                <a:spcPts val="1500"/>
              </a:spcBef>
              <a:buAutoNum type="arabicPeriod"/>
              <a:tabLst>
                <a:tab pos="515620" algn="l"/>
                <a:tab pos="519430" algn="l"/>
              </a:tabLst>
            </a:pPr>
            <a:r>
              <a:rPr sz="2400" b="1" dirty="0">
                <a:solidFill>
                  <a:srgbClr val="007EA2"/>
                </a:solidFill>
                <a:latin typeface="Arial"/>
                <a:cs typeface="Arial"/>
              </a:rPr>
              <a:t>	</a:t>
            </a:r>
            <a:r>
              <a:rPr sz="2400" b="1" dirty="0">
                <a:latin typeface="Arial"/>
                <a:cs typeface="Arial"/>
              </a:rPr>
              <a:t>Describe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structures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techniques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organizations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international.</a:t>
            </a:r>
            <a:endParaRPr sz="2400" dirty="0">
              <a:latin typeface="Arial MT"/>
              <a:cs typeface="Arial MT"/>
            </a:endParaRPr>
          </a:p>
          <a:p>
            <a:pPr marL="515620" marR="422909" lvl="1" indent="-502920">
              <a:lnSpc>
                <a:spcPct val="100000"/>
              </a:lnSpc>
              <a:spcBef>
                <a:spcPts val="1495"/>
              </a:spcBef>
              <a:buAutoNum type="arabicPeriod"/>
              <a:tabLst>
                <a:tab pos="515620" algn="l"/>
                <a:tab pos="519430" algn="l"/>
              </a:tabLst>
            </a:pPr>
            <a:r>
              <a:rPr sz="2400" b="1" dirty="0">
                <a:solidFill>
                  <a:srgbClr val="007EA2"/>
                </a:solidFill>
                <a:latin typeface="Arial"/>
                <a:cs typeface="Arial"/>
              </a:rPr>
              <a:t>	</a:t>
            </a:r>
            <a:r>
              <a:rPr sz="2400" b="1" dirty="0">
                <a:latin typeface="Arial"/>
                <a:cs typeface="Arial"/>
              </a:rPr>
              <a:t>Explain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relevance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political/legal,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economic,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cultural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environments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global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business.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What’s</a:t>
            </a:r>
            <a:r>
              <a:rPr spc="-185" dirty="0"/>
              <a:t> </a:t>
            </a:r>
            <a:r>
              <a:rPr spc="-95" dirty="0"/>
              <a:t>Your</a:t>
            </a:r>
            <a:r>
              <a:rPr spc="-114" dirty="0"/>
              <a:t> </a:t>
            </a:r>
            <a:r>
              <a:rPr dirty="0"/>
              <a:t>Global</a:t>
            </a:r>
            <a:r>
              <a:rPr spc="-85" dirty="0"/>
              <a:t> </a:t>
            </a:r>
            <a:r>
              <a:rPr spc="-10" dirty="0"/>
              <a:t>Perspective?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90625"/>
            <a:ext cx="8058150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07085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Arial"/>
                <a:cs typeface="Arial"/>
              </a:rPr>
              <a:t>Globalization:</a:t>
            </a:r>
            <a:r>
              <a:rPr sz="3200" b="1" spc="-50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process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developing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influence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or </a:t>
            </a:r>
            <a:r>
              <a:rPr sz="3200" dirty="0">
                <a:latin typeface="Arial MT"/>
                <a:cs typeface="Arial MT"/>
              </a:rPr>
              <a:t>operations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other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countries</a:t>
            </a:r>
            <a:endParaRPr sz="3200" dirty="0">
              <a:latin typeface="Arial MT"/>
              <a:cs typeface="Arial MT"/>
            </a:endParaRPr>
          </a:p>
          <a:p>
            <a:pPr marL="12700" marR="758190">
              <a:lnSpc>
                <a:spcPct val="100000"/>
              </a:lnSpc>
            </a:pPr>
            <a:r>
              <a:rPr sz="3200" b="1" dirty="0">
                <a:latin typeface="Arial"/>
                <a:cs typeface="Arial"/>
              </a:rPr>
              <a:t>Nationalism</a:t>
            </a:r>
            <a:r>
              <a:rPr sz="3200" dirty="0">
                <a:latin typeface="Arial MT"/>
                <a:cs typeface="Arial MT"/>
              </a:rPr>
              <a:t>: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patriotic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ideals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policies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glorify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spc="-50" dirty="0">
                <a:latin typeface="Arial MT"/>
                <a:cs typeface="Arial MT"/>
              </a:rPr>
              <a:t>a </a:t>
            </a:r>
            <a:r>
              <a:rPr sz="3200" dirty="0">
                <a:latin typeface="Arial MT"/>
                <a:cs typeface="Arial MT"/>
              </a:rPr>
              <a:t>country’s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values</a:t>
            </a:r>
            <a:endParaRPr sz="32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3200" b="1" dirty="0">
                <a:latin typeface="Arial"/>
                <a:cs typeface="Arial"/>
              </a:rPr>
              <a:t>Parochialism</a:t>
            </a:r>
            <a:r>
              <a:rPr sz="3200" dirty="0">
                <a:latin typeface="Arial MT"/>
                <a:cs typeface="Arial MT"/>
              </a:rPr>
              <a:t>: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viewing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world</a:t>
            </a:r>
            <a:r>
              <a:rPr sz="3200" spc="-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solely</a:t>
            </a:r>
            <a:r>
              <a:rPr sz="3200" spc="-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through</a:t>
            </a:r>
            <a:r>
              <a:rPr sz="3200" spc="-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your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own </a:t>
            </a:r>
            <a:r>
              <a:rPr sz="3200" dirty="0">
                <a:latin typeface="Arial MT"/>
                <a:cs typeface="Arial MT"/>
              </a:rPr>
              <a:t>perspectives,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leading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9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inability</a:t>
            </a:r>
            <a:r>
              <a:rPr sz="3200" spc="-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recognize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differences </a:t>
            </a:r>
            <a:r>
              <a:rPr sz="3200" dirty="0">
                <a:latin typeface="Arial MT"/>
                <a:cs typeface="Arial MT"/>
              </a:rPr>
              <a:t>between</a:t>
            </a:r>
            <a:r>
              <a:rPr sz="3200" spc="-1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people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/>
              <a:t>Three</a:t>
            </a:r>
            <a:r>
              <a:rPr spc="-150" dirty="0"/>
              <a:t> </a:t>
            </a:r>
            <a:r>
              <a:rPr dirty="0"/>
              <a:t>Possible</a:t>
            </a:r>
            <a:r>
              <a:rPr spc="-90" dirty="0"/>
              <a:t> </a:t>
            </a:r>
            <a:r>
              <a:rPr spc="-25" dirty="0"/>
              <a:t>Global</a:t>
            </a:r>
            <a:r>
              <a:rPr spc="-195" dirty="0"/>
              <a:t> </a:t>
            </a:r>
            <a:r>
              <a:rPr spc="-10" dirty="0"/>
              <a:t>Attitudes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00709"/>
            <a:ext cx="8105140" cy="48295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marR="699135" indent="-257175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3600" b="1" dirty="0">
                <a:latin typeface="Arial"/>
                <a:cs typeface="Arial"/>
              </a:rPr>
              <a:t>Ethnocentric</a:t>
            </a:r>
            <a:r>
              <a:rPr sz="3600" dirty="0">
                <a:latin typeface="Arial MT"/>
                <a:cs typeface="Arial MT"/>
              </a:rPr>
              <a:t>:</a:t>
            </a:r>
            <a:r>
              <a:rPr sz="3600" spc="-7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view</a:t>
            </a:r>
            <a:r>
              <a:rPr sz="3600" spc="-7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that</a:t>
            </a:r>
            <a:r>
              <a:rPr sz="3600" spc="-7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home</a:t>
            </a:r>
            <a:r>
              <a:rPr sz="3600" spc="-7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country</a:t>
            </a:r>
            <a:r>
              <a:rPr sz="3600" spc="-6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has</a:t>
            </a:r>
            <a:r>
              <a:rPr sz="3600" spc="-7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best</a:t>
            </a:r>
            <a:r>
              <a:rPr sz="3600" spc="-65" dirty="0">
                <a:latin typeface="Arial MT"/>
                <a:cs typeface="Arial MT"/>
              </a:rPr>
              <a:t> </a:t>
            </a:r>
            <a:r>
              <a:rPr sz="3600" spc="-20" dirty="0">
                <a:latin typeface="Arial MT"/>
                <a:cs typeface="Arial MT"/>
              </a:rPr>
              <a:t>work </a:t>
            </a:r>
            <a:r>
              <a:rPr sz="3600" spc="-10" dirty="0">
                <a:latin typeface="Arial MT"/>
                <a:cs typeface="Arial MT"/>
              </a:rPr>
              <a:t>practices</a:t>
            </a:r>
            <a:endParaRPr sz="3600" dirty="0">
              <a:latin typeface="Arial MT"/>
              <a:cs typeface="Arial MT"/>
            </a:endParaRPr>
          </a:p>
          <a:p>
            <a:pPr marL="269240" marR="5080" indent="-257175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3600" b="1" dirty="0">
                <a:latin typeface="Arial"/>
                <a:cs typeface="Arial"/>
              </a:rPr>
              <a:t>Polycentric</a:t>
            </a:r>
            <a:r>
              <a:rPr sz="3600" dirty="0">
                <a:latin typeface="Arial MT"/>
                <a:cs typeface="Arial MT"/>
              </a:rPr>
              <a:t>:</a:t>
            </a:r>
            <a:r>
              <a:rPr sz="3600" spc="-6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view</a:t>
            </a:r>
            <a:r>
              <a:rPr sz="3600" spc="-7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that</a:t>
            </a:r>
            <a:r>
              <a:rPr sz="3600" spc="-6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managers</a:t>
            </a:r>
            <a:r>
              <a:rPr sz="3600" spc="-7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in</a:t>
            </a:r>
            <a:r>
              <a:rPr sz="3600" spc="-7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-7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host</a:t>
            </a:r>
            <a:r>
              <a:rPr sz="3600" spc="-7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country</a:t>
            </a:r>
            <a:r>
              <a:rPr sz="3600" spc="-70" dirty="0">
                <a:latin typeface="Arial MT"/>
                <a:cs typeface="Arial MT"/>
              </a:rPr>
              <a:t> </a:t>
            </a:r>
            <a:r>
              <a:rPr sz="3600" spc="-20" dirty="0">
                <a:latin typeface="Arial MT"/>
                <a:cs typeface="Arial MT"/>
              </a:rPr>
              <a:t>know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-4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best</a:t>
            </a:r>
            <a:r>
              <a:rPr sz="3600" spc="-4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approaches</a:t>
            </a:r>
            <a:endParaRPr sz="3600" dirty="0">
              <a:latin typeface="Arial MT"/>
              <a:cs typeface="Arial MT"/>
            </a:endParaRPr>
          </a:p>
          <a:p>
            <a:pPr marL="269240" marR="903605" indent="-257175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3600" b="1" dirty="0">
                <a:latin typeface="Arial"/>
                <a:cs typeface="Arial"/>
              </a:rPr>
              <a:t>Geocentric</a:t>
            </a:r>
            <a:r>
              <a:rPr sz="3600" dirty="0">
                <a:latin typeface="Arial MT"/>
                <a:cs typeface="Arial MT"/>
              </a:rPr>
              <a:t>:</a:t>
            </a:r>
            <a:r>
              <a:rPr sz="3600" spc="-65" dirty="0">
                <a:latin typeface="Arial MT"/>
                <a:cs typeface="Arial MT"/>
              </a:rPr>
              <a:t> </a:t>
            </a:r>
            <a:r>
              <a:rPr sz="3600" spc="-25" dirty="0">
                <a:latin typeface="Arial MT"/>
                <a:cs typeface="Arial MT"/>
              </a:rPr>
              <a:t>world-</a:t>
            </a:r>
            <a:r>
              <a:rPr sz="3600" dirty="0">
                <a:latin typeface="Arial MT"/>
                <a:cs typeface="Arial MT"/>
              </a:rPr>
              <a:t>oriented</a:t>
            </a:r>
            <a:r>
              <a:rPr sz="3600" spc="-5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view;</a:t>
            </a:r>
            <a:r>
              <a:rPr sz="3600" spc="-5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wants</a:t>
            </a:r>
            <a:r>
              <a:rPr sz="3600" spc="-6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to</a:t>
            </a:r>
            <a:r>
              <a:rPr sz="3600" spc="-6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use</a:t>
            </a:r>
            <a:r>
              <a:rPr sz="3600" spc="-65" dirty="0">
                <a:latin typeface="Arial MT"/>
                <a:cs typeface="Arial MT"/>
              </a:rPr>
              <a:t> </a:t>
            </a:r>
            <a:r>
              <a:rPr sz="3600" spc="-20" dirty="0">
                <a:latin typeface="Arial MT"/>
                <a:cs typeface="Arial MT"/>
              </a:rPr>
              <a:t>best </a:t>
            </a:r>
            <a:r>
              <a:rPr sz="3600" dirty="0">
                <a:latin typeface="Arial MT"/>
                <a:cs typeface="Arial MT"/>
              </a:rPr>
              <a:t>practices</a:t>
            </a:r>
            <a:r>
              <a:rPr sz="3600" spc="-7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from</a:t>
            </a:r>
            <a:r>
              <a:rPr sz="3600" spc="-7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around</a:t>
            </a:r>
            <a:r>
              <a:rPr sz="3600" spc="-8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-7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globe</a:t>
            </a:r>
            <a:endParaRPr sz="3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704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Exhibit</a:t>
            </a:r>
            <a:r>
              <a:rPr sz="2800" spc="-55" dirty="0"/>
              <a:t> </a:t>
            </a:r>
            <a:r>
              <a:rPr sz="2800" dirty="0"/>
              <a:t>4.2</a:t>
            </a:r>
            <a:r>
              <a:rPr sz="2800" spc="-60" dirty="0"/>
              <a:t> </a:t>
            </a:r>
            <a:r>
              <a:rPr sz="2800" dirty="0"/>
              <a:t>Nationalism</a:t>
            </a:r>
            <a:r>
              <a:rPr sz="2800" spc="-65" dirty="0"/>
              <a:t> </a:t>
            </a:r>
            <a:r>
              <a:rPr sz="2800" dirty="0"/>
              <a:t>vs.</a:t>
            </a:r>
            <a:r>
              <a:rPr sz="2800" spc="-60" dirty="0"/>
              <a:t> </a:t>
            </a:r>
            <a:r>
              <a:rPr sz="2800" dirty="0"/>
              <a:t>Globalism</a:t>
            </a:r>
            <a:r>
              <a:rPr sz="2800" spc="-70" dirty="0"/>
              <a:t> </a:t>
            </a:r>
            <a:r>
              <a:rPr sz="2800" spc="-10" dirty="0"/>
              <a:t>Pendulum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009" y="1260716"/>
            <a:ext cx="7462857" cy="40055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4500" y="5626341"/>
            <a:ext cx="7419340" cy="5118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Exhibit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4.2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shows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timeline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general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shifts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attitude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between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globalism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and </a:t>
            </a:r>
            <a:r>
              <a:rPr sz="1600" spc="-10" dirty="0">
                <a:latin typeface="Arial MT"/>
                <a:cs typeface="Arial MT"/>
              </a:rPr>
              <a:t>nationalism.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60" dirty="0"/>
              <a:t> </a:t>
            </a:r>
            <a:r>
              <a:rPr dirty="0"/>
              <a:t>Case</a:t>
            </a:r>
            <a:r>
              <a:rPr spc="-45" dirty="0"/>
              <a:t> </a:t>
            </a:r>
            <a:r>
              <a:rPr dirty="0"/>
              <a:t>for</a:t>
            </a:r>
            <a:r>
              <a:rPr spc="-120" dirty="0"/>
              <a:t> </a:t>
            </a:r>
            <a:r>
              <a:rPr spc="-10" dirty="0"/>
              <a:t>Globalization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90625"/>
            <a:ext cx="7933690" cy="1870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marR="5080" indent="-257175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Win-</a:t>
            </a:r>
            <a:r>
              <a:rPr sz="2400" dirty="0">
                <a:latin typeface="Arial MT"/>
                <a:cs typeface="Arial MT"/>
              </a:rPr>
              <a:t>Win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Argument: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“every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country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wins” </a:t>
            </a:r>
            <a:r>
              <a:rPr sz="2400" dirty="0">
                <a:latin typeface="Arial MT"/>
                <a:cs typeface="Arial MT"/>
              </a:rPr>
              <a:t>argument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law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comparative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advantage.</a:t>
            </a:r>
            <a:endParaRPr sz="2400" dirty="0">
              <a:latin typeface="Arial MT"/>
              <a:cs typeface="Arial MT"/>
            </a:endParaRPr>
          </a:p>
          <a:p>
            <a:pPr marL="269240" indent="-25654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dirty="0">
                <a:latin typeface="Arial MT"/>
                <a:cs typeface="Arial MT"/>
              </a:rPr>
              <a:t>Essentially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says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‘rising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tide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floats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boats.’</a:t>
            </a:r>
            <a:endParaRPr sz="2400" dirty="0">
              <a:latin typeface="Arial MT"/>
              <a:cs typeface="Arial MT"/>
            </a:endParaRPr>
          </a:p>
          <a:p>
            <a:pPr marL="269240" indent="-25654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spc="-10" dirty="0">
                <a:latin typeface="Arial MT"/>
                <a:cs typeface="Arial MT"/>
              </a:rPr>
              <a:t>Globalization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benefits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trading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partners.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9B6AD-B6CD-8BE4-B48E-1033011D0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en-US" spc="-60" dirty="0"/>
              <a:t> </a:t>
            </a:r>
            <a:r>
              <a:rPr lang="en-US" dirty="0"/>
              <a:t>Case</a:t>
            </a:r>
            <a:r>
              <a:rPr lang="en-US" spc="-45" dirty="0"/>
              <a:t> </a:t>
            </a:r>
            <a:r>
              <a:rPr lang="en-US" dirty="0"/>
              <a:t>for</a:t>
            </a:r>
            <a:r>
              <a:rPr lang="en-US" spc="-120" dirty="0"/>
              <a:t> </a:t>
            </a:r>
            <a:r>
              <a:rPr lang="en-US" spc="-10" dirty="0"/>
              <a:t>Globalization Example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991500-DDE5-7463-740A-5B4C4D072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09553"/>
              </p:ext>
            </p:extLst>
          </p:nvPr>
        </p:nvGraphicFramePr>
        <p:xfrm>
          <a:off x="442618" y="1295400"/>
          <a:ext cx="8150226" cy="1097280"/>
        </p:xfrm>
        <a:graphic>
          <a:graphicData uri="http://schemas.openxmlformats.org/drawingml/2006/table">
            <a:tbl>
              <a:tblPr/>
              <a:tblGrid>
                <a:gridCol w="2716742">
                  <a:extLst>
                    <a:ext uri="{9D8B030D-6E8A-4147-A177-3AD203B41FA5}">
                      <a16:colId xmlns:a16="http://schemas.microsoft.com/office/drawing/2014/main" val="2088032609"/>
                    </a:ext>
                  </a:extLst>
                </a:gridCol>
                <a:gridCol w="2716742">
                  <a:extLst>
                    <a:ext uri="{9D8B030D-6E8A-4147-A177-3AD203B41FA5}">
                      <a16:colId xmlns:a16="http://schemas.microsoft.com/office/drawing/2014/main" val="4199438871"/>
                    </a:ext>
                  </a:extLst>
                </a:gridCol>
                <a:gridCol w="2716742">
                  <a:extLst>
                    <a:ext uri="{9D8B030D-6E8A-4147-A177-3AD203B41FA5}">
                      <a16:colId xmlns:a16="http://schemas.microsoft.com/office/drawing/2014/main" val="274219660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Country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Oil (barrels/day)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Wheat (tons/day)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2034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Pakistan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80995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Saudi Arabia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7255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A81E9FE-56CC-24C2-0A31-00BFD6F7FECF}"/>
              </a:ext>
            </a:extLst>
          </p:cNvPr>
          <p:cNvSpPr txBox="1"/>
          <p:nvPr/>
        </p:nvSpPr>
        <p:spPr>
          <a:xfrm>
            <a:off x="613295" y="2757161"/>
            <a:ext cx="8077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1: Find Opportunity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Pakistan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 oil = 2 wheat (because 10 oil vs 20 wheat)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 wheat = 0.5 oil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Saudi Arabia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 oil = 0.5 wheat (30 oil vs 15 wheat)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 wheat = 2 oil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2: Identify Comparative Advantage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Pakistan → lower cost in </a:t>
            </a:r>
            <a:r>
              <a:rPr lang="en-US" b="1" dirty="0"/>
              <a:t>wheat</a:t>
            </a:r>
            <a:r>
              <a:rPr lang="en-US" dirty="0"/>
              <a:t> → comparative advantage in wheat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Saudi Arabia → lower cost in </a:t>
            </a:r>
            <a:r>
              <a:rPr lang="en-US" b="1" dirty="0"/>
              <a:t>oil</a:t>
            </a:r>
            <a:r>
              <a:rPr lang="en-US" dirty="0"/>
              <a:t> → comparative advantage in oil</a:t>
            </a:r>
          </a:p>
        </p:txBody>
      </p:sp>
    </p:spTree>
    <p:extLst>
      <p:ext uri="{BB962C8B-B14F-4D97-AF65-F5344CB8AC3E}">
        <p14:creationId xmlns:p14="http://schemas.microsoft.com/office/powerpoint/2010/main" val="2989280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65" dirty="0"/>
              <a:t> </a:t>
            </a:r>
            <a:r>
              <a:rPr spc="-20" dirty="0"/>
              <a:t>Case</a:t>
            </a:r>
            <a:r>
              <a:rPr spc="-195" dirty="0"/>
              <a:t> </a:t>
            </a:r>
            <a:r>
              <a:rPr dirty="0"/>
              <a:t>Against</a:t>
            </a:r>
            <a:r>
              <a:rPr spc="-40" dirty="0"/>
              <a:t> </a:t>
            </a:r>
            <a:r>
              <a:rPr spc="-10" dirty="0"/>
              <a:t>Globalization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90625"/>
            <a:ext cx="8013700" cy="3522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marR="5080" indent="-257175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Downside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Globalization: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Critics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globalization </a:t>
            </a:r>
            <a:r>
              <a:rPr sz="2400" dirty="0">
                <a:latin typeface="Arial MT"/>
                <a:cs typeface="Arial MT"/>
              </a:rPr>
              <a:t>maintain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jobs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were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leaving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developed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high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cost </a:t>
            </a:r>
            <a:r>
              <a:rPr sz="2400" dirty="0">
                <a:latin typeface="Arial MT"/>
                <a:cs typeface="Arial MT"/>
              </a:rPr>
              <a:t>nations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flowing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cheap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nations.</a:t>
            </a:r>
            <a:endParaRPr sz="2400" dirty="0">
              <a:latin typeface="Arial MT"/>
              <a:cs typeface="Arial MT"/>
            </a:endParaRPr>
          </a:p>
          <a:p>
            <a:pPr marL="269240" marR="139065" indent="-257175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dirty="0">
                <a:latin typeface="Arial MT"/>
                <a:cs typeface="Arial MT"/>
              </a:rPr>
              <a:t>Cheap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goods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worldwide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created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wage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stagnation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middle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class.</a:t>
            </a:r>
            <a:endParaRPr sz="2400" dirty="0">
              <a:latin typeface="Arial MT"/>
              <a:cs typeface="Arial MT"/>
            </a:endParaRPr>
          </a:p>
          <a:p>
            <a:pPr marL="269240" marR="596265" indent="-257175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spc="-10" dirty="0">
                <a:latin typeface="Arial MT"/>
                <a:cs typeface="Arial MT"/>
              </a:rPr>
              <a:t>Globalization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capitalism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together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increased </a:t>
            </a:r>
            <a:r>
              <a:rPr sz="2400" dirty="0">
                <a:latin typeface="Arial MT"/>
                <a:cs typeface="Arial MT"/>
              </a:rPr>
              <a:t>wealth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inequality.</a:t>
            </a:r>
            <a:endParaRPr sz="2400" dirty="0">
              <a:latin typeface="Arial MT"/>
              <a:cs typeface="Arial MT"/>
            </a:endParaRPr>
          </a:p>
          <a:p>
            <a:pPr marL="269240" indent="-25654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groups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harmed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globalization.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D6636-9C8F-E21A-9A46-EEC103DAC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en-US" spc="-65" dirty="0"/>
              <a:t> </a:t>
            </a:r>
            <a:r>
              <a:rPr lang="en-US" spc="-20" dirty="0"/>
              <a:t>Case</a:t>
            </a:r>
            <a:r>
              <a:rPr lang="en-US" spc="-195" dirty="0"/>
              <a:t> </a:t>
            </a:r>
            <a:r>
              <a:rPr lang="en-US" dirty="0"/>
              <a:t>Against</a:t>
            </a:r>
            <a:r>
              <a:rPr lang="en-US" spc="-40" dirty="0"/>
              <a:t> </a:t>
            </a:r>
            <a:r>
              <a:rPr lang="en-US" spc="-10" dirty="0"/>
              <a:t>Globalization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81059-9A10-4A59-BC23-C2D6E4E26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504" y="1066800"/>
            <a:ext cx="8150225" cy="5078313"/>
          </a:xfrm>
        </p:spPr>
        <p:txBody>
          <a:bodyPr/>
          <a:lstStyle/>
          <a:p>
            <a:pPr>
              <a:buNone/>
            </a:pPr>
            <a:r>
              <a:rPr lang="en-US" b="1" dirty="0"/>
              <a:t>1. Core Argument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Firms in countries like the United States or United Kingdom face </a:t>
            </a:r>
            <a:r>
              <a:rPr lang="en-US" b="1" dirty="0"/>
              <a:t>high labor costs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reduce costs, they shift production to countries like China, India, or Bangladesh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Result: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Job losses in developed countries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Job creation in developing countries</a:t>
            </a:r>
          </a:p>
          <a:p>
            <a:r>
              <a:rPr lang="en-US" dirty="0"/>
              <a:t>This process is often called </a:t>
            </a:r>
            <a:r>
              <a:rPr lang="en-US" b="1" dirty="0"/>
              <a:t>offshoring</a:t>
            </a:r>
            <a:r>
              <a:rPr lang="en-US" dirty="0"/>
              <a:t> or </a:t>
            </a:r>
            <a:r>
              <a:rPr lang="en-US" b="1" dirty="0"/>
              <a:t>outsourcing</a:t>
            </a:r>
            <a:r>
              <a:rPr lang="en-US" dirty="0"/>
              <a:t>:</a:t>
            </a:r>
          </a:p>
          <a:p>
            <a:r>
              <a:rPr lang="en-US" dirty="0"/>
              <a:t>Multinational firms relocate factories or services abroad </a:t>
            </a:r>
          </a:p>
          <a:p>
            <a:r>
              <a:rPr lang="en-US" dirty="0"/>
              <a:t>Example sectors: </a:t>
            </a:r>
          </a:p>
          <a:p>
            <a:pPr lvl="1"/>
            <a:r>
              <a:rPr lang="en-US" dirty="0"/>
              <a:t>Manufacturing (textiles, electronics) </a:t>
            </a:r>
          </a:p>
          <a:p>
            <a:pPr lvl="1"/>
            <a:r>
              <a:rPr lang="en-US" dirty="0"/>
              <a:t>Customer support / IT services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637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BD33E-19FD-E499-BB73-12974F666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04" y="178104"/>
            <a:ext cx="8236991" cy="1046440"/>
          </a:xfrm>
        </p:spPr>
        <p:txBody>
          <a:bodyPr/>
          <a:lstStyle/>
          <a:p>
            <a:r>
              <a:rPr lang="en-US" dirty="0"/>
              <a:t>Real Example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78377-E093-E74A-4A0E-8456D533F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447825"/>
            <a:ext cx="8150225" cy="3447098"/>
          </a:xfrm>
        </p:spPr>
        <p:txBody>
          <a:bodyPr/>
          <a:lstStyle/>
          <a:p>
            <a:r>
              <a:rPr lang="en-US" sz="2800" dirty="0"/>
              <a:t>Many US and European companies shifted textile production to Bangladesh …</a:t>
            </a:r>
          </a:p>
          <a:p>
            <a:endParaRPr lang="en-US" sz="2800" dirty="0"/>
          </a:p>
          <a:p>
            <a:r>
              <a:rPr lang="en-US" sz="2800" dirty="0"/>
              <a:t>Tech companies outsource customer service to India </a:t>
            </a:r>
          </a:p>
          <a:p>
            <a:r>
              <a:rPr lang="en-US" sz="2800" dirty="0"/>
              <a:t>➡ Workers in developed countries may lose jobs due to </a:t>
            </a:r>
            <a:r>
              <a:rPr lang="en-US" sz="2800" b="1" dirty="0"/>
              <a:t>cheaper foreign labor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39066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733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Globalization</a:t>
            </a:r>
            <a:r>
              <a:rPr sz="2800" spc="-140" dirty="0"/>
              <a:t> </a:t>
            </a:r>
            <a:r>
              <a:rPr sz="2800" spc="-25" dirty="0"/>
              <a:t>Today</a:t>
            </a:r>
            <a:r>
              <a:rPr sz="2800" spc="-80" dirty="0"/>
              <a:t> </a:t>
            </a:r>
            <a:r>
              <a:rPr sz="2800" dirty="0"/>
              <a:t>and</a:t>
            </a:r>
            <a:r>
              <a:rPr sz="2800" spc="-90" dirty="0"/>
              <a:t> </a:t>
            </a:r>
            <a:r>
              <a:rPr sz="2800" dirty="0"/>
              <a:t>Managerial</a:t>
            </a:r>
            <a:r>
              <a:rPr sz="2800" spc="-95" dirty="0"/>
              <a:t> </a:t>
            </a:r>
            <a:r>
              <a:rPr sz="2800" spc="-10" dirty="0"/>
              <a:t>Implications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14803"/>
            <a:ext cx="8089900" cy="252603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695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spc="-10" dirty="0">
                <a:latin typeface="Arial MT"/>
                <a:cs typeface="Arial MT"/>
              </a:rPr>
              <a:t>Globalization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continue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despite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critics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because: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infrastructure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already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global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trade.</a:t>
            </a:r>
            <a:endParaRPr sz="2400">
              <a:latin typeface="Arial MT"/>
              <a:cs typeface="Arial MT"/>
            </a:endParaRPr>
          </a:p>
          <a:p>
            <a:pPr marL="753745" marR="5080" lvl="1" indent="-284480">
              <a:lnSpc>
                <a:spcPct val="100000"/>
              </a:lnSpc>
              <a:spcBef>
                <a:spcPts val="610"/>
              </a:spcBef>
              <a:buClr>
                <a:srgbClr val="007EA2"/>
              </a:buClr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evidence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globalization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cause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	unemployment—</a:t>
            </a:r>
            <a:r>
              <a:rPr sz="2400" dirty="0">
                <a:latin typeface="Arial MT"/>
                <a:cs typeface="Arial MT"/>
              </a:rPr>
              <a:t>technology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culprit.</a:t>
            </a:r>
            <a:endParaRPr sz="2400">
              <a:latin typeface="Arial MT"/>
              <a:cs typeface="Arial MT"/>
            </a:endParaRPr>
          </a:p>
          <a:p>
            <a:pPr marL="753745" marR="72390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Managers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develop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requisite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skills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	</a:t>
            </a:r>
            <a:r>
              <a:rPr sz="2400" dirty="0">
                <a:latin typeface="Arial MT"/>
                <a:cs typeface="Arial MT"/>
              </a:rPr>
              <a:t>global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manager.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00" dirty="0"/>
              <a:t> </a:t>
            </a:r>
            <a:r>
              <a:rPr dirty="0"/>
              <a:t>Organizations</a:t>
            </a:r>
            <a:r>
              <a:rPr spc="-95" dirty="0"/>
              <a:t> </a:t>
            </a:r>
            <a:r>
              <a:rPr dirty="0"/>
              <a:t>Go</a:t>
            </a:r>
            <a:r>
              <a:rPr spc="-95" dirty="0"/>
              <a:t> </a:t>
            </a:r>
            <a:r>
              <a:rPr spc="-10" dirty="0"/>
              <a:t>International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90625"/>
            <a:ext cx="73945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marR="5080" indent="-257175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Global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sourcing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purchasing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materials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from </a:t>
            </a:r>
            <a:r>
              <a:rPr sz="2400" dirty="0">
                <a:latin typeface="Arial MT"/>
                <a:cs typeface="Arial MT"/>
              </a:rPr>
              <a:t>around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world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wherever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cheapest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Exhibit</a:t>
            </a:r>
            <a:r>
              <a:rPr sz="3200" spc="-20" dirty="0"/>
              <a:t> </a:t>
            </a:r>
            <a:r>
              <a:rPr sz="3200" dirty="0"/>
              <a:t>4.3</a:t>
            </a:r>
            <a:r>
              <a:rPr sz="3200" spc="-10" dirty="0"/>
              <a:t> </a:t>
            </a:r>
            <a:r>
              <a:rPr sz="3200" dirty="0"/>
              <a:t>How</a:t>
            </a:r>
            <a:r>
              <a:rPr sz="3200" spc="-10" dirty="0"/>
              <a:t> </a:t>
            </a:r>
            <a:r>
              <a:rPr sz="3200" dirty="0"/>
              <a:t>Organizations</a:t>
            </a:r>
            <a:r>
              <a:rPr sz="3200" spc="-20" dirty="0"/>
              <a:t> </a:t>
            </a:r>
            <a:r>
              <a:rPr sz="3200" dirty="0"/>
              <a:t>Go</a:t>
            </a:r>
            <a:r>
              <a:rPr sz="3200" spc="-10" dirty="0"/>
              <a:t> Global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844" y="1568526"/>
            <a:ext cx="8088151" cy="36698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4500" y="5825781"/>
            <a:ext cx="68078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Exhibit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4.3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shows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different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approaches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companies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go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global.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/>
              <a:t>Going</a:t>
            </a:r>
            <a:r>
              <a:rPr spc="-90" dirty="0"/>
              <a:t> </a:t>
            </a:r>
            <a:r>
              <a:rPr dirty="0"/>
              <a:t>Global:</a:t>
            </a:r>
            <a:r>
              <a:rPr spc="-90" dirty="0"/>
              <a:t> </a:t>
            </a:r>
            <a:r>
              <a:rPr dirty="0"/>
              <a:t>Exporting</a:t>
            </a:r>
            <a:r>
              <a:rPr spc="-80" dirty="0"/>
              <a:t> </a:t>
            </a:r>
            <a:r>
              <a:rPr dirty="0"/>
              <a:t>and</a:t>
            </a:r>
            <a:r>
              <a:rPr spc="-100" dirty="0"/>
              <a:t> </a:t>
            </a:r>
            <a:r>
              <a:rPr spc="-10" dirty="0"/>
              <a:t>Importing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00709"/>
            <a:ext cx="8185150" cy="1679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marR="5080" indent="-257175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Exporting: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making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domestically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selling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them </a:t>
            </a:r>
            <a:r>
              <a:rPr sz="2400" spc="-10" dirty="0">
                <a:latin typeface="Arial MT"/>
                <a:cs typeface="Arial MT"/>
              </a:rPr>
              <a:t>abroad</a:t>
            </a:r>
            <a:endParaRPr sz="2400">
              <a:latin typeface="Arial MT"/>
              <a:cs typeface="Arial MT"/>
            </a:endParaRPr>
          </a:p>
          <a:p>
            <a:pPr marL="269240" marR="408305" indent="-257175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Importing: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acquiring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made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abroad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selling </a:t>
            </a:r>
            <a:r>
              <a:rPr sz="2400" dirty="0">
                <a:latin typeface="Arial MT"/>
                <a:cs typeface="Arial MT"/>
              </a:rPr>
              <a:t>them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domestically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/>
              <a:t>Going</a:t>
            </a:r>
            <a:r>
              <a:rPr spc="-90" dirty="0"/>
              <a:t> </a:t>
            </a:r>
            <a:r>
              <a:rPr dirty="0"/>
              <a:t>Global:</a:t>
            </a:r>
            <a:r>
              <a:rPr spc="-85" dirty="0"/>
              <a:t> </a:t>
            </a:r>
            <a:r>
              <a:rPr dirty="0"/>
              <a:t>Licensing</a:t>
            </a:r>
            <a:r>
              <a:rPr spc="-8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spc="-10" dirty="0"/>
              <a:t>Franchising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90625"/>
            <a:ext cx="8134350" cy="204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marR="5080" indent="-257175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Licensing: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gives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another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right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make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technology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or </a:t>
            </a:r>
            <a:r>
              <a:rPr sz="2400" dirty="0">
                <a:latin typeface="Arial MT"/>
                <a:cs typeface="Arial MT"/>
              </a:rPr>
              <a:t>product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specifications</a:t>
            </a:r>
            <a:endParaRPr sz="2400">
              <a:latin typeface="Arial MT"/>
              <a:cs typeface="Arial MT"/>
            </a:endParaRPr>
          </a:p>
          <a:p>
            <a:pPr marL="269240" marR="207010" indent="-257175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Franchising: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gives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another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right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name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methods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696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Going</a:t>
            </a:r>
            <a:r>
              <a:rPr sz="2800" spc="-65" dirty="0"/>
              <a:t> </a:t>
            </a:r>
            <a:r>
              <a:rPr sz="2800" dirty="0"/>
              <a:t>Global:</a:t>
            </a:r>
            <a:r>
              <a:rPr sz="2800" spc="-30" dirty="0"/>
              <a:t> </a:t>
            </a:r>
            <a:r>
              <a:rPr sz="2800" spc="-10" dirty="0"/>
              <a:t>Strategic</a:t>
            </a:r>
            <a:r>
              <a:rPr sz="2800" spc="-165" dirty="0"/>
              <a:t> </a:t>
            </a:r>
            <a:r>
              <a:rPr sz="2800" dirty="0"/>
              <a:t>Alliances</a:t>
            </a:r>
            <a:r>
              <a:rPr sz="2800" spc="-50" dirty="0"/>
              <a:t> </a:t>
            </a:r>
            <a:r>
              <a:rPr sz="2800" dirty="0"/>
              <a:t>and</a:t>
            </a:r>
            <a:r>
              <a:rPr sz="2800" spc="-40" dirty="0"/>
              <a:t> </a:t>
            </a:r>
            <a:r>
              <a:rPr sz="2800" dirty="0"/>
              <a:t>Joint</a:t>
            </a:r>
            <a:r>
              <a:rPr sz="2800" spc="-80" dirty="0"/>
              <a:t> </a:t>
            </a:r>
            <a:r>
              <a:rPr sz="2800" spc="-10" dirty="0"/>
              <a:t>Ventures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90625"/>
            <a:ext cx="8203565" cy="2776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marR="268605" indent="-257175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spc="-10" dirty="0">
                <a:latin typeface="Arial"/>
                <a:cs typeface="Arial"/>
              </a:rPr>
              <a:t>Strategic</a:t>
            </a:r>
            <a:r>
              <a:rPr sz="2400" b="1" spc="-1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Alliance: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partnership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foreign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company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partner(s)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both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share </a:t>
            </a:r>
            <a:r>
              <a:rPr sz="2400" dirty="0">
                <a:latin typeface="Arial MT"/>
                <a:cs typeface="Arial MT"/>
              </a:rPr>
              <a:t>resources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knowledge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developing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or </a:t>
            </a:r>
            <a:r>
              <a:rPr sz="2400" dirty="0">
                <a:latin typeface="Arial MT"/>
                <a:cs typeface="Arial MT"/>
              </a:rPr>
              <a:t>building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production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facilities</a:t>
            </a:r>
            <a:endParaRPr sz="2400">
              <a:latin typeface="Arial MT"/>
              <a:cs typeface="Arial MT"/>
            </a:endParaRPr>
          </a:p>
          <a:p>
            <a:pPr marL="269240" marR="5080" indent="-257175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Joint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spc="-30" dirty="0">
                <a:latin typeface="Arial"/>
                <a:cs typeface="Arial"/>
              </a:rPr>
              <a:t>Venture:</a:t>
            </a:r>
            <a:r>
              <a:rPr sz="2400" b="1" spc="-1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specific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strategic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alliance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which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partners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agree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separate,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independent organization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business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purpose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/>
              <a:t>Going</a:t>
            </a:r>
            <a:r>
              <a:rPr spc="-120" dirty="0"/>
              <a:t> </a:t>
            </a:r>
            <a:r>
              <a:rPr dirty="0"/>
              <a:t>Global:</a:t>
            </a:r>
            <a:r>
              <a:rPr spc="-120" dirty="0"/>
              <a:t> </a:t>
            </a:r>
            <a:r>
              <a:rPr dirty="0"/>
              <a:t>Foreign</a:t>
            </a:r>
            <a:r>
              <a:rPr spc="-120" dirty="0"/>
              <a:t> </a:t>
            </a:r>
            <a:r>
              <a:rPr spc="-10" dirty="0"/>
              <a:t>Subsidiary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90625"/>
            <a:ext cx="81362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marR="5080" indent="-257175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Foreign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Subsidiary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directly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investing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foreign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country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setting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separate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independent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production </a:t>
            </a:r>
            <a:r>
              <a:rPr sz="2400" dirty="0">
                <a:latin typeface="Arial MT"/>
                <a:cs typeface="Arial MT"/>
              </a:rPr>
              <a:t>facility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office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/>
              <a:t>Managing</a:t>
            </a:r>
            <a:r>
              <a:rPr spc="-65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Global</a:t>
            </a:r>
            <a:r>
              <a:rPr spc="-65" dirty="0"/>
              <a:t> </a:t>
            </a:r>
            <a:r>
              <a:rPr spc="-10" dirty="0"/>
              <a:t>Environment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90625"/>
            <a:ext cx="77114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challenges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face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country?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/>
              <a:t>Political/Legal</a:t>
            </a:r>
            <a:r>
              <a:rPr spc="-200" dirty="0"/>
              <a:t> </a:t>
            </a:r>
            <a:r>
              <a:rPr spc="-10" dirty="0"/>
              <a:t>Environment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977671"/>
            <a:ext cx="7404100" cy="2007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marR="5080" indent="-28448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Char char="–"/>
              <a:tabLst>
                <a:tab pos="298450" algn="l"/>
              </a:tabLst>
            </a:pPr>
            <a:r>
              <a:rPr sz="2400" dirty="0">
                <a:latin typeface="Arial MT"/>
                <a:cs typeface="Arial MT"/>
              </a:rPr>
              <a:t>U.S.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accustomed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stable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legal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	</a:t>
            </a:r>
            <a:r>
              <a:rPr sz="2400" dirty="0">
                <a:latin typeface="Arial MT"/>
                <a:cs typeface="Arial MT"/>
              </a:rPr>
              <a:t>political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</a:t>
            </a:r>
            <a:endParaRPr sz="2400">
              <a:latin typeface="Arial MT"/>
              <a:cs typeface="Arial MT"/>
            </a:endParaRPr>
          </a:p>
          <a:p>
            <a:pPr marL="296545" marR="121285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298450" algn="l"/>
              </a:tabLst>
            </a:pPr>
            <a:r>
              <a:rPr sz="2400" dirty="0">
                <a:latin typeface="Arial MT"/>
                <a:cs typeface="Arial MT"/>
              </a:rPr>
              <a:t>Managers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specific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laws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	</a:t>
            </a:r>
            <a:r>
              <a:rPr sz="2400" dirty="0">
                <a:latin typeface="Arial MT"/>
                <a:cs typeface="Arial MT"/>
              </a:rPr>
              <a:t>countries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business</a:t>
            </a:r>
            <a:endParaRPr sz="2400">
              <a:latin typeface="Arial MT"/>
              <a:cs typeface="Arial MT"/>
            </a:endParaRPr>
          </a:p>
          <a:p>
            <a:pPr marL="297180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297180" algn="l"/>
              </a:tabLst>
            </a:pP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countries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risky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political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climates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/>
              <a:t>Economic</a:t>
            </a:r>
            <a:r>
              <a:rPr spc="-120" dirty="0"/>
              <a:t> </a:t>
            </a:r>
            <a:r>
              <a:rPr spc="-10" dirty="0"/>
              <a:t>Environment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90625"/>
            <a:ext cx="7982584" cy="204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marR="389890" indent="-257175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Free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Market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Economy: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economic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which </a:t>
            </a:r>
            <a:r>
              <a:rPr sz="2400" dirty="0">
                <a:latin typeface="Arial MT"/>
                <a:cs typeface="Arial MT"/>
              </a:rPr>
              <a:t>resources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primarily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owned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controlled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private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sector</a:t>
            </a:r>
            <a:endParaRPr sz="2400">
              <a:latin typeface="Arial MT"/>
              <a:cs typeface="Arial MT"/>
            </a:endParaRPr>
          </a:p>
          <a:p>
            <a:pPr marL="269240" marR="5080" indent="-257175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Planned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Economy: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economic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which </a:t>
            </a:r>
            <a:r>
              <a:rPr sz="2400" dirty="0">
                <a:latin typeface="Arial MT"/>
                <a:cs typeface="Arial MT"/>
              </a:rPr>
              <a:t>economic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decisions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planned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central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government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0000"/>
                </a:solidFill>
              </a:rPr>
              <a:t>Cultural</a:t>
            </a:r>
            <a:r>
              <a:rPr spc="-10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Environment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90625"/>
            <a:ext cx="7579359" cy="41011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marR="5080" indent="-257175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National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Culture</a:t>
            </a:r>
            <a:r>
              <a:rPr sz="2400" spc="-10" dirty="0">
                <a:latin typeface="Arial MT"/>
                <a:cs typeface="Arial MT"/>
              </a:rPr>
              <a:t>—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attitudes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shared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by </a:t>
            </a:r>
            <a:r>
              <a:rPr sz="2400" dirty="0">
                <a:latin typeface="Arial MT"/>
                <a:cs typeface="Arial MT"/>
              </a:rPr>
              <a:t>individuals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specific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country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shape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their </a:t>
            </a:r>
            <a:r>
              <a:rPr sz="2400" dirty="0">
                <a:latin typeface="Arial MT"/>
                <a:cs typeface="Arial MT"/>
              </a:rPr>
              <a:t>behavior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beliefs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about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important.</a:t>
            </a:r>
            <a:endParaRPr lang="en-US" sz="2400" spc="-10" dirty="0">
              <a:latin typeface="Arial MT"/>
              <a:cs typeface="Arial MT"/>
            </a:endParaRPr>
          </a:p>
          <a:p>
            <a:pPr marL="269240" marR="5080" indent="-257175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endParaRPr lang="en-US" sz="2400" spc="-10" dirty="0">
              <a:latin typeface="Arial MT"/>
              <a:cs typeface="Arial MT"/>
            </a:endParaRPr>
          </a:p>
          <a:p>
            <a:r>
              <a:rPr lang="en-US" sz="2400" b="1" dirty="0"/>
              <a:t>Why It Matters</a:t>
            </a:r>
          </a:p>
          <a:p>
            <a:r>
              <a:rPr lang="en-US" sz="2400" dirty="0"/>
              <a:t>National culture directly influences:</a:t>
            </a:r>
          </a:p>
          <a:p>
            <a:r>
              <a:rPr lang="en-US" sz="2400" dirty="0"/>
              <a:t>Business practices and management styles </a:t>
            </a:r>
          </a:p>
          <a:p>
            <a:r>
              <a:rPr lang="en-US" sz="2400" dirty="0"/>
              <a:t>Workplace behavior and decision-making </a:t>
            </a:r>
          </a:p>
          <a:p>
            <a:r>
              <a:rPr lang="en-US" sz="2400" dirty="0"/>
              <a:t>Consumer preferences </a:t>
            </a:r>
          </a:p>
          <a:p>
            <a:r>
              <a:rPr lang="en-US" sz="2400" dirty="0"/>
              <a:t>International relations and communication</a:t>
            </a:r>
          </a:p>
          <a:p>
            <a:pPr marL="269240" marR="5080" indent="-257175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0416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Exhibit</a:t>
            </a:r>
            <a:r>
              <a:rPr sz="2400" spc="-50" dirty="0"/>
              <a:t> </a:t>
            </a:r>
            <a:r>
              <a:rPr sz="2400" dirty="0"/>
              <a:t>4.5</a:t>
            </a:r>
            <a:r>
              <a:rPr sz="2400" spc="-50" dirty="0"/>
              <a:t> </a:t>
            </a:r>
            <a:r>
              <a:rPr sz="2400" spc="-10" dirty="0"/>
              <a:t>Hofstede’s</a:t>
            </a:r>
            <a:r>
              <a:rPr sz="2400" spc="-50" dirty="0"/>
              <a:t> </a:t>
            </a:r>
            <a:r>
              <a:rPr sz="2400" dirty="0"/>
              <a:t>Five</a:t>
            </a:r>
            <a:r>
              <a:rPr sz="2400" spc="-50" dirty="0"/>
              <a:t> </a:t>
            </a:r>
            <a:r>
              <a:rPr sz="2400" dirty="0"/>
              <a:t>Dimensions</a:t>
            </a:r>
            <a:r>
              <a:rPr sz="2400" spc="-55" dirty="0"/>
              <a:t> </a:t>
            </a:r>
            <a:r>
              <a:rPr sz="2400" dirty="0"/>
              <a:t>of</a:t>
            </a:r>
            <a:r>
              <a:rPr sz="2400" spc="-50" dirty="0"/>
              <a:t> </a:t>
            </a:r>
            <a:r>
              <a:rPr sz="2400" dirty="0"/>
              <a:t>National</a:t>
            </a:r>
            <a:r>
              <a:rPr sz="2400" spc="-50" dirty="0"/>
              <a:t> </a:t>
            </a:r>
            <a:r>
              <a:rPr sz="2400" spc="-10" dirty="0"/>
              <a:t>Culture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878039"/>
            <a:ext cx="6705600" cy="517703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0600" y="6098616"/>
            <a:ext cx="5961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Exhibit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4.5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shows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Hofstede’s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Five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Dimensions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National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Culture.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/>
              <a:t>Review</a:t>
            </a:r>
            <a:r>
              <a:rPr spc="-85" dirty="0"/>
              <a:t> </a:t>
            </a:r>
            <a:r>
              <a:rPr dirty="0"/>
              <a:t>Learning</a:t>
            </a:r>
            <a:r>
              <a:rPr spc="-80" dirty="0"/>
              <a:t> </a:t>
            </a:r>
            <a:r>
              <a:rPr dirty="0"/>
              <a:t>Objective</a:t>
            </a:r>
            <a:r>
              <a:rPr spc="-80" dirty="0"/>
              <a:t> </a:t>
            </a:r>
            <a:r>
              <a:rPr dirty="0"/>
              <a:t>4.1</a:t>
            </a:r>
            <a:r>
              <a:rPr spc="-25" dirty="0"/>
              <a:t> </a:t>
            </a:r>
            <a:r>
              <a:rPr sz="1800" b="0" dirty="0">
                <a:latin typeface="Times New Roman"/>
                <a:cs typeface="Times New Roman"/>
              </a:rPr>
              <a:t>(1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of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spc="-25" dirty="0">
                <a:latin typeface="Times New Roman"/>
                <a:cs typeface="Times New Roman"/>
              </a:rPr>
              <a:t>2)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90625"/>
            <a:ext cx="8181975" cy="354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marR="34290" indent="-257175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Define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globalization,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nationalism,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parochialism;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contrast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ethnocentric,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polycentric,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geocentric attitudes.</a:t>
            </a:r>
            <a:endParaRPr sz="2400">
              <a:latin typeface="Arial"/>
              <a:cs typeface="Arial"/>
            </a:endParaRPr>
          </a:p>
          <a:p>
            <a:pPr marL="753745" marR="68453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Arial MT"/>
              <a:buChar char="–"/>
              <a:tabLst>
                <a:tab pos="755650" algn="l"/>
              </a:tabLst>
            </a:pPr>
            <a:r>
              <a:rPr sz="2400" b="1" spc="-10" dirty="0">
                <a:latin typeface="Arial"/>
                <a:cs typeface="Arial"/>
              </a:rPr>
              <a:t>Globalization—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organizations 	</a:t>
            </a:r>
            <a:r>
              <a:rPr sz="2400" dirty="0">
                <a:latin typeface="Arial MT"/>
                <a:cs typeface="Arial MT"/>
              </a:rPr>
              <a:t>develop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influence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countries.</a:t>
            </a:r>
            <a:endParaRPr sz="2400">
              <a:latin typeface="Arial MT"/>
              <a:cs typeface="Arial MT"/>
            </a:endParaRPr>
          </a:p>
          <a:p>
            <a:pPr marL="753745" marR="5080" lvl="1" indent="-284480">
              <a:lnSpc>
                <a:spcPct val="100000"/>
              </a:lnSpc>
              <a:spcBef>
                <a:spcPts val="605"/>
              </a:spcBef>
              <a:buClr>
                <a:srgbClr val="007EA2"/>
              </a:buClr>
              <a:buFont typeface="Arial MT"/>
              <a:buChar char="–"/>
              <a:tabLst>
                <a:tab pos="755650" algn="l"/>
              </a:tabLst>
            </a:pPr>
            <a:r>
              <a:rPr sz="2400" b="1" spc="-10" dirty="0">
                <a:latin typeface="Arial"/>
                <a:cs typeface="Arial"/>
              </a:rPr>
              <a:t>Nationalism—</a:t>
            </a:r>
            <a:r>
              <a:rPr sz="2400" dirty="0">
                <a:latin typeface="Arial MT"/>
                <a:cs typeface="Arial MT"/>
              </a:rPr>
              <a:t>patriotic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ideals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policies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glorify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	</a:t>
            </a:r>
            <a:r>
              <a:rPr sz="2400" dirty="0">
                <a:latin typeface="Arial MT"/>
                <a:cs typeface="Arial MT"/>
              </a:rPr>
              <a:t>country’s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values.</a:t>
            </a:r>
            <a:endParaRPr sz="2400">
              <a:latin typeface="Arial MT"/>
              <a:cs typeface="Arial MT"/>
            </a:endParaRPr>
          </a:p>
          <a:p>
            <a:pPr marL="753745" marR="224790" lvl="1" indent="-284480">
              <a:lnSpc>
                <a:spcPct val="100000"/>
              </a:lnSpc>
              <a:spcBef>
                <a:spcPts val="605"/>
              </a:spcBef>
              <a:buClr>
                <a:srgbClr val="007EA2"/>
              </a:buClr>
              <a:buFont typeface="Arial MT"/>
              <a:buChar char="–"/>
              <a:tabLst>
                <a:tab pos="755650" algn="l"/>
              </a:tabLst>
            </a:pPr>
            <a:r>
              <a:rPr sz="2400" b="1" spc="-20" dirty="0">
                <a:latin typeface="Arial"/>
                <a:cs typeface="Arial"/>
              </a:rPr>
              <a:t>Parochialism</a:t>
            </a:r>
            <a:r>
              <a:rPr sz="2400" spc="-20" dirty="0">
                <a:latin typeface="Arial MT"/>
                <a:cs typeface="Arial MT"/>
              </a:rPr>
              <a:t>—</a:t>
            </a:r>
            <a:r>
              <a:rPr sz="2400" dirty="0">
                <a:latin typeface="Arial MT"/>
                <a:cs typeface="Arial MT"/>
              </a:rPr>
              <a:t>viewing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world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solely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through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your 	</a:t>
            </a:r>
            <a:r>
              <a:rPr sz="2400" dirty="0">
                <a:latin typeface="Arial MT"/>
                <a:cs typeface="Arial MT"/>
              </a:rPr>
              <a:t>own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eyes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perspectives.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/>
              <a:t>Review</a:t>
            </a:r>
            <a:r>
              <a:rPr spc="-85" dirty="0"/>
              <a:t> </a:t>
            </a:r>
            <a:r>
              <a:rPr dirty="0"/>
              <a:t>Learning</a:t>
            </a:r>
            <a:r>
              <a:rPr spc="-80" dirty="0"/>
              <a:t> </a:t>
            </a:r>
            <a:r>
              <a:rPr dirty="0"/>
              <a:t>Objective</a:t>
            </a:r>
            <a:r>
              <a:rPr spc="-80" dirty="0"/>
              <a:t> </a:t>
            </a:r>
            <a:r>
              <a:rPr dirty="0"/>
              <a:t>4.1</a:t>
            </a:r>
            <a:r>
              <a:rPr spc="-25" dirty="0"/>
              <a:t> </a:t>
            </a:r>
            <a:r>
              <a:rPr sz="1800" b="0" dirty="0">
                <a:latin typeface="Times New Roman"/>
                <a:cs typeface="Times New Roman"/>
              </a:rPr>
              <a:t>(2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of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spc="-25" dirty="0">
                <a:latin typeface="Times New Roman"/>
                <a:cs typeface="Times New Roman"/>
              </a:rPr>
              <a:t>2)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990625"/>
            <a:ext cx="7729220" cy="347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marR="5080" indent="-28448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–"/>
              <a:tabLst>
                <a:tab pos="298450" algn="l"/>
              </a:tabLst>
            </a:pPr>
            <a:r>
              <a:rPr sz="2400" b="1" dirty="0">
                <a:latin typeface="Arial"/>
                <a:cs typeface="Arial"/>
              </a:rPr>
              <a:t>Ethnocentric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attitude—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parochial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belief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best 	</a:t>
            </a:r>
            <a:r>
              <a:rPr sz="2400" dirty="0">
                <a:latin typeface="Arial MT"/>
                <a:cs typeface="Arial MT"/>
              </a:rPr>
              <a:t>work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approaches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practices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those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home 	</a:t>
            </a:r>
            <a:r>
              <a:rPr sz="2400" spc="-10" dirty="0">
                <a:latin typeface="Arial MT"/>
                <a:cs typeface="Arial MT"/>
              </a:rPr>
              <a:t>country.</a:t>
            </a:r>
            <a:endParaRPr sz="2400">
              <a:latin typeface="Arial MT"/>
              <a:cs typeface="Arial MT"/>
            </a:endParaRPr>
          </a:p>
          <a:p>
            <a:pPr marL="296545" marR="358140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Arial MT"/>
              <a:buChar char="–"/>
              <a:tabLst>
                <a:tab pos="298450" algn="l"/>
              </a:tabLst>
            </a:pPr>
            <a:r>
              <a:rPr sz="2400" b="1" dirty="0">
                <a:latin typeface="Arial"/>
                <a:cs typeface="Arial"/>
              </a:rPr>
              <a:t>Polycentric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attitude—</a:t>
            </a:r>
            <a:r>
              <a:rPr sz="2400" dirty="0">
                <a:latin typeface="Arial MT"/>
                <a:cs typeface="Arial MT"/>
              </a:rPr>
              <a:t>managers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host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country 	</a:t>
            </a:r>
            <a:r>
              <a:rPr sz="2400" dirty="0">
                <a:latin typeface="Arial MT"/>
                <a:cs typeface="Arial MT"/>
              </a:rPr>
              <a:t>know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best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approaches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practices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	</a:t>
            </a:r>
            <a:r>
              <a:rPr sz="2400" dirty="0">
                <a:latin typeface="Arial MT"/>
                <a:cs typeface="Arial MT"/>
              </a:rPr>
              <a:t>running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business.</a:t>
            </a:r>
            <a:endParaRPr sz="2400">
              <a:latin typeface="Arial MT"/>
              <a:cs typeface="Arial MT"/>
            </a:endParaRPr>
          </a:p>
          <a:p>
            <a:pPr marL="296545" marR="8890" indent="-284480">
              <a:lnSpc>
                <a:spcPct val="100000"/>
              </a:lnSpc>
              <a:spcBef>
                <a:spcPts val="605"/>
              </a:spcBef>
              <a:buClr>
                <a:srgbClr val="007EA2"/>
              </a:buClr>
              <a:buFont typeface="Arial MT"/>
              <a:buChar char="–"/>
              <a:tabLst>
                <a:tab pos="298450" algn="l"/>
              </a:tabLst>
            </a:pPr>
            <a:r>
              <a:rPr sz="2400" b="1" dirty="0">
                <a:latin typeface="Arial"/>
                <a:cs typeface="Arial"/>
              </a:rPr>
              <a:t>Geocentric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attitude—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world-</a:t>
            </a:r>
            <a:r>
              <a:rPr sz="2400" dirty="0">
                <a:latin typeface="Arial MT"/>
                <a:cs typeface="Arial MT"/>
              </a:rPr>
              <a:t>oriented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view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	</a:t>
            </a:r>
            <a:r>
              <a:rPr sz="2400" dirty="0">
                <a:latin typeface="Arial MT"/>
                <a:cs typeface="Arial MT"/>
              </a:rPr>
              <a:t>focuses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best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approaches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people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from 	</a:t>
            </a:r>
            <a:r>
              <a:rPr sz="2400" dirty="0">
                <a:latin typeface="Arial MT"/>
                <a:cs typeface="Arial MT"/>
              </a:rPr>
              <a:t>around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globe.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/>
              <a:t>Review</a:t>
            </a:r>
            <a:r>
              <a:rPr spc="-114" dirty="0"/>
              <a:t> </a:t>
            </a:r>
            <a:r>
              <a:rPr dirty="0"/>
              <a:t>Learning</a:t>
            </a:r>
            <a:r>
              <a:rPr spc="-114" dirty="0"/>
              <a:t> </a:t>
            </a:r>
            <a:r>
              <a:rPr dirty="0"/>
              <a:t>Objective</a:t>
            </a:r>
            <a:r>
              <a:rPr spc="-114" dirty="0"/>
              <a:t> </a:t>
            </a:r>
            <a:r>
              <a:rPr spc="-25" dirty="0"/>
              <a:t>4.3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800325"/>
            <a:ext cx="8051800" cy="425450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6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Summarize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case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for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against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globalization.</a:t>
            </a:r>
            <a:endParaRPr sz="2400">
              <a:latin typeface="Arial"/>
              <a:cs typeface="Arial"/>
            </a:endParaRPr>
          </a:p>
          <a:p>
            <a:pPr marL="269240" marR="514984" indent="-257175">
              <a:lnSpc>
                <a:spcPct val="100000"/>
              </a:lnSpc>
              <a:spcBef>
                <a:spcPts val="1495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Globalization: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law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comparative </a:t>
            </a:r>
            <a:r>
              <a:rPr sz="2400" dirty="0">
                <a:latin typeface="Arial MT"/>
                <a:cs typeface="Arial MT"/>
              </a:rPr>
              <a:t>advantage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nations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better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focusing </a:t>
            </a:r>
            <a:r>
              <a:rPr sz="2400" dirty="0">
                <a:latin typeface="Arial MT"/>
                <a:cs typeface="Arial MT"/>
              </a:rPr>
              <a:t>production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goods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lowest </a:t>
            </a:r>
            <a:r>
              <a:rPr sz="2400" dirty="0">
                <a:latin typeface="Arial MT"/>
                <a:cs typeface="Arial MT"/>
              </a:rPr>
              <a:t>opportunity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engage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trade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other </a:t>
            </a:r>
            <a:r>
              <a:rPr sz="2400" spc="-20" dirty="0">
                <a:latin typeface="Arial MT"/>
                <a:cs typeface="Arial MT"/>
              </a:rPr>
              <a:t>goods.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nations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benefit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happens.</a:t>
            </a:r>
            <a:endParaRPr sz="2400">
              <a:latin typeface="Arial MT"/>
              <a:cs typeface="Arial MT"/>
            </a:endParaRPr>
          </a:p>
          <a:p>
            <a:pPr marL="269240" marR="5080" indent="-257175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dirty="0">
                <a:latin typeface="Arial MT"/>
                <a:cs typeface="Arial MT"/>
              </a:rPr>
              <a:t>AGAINST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Globalization: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Globalization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responsible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</a:t>
            </a:r>
            <a:r>
              <a:rPr sz="2400" dirty="0">
                <a:latin typeface="Arial MT"/>
                <a:cs typeface="Arial MT"/>
              </a:rPr>
              <a:t>wage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stagnation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developed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nations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since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low-</a:t>
            </a:r>
            <a:r>
              <a:rPr sz="2400" spc="-20" dirty="0">
                <a:latin typeface="Arial MT"/>
                <a:cs typeface="Arial MT"/>
              </a:rPr>
              <a:t>wage </a:t>
            </a:r>
            <a:r>
              <a:rPr sz="2400" dirty="0">
                <a:latin typeface="Arial MT"/>
                <a:cs typeface="Arial MT"/>
              </a:rPr>
              <a:t>countries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now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most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labor-</a:t>
            </a:r>
            <a:r>
              <a:rPr sz="2400" dirty="0">
                <a:latin typeface="Arial MT"/>
                <a:cs typeface="Arial MT"/>
              </a:rPr>
              <a:t>intensive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goods.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also </a:t>
            </a:r>
            <a:r>
              <a:rPr sz="2400" dirty="0">
                <a:latin typeface="Arial MT"/>
                <a:cs typeface="Arial MT"/>
              </a:rPr>
              <a:t>increases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income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wealth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inequality.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/>
              <a:t>Review</a:t>
            </a:r>
            <a:r>
              <a:rPr spc="-85" dirty="0"/>
              <a:t> </a:t>
            </a:r>
            <a:r>
              <a:rPr dirty="0"/>
              <a:t>Learning</a:t>
            </a:r>
            <a:r>
              <a:rPr spc="-80" dirty="0"/>
              <a:t> </a:t>
            </a:r>
            <a:r>
              <a:rPr dirty="0"/>
              <a:t>Objective</a:t>
            </a:r>
            <a:r>
              <a:rPr spc="-80" dirty="0"/>
              <a:t> </a:t>
            </a:r>
            <a:r>
              <a:rPr dirty="0"/>
              <a:t>4.5</a:t>
            </a:r>
            <a:r>
              <a:rPr spc="-25" dirty="0"/>
              <a:t> </a:t>
            </a:r>
            <a:r>
              <a:rPr sz="1800" b="0" dirty="0">
                <a:latin typeface="Times New Roman"/>
                <a:cs typeface="Times New Roman"/>
              </a:rPr>
              <a:t>(1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of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spc="-25" dirty="0">
                <a:latin typeface="Times New Roman"/>
                <a:cs typeface="Times New Roman"/>
              </a:rPr>
              <a:t>2)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90625"/>
            <a:ext cx="8114030" cy="4355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734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Describe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structures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techniques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organizations </a:t>
            </a:r>
            <a:r>
              <a:rPr sz="2400" b="1" dirty="0">
                <a:latin typeface="Arial"/>
                <a:cs typeface="Arial"/>
              </a:rPr>
              <a:t>use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as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they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go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international.</a:t>
            </a:r>
            <a:endParaRPr sz="2400">
              <a:latin typeface="Arial"/>
              <a:cs typeface="Arial"/>
            </a:endParaRPr>
          </a:p>
          <a:p>
            <a:pPr marL="753745" marR="443230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Global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sourcing: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purchasing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materials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labor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from 	</a:t>
            </a:r>
            <a:r>
              <a:rPr sz="2400" dirty="0">
                <a:latin typeface="Arial MT"/>
                <a:cs typeface="Arial MT"/>
              </a:rPr>
              <a:t>around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world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wherever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cheapest.</a:t>
            </a:r>
            <a:endParaRPr sz="2400">
              <a:latin typeface="Arial MT"/>
              <a:cs typeface="Arial MT"/>
            </a:endParaRPr>
          </a:p>
          <a:p>
            <a:pPr marL="753745" marR="360045" indent="-284480">
              <a:lnSpc>
                <a:spcPct val="100000"/>
              </a:lnSpc>
              <a:spcBef>
                <a:spcPts val="605"/>
              </a:spcBef>
              <a:buClr>
                <a:srgbClr val="007EA2"/>
              </a:buClr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Exporting: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making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products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domestically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selling 	</a:t>
            </a:r>
            <a:r>
              <a:rPr sz="2400" dirty="0">
                <a:latin typeface="Arial MT"/>
                <a:cs typeface="Arial MT"/>
              </a:rPr>
              <a:t>them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abroad.</a:t>
            </a:r>
            <a:endParaRPr sz="2400">
              <a:latin typeface="Arial MT"/>
              <a:cs typeface="Arial MT"/>
            </a:endParaRPr>
          </a:p>
          <a:p>
            <a:pPr marL="753745" marR="5080" indent="-284480">
              <a:lnSpc>
                <a:spcPct val="100000"/>
              </a:lnSpc>
              <a:spcBef>
                <a:spcPts val="605"/>
              </a:spcBef>
              <a:buClr>
                <a:srgbClr val="007EA2"/>
              </a:buClr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Importing: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acquiring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made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abroad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selling 	</a:t>
            </a:r>
            <a:r>
              <a:rPr sz="2400" dirty="0">
                <a:latin typeface="Arial MT"/>
                <a:cs typeface="Arial MT"/>
              </a:rPr>
              <a:t>them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domestically.</a:t>
            </a:r>
            <a:endParaRPr sz="2400">
              <a:latin typeface="Arial MT"/>
              <a:cs typeface="Arial MT"/>
            </a:endParaRPr>
          </a:p>
          <a:p>
            <a:pPr marL="753745" marR="240029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Licensing: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gives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right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spc="-10" dirty="0">
                <a:latin typeface="Arial MT"/>
                <a:cs typeface="Arial MT"/>
              </a:rPr>
              <a:t>company’s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brand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name,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technology,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product 	specifications.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/>
              <a:t>Review</a:t>
            </a:r>
            <a:r>
              <a:rPr spc="-85" dirty="0"/>
              <a:t> </a:t>
            </a:r>
            <a:r>
              <a:rPr dirty="0"/>
              <a:t>Learning</a:t>
            </a:r>
            <a:r>
              <a:rPr spc="-80" dirty="0"/>
              <a:t> </a:t>
            </a:r>
            <a:r>
              <a:rPr dirty="0"/>
              <a:t>Objective</a:t>
            </a:r>
            <a:r>
              <a:rPr spc="-80" dirty="0"/>
              <a:t> </a:t>
            </a:r>
            <a:r>
              <a:rPr dirty="0"/>
              <a:t>4.5</a:t>
            </a:r>
            <a:r>
              <a:rPr spc="-25" dirty="0"/>
              <a:t> </a:t>
            </a:r>
            <a:r>
              <a:rPr sz="1800" b="0" dirty="0">
                <a:latin typeface="Times New Roman"/>
                <a:cs typeface="Times New Roman"/>
              </a:rPr>
              <a:t>(2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of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spc="-25" dirty="0">
                <a:latin typeface="Times New Roman"/>
                <a:cs typeface="Times New Roman"/>
              </a:rPr>
              <a:t>2)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990625"/>
            <a:ext cx="7677150" cy="3912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marR="1044575" indent="-28448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Char char="–"/>
              <a:tabLst>
                <a:tab pos="298450" algn="l"/>
              </a:tabLst>
            </a:pPr>
            <a:r>
              <a:rPr sz="2400" spc="-10" dirty="0">
                <a:latin typeface="Arial MT"/>
                <a:cs typeface="Arial MT"/>
              </a:rPr>
              <a:t>Franchising: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another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company’s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name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	</a:t>
            </a:r>
            <a:r>
              <a:rPr sz="2400" dirty="0">
                <a:latin typeface="Arial MT"/>
                <a:cs typeface="Arial MT"/>
              </a:rPr>
              <a:t>operating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methods.</a:t>
            </a:r>
            <a:endParaRPr sz="2400">
              <a:latin typeface="Arial MT"/>
              <a:cs typeface="Arial MT"/>
            </a:endParaRPr>
          </a:p>
          <a:p>
            <a:pPr marL="296545" marR="788035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298450" algn="l"/>
              </a:tabLst>
            </a:pPr>
            <a:r>
              <a:rPr sz="2400" dirty="0">
                <a:latin typeface="Arial MT"/>
                <a:cs typeface="Arial MT"/>
              </a:rPr>
              <a:t>Global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strategic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alliance: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partnership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 	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foreign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company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partners</a:t>
            </a:r>
            <a:endParaRPr sz="2400">
              <a:latin typeface="Arial MT"/>
              <a:cs typeface="Arial MT"/>
            </a:endParaRPr>
          </a:p>
          <a:p>
            <a:pPr marL="296545" marR="5080" indent="-284480" algn="just">
              <a:lnSpc>
                <a:spcPct val="100000"/>
              </a:lnSpc>
              <a:spcBef>
                <a:spcPts val="605"/>
              </a:spcBef>
              <a:buClr>
                <a:srgbClr val="007EA2"/>
              </a:buClr>
              <a:buChar char="–"/>
              <a:tabLst>
                <a:tab pos="298450" algn="l"/>
              </a:tabLst>
            </a:pPr>
            <a:r>
              <a:rPr sz="2400" dirty="0">
                <a:latin typeface="Arial MT"/>
                <a:cs typeface="Arial MT"/>
              </a:rPr>
              <a:t>Joint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venture: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strategic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alliance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partners 	</a:t>
            </a:r>
            <a:r>
              <a:rPr sz="2400" dirty="0">
                <a:latin typeface="Arial MT"/>
                <a:cs typeface="Arial MT"/>
              </a:rPr>
              <a:t>agree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separate,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independent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	</a:t>
            </a: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business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purpose</a:t>
            </a:r>
            <a:endParaRPr sz="2400">
              <a:latin typeface="Arial MT"/>
              <a:cs typeface="Arial MT"/>
            </a:endParaRPr>
          </a:p>
          <a:p>
            <a:pPr marL="296545" marR="767080" indent="-284480" algn="just">
              <a:lnSpc>
                <a:spcPct val="100000"/>
              </a:lnSpc>
              <a:spcBef>
                <a:spcPts val="605"/>
              </a:spcBef>
              <a:buClr>
                <a:srgbClr val="007EA2"/>
              </a:buClr>
              <a:buChar char="–"/>
              <a:tabLst>
                <a:tab pos="298450" algn="l"/>
              </a:tabLst>
            </a:pPr>
            <a:r>
              <a:rPr sz="2400" dirty="0">
                <a:latin typeface="Arial MT"/>
                <a:cs typeface="Arial MT"/>
              </a:rPr>
              <a:t>Foreign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subsidiary: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investment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foreign 	</a:t>
            </a:r>
            <a:r>
              <a:rPr sz="2400" dirty="0">
                <a:latin typeface="Arial MT"/>
                <a:cs typeface="Arial MT"/>
              </a:rPr>
              <a:t>country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company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creates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establishing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a 	</a:t>
            </a:r>
            <a:r>
              <a:rPr sz="2400" dirty="0">
                <a:latin typeface="Arial MT"/>
                <a:cs typeface="Arial MT"/>
              </a:rPr>
              <a:t>separate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independent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facility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office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/>
              <a:t>Review</a:t>
            </a:r>
            <a:r>
              <a:rPr spc="-85" dirty="0"/>
              <a:t> </a:t>
            </a:r>
            <a:r>
              <a:rPr dirty="0"/>
              <a:t>Learning</a:t>
            </a:r>
            <a:r>
              <a:rPr spc="-80" dirty="0"/>
              <a:t> </a:t>
            </a:r>
            <a:r>
              <a:rPr dirty="0"/>
              <a:t>Objective</a:t>
            </a:r>
            <a:r>
              <a:rPr spc="-80" dirty="0"/>
              <a:t> </a:t>
            </a:r>
            <a:r>
              <a:rPr dirty="0"/>
              <a:t>4.6</a:t>
            </a:r>
            <a:r>
              <a:rPr spc="-25" dirty="0"/>
              <a:t> </a:t>
            </a:r>
            <a:r>
              <a:rPr sz="1800" b="0" dirty="0">
                <a:latin typeface="Times New Roman"/>
                <a:cs typeface="Times New Roman"/>
              </a:rPr>
              <a:t>(1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of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spc="-25" dirty="0">
                <a:latin typeface="Times New Roman"/>
                <a:cs typeface="Times New Roman"/>
              </a:rPr>
              <a:t>2)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90625"/>
            <a:ext cx="8248015" cy="310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marR="250190" indent="-257175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Explain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relevance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political/legal,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economic,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cultural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environments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to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global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business.</a:t>
            </a:r>
            <a:endParaRPr sz="2400">
              <a:latin typeface="Arial"/>
              <a:cs typeface="Arial"/>
            </a:endParaRPr>
          </a:p>
          <a:p>
            <a:pPr marL="753745" marR="50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laws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political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stability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country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issues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	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global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political/legal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environment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which 	</a:t>
            </a:r>
            <a:r>
              <a:rPr sz="2400" dirty="0">
                <a:latin typeface="Arial MT"/>
                <a:cs typeface="Arial MT"/>
              </a:rPr>
              <a:t>managers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familiar</a:t>
            </a:r>
            <a:endParaRPr sz="2400">
              <a:latin typeface="Arial MT"/>
              <a:cs typeface="Arial MT"/>
            </a:endParaRPr>
          </a:p>
          <a:p>
            <a:pPr marL="753745" marR="767715" lvl="1" indent="-284480" algn="just">
              <a:lnSpc>
                <a:spcPct val="100000"/>
              </a:lnSpc>
              <a:spcBef>
                <a:spcPts val="605"/>
              </a:spcBef>
              <a:buClr>
                <a:srgbClr val="007EA2"/>
              </a:buClr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Managers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aware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country’s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economic 	</a:t>
            </a:r>
            <a:r>
              <a:rPr sz="2400" dirty="0">
                <a:latin typeface="Arial MT"/>
                <a:cs typeface="Arial MT"/>
              </a:rPr>
              <a:t>issues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currency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exchange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rates,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inflation 	</a:t>
            </a:r>
            <a:r>
              <a:rPr sz="2400" dirty="0">
                <a:latin typeface="Arial MT"/>
                <a:cs typeface="Arial MT"/>
              </a:rPr>
              <a:t>rates,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tax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policies.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dirty="0"/>
              <a:t>Review</a:t>
            </a:r>
            <a:r>
              <a:rPr spc="-85" dirty="0"/>
              <a:t> </a:t>
            </a:r>
            <a:r>
              <a:rPr dirty="0"/>
              <a:t>Learning</a:t>
            </a:r>
            <a:r>
              <a:rPr spc="-80" dirty="0"/>
              <a:t> </a:t>
            </a:r>
            <a:r>
              <a:rPr dirty="0"/>
              <a:t>Objective</a:t>
            </a:r>
            <a:r>
              <a:rPr spc="-80" dirty="0"/>
              <a:t> </a:t>
            </a:r>
            <a:r>
              <a:rPr dirty="0"/>
              <a:t>4.6</a:t>
            </a:r>
            <a:r>
              <a:rPr spc="-25" dirty="0"/>
              <a:t> </a:t>
            </a:r>
            <a:r>
              <a:rPr sz="1800" b="0" dirty="0">
                <a:latin typeface="Times New Roman"/>
                <a:cs typeface="Times New Roman"/>
              </a:rPr>
              <a:t>(2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of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spc="-25" dirty="0">
                <a:latin typeface="Times New Roman"/>
                <a:cs typeface="Times New Roman"/>
              </a:rPr>
              <a:t>2)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990625"/>
            <a:ext cx="774192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marR="5080" indent="-28448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Char char="–"/>
              <a:tabLst>
                <a:tab pos="298450" algn="l"/>
              </a:tabLst>
            </a:pPr>
            <a:r>
              <a:rPr sz="2400" dirty="0">
                <a:latin typeface="Arial MT"/>
                <a:cs typeface="Arial MT"/>
              </a:rPr>
              <a:t>Geert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Hofstede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identified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dimensions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assessing 	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country’s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culture: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individualism-</a:t>
            </a:r>
            <a:r>
              <a:rPr sz="2400" dirty="0">
                <a:latin typeface="Arial MT"/>
                <a:cs typeface="Arial MT"/>
              </a:rPr>
              <a:t>collectivism,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power 	</a:t>
            </a:r>
            <a:r>
              <a:rPr sz="2400" dirty="0">
                <a:latin typeface="Arial MT"/>
                <a:cs typeface="Arial MT"/>
              </a:rPr>
              <a:t>distance,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uncertainty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avoidance,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achievement- 	</a:t>
            </a:r>
            <a:r>
              <a:rPr sz="2400" dirty="0">
                <a:latin typeface="Arial MT"/>
                <a:cs typeface="Arial MT"/>
              </a:rPr>
              <a:t>nurturing,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long-</a:t>
            </a:r>
            <a:r>
              <a:rPr sz="2400" spc="-10" dirty="0">
                <a:latin typeface="Arial MT"/>
                <a:cs typeface="Arial MT"/>
              </a:rPr>
              <a:t>term/short-</a:t>
            </a:r>
            <a:r>
              <a:rPr sz="2400" dirty="0">
                <a:latin typeface="Arial MT"/>
                <a:cs typeface="Arial MT"/>
              </a:rPr>
              <a:t>term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orientation.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3ACC8-68A7-F453-F0EA-780572566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AutoShape 2" descr="The end game reveal">
            <a:extLst>
              <a:ext uri="{FF2B5EF4-FFF2-40B4-BE49-F238E27FC236}">
                <a16:creationId xmlns:a16="http://schemas.microsoft.com/office/drawing/2014/main" id="{4A4DE416-60DF-06A2-5202-9920280E6D02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D1C3F4-D7F7-2F6A-0D05-7BC33F48D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772" y="-1"/>
            <a:ext cx="9165772" cy="687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376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1608</Words>
  <Application>Microsoft Office PowerPoint</Application>
  <PresentationFormat>On-screen Show (4:3)</PresentationFormat>
  <Paragraphs>165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Arial MT</vt:lpstr>
      <vt:lpstr>Calibri</vt:lpstr>
      <vt:lpstr>Times New Roman</vt:lpstr>
      <vt:lpstr>Verdana</vt:lpstr>
      <vt:lpstr>Office Theme</vt:lpstr>
      <vt:lpstr>Management</vt:lpstr>
      <vt:lpstr>Learning Objectives</vt:lpstr>
      <vt:lpstr>What’s Your Global Perspective?</vt:lpstr>
      <vt:lpstr>Three Possible Global Attitudes</vt:lpstr>
      <vt:lpstr>Exhibit 4.2 Nationalism vs. Globalism Pendulum</vt:lpstr>
      <vt:lpstr>The Case for Globalization</vt:lpstr>
      <vt:lpstr>The Case for Globalization Example</vt:lpstr>
      <vt:lpstr>The Case Against Globalization</vt:lpstr>
      <vt:lpstr>The Case Against Globalization</vt:lpstr>
      <vt:lpstr>Real Example </vt:lpstr>
      <vt:lpstr>Globalization Today and Managerial Implications</vt:lpstr>
      <vt:lpstr>How Organizations Go International</vt:lpstr>
      <vt:lpstr>Exhibit 4.3 How Organizations Go Global</vt:lpstr>
      <vt:lpstr>Going Global: Exporting and Importing</vt:lpstr>
      <vt:lpstr>Going Global: Licensing and Franchising</vt:lpstr>
      <vt:lpstr>Going Global: Strategic Alliances and Joint Ventures</vt:lpstr>
      <vt:lpstr>Going Global: Foreign Subsidiary</vt:lpstr>
      <vt:lpstr>Managing in a Global Environment</vt:lpstr>
      <vt:lpstr>Political/Legal Environment</vt:lpstr>
      <vt:lpstr>Economic Environment</vt:lpstr>
      <vt:lpstr>Cultural Environment</vt:lpstr>
      <vt:lpstr>Exhibit 4.5 Hofstede’s Five Dimensions of National Culture</vt:lpstr>
      <vt:lpstr>Review Learning Objective 4.1 (1 of 2)</vt:lpstr>
      <vt:lpstr>Review Learning Objective 4.1 (2 of 2)</vt:lpstr>
      <vt:lpstr>Review Learning Objective 4.3</vt:lpstr>
      <vt:lpstr>Review Learning Objective 4.5 (1 of 2)</vt:lpstr>
      <vt:lpstr>Review Learning Objective 4.5 (2 of 2)</vt:lpstr>
      <vt:lpstr>Review Learning Objective 4.6 (1 of 2)</vt:lpstr>
      <vt:lpstr>Review Learning Objective 4.6 (2 of 2)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Management, Fifteenth edition, Chapter 4, Managing in a Global Environment</dc:title>
  <dc:creator>Stephen P. Robbins and Mary Coulter</dc:creator>
  <cp:keywords>Management</cp:keywords>
  <cp:lastModifiedBy>Dr Samad Baseer</cp:lastModifiedBy>
  <cp:revision>5</cp:revision>
  <dcterms:created xsi:type="dcterms:W3CDTF">2026-04-15T21:31:59Z</dcterms:created>
  <dcterms:modified xsi:type="dcterms:W3CDTF">2026-04-15T22:52:44Z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2022-10-16T00:00:00Z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7.2</vt:lpwstr>
  </property>
  <property fmtid="{D5CDD505-2E9C-101B-9397-08002B2CF9AE}" pid="5" name="LastSaved">
    <vt:filetime>2022-10-16T00:00:00Z</vt:filetime>
  </property>
</Properties>
</file>